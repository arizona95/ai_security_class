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삼성에서 AI 서비스를 도입할 때 6하원칙(누가, 언제, 어디서, 무엇을, 어떻게, 왜)으로 정리하는 페이지. 각 칸의 내용은 채울 예정.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메시지: 로그가 남아 있었기 때문에 공격 출발지를 거슬러 올라가 북한의 소행임을 밝힐 수 있었다. 추적 가능한 기록(모니터링·로그)이 왜 필수인지 보여주는 사례다. 사건: 2013년 3월 20일 오후 2시, KBS·MBC·YTN 방송 3사와 농협·신한은행·제주은행 금융 3사의 전산망이 동시에 마비됐다. 합동대응팀은 PC·서버 약 4만 8천 대가 손상된 것으로 집계했다(초기 보도 기준, 집계 시점에 따라 차이 있음). 초기에는 중국 IP로 추정됐으나, 피해기관 내부 IP로 정정됐다. 추적 결과(2013.4.10 미래창조과학부·민관군 합동대응팀 발표): - 북한 내부 PC 최소 6대가 2012년 6월 28일부터 금융사에 1,590회 원격 접속하며 악성코드를 유포했다. 이 중 13회에서 북한 내부 IP(175.45.178.xx)가 드러났다. 통신 오류로 수 분간 노출된 것으로, 양방향 통신이라 위조 가능성은 매우 낮다고 판단했다. - 2013년 2월 22일 북한 내부 IP가 국내 경유지를 거쳐 감염 PC에 처음 시험 접속했다. - 경유지는 49곳(국내 25, 해외 24)이고, 한국·미국·홍콩 등 10개국 IP가 쓰였다. 이 중 22곳(국내 18, 해외 4)은 과거 북한의 대남 해킹에 쓰인 곳이다. - 악성코드 76종 중 30종 이상이 과거 공격에서 재활용됐다. - 공격 후 경유지를 파괴하고 방화벽·웹서버 로그를 대부분 지웠지만, 일부 원격 단말 접속 로그가 남아 추적에 결정적 역할을 했다. 지도 표기: 해외 경유지 24곳의 정확한 위치는 공개되지 않아, 공개된 국가(미국·홍콩)만 대표 지점으로 표시했다. 북한은 관여를 부인했다.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Figma: UI 디자인·프로토타이핑 협업 툴. Figma Make는 프롬프트로 실제 코드가 포함된 동작하는 앱·프로토타입을 만든다(이미지: 프롬프트로 생성한 음악 플레이어 앱). Figma Weave로 여러 모델의 이미지·영상 생성도 가능하다. Adobe Firefly: Adobe의 생성형 AI. 텍스트로 이미지·영상·오디오를 생성하고, 생성형 채우기·확장을 지원한다(이미지: Firefly Image 1·2 모델 결과 비교). Adobe Stock 라이선스 콘텐츠로 학습했고 사용자 콘텐츠로는 학습하지 않는다고 밝히며, 결과물에 Content Credentials가 붙는다. 이미지 출처: The Verge(Figma Make 정식 출시 기사, 2025.7), TechCrunch(Firefly Image 2 기사, 2023.10).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SaaS AI 서비스를 같은 설정으로 써도, 점검 항목을 충족시키는 방법은 회사마다 다르다. 삼성 A는 프롬프트 검증(06)을 AI 레드팀 전담 부서로, Tool 검증(07)을 자체 MCP Marketplace로, 모니터링(10)을 Skyhigh 프록시 + AI DLP의 룰 필터로, 계정 관리(04)를 인사 시스템 연동으로 충족한다. 삼성 B는 설정값만 복사해서는 같은 수준이 되지 않으므로, 각 항목을 자기 회사 환경에서 어떻게 충족할지 따로 갖춰야 한다. 핵심 수치(보안 체크리스트 69개 검토 결과): 사전검토 32개(생성형AI 22·MCP 1·Agent 9, 통과 29·미통과 3)는 서비스 설정과 공급자 인증으로 판단하는 항목이라 설정을 그대로 따라 하면 된다(미통과 3개는 근거 링크 보완 필요). 오픈 전 각사검토 34개(생성형AI 9·MCP 14·Agent 11)는 DLP, 계정·권한 절차, 로그 수집 경로, MCP 검증 절차처럼 각 사 환경에 맞춰 구축해야 한다. 사용자안내 3개(생성형AI)는 사용자 공지로 충족한다.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TLS를 복호화하는 경계 프록시(모니터링 장비)를 거치면, AI 서비스로 나가는 요청 본문에서 사용자의 질의 원문과 도구 호출 내용을 그대로 볼 수 있다. 여기에 룰 필터를 걸면 질의·도구 사용 모니터링이 가능하다(앞 장의 Skyhigh 프록시 사례). 왼쪽: Claude 데스크톱 앱 채팅. POST https://claude.ai/api/organizations/…/chat_conversations/…/completion 요청 본문의 "prompt" 필드에 질의 원문(MN26C-Q1-PROMPT-7KX…)이 평문으로 보이고, 연결된 커넥터 도구 정의(Gmail create_draft 등)도 함께 실린다. 오른쪽: Claude Code SSH 원격 세션. POST https://api.anthropic.com/v1/messages 요청 본문에 질의 원문(MN8B-Q1-PROMPT-6TD…)과 파일 읽기·MCP 도구 호출 지시, 실행 환경 정보가 보인다. 전제: 관리형 설정으로 HTTPS_PROXY와 사내 CA 인증서를 신뢰하도록 구성해야 프록시가 내용을 복호화할 수 있다. 캡처의 인증 헤더·쿠키는 가려져 있다. 오른쪽 패널: 대표적인 프록시(SWG/SSE) 5종(Zscaler, Netskope, Skyhigh, Symantec Edge SWG, Palo Alto Prisma Access)과 DLP 5종(Symantec DLP, Forcepoint DLP, Microsoft Purview DLP, Trellix DLP, 소만사 DLP). 실제 지원 범위는 제품·버전마다 다르다. 장비 조건(로깅하려면 프록시+DLP 장비 자체가 지원해야 하는 기능): (1) TLS 1.3·HTTP/2 트래픽 복호화 (2) 수백 KB 요청 본문을 끝까지 파싱 — gzip·br·zstd 압축 해제, JSON 안의 base64 첨부 디코딩 (3) SSE·chunked 스트리밍 응답을 모아 답변 전체를 저장 (4) AI 서비스별 JSON 필드(prompt, messages, tools 등)에서 이번 질의와 도구 호출을 뽑는 커스텀 추출 룰 (5) IdP·SSO·AD 연동으로 요청을 사용자와 연결 (6) 원문 또는 탐지 내용을 저장하고 syslog·API로 SIEM에 전송, 1년 보관 용량. 실제 지원 범위는 제품·버전마다 다르다.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통합보안센터 Confluence(sscboard.net)에서 자료 위치. 1) 가이드·체크리스트: 통합보안센터 컨플 &gt; 보안정책 &gt; 보안가이드. 2) 선제검토 공유 사이트: 통합보안센터 컨플 &gt; 보안점검 &gt; 통합보안센터 AI 서비스 보안검토 &gt; SaaS AI 서비스 보안검토 현황.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서비스 전체를 하나의 공간으로 보고, 12개 점검 항목 중 필수 4개(01 학습 미사용 계약, 04 MFA·사외접속·개인계정 차단, 10 모니터링·로그, 11 SOC 2 인증)를 먼저 본다. 이 중 하나라도 안 되면 그 서비스는 무조건 도입할 수 없다. 공간을 선 하나로 나누면, 왼쪽은 필수 4개 중 하나라도 안 되는 서비스로 절대 쓸 수 없고 서비스 측 기능 개발을 기다려야 한다. 오른쪽은 4개를 모두 통과한 서비스(현재 31개)로, 현재 각 사 상황에 따라서는 여전히 쓸 수 없을 수도 있다. 이 4개는 서비스 제공사가 기능으로 제공하거나 새로 개발해야만 충족되는 영역이라, 도입하는 회사가 자체적으로 해결할 방법이 없다. 나머지 8개는 회사가 비용·자본·노력을 들이면(DLP 도입, 레드팀 운영, MCP 마켓플레이스 구축 등) 충족하도록 바꿀 수 있는 영역이다. 모니터링이 '안 된다'는 것은 특정 방법 하나가 안 된다는 뜻이 아니다. Compliance API, 모니터링 장비(프록시), OTel, Hook 등 가용한 모든 방법을 검토했는데도 질의·응답·로그인 이력 등을 남길 수 없다는 뜻이다. 의의: 필수 4개로 도입 불가 서비스를 빠르게 걸러내고, 그 검토 결과를 각 사가 공유해 같은 검토를 반복하지 않게 한다. 현재 31개 서비스가 이 기준을 통과했다. 주의: 필수 4개 통과는 '탈락하지 않았다'는 뜻이지, 바로 써도 된다는 뜻은 아니다. 나머지 8개 항목은 서비스 옵션 설정과 각 사 환경에 맞춘 검토가 필요하다.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점검 항목 02 데이터 필터링을 구현하는 솔루션. SecureBridge(안랩클라우드메이트): 생성형 AI 데이터 보안 서비스(2025.6 출시). ① ChatGPT·Claude·HyperClovaX 등 AI 서비스별로 사용자 프롬프트를 수집하고 개인정보·기밀정보가 포함되면 빨간 체크로 표시한다. ② 질의를 선택하면 어떤 정보가 탐지됐는지(예: 이름 57건) 상세 내용을 볼 수 있다. SPHINX AI(컴트루테크놀로지): ① 사용자가 주민등록번호가 든 이력서 PDF를 Gemini에 올리고 질문했다. ② SPHINX AI가 중간에서 전송을 막고 차단 사유를 화면에 보여준다. 출처: 이티뉴스 2026.6.23, cometrue.ai SPHINX AI 데모.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점검 항목 10 모니터링·로그를 구현하는 솔루션. LocKard(시큐다임): 풀패킷 기반 네트워크 포렌식 플랫폼. ① 외부로 나간 메일, FTP 전송, 대용량 첨부파일 전송을 채널별로 집계한다. ② 특별보안점검기간에 고위험 보안 키워드가 담긴 대용량 첨부파일을 사외메일로 보낸 건을 따로 추적한다. J-CLP(제이슨 JMachine CLP): AI 기반 기밀정보 유출 탐지. ① 탐지한 파일을 문서·PC 화면·도식·폰 촬영·텍스트 유형으로 자동 분류한다. ② 모니터 화면을 휴대폰으로 찍은 사진도 기밀 화면과 90% 유사하다고 판정한다. 출처: 전자신문 2023.4.23, 보안뉴스 2024.10.31.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Splunk: 통합 로그 분석. ① 게이트웨이 로그에서 출발지→목적지별 전송량(송신+수신 바이트)을 시간대별로 집계하는 검색. ② 내부 PC 한 대(192.168.100.122)에서 외부 IP로 가는 트래픽이 약 6.8GB로 급증한 구간을 그래프로 찾아냈다. FortiSOAR(Fortinet): 보안 이벤트 자동 대응(SOAR, Security Orchestration, Automation and Response). SIEM 등에서 경보가 올라오면 미리 만든 대응 절차(플레이북)를 자동 실행한다. ① 플레이북 예시: 지표(IP·도메인·해시 등)를 차단할지 판단해, 예이면 차단(Block Indicator), 아니면 담당자에게 메일 통보. ② 플레이북 실행 이력(완료·중단·실패)을 확인할 수 있다. 출처: splunk.com 제품 페이지, Fortinet FortiSOAR Playbooks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기존 상담원 대화로 상담 챗봇을 만들 때 쓰는 데이터 세 가지를 실제 형태로 비교한 예시(가상의 카드 분실 상담). 원본 데이터: 상담 시스템에 쌓인 대화 로그 원문. 상담ID, 채널, 상담원, 고객 정보와 시간별 대화가 그대로 남아 있다. 빨간 글씨는 개인정보(이름, 연락처, 생년월일, 카드 끝자리). 학습용 데이터: 모델을 추가 학습(파인튜닝)시킬 때 쓰는 데이터. 원본에서 개인정보를 지우고, 대화에서 질문과 답변 텍스트만 뽑아낸 뒤, 상담 유형(카드분실)과 처리 결과(해결) 같은 라벨을 붙인 것이다. 토큰화·벡터화는 하지 않은, 사람이 읽을 수 있는 텍스트 형태다. 검색용 데이터: 답변할 때 찾아 쓰는 데이터(RAG). 대화를 의미 단위로 자르고(청킹), 단어 조각 번호로 바꾸고(토큰화), 임베딩 모델로 1,536개 숫자 배열로 바꾼다(벡터화). 사용자가 질문하면 질문도 벡터로 바꿔 가장 가까운 청크를 찾고, 그 청크의 원문(text)을 답변 생성에 넣는다. 참고: 벡터 DB에는 숫자 배열만이 아니라 청크 원문(text)도 함께 저장된다. token_ids와 embedding 값은 설명용 예시다.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SaaS(Software as a Service): 제공사가 완성해 둔 AI 서비스를 가입해서 그대로 쓰는 방식. 회사가 손댈 수 있는 것은 사용자·계정과 관리자 설정뿐이고, 화면·데이터 처리·모델·인프라는 모두 제공사가 관리한다. 그래서 질의 필터링이나 로그 저장은 제공사가 기능(관리자 옵션, Compliance API 등)으로 제공해야만 가능하다. 앞의 필수 4개가 '서비스 제공사가 기능으로 제공해야만 가능'한 이유다. 예: ChatGPT Enterprise, Claude, Microsoft 365 Copilot, Figma, Adobe Firefly. PaaS(Platform as a Service): 제공사의 AI 모델과 플랫폼(API, 개발 도구)을 빌려 그 위에 우리 서비스를 직접 만드는 방식. 애플리케이션과 데이터 처리(프롬프트, RAG, 로그)를 회사가 직접 만들기 때문에 필터링·마스킹·로그를 원하는 대로 넣을 수 있다. 대신 그 구현과 운영 책임도 회사에 있다. 모델과 인프라는 제공사가 관리한다. 예: Amazon Bedrock, Microsoft Foundry, Google Cloud에서 모델을 불러 만든 사내 상담 챗봇(앞 장의 원본·검색용 데이터 예시가 이 경우).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Claude 모델을 쓰더라도 SaaS로 쓰는지, PaaS(API)로 쓰는지에 따라 회사가 통제할 수 있는 범위가 달라진다. 왼쪽 SaaS: Claude 데스크톱 앱. ① 직원이 Anthropic이 만든 앱에 바로 질문하고 답을 받는다. 질의와 답변은 제공사(claude.ai) 서버로 가서 처리·저장된다. ② 화면, 기능, 쓸 수 있는 모델은 제공사가 정한다. 회사는 관리자 설정(SSO, 기능 on/off, 데이터 보관 기간 등)만 바꿀 수 있고, 필터링·로그는 제공사가 기능으로 줘야 한다. 오른쪽 PaaS: Claude API로 만든 사내 헬프데스크 챗봇(설명용 예시 화면). ① 회사 도메인에 회사가 직접 만든 웹페이지. ② 질의를 Claude로 보내기 전에 사내 DLP로 사번·연락처 같은 개인정보를 가린다. ③ 사내 서버 코드가 사내 문서를 검색(RAG)해 질의와 함께 Claude API(messages.create)로 보내고, 질의·응답 로그를 사내에 저장한다. 필터링·검색·로그를 회사가 원하는 대로 넣을 수 있지만, 그만큼 구현과 운영 책임도 회사에 있다. 앞 장 SaaS·PaaS 표의 '회사가 관리' 범위가 실제 화면에서는 이렇게 보인다.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테넌트(Tenant): SaaS는 하나의 서비스와 서버를 여러 회사가 함께 쓰는 멀티테넌트 구조다. 회사별로 논리적으로 나뉜 공간이 테넌트이고, 우리 회사의 계정·SSO, 대화 이력, 관리자 설정은 우리 테넌트 안에만 있어야 한다. 확인할 것: ① 우리 데이터가 다른 고객사와 분리되는지(테넌트 격리). ② SSO와 관리자 권한이 우리 테넌트에만 적용되는지. ③ 직원이 같은 서비스를 개인 계정, 즉 회사 밖 테넌트로 쓰지 못하게 막을 수 있는지(예: 프록시에서 회사 테넌트로만 로그인 허용). 격리가 깨지면 다른 회사 사용자가 우리 대화 이력이나 설정에 접근할 수 있다. 점검 항목 01 데이터 격리(멀티테넌트 분리), 04 계정·인증(개인계정 차단)에 해당한다.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KMS(Key Management Service): 암호화 키를 만들고 보관·교체·폐기하는 서비스. 화면은 AWS KMS 콘솔에서 회사가 가진 키를 가져와 등록하는 과정(BYOK)이다. ① 키를 만들 때 키 출처(Key Material Origin)를 KMS가 아니라 External로 고른다. 회사 키 관리 시스템에 있는 키를 가져와 쓰겠다는 뜻이다. ② 회사 키를 암호화한 키 자료(encrypted key material)와 가져오기 토큰(import token)을 업로드하면 KMS에 저장된다. ③ 키 만료 시각을 정할 수 있다. 그 시각이 되면 키가 삭제되고, 그 키로 암호화한 데이터는 더 이상 복호화할 수 없다. AI 서비스에 연결하면: 대화 이력, 업로드 파일, 검색용 데이터(앞 장의 청크·벡터)를 회사 키로 암호화한다. 회사가 키를 폐기하면 제공사도 데이터를 읽을 수 없어, 해지 시 데이터 삭제를 보장하는 수단이 된다. 참고: Keycloak은 로그인·인증(IAM) 시스템이라 토큰 서명용 키를 관리한다. 데이터 암호화 키는 AWS KMS, Azure Key Vault, HashiCorp Vault 같은 KMS가 맡는다. 점검 항목 03 암호화·보관·삭제(체크리스트 genai 1.2.B, 2.1.B, 4.3.B의 KMS 항목)에 해당한다. 출처: AWS 블로그(2016) 콘솔 화면.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DLP(Data Loss Prevention): 기밀·개인정보가 회사 밖으로 나가는 것을 탐지하고 막는 솔루션. AI 서비스 트래픽은 TLS로 암호화돼 있어서, 프록시가 먼저 복호화해야 DLP가 질의와 업로드 파일 내용을 볼 수 있다(앞의 프록시 캡처 장표). 화면 예시: Microsoft Purview DLP. ① 직원이 보호(기밀) 등급이 붙은 사내 문서 내용을 ChatGPT 입력창에 붙여넣으려 했다. ② DLP가 보호된 콘텐츠를 외부(보호되지 않은 위치)로 붙여넣는 것으로 판단해 차단하고 안내 창을 띄웠다. DLP는 패턴(주민번호·카드번호·연락처), 키워드(프로젝트명·기밀 등급), 유사도(사내 기밀 문서와 비교) 방식으로 기밀을 찾는다. 걸리면 전송을 차단하거나, 해당 부분만 가리고(마스킹) 보내고, 누가 언제 무엇을 보냈는지 로그를 남긴다. 예: SecureBridge, SPHINX AI(마스킹·필터링), J-CLP(유사도). 점검 항목 02 데이터 필터링, 10 모니터링·로그에 해당한다.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SaaS 도입 전에 확인할 보안 점검 항목 12개를 5개 영역으로 나눴다. 처음 정리한 15개 항목에서 겹치는 것을 합친 목록이다. 필수 4개(빨간 글씨): 01 데이터 격리(학습 미사용 계약 = 엔터프라이즈 계정), 04 계정·인증(MFA, 사외 접속 통제, 개인계정 차단), 10 모니터링·로그, 11 공급자 신뢰성(SOC 2 인증). 이 4개를 먼저 검토하고, 나머지는 서비스의 옵션·관리자 설정을 조정해 맞춘다. 데이터 보호(무엇이 새는가) 01 데이터 격리 = 엔터프라이즈 계정 + 멀티테넌트. 우리 데이터가 학습되거나 다른 고객에게 넘어가지 않는가. 02 데이터 필터링. 질의·답변·업로드 파일뿐 아니라 검색(RAG)·학습용 데이터에서도 민감정보가 걸러지는가. 필요 이상의 정보를 무분별하게 수집·저장하지 않는가. 03 암호화·보관 = 암호화 + 데이터 최소화. 저장 데이터·모델·네트워크 암호화, 필요한 것만 보관. (해지 시 삭제는 11 공급자 신뢰성으로 이동) 계정·접근 통제(누가 들어오는가) 04 계정·인증 = 사외 접속 통제·MFA·개인계정 차단 + 계정 관리(1인 1계정, 전배·퇴사 시 삭제, 인사 시스템 연동). 05 권한·인가 = 인가 + MCP·에이전트 인증. 사람이든 에이전트든 의도한 주체가 의도한 자원과 권한에만 접근하는가. 에이전트 실행(무엇을 실행하는가) 06 안전한 모델. 프롬프트 인젝션 대응, 레드팀 운영. 07 도구 검수. 관리자가 검사한 MCP·스킬만 사용, 마켓플레이스 검수 체계. 08 사람 승인(HITL). 고위험 작업은 실행 전에 사람이 확인하고 승인한다. 09 샌드박스. 실행 환경을 격리해 신뢰경계를 나눈다(resilience). 운영·공급자 신뢰(추적·책임) 10 모니터링·로그. 질의, 응답, 업로드 파일·사진, 시스템 프롬프트, 툴 호출, 로그인 이력을 추적할 수 있는가. 11 공급자 신뢰성. SOC 2 등 인증, 서비스 해지 시 데이터 삭제, 사고 시 손해배상 명시, 정부 요청 시 데이터 제공 고지. (삭제는 제공사가 실제로 지워줘야 하므로 공급자 신뢰 영역) 거버넌스(무엇을 쓰고 있는가) 12 AI 현황 관리. 임직원이 쓰는 AI 서비스·Agent 현황을 등록·관리하고, 허가받지 않은 Shadow AI 사용을 탐지·통제한다.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2번 슬라이드의 점검 항목 12개를 기준으로, 보안 체크리스트 69개(생성형AI 34, MCP 15, Agent 20)를 하나씩 매핑했다. 카드 오른쪽 숫자는 매핑된 체크리스트 항목 수다. 69개 모두 12개 점검 항목 중 하나에 들어간다. 01 데이터 격리(3, 생성형AI 3): genai.4.1.A Enterprise 서비스 사용, genai.4.2.A-1 저장 이력 암호화·성능 개선 미활용, genai.5.3.A 멀티테넌트. 02 데이터 필터링(5, 생성형AI 4·Agent 1): genai.1.1.A 기밀 미포함, genai.1.1.B 민감정보 미포함, genai.4.4.A 민감정보 차단·마스킹, genai.4.4.B 기밀 차단·마스킹, agent.3.A 개인정보 DLP·Guardrail. 03 암호화·보관(9, 생성형AI 9): genai.1.2.A, 1.2.B(검색/학습 데이터 암호화·KMS), 2.1.A, 2.1.B(학습 모델 암호화·KMS), 3.1.A(검색 DB 암호화), 4.2.A(질의/답변 저장 여부), 4.3.A, 4.3.B(이력 암호화·KMS), 5.1.A(전송 구간 암호화). 04 계정·인증(6, 생성형AI 5·Agent 1): genai.4.1.B 사외 접근 차단, 4.1.C 1인 1계정, 4.1.D 비인가 개인계정 차단, 4.1.E 계정·권한 관리절차, 4.1.F 사외 접속 MFA, agent.4.D 사외 원격 제어 차단. 05 권한·인가(11, 생성형AI 2·MCP 4·Agent 5): genai.3.2.A 권한 보유자만 접근, genai.4.4.D 무단 공유·전송 차단, mcp.1.1.A 단기 자격증명, mcp.1.1.B 장기 자격증명, mcp.1.2.A MCP 경유 권한 동일, mcp.3.2.A APIM 경유, agent.2.A Agent 인증, 2.B 최소 권한, 2.C 사용자 권한 기반 접근, 2.D 사용자별 Agent 사용 권한, agent.3.F Tool 권한 관리. 06 안전한 모델(3, Agent 3): agent.3.B 프롬프트 인젝션 차단, 3.C AI 레드티밍(간접 인젝션), 3.D 메모리 오염 검증. 07 도구 검수(11, 생성형AI 1·MCP 7·Agent 3): genai.4.6.A Agent 보안가이드 준수, mcp.2.1.A~E(검증 절차·시큐어코딩·오픈소스·기능명세서·기능 적합성), mcp.3.1.A 검증된 MCP만 사용, mcp.3.1.B 미검증 MCP 모니터링, agent.3.E Tool 도입 검증, agent.4.A 소스코드 점검, agent.4.B 안전한 Agent 버전. 08 사람 승인(3, MCP 1·Agent 2): mcp.1.2.B 중요 기능 HITL, agent.1.A 데이터 변경 HITL, agent.5.C Kill Switch. 09 샌드박스(3, MCP 2·Agent 1): mcp.3.2.B 악성코드·악성URL 차단, mcp.3.3.A MCP 서버 격리, agent.4.C 코드 격리 실행. 10 모니터링·로그(6, 생성형AI 3·MCP 1·Agent 2): genai.4.2.A-2 사내 이력 저장, genai.4.4.C 기밀 사후 모니터링, genai.4.5.A 접속이력, mcp.3.4.A MCP 접속 로그, agent.5.A 행위 로그, agent.5.B 행위 모니터링. 11 공급자 신뢰성(7, 생성형AI 7): genai.1.3.A, 1.3.B(해지 시 삭제), 2.2.A(모델 삭제), 3.2.B(검색 DB 삭제), 5.2.A 제공업체 내부통제, 5.2.B 정부·수사기관 제공요청 대응, 5.2.C 유출 시 손해배상. (삭제 항목은 제공사가 실제로 지워줘야 하므로 공급자 신뢰 영역으로 이동) 12 AI 현황 관리(2, Agent 2): agent.공통-1 Agent 현황 관리, agent.공통-2 Shadow Agent 탐지. 판단이 갈릴 수 있는 매핑: genai.4.4.D 무단 공유 차단(05, 02도 가능), agent.공통-2 Shadow Agent(12), mcp.3.2.B 악성URL 차단(09), agent.5.C Kill Switch(08), agent.4.D 사외 원격 제어(04), genai.4.6.A(Agent·MCP 체크리스트를 따르라는 상위 항목이라 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발표의 체크리스트와 대응 방안을 구성할 때 바탕으로 삼은 5개 보안 프레임워크. 각 카드의 이미지는 실제 출처 표지·대표 이미지다. ① OWASP Top 10 for Agentic Applications (2026): 에이전트 애플리케이션의 10대 위협을 모델(M)·에이전트(A)·시스템(S) 축으로 분류한 공개 표준. ② CSA MAESTRO: Cloud Security Alliance의 에이전트 위협 모델링 프레임워크. 에이전트 시스템을 7개 계층으로 나눠 계층별 위협을 도출한다. ③ Forrester AEGIS: 에이전트 AI를 안전하게 운영하기 위한 보안 가드레일 프레임워크(리서치). ④ AWS Agentic AI Security Scoping Matrix: 에이전트 AI 도입 형태별로 보안 책임과 범위를 구분하는 클라우드 가이드. ⑤ Gartner Secure Enterprise Agentic AI Ambition: 기업의 에이전트 AI 도입을 안전하게 추진하기 위한 전략·로드맵(리서치). 표준(OWASP·CSA) · 리서치(Forrester·Gartner) · 클라우드 가이드(AWS)를 교차 정리해 앞의 점검 항목을 구성했다.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2번 슬라이드의 점검 항목을 KISA 「AI 보안 위협 대응 매뉴얼」(2026.7)과 비교했다. 초록색은 KISA 가이드에는 있지만 처음 정리한 15개 목록에는 없던 내용이다. ＋ 사용량 제한: M08 모델 DoS, A03 에이전트 DoS. 요청 크기·빈도·토큰·비용 상한을 두고, 에이전트 반복 횟수와 재시도를 제한한다. 02 출력 검증·이스케이프: M07 부적절한 출력 처리. 모델 출력을 화면·DB·다른 시스템에 넘기기 전에 검증한다(스크립트·SQL·마크다운 이미지 링크를 통한 유출 방지). 03 에이전트 메모리 보관·삭제: A04 에이전트 메모리 오염. 메모리에 무엇을 저장하고 언제 지우는지 기준을 둔다. 06 RAG·메모리 간접 인젝션: A02·A04·S01. RAG 문서·웹·에이전트 메모리에 숨긴 지시에 대응한다. 08 결과 검토: M05 환각. 중요한 의사결정에 쓰는 결과는 사람이 검토한다.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모델도 '도구'처럼 검수해야 하는 이유를 보여주는 실제 사례. PyTorch의 기본 저장 형식(.bin/.pkl)은 파이썬 pickle이고, pickle은 데이터를 복원할 때 객체의 __reduce__ 메서드를 호출한다. 공격자는 이 메서드에 임의의 코드를 넣어, 모델을 torch.load()로 '불러오기만 해도' 코드가 실행되게 만들 수 있다(역직렬화 RCE). 공격 흐름: ① 공격자가 유명 모델로 위장한 악성 모델을 Hugging Face에 올린다. ② 개발자가 받아서 ③ torch.load로 로드하는 순간 pickle이 숨은 코드를 실행하고 ④ 리버스 셸로 공격자 서버에 연결돼 PC가 장악된다. 실제 사례: - JFrog(2024.2): baller423 등 악성 모델 약 100건을 발견. 로드 시 외부 IP로 리버스 셸을 여는 payload가 들어 있었다. - ReversingLabs(2025.2, nullifAI): pickle 파일을 7z로 압축하고 일부러 깨뜨려, Hugging Face의 pickle 스캐너(Picklescan)를 우회했다. 스캐너는 오류를 냈지만 앞쪽에 넣은 악성 코드는 그대로 실행됐다. 방어: ① 코드 실행이 불가능한 safetensors 형식만 쓴다. ② 검증된 모델만 반입하고, 새 모델은 격리된 샌드박스에서 먼저 로드한다. ③ 스캐너를 맹신하지 않는다(우회 사례 존재). 점검 항목 07 도구 검수, 09 샌드박스에 해당한다. 주의: 슬라이드의 코드는 '어디에 코드가 숨는지'를 보여주는 개념 예시이며, 실제 악성 payload(리버스 셸 코드·IP·포트)는 담지 않았다.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보안 점검 항목을 담당 단계로 나누는 분류 퀴즈. 세 단계는 앞서 나온 69개 항목 구분(사전검토 32 · 오픈전 각사검토 34 · 사용자안내 3)과 같은 기준이다. 사전검토는 AI 서비스 자체를 한 번만 검토하면 되는 전사 공통 항목, 오픈전검토는 각 사 환경에 맞춰 직접 구축·설정하는 항목, 임직원교육은 사용자가 지켜야 할 사항을 안내하는 항목이다. 퀴즈 문항(정답은 발표 중 공개): Q1. AI 서비스를 업무 외 용도로 사용하지 않는가? Q2. AI 서비스가 Enterprise plan을 제공하고 있는가? Q3. AI 서비스가 모니터링이 가능한가? 정답 칸은 비워 두었다. 청중이 먼저 분류해 보게 한 뒤 발표자가 설명한다.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사외접속차단 테넌트 Restriction. 조치: 프록시가 로그인 요청에 테넌트 제한 헤더를 주입한다. Microsoft 365/Entra는 Restrict-Access-To-Tenants + Restrict-Access-Context, Google Workspace는 X-GoogApps-Allowed-Domains. 회사 도메인 계정만 로그인되고 개인 Gmail·개인 MS 계정은 차단된다. 서비스가 테넌트 제한 헤더를 지원해야 가능. 오른쪽 실사: 실제 차단 화면. Claude Code 앱에서 개인 계정으로 전환을 시도하자 Anthropic 서버가 테넌트 위반(tenant_restriction_violation)으로 403을 반환, 앱에 "인증 실패 · 계속하려면 다시 로그인하세요"가 표시됐다.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sso-1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sso-2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토큰(JWT) 검증을 여권 입국심사에 빗대어 설명. 가운데 여권은 ICAO 표준 견본에 쓰이는 가상 국가(UTOPIA, 코드 UTO)로 만든 데모 이미지다. 입국심사관이 확인하는 것 ↔ JWT 검증 항목 - 전자여권 칩 서명이 진짜인가 ↔ signature: 발급자 공개키(JWKS)로 서명 검증. 실패하면 위조 토큰. - 어느 나라·기관이 발급했나, 우리가 인정하는 곳인가 ↔ iss: 신뢰하는 발급자(IdP) 목록에 있는가. 실패하면 모르는 인가 서버가 만든 토큰. - 누구의 여권인가 ↔ sub: 사용자 식별자. - 발급일 이전에 쓰려는 건 아닌가 ↔ iat·nbf: 아직 효력이 시작되지 않은 토큰 거부. - 만료일이 지났나 ↔ exp: 만료 토큰 거부. - 우리나라 입국용 비자인가(비자 · 입국 대상) ↔ aud: 이 API용으로 발급된 토큰인가. 다른 서비스용 토큰 재사용 차단. - 관광 비자인가 취업 비자인가(비자 · 체류자격) ↔ scope·roles: 무엇을 해도 되는가(읽기 권한으로 쓰기 시도 시 403). - (그림 밖) 칩 없는 여권은 받지 않는다 ↔ 허용 alg 고정, alg:none 거부. 순서가 중요: 심사관이 위조 여부부터 보고 나서 이름·비자를 믿듯, 서명 검증을 통과한 뒤에야 iss·aud·exp 값을 믿을 수 있다. 비유가 어긋나는 지점 - 사진이 없다: Bearer 토큰은 '이 사람이 주인인가'를 대조하지 않아 주운 여권으로도 입국되는 구조 → 토큰 탈취가 치명적. DPoP·mTLS(sender-constrained 토큰)가 사진 역할. - 분실 신고 조회를 보통 안 한다: JWT 검증은 서명·클레임만 보므로 탈취된 토큰도 만료 전까지 통과. 매번 발급처에 묻는 introspection은 느려서, 보통 유효기간을 짧게 잡는 쪽으로 타협. - 정보면은 누구나 읽는다: payload는 디코딩만 하면 다 보인다. 위조는 막지만 내용을 숨기지 않으므로 비밀값을 넣으면 안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Client와 Server를 FastMCP(Python MCP 라이브러리)로 작성한 예시. FastMCP는 공식 Python SDK에도 포함된 고수준 API로, 데코레이터 하나로 함수를 MCP 툴로 만들어 준다. 왼쪽 MCP Client: Claude Desktop 앱 안에 이미 들어 있는 역할이라 사용자는 볼 일이 없다(코드는 같은 일을 FastMCP Client로 보여주는 개념 예시). Client("confluence_server.py")로 열면 서버를 자식 프로세스(python)로 실행하고 초기화 핸드셰이크를 한다. list_tools로 받은 툴 목록(이름·설명·입력 스키마)을 모델 요청에 첨부하고, 모델이 툴을 고르면 call_tool로 실행을 요청한다. 서버 하나당 client가 하나씩이며, client는 별도 프로세스가 아니라 앱 프로세스 안의 객체다. 가운데: client와 server는 같은 PC 안에서 stdin/stdout 파이프로 JSON-RPC 메시지(tools/call 요청, result 응답)를 주고받는다. 27쪽(MCP 프로토콜 실제 데이터) 참고. 오른쪽 MCP Server: 사용자가 직접 작성하거나 설치해 claude_desktop_config.json에 등록하는 쪽(command: python, args: confluence_server.py). @mcp.tool() 데코레이터를 붙이면 함수 이름이 툴 이름, 타입 힌트(query: str)가 입력 스키마, docstring이 툴 설명이 된다. mcp.run()은 기본 stdio로 요청을 기다린다. 앱이 띄우는 자식 프로세스로 사용자 계정 권한으로 실행된다. client 동작을 눈으로 보고 싶으면 MCP Inspector(npx @modelcontextprotocol/inspector)를 쓰면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Client(Claude 앱)와 MCP Server(confluence_server.py)가 실제로 주고받는 메시지. MCP는 JSON-RPC 2.0 형식이고, 로컬 stdio 방식에서는 JSON 한 줄이 메시지 하나다(슬라이드는 보기 쉽게 줄바꿈). 요청과 응답은 같은 id로 짝을 맞춘다. ① 초기화(initialize, id 1): 클라이언트가 사용할 프로토콜 버전, 자기가 지원하는 기능(capabilities, 없으면 빈 값), 자기 정보(clientInfo: 이름·버전)를 보내고, 서버는 버전·제공 기능(capabilities: tools)·서버 정보로 답한다. 이어서 클라이언트가 notifications/initialized 알림을 보내면 연결이 준비된다(슬라이드에서는 생략). ② 툴 목록(tools/list, id 2): 서버가 툴 이름·설명·입력 스키마(inputSchema)를 돌려준다. 앱은 이 목록을 모델 요청에 첨부해, 모델이 어떤 툴을 쓸 수 있는지 알게 한다. 툴 설명(description)이 모델에 그대로 들어가기 때문에 여기에 악성 지시를 숨기는 것이 툴 포이즈닝이다. ③ 툴 실행(tools/call, id 3): 모델이 search_pages를 query "보안가이드"로 부르라고 하면, 앱이 이 요청을 서버에 보낸다. 서버는 결과를 content(text)로 돌려주고, 앱은 이 결과를 다시 클라우드의 모델로 보낸다. 즉 사내 Confluence 내용이 이 결과 text에 담겨 회사 밖 모델로 나간다 — 프록시에서 툴 결과가 보이는 이유. 예시 값(버전 2025-06-18, 검색 결과 텍스트)은 설명용이다.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사내 MCP 서버에 붙는 3가지를 실제 등록 화면과 함께 한 표로 정리. server는 모두 사내 시스템. ① 내 PC · mcp-remote (Claude Desktop): Desktop은 stdio만 지원하므로 npx mcp-remote가 로컬 stdio↔사내 http 브리지. 실제 MCP 서버는 사내지만 mcp-remote 프록시 프로세스는 내 PC에서 돈다. client 내 PC, 사내 프록시·DLP로 통제 가능. ② 내 PC · http (Claude Code): mcp.json에 type:http·url을 직접 넣거나 claude mcp add --transport http. client 내 PC, 사내 프록시·DLP로 통제 가능. ③ 커스텀 커넥터: 조직 설정 커넥터에 URL 등록. client Anthropic이 사내 서버에 직접 접속해 PC 프록시 밖 — 허용목록·게이트웨이로만 통제.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등록 상세 ① 내 PC 로컬 접점. client는 내 PC(Desktop·Code), 통제는 PC 프록시와 사내 시스템 접근통제. 왼쪽(실제 올리는 모습): 설정 › 개발자 › 로컬 MCP 서버 화면에서 '구성 편집'을 눌러 claude_desktop_config.json을 연다. 오른쪽(mcp.json 형태): mcpServers 블록에 command와 args를 넣는 stdio 형태. 캡처는 aar-echo-local이 powershell 명령으로 등록된 실제 내용.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사내 Confluence MCP 서버를 Claude에 붙이는 mcp.json 두 형태. ① mcp-remote (Claude Desktop, claude_desktop_config.json): command를 npx로, args에 mcp-remote와 사내 URL. 토큰은 --header "Authorization: Bearer ${CONFLUENCE_TOKEN}"로 붙이고 실제 값은 env의 CONFLUENCE_TOKEN으로 주입. ② http (Claude Code, .mcp.json): type를 http로, url에 사내 Confluence MCP URL, headers에 Authorization 토큰. claude mcp add --transport http로도 같은 내용이 기록되고 파일을 직접 편집해도 된다. 두 방식 모두 같은 사내 서버에 붙는다.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등록 상세 ③ 인터넷 경계 접점(커스텀 커넥터). client가 Anthropic으로 넘어가 Anthropic이 원격 MCP 서버에 직접 접속한다. PC 프록시를 안 거쳐 통제는 커넥터 허용목록과 서버 앞 게이트웨이로만. 왼쪽(실제 올리는 모습): 조직 설정 › 커넥터 › + 추가 드롭다운에서 '커스텀 커넥터 추가'를 선택한다. 오른쪽(형태): 추가 폼에 이름과 MCP 서버 HTTPS URL을 넣고 계속을 누르면 등록된다. URL 한 줄만 넣으면 끝이고, Anthropic이 그 주소로 직접 접속하므로 사내 서버를 붙이려면 인터넷 노출이 필요하다.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코드 리뷰 에이전트를 예로 에이전트 아이덴티티와 위임 아이덴티티를 비교. ① 에이전트 아이덴티티(리뷰 에이전트 고유 권한): 리뷰 에이전트 자체는 코드를 읽는 권한(Read)만 갖고 쓰기 권한(Write)은 없다. 읽기는 에이전트 고유의 권한이다. ② 위임 아이덴티티(사용자 계정 권한): 에이전트는 사용자를 대신해 그 사용자 계정으로 움직이므로 사용자가 접근할 수 있는 내 계정 레포에는 들어갈 수 있지만 다른 사람 레포에는 들어갈 수 없다. 실제 수행(교집합): 두 권한이 동시에 걸리므로 이 에이전트를 쓰면 교집합인 '내 계정 레포의 읽기'만 수행할 수 있다. 사용자에게 쓰기 권한이 있어도 에이전트가 쓰기를 못 하고, 에이전트에게 읽기 권한이 있어도 사용자가 못 들어가는 레포는 못 읽는다. 최소 권한이 두 겹으로 걸리는 구조. 점검 항목 05 권한·인가와 연결된다.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Shadow Agent = 회사 승인 없이 직원이 쓰는 AI 에이전트. 개인 계정의 Claude·ChatGPT 데스크톱 앱, Cursor 같은 AI 코딩 도구, OpenClaw 같은 개인 AI 비서, 그리고 여기에 직원이 직접 붙인 MCP 서버까지 포함된다. 목표는 '누가 어떤 에이전트를 쓰고 있나'를 찾는 것. 에이전트가 흔적을 남기는 곳은 세 군데다. ① 사용자 PC(엔드포인트 스캔): 에이전트 앱이 설치되고, 설정 파일(mcp.json 등)에 MCP 서버가 등록된다. PC의 설정·프로세스를 스캔해 찾는다(Snyk Agent Scan, Astrix OpenClaw 스캐너, osquery). ② 사내망(네트워크 이상탐지): 에이전트는 AI 서비스·MCP 서버로 통신한다. 보안 게이트웨이의 AI 카테고리로 알려진 서비스를 찾고, 처음 보는 서비스는 트래픽 모양(긴 스트리밍, 비대칭 바이트)과 TLS 지문으로 잡는다(Entra Internet Access, AgentSonar, JA4+). ③ 사내 서버(사내 내부 탐지): 부서가 보안 검토 없이 만든 AI 채팅 웹·LLM 서버·MCP 서버를 부서끼리 공유하다 다른 부서에도 열려 버린 자체개발 Shadow. 외부로 나가는 트래픽이 없어 ②로는 잘 안 보이므로, 사내 IP 대역을 스캔하고 테스트 질문으로 인증 없이 열린 AI를 찾는다(Julius, Cisco 스캐너 방식). 세 가지는 서로 보완이다. ①은 PC 안을, ②는 밖으로 나가는 통신을, ③은 사내끼리 오가는 AI를 본다. 예를 들어 사내 서버에 띄운 LLM을 여러 직원이 쓰는 경우 외부 통신이 없어 ②에는 안 잡히지만 ③의 사내 스캔으로 보인다.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Shadow Agent 탐지 ① 엔드포인트 스캔. 에이전트는 결국 직원 PC에서 돈다. PC에 어떤 에이전트 앱이 깔려 있고, 그 앱에 어떤 MCP 서버·스킬이 붙어 있는지 스캔한다. 회사 자산 PC라면 가장 정확한 방법. 왼쪽 Snyk Agent Scan(구 Invariant Labs mcp-scan, Apache 2.0, 실행에 Snyk 토큰 필요): 화면은 실제 README 데모. Claude·Cursor·Gemini CLI 등의 설정 파일(mcp.json)을 자동으로 찾아 붙어 있는 MCP 서버·스킬을 목록화하고, 툴 설명에 숨은 지시(프롬프트 인젝션), 외부 콘텐츠 처리, 신뢰할 수 없는 실행파일 다운로드 같은 위험을 표시한다. 화면은 ~/.cursor/mcp.json에서 MCP 서버 2개와 스킬 1개를 찾고 위험을 잡은 결과. 비슷한 도구로 Cisco MCP Scanner(툴별 SAFE·MEDIUM·HIGH 판정)도 있다. 오른쪽 위 Astrix OpenClaw Footprint Scanner(2026.2 공개, 무료): OpenClaw(구 Clawdbot·Moltbot)는 2026년 초 폭발적으로 퍼진 개인 AI 비서로, PC에서 명령을 실행하고 Slack·GitHub 같은 사내 SaaS에 인증해 움직이는 대표적 Shadow Agent다. 이 도구는 새 에이전트를 깔지 않고 기존 EDR(CrowdStrike, Microsoft Defender) 텔레메트리를 읽기 전용으로 분석해 설치된 엔드포인트와 사용자를 보고서로 준다. 화면의 호스트·사용자는 데모 데이터. 오른쪽 아래 osquery(오픈소스): 전사 PC를 SQL로 조회하는 도구. claude·cursor·openclaw·ollama 프로세스, MCP 설정 파일 존재, 로컬 LLM 포트(Ollama 11434)를 정기적으로 조회해 누가 어떤 에이전트를 쓰는지 찾는다. 한계: 개인 PC·BYOD는 스캔할 수 없으므로 ②네트워크, ③OAuth와 함께 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Shadow Agent 탐지 ② 네트워크·SSE. 내용은 암호화돼도 '어디로(도메인) · 누가(프로세스) · 어떤 모양으로(트래픽 패턴)' 통신하는지는 보인다. 왼쪽 Microsoft Entra Internet Access(SSE, 상용): 화면은 Microsoft Learn 공식 튜토리얼 스크린샷. Insights &amp; Analytics &gt; Cloud Applications에서 'Generative AI apps and tools' 토글을 켜면 AI model provider·Generative AI·MCP server 카테고리로 필터돼 ChatGPT Enterprise, Microsoft 365 Copilot Chat, Anthropic Claude처럼 실제 사용 중인 AI 앱이 나오고, 앱별 위험 점수(보안·규정 요소 기반)·사용자 수·기기·전송량을 본다. 이전에 본 Squid(도메인 목록), Cisco Umbrella·Netskope(Generative AI 카테고리)도 같은 방식이며, 최근엔 카테고리에 MCP 서버까지 들어오는 추세. 오른쪽 위 AgentSonar(Knostic, GitHub 공개): 소켓 소유 정보로 연결을 연 프로세스를 찾고 TLS SNI·DNS로 도메인을 뽑아, 트래픽 모양(바이트·패킷 비대칭, 작은 패킷, 오래 유지되는 스트리밍 연결, 프로그램식 TLS)으로 'LLM API 같다' 점수를 0~1로 매긴다. AI 도메인 목록에 의존하지 않아 처음 보는 서비스도 잡는다. 코드 박스는 README에 실린 명령과 classify 예시 출력. 오른쪽 아래 사람 vs 에이전트 트래픽(설명용 그림): 같은 AI 서비스 도메인이라도 사람이 브라우저로 쓰면 업무 시간에 불규칙하게 몰리고, 에이전트·자동화 프로그램은 일정 간격으로 쉬지 않고 호출하며 퇴근 후·새벽에도 계속된다(빨간 막대). 작은 요청에 큰 응답, 오래 유지되는 스트리밍 연결도 특징. 프록시·방화벽 로그에서 사용자·단말별로 이 패턴을 보면 직원 PC나 서버에서 돌고 있는 에이전트를 찾을 수 있다. 추세: 도메인 목록 → 벤더 관리 AI 카테고리 → 프로세스·트래픽 모양. TLS 지문(JA4+)으로 같은 도메인이라도 브라우저 사용과 스크립트·에이전트를 구분할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Shadow Agent 탐지 ③ 사내 자체개발 AI 서비스. 사외접속이 막힌 환경에서 가장 현실적인 Shadow는 사내에서 직접 만든 AI다. 예를 들어 부서 A가 자기 부서 문서를 넣은 AI 채팅 웹(RAG)을 만들어 사내 서버에 띄우고 부서끼리 공유했는데, 로그인이나 접근 제한이 없어서 사내망에 있는 다른 부서 직원도 접속할 수 있는 경우. 보안 검토를 받지 않았으니 Shadow이고, 부서 A 문서 내용이 AI 답변을 통해 다른 부서로 새어 나간다. 서버에 넣어 둔 LLM API 키도 남이 쓸 수 있게 된다. 외부로 나가는 트래픽이 없거나 승인된 경로만 쓰기 때문에 ②네트워크 방식으로는 잘 안 보인다. 탐지 3단계. 1) 사내 IP 대역 스캔: 사내 서버 대역을 정기적으로 스캔해 AI 서비스를 찾는다. Ollama(11434)·vLLM(8000)·LM Studio(1234) 같은 LLM 기본 포트, 그리고 웹 서비스의 응답 특징으로 판별한다. Julius(Praetorian, Apache 2.0, 2026.1 공개)가 이런 LLM 서비스 핑거프린팅을 오픈소스로 제공한다. 2) 테스트 질문: 찾은 서비스에 로그인 없이 "What is 2+2?" 같은 무해한 질문을 보낸다. 정답이 오면 인증 없이 열려 있는 AI, 401·403이면 인증이 있는 것. 3) 접근 로그·자산 대조: 서버 접근 로그에서 다른 부서 IP의 접속이 있는지 보고, IT 자산·보안검토 목록에 등록된 서비스인지 대조한다. 미등록이면 Shadow로 소유 부서에 통보한다. 오른쪽 Julius(Praetorian, Apache 2.0, 2026.1 공개, 2026.3 v0.2.0에서 63종): "이 HTTP 서비스가 LLM인가?"에 답하는 도구. 포트 스캔이 아니라 HTTP 요청을 보내 응답 특징으로 서비스 종류를 판별하고, 찾은 경우 모델 목록도 보여준다. 부서용으로 많이 띄우는 AI 채팅 웹(Open WebUI, LibreChat), RAG 앱(AnythingLLM, RAGFlow, Langflow, PrivateGPT), LLM 서버(Ollama, vLLM, LM Studio, llama.cpp), 게이트웨이(LiteLLM)를 가려낸다. 코드 박스는 출력 형식을 예시로 재구성한 것(사내 IP·결과는 가상). 테스트 질문 방식은 Cisco 연구팀(2025.9 블로그)이 쓴 방법: 찾은 LLM 서버에 무해한 질문을 보내 대답하면 인증 없이 열린 것으로 판정. 인터넷 대상 연구에서 인증 없는 Ollama 1,139개를 찾았다. 이 두 가지를 사내 서버 대역에 정기적으로 돌리고, 결과를 IT 자산·보안검토 목록과 대조하면 된다. 사내 웹 취약점 스캐너에 Ollama /api/tags, OpenAI 호환 /v1/models 같은 경로 점검 규칙을 추가하는 방법도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6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680641"/>
            <a:ext cx="10566400" cy="389632"/>
          </a:xfrm>
          <a:prstGeom prst="rect">
            <a:avLst/>
          </a:prstGeom>
          <a:noFill/>
          <a:ln/>
        </p:spPr>
        <p:txBody>
          <a:bodyPr wrap="square" lIns="0" tIns="0" rIns="0" bIns="0" rtlCol="0" anchor="t"/>
          <a:lstStyle>
            <a:lvl1pPr algn="l" indent="0" marL="0">
              <a:lnSpc>
                <a:spcPct val="115000"/>
              </a:lnSpc>
              <a:buNone/>
              <a:defRPr lang="en-US" sz="2600" dirty="0">
                <a:solidFill>
                  <a:srgbClr val="0E1320"/>
                </a:solidFill>
                <a:latin typeface="Noto Sans KR" pitchFamily="34" charset="0"/>
                <a:ea typeface="Noto Sans KR" pitchFamily="34" charset="-122"/>
                <a:cs typeface="Noto Sans KR"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812800" y="1375073"/>
            <a:ext cx="10566400" cy="4670127"/>
          </a:xfrm>
          <a:prstGeom prst="rect">
            <a:avLst/>
          </a:prstGeom>
          <a:noFill/>
          <a:ln/>
        </p:spPr>
        <p:txBody>
          <a:bodyPr wrap="square" lIns="0" tIns="0" rIns="0" bIns="0" rtlCol="0" anchor="t"/>
          <a:lstStyle>
            <a:lvl1pPr algn="l" indent="0" marL="0">
              <a:lnSpc>
                <a:spcPct val="140000"/>
              </a:lnSpc>
              <a:buNone/>
              <a:defRPr lang="en-US" sz="1600" dirty="0">
                <a:solidFill>
                  <a:srgbClr val="0E1320"/>
                </a:solidFill>
                <a:latin typeface="Noto Sans KR" pitchFamily="34" charset="0"/>
                <a:ea typeface="Noto Sans KR" pitchFamily="34" charset="-122"/>
                <a:cs typeface="Noto Sans K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6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680641"/>
            <a:ext cx="10566400" cy="389632"/>
          </a:xfrm>
          <a:prstGeom prst="rect">
            <a:avLst/>
          </a:prstGeom>
          <a:noFill/>
          <a:ln/>
        </p:spPr>
        <p:txBody>
          <a:bodyPr wrap="square" lIns="0" tIns="0" rIns="0" bIns="0" rtlCol="0" anchor="t"/>
          <a:lstStyle>
            <a:lvl1pPr algn="l" indent="0" marL="0">
              <a:lnSpc>
                <a:spcPct val="115000"/>
              </a:lnSpc>
              <a:buNone/>
              <a:defRPr lang="en-US" sz="2600" dirty="0">
                <a:solidFill>
                  <a:srgbClr val="0E1320"/>
                </a:solidFill>
                <a:latin typeface="Noto Sans KR" pitchFamily="34" charset="0"/>
                <a:ea typeface="Noto Sans KR" pitchFamily="34" charset="-122"/>
                <a:cs typeface="Noto Sans KR"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812800" y="1375073"/>
            <a:ext cx="10566400" cy="4670127"/>
          </a:xfrm>
          <a:prstGeom prst="rect">
            <a:avLst/>
          </a:prstGeom>
          <a:noFill/>
          <a:ln/>
        </p:spPr>
        <p:txBody>
          <a:bodyPr wrap="square" lIns="0" tIns="0" rIns="0" bIns="0" rtlCol="0" anchor="t"/>
          <a:lstStyle>
            <a:lvl1pPr algn="l" indent="0" marL="0">
              <a:lnSpc>
                <a:spcPct val="140000"/>
              </a:lnSpc>
              <a:buNone/>
              <a:defRPr lang="en-US" sz="1600" dirty="0">
                <a:solidFill>
                  <a:srgbClr val="0E1320"/>
                </a:solidFill>
                <a:latin typeface="Noto Sans KR" pitchFamily="34" charset="0"/>
                <a:ea typeface="Noto Sans KR" pitchFamily="34" charset="-122"/>
                <a:cs typeface="Noto Sans K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jpe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slideLayout" Target="../slideLayouts/slideLayout2.xml"/><Relationship Id="rId1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jpe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jpe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jpe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3-2.jpe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image" Target="../media/image-15-2.jpe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image" Target="../media/image-19-2.png"/><Relationship Id="rId3" Type="http://schemas.openxmlformats.org/officeDocument/2006/relationships/image" Target="../media/image-19-3.jpe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2.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2.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2.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slideLayout" Target="../slideLayouts/slideLayout2.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eg"/><Relationship Id="rId2" Type="http://schemas.openxmlformats.org/officeDocument/2006/relationships/image" Target="../media/image-29-2.jpeg"/><Relationship Id="rId3" Type="http://schemas.openxmlformats.org/officeDocument/2006/relationships/image" Target="../media/image-29-3.jpeg"/><Relationship Id="rId4" Type="http://schemas.openxmlformats.org/officeDocument/2006/relationships/slideLayout" Target="../slideLayouts/slideLayout2.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eg"/><Relationship Id="rId2" Type="http://schemas.openxmlformats.org/officeDocument/2006/relationships/image" Target="../media/image-30-2.jpeg"/><Relationship Id="rId3" Type="http://schemas.openxmlformats.org/officeDocument/2006/relationships/slideLayout" Target="../slideLayouts/slideLayout2.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eg"/><Relationship Id="rId2" Type="http://schemas.openxmlformats.org/officeDocument/2006/relationships/image" Target="../media/image-32-2.jpeg"/><Relationship Id="rId3" Type="http://schemas.openxmlformats.org/officeDocument/2006/relationships/slideLayout" Target="../slideLayouts/slideLayout2.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image" Target="../media/image-33-8.png"/><Relationship Id="rId9" Type="http://schemas.openxmlformats.org/officeDocument/2006/relationships/image" Target="../media/image-33-9.png"/><Relationship Id="rId10" Type="http://schemas.openxmlformats.org/officeDocument/2006/relationships/image" Target="../media/image-33-10.png"/><Relationship Id="rId11" Type="http://schemas.openxmlformats.org/officeDocument/2006/relationships/image" Target="../media/image-33-11.png"/><Relationship Id="rId12" Type="http://schemas.openxmlformats.org/officeDocument/2006/relationships/image" Target="../media/image-33-12.png"/><Relationship Id="rId13" Type="http://schemas.openxmlformats.org/officeDocument/2006/relationships/image" Target="../media/image-33-13.png"/><Relationship Id="rId14" Type="http://schemas.openxmlformats.org/officeDocument/2006/relationships/image" Target="../media/image-33-14.png"/><Relationship Id="rId15" Type="http://schemas.openxmlformats.org/officeDocument/2006/relationships/image" Target="../media/image-33-15.png"/><Relationship Id="rId16" Type="http://schemas.openxmlformats.org/officeDocument/2006/relationships/image" Target="../media/image-33-16.png"/><Relationship Id="rId17" Type="http://schemas.openxmlformats.org/officeDocument/2006/relationships/image" Target="../media/image-33-17.png"/><Relationship Id="rId18" Type="http://schemas.openxmlformats.org/officeDocument/2006/relationships/image" Target="../media/image-33-18.png"/><Relationship Id="rId19" Type="http://schemas.openxmlformats.org/officeDocument/2006/relationships/image" Target="../media/image-33-19.png"/><Relationship Id="rId20" Type="http://schemas.openxmlformats.org/officeDocument/2006/relationships/image" Target="../media/image-33-20.png"/><Relationship Id="rId21" Type="http://schemas.openxmlformats.org/officeDocument/2006/relationships/image" Target="../media/image-33-21.png"/><Relationship Id="rId22" Type="http://schemas.openxmlformats.org/officeDocument/2006/relationships/slideLayout" Target="../slideLayouts/slideLayout2.xml"/><Relationship Id="rId2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image" Target="../media/image-34-7.png"/><Relationship Id="rId8" Type="http://schemas.openxmlformats.org/officeDocument/2006/relationships/image" Target="../media/image-34-8.jpeg"/><Relationship Id="rId9" Type="http://schemas.openxmlformats.org/officeDocument/2006/relationships/slideLayout" Target="../slideLayouts/slideLayout2.xml"/><Relationship Id="rId10"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jpeg"/><Relationship Id="rId3" Type="http://schemas.openxmlformats.org/officeDocument/2006/relationships/slideLayout" Target="../slideLayouts/slideLayout2.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slideLayout" Target="../slideLayouts/slideLayout2.xml"/><Relationship Id="rId7"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slideLayout" Target="../slideLayouts/slideLayout2.xml"/><Relationship Id="rId8"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A"/>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E1320"/>
                </a:solidFill>
                <a:latin typeface="Noto Sans KR" pitchFamily="34" charset="0"/>
                <a:ea typeface="Noto Sans KR" pitchFamily="34" charset="-122"/>
                <a:cs typeface="Noto Sans KR" pitchFamily="34" charset="-120"/>
              </a:rPr>
              <a:t>삼성에서 </a:t>
            </a:r>
            <a:r>
              <a:rPr lang="en-US" sz="3200" b="1" i="0" dirty="0">
                <a:solidFill>
                  <a:srgbClr val="1428A0"/>
                </a:solidFill>
                <a:latin typeface="Noto Sans KR" pitchFamily="34" charset="0"/>
                <a:ea typeface="Noto Sans KR" pitchFamily="34" charset="-122"/>
                <a:cs typeface="Noto Sans KR" pitchFamily="34" charset="-120"/>
              </a:rPr>
              <a:t>OOO AI</a:t>
            </a:r>
            <a:r>
              <a:rPr lang="en-US" sz="3200" b="1" i="0" dirty="0">
                <a:solidFill>
                  <a:srgbClr val="0E1320"/>
                </a:solidFill>
                <a:latin typeface="Noto Sans KR" pitchFamily="34" charset="0"/>
                <a:ea typeface="Noto Sans KR" pitchFamily="34" charset="-122"/>
                <a:cs typeface="Noto Sans KR" pitchFamily="34" charset="-120"/>
              </a:rPr>
              <a:t>를 도입하려면?</a:t>
            </a:r>
            <a:endParaRPr lang="en-US" sz="3200" dirty="0"/>
          </a:p>
        </p:txBody>
      </p:sp>
      <p:sp>
        <p:nvSpPr>
          <p:cNvPr id="3" name="Shape 1"/>
          <p:cNvSpPr/>
          <p:nvPr/>
        </p:nvSpPr>
        <p:spPr>
          <a:xfrm>
            <a:off x="815975" y="1435695"/>
            <a:ext cx="3414117" cy="2122190"/>
          </a:xfrm>
          <a:prstGeom prst="roundRect">
            <a:avLst>
              <a:gd name="adj" fmla="val 3441"/>
            </a:avLst>
          </a:prstGeom>
          <a:solidFill>
            <a:srgbClr val="FFFFFF"/>
          </a:solidFill>
          <a:ln w="6350">
            <a:solidFill>
              <a:srgbClr val="DCE1EA"/>
            </a:solidFill>
            <a:prstDash val="solid"/>
          </a:ln>
        </p:spPr>
      </p:sp>
      <p:sp>
        <p:nvSpPr>
          <p:cNvPr id="4" name="Text 2"/>
          <p:cNvSpPr/>
          <p:nvPr/>
        </p:nvSpPr>
        <p:spPr>
          <a:xfrm>
            <a:off x="1022350" y="1616670"/>
            <a:ext cx="504825"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8A0"/>
                </a:solidFill>
                <a:latin typeface="Noto Sans KR" pitchFamily="34" charset="0"/>
                <a:ea typeface="Noto Sans KR" pitchFamily="34" charset="-122"/>
                <a:cs typeface="Noto Sans KR" pitchFamily="34" charset="-120"/>
              </a:rPr>
              <a:t>누가</a:t>
            </a:r>
            <a:endParaRPr lang="en-US" sz="1800" dirty="0"/>
          </a:p>
        </p:txBody>
      </p:sp>
      <p:sp>
        <p:nvSpPr>
          <p:cNvPr id="5" name="Text 3"/>
          <p:cNvSpPr/>
          <p:nvPr/>
        </p:nvSpPr>
        <p:spPr>
          <a:xfrm>
            <a:off x="1531938" y="1669951"/>
            <a:ext cx="3824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Who</a:t>
            </a:r>
            <a:endParaRPr lang="en-US" sz="1200" dirty="0"/>
          </a:p>
        </p:txBody>
      </p:sp>
      <p:sp>
        <p:nvSpPr>
          <p:cNvPr id="6" name="Shape 4"/>
          <p:cNvSpPr/>
          <p:nvPr/>
        </p:nvSpPr>
        <p:spPr>
          <a:xfrm>
            <a:off x="4388842" y="1435695"/>
            <a:ext cx="3414216" cy="2122190"/>
          </a:xfrm>
          <a:prstGeom prst="roundRect">
            <a:avLst>
              <a:gd name="adj" fmla="val 3441"/>
            </a:avLst>
          </a:prstGeom>
          <a:solidFill>
            <a:srgbClr val="FFFFFF"/>
          </a:solidFill>
          <a:ln w="6350">
            <a:solidFill>
              <a:srgbClr val="DCE1EA"/>
            </a:solidFill>
            <a:prstDash val="solid"/>
          </a:ln>
        </p:spPr>
      </p:sp>
      <p:sp>
        <p:nvSpPr>
          <p:cNvPr id="7" name="Text 5"/>
          <p:cNvSpPr/>
          <p:nvPr/>
        </p:nvSpPr>
        <p:spPr>
          <a:xfrm>
            <a:off x="4595217" y="1616670"/>
            <a:ext cx="504825"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8A0"/>
                </a:solidFill>
                <a:latin typeface="Noto Sans KR" pitchFamily="34" charset="0"/>
                <a:ea typeface="Noto Sans KR" pitchFamily="34" charset="-122"/>
                <a:cs typeface="Noto Sans KR" pitchFamily="34" charset="-120"/>
              </a:rPr>
              <a:t>언제</a:t>
            </a:r>
            <a:endParaRPr lang="en-US" sz="1800" dirty="0"/>
          </a:p>
        </p:txBody>
      </p:sp>
      <p:sp>
        <p:nvSpPr>
          <p:cNvPr id="8" name="Text 6"/>
          <p:cNvSpPr/>
          <p:nvPr/>
        </p:nvSpPr>
        <p:spPr>
          <a:xfrm>
            <a:off x="5104805" y="1669951"/>
            <a:ext cx="4844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When</a:t>
            </a:r>
            <a:endParaRPr lang="en-US" sz="1200" dirty="0"/>
          </a:p>
        </p:txBody>
      </p:sp>
      <p:sp>
        <p:nvSpPr>
          <p:cNvPr id="9" name="Shape 7"/>
          <p:cNvSpPr/>
          <p:nvPr/>
        </p:nvSpPr>
        <p:spPr>
          <a:xfrm>
            <a:off x="7961809" y="1435695"/>
            <a:ext cx="3414216" cy="2122190"/>
          </a:xfrm>
          <a:prstGeom prst="roundRect">
            <a:avLst>
              <a:gd name="adj" fmla="val 3441"/>
            </a:avLst>
          </a:prstGeom>
          <a:solidFill>
            <a:srgbClr val="FFFFFF"/>
          </a:solidFill>
          <a:ln w="6350">
            <a:solidFill>
              <a:srgbClr val="DCE1EA"/>
            </a:solidFill>
            <a:prstDash val="solid"/>
          </a:ln>
        </p:spPr>
      </p:sp>
      <p:sp>
        <p:nvSpPr>
          <p:cNvPr id="10" name="Text 8"/>
          <p:cNvSpPr/>
          <p:nvPr/>
        </p:nvSpPr>
        <p:spPr>
          <a:xfrm>
            <a:off x="8168184" y="1616670"/>
            <a:ext cx="719931"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8A0"/>
                </a:solidFill>
                <a:latin typeface="Noto Sans KR" pitchFamily="34" charset="0"/>
                <a:ea typeface="Noto Sans KR" pitchFamily="34" charset="-122"/>
                <a:cs typeface="Noto Sans KR" pitchFamily="34" charset="-120"/>
              </a:rPr>
              <a:t>어디서</a:t>
            </a:r>
            <a:endParaRPr lang="en-US" sz="1800" dirty="0"/>
          </a:p>
        </p:txBody>
      </p:sp>
      <p:sp>
        <p:nvSpPr>
          <p:cNvPr id="11" name="Text 9"/>
          <p:cNvSpPr/>
          <p:nvPr/>
        </p:nvSpPr>
        <p:spPr>
          <a:xfrm>
            <a:off x="8888115" y="1669951"/>
            <a:ext cx="54268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Where</a:t>
            </a:r>
            <a:endParaRPr lang="en-US" sz="1200" dirty="0"/>
          </a:p>
        </p:txBody>
      </p:sp>
      <p:sp>
        <p:nvSpPr>
          <p:cNvPr id="12" name="Shape 10"/>
          <p:cNvSpPr/>
          <p:nvPr/>
        </p:nvSpPr>
        <p:spPr>
          <a:xfrm>
            <a:off x="815975" y="3716635"/>
            <a:ext cx="3414117" cy="2122190"/>
          </a:xfrm>
          <a:prstGeom prst="roundRect">
            <a:avLst>
              <a:gd name="adj" fmla="val 3441"/>
            </a:avLst>
          </a:prstGeom>
          <a:solidFill>
            <a:srgbClr val="FFFFFF"/>
          </a:solidFill>
          <a:ln w="6350">
            <a:solidFill>
              <a:srgbClr val="DCE1EA"/>
            </a:solidFill>
            <a:prstDash val="solid"/>
          </a:ln>
        </p:spPr>
      </p:sp>
      <p:sp>
        <p:nvSpPr>
          <p:cNvPr id="13" name="Text 11"/>
          <p:cNvSpPr/>
          <p:nvPr/>
        </p:nvSpPr>
        <p:spPr>
          <a:xfrm>
            <a:off x="1022350" y="3897610"/>
            <a:ext cx="719931"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8A0"/>
                </a:solidFill>
                <a:latin typeface="Noto Sans KR" pitchFamily="34" charset="0"/>
                <a:ea typeface="Noto Sans KR" pitchFamily="34" charset="-122"/>
                <a:cs typeface="Noto Sans KR" pitchFamily="34" charset="-120"/>
              </a:rPr>
              <a:t>무엇을</a:t>
            </a:r>
            <a:endParaRPr lang="en-US" sz="1800" dirty="0"/>
          </a:p>
        </p:txBody>
      </p:sp>
      <p:sp>
        <p:nvSpPr>
          <p:cNvPr id="14" name="Text 12"/>
          <p:cNvSpPr/>
          <p:nvPr/>
        </p:nvSpPr>
        <p:spPr>
          <a:xfrm>
            <a:off x="1742281" y="3950891"/>
            <a:ext cx="4402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What</a:t>
            </a:r>
            <a:endParaRPr lang="en-US" sz="1200" dirty="0"/>
          </a:p>
        </p:txBody>
      </p:sp>
      <p:sp>
        <p:nvSpPr>
          <p:cNvPr id="15" name="Shape 13"/>
          <p:cNvSpPr/>
          <p:nvPr/>
        </p:nvSpPr>
        <p:spPr>
          <a:xfrm>
            <a:off x="4388842" y="3716635"/>
            <a:ext cx="3414216" cy="2122190"/>
          </a:xfrm>
          <a:prstGeom prst="roundRect">
            <a:avLst>
              <a:gd name="adj" fmla="val 3441"/>
            </a:avLst>
          </a:prstGeom>
          <a:solidFill>
            <a:srgbClr val="FFFFFF"/>
          </a:solidFill>
          <a:ln w="6350">
            <a:solidFill>
              <a:srgbClr val="DCE1EA"/>
            </a:solidFill>
            <a:prstDash val="solid"/>
          </a:ln>
        </p:spPr>
      </p:sp>
      <p:sp>
        <p:nvSpPr>
          <p:cNvPr id="16" name="Text 14"/>
          <p:cNvSpPr/>
          <p:nvPr/>
        </p:nvSpPr>
        <p:spPr>
          <a:xfrm>
            <a:off x="4595217" y="3897610"/>
            <a:ext cx="719931"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8A0"/>
                </a:solidFill>
                <a:latin typeface="Noto Sans KR" pitchFamily="34" charset="0"/>
                <a:ea typeface="Noto Sans KR" pitchFamily="34" charset="-122"/>
                <a:cs typeface="Noto Sans KR" pitchFamily="34" charset="-120"/>
              </a:rPr>
              <a:t>어떻게</a:t>
            </a:r>
            <a:endParaRPr lang="en-US" sz="1800" dirty="0"/>
          </a:p>
        </p:txBody>
      </p:sp>
      <p:sp>
        <p:nvSpPr>
          <p:cNvPr id="17" name="Text 15"/>
          <p:cNvSpPr/>
          <p:nvPr/>
        </p:nvSpPr>
        <p:spPr>
          <a:xfrm>
            <a:off x="5315148" y="3950891"/>
            <a:ext cx="38945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How</a:t>
            </a:r>
            <a:endParaRPr lang="en-US" sz="1200" dirty="0"/>
          </a:p>
        </p:txBody>
      </p:sp>
      <p:sp>
        <p:nvSpPr>
          <p:cNvPr id="18" name="Shape 16"/>
          <p:cNvSpPr/>
          <p:nvPr/>
        </p:nvSpPr>
        <p:spPr>
          <a:xfrm>
            <a:off x="7961809" y="3716635"/>
            <a:ext cx="3414216" cy="2122190"/>
          </a:xfrm>
          <a:prstGeom prst="roundRect">
            <a:avLst>
              <a:gd name="adj" fmla="val 3441"/>
            </a:avLst>
          </a:prstGeom>
          <a:solidFill>
            <a:srgbClr val="FFFFFF"/>
          </a:solidFill>
          <a:ln w="6350">
            <a:solidFill>
              <a:srgbClr val="DCE1EA"/>
            </a:solidFill>
            <a:prstDash val="solid"/>
          </a:ln>
        </p:spPr>
      </p:sp>
      <p:sp>
        <p:nvSpPr>
          <p:cNvPr id="19" name="Text 17"/>
          <p:cNvSpPr/>
          <p:nvPr/>
        </p:nvSpPr>
        <p:spPr>
          <a:xfrm>
            <a:off x="8168184" y="3897610"/>
            <a:ext cx="261144"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8A0"/>
                </a:solidFill>
                <a:latin typeface="Noto Sans KR" pitchFamily="34" charset="0"/>
                <a:ea typeface="Noto Sans KR" pitchFamily="34" charset="-122"/>
                <a:cs typeface="Noto Sans KR" pitchFamily="34" charset="-120"/>
              </a:rPr>
              <a:t>왜</a:t>
            </a:r>
            <a:endParaRPr lang="en-US" sz="1800" dirty="0"/>
          </a:p>
        </p:txBody>
      </p:sp>
      <p:sp>
        <p:nvSpPr>
          <p:cNvPr id="20" name="Text 18"/>
          <p:cNvSpPr/>
          <p:nvPr/>
        </p:nvSpPr>
        <p:spPr>
          <a:xfrm>
            <a:off x="8467427" y="3950891"/>
            <a:ext cx="3669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Why</a:t>
            </a:r>
            <a:endParaRPr lang="en-US" sz="1200" dirty="0"/>
          </a:p>
        </p:txBody>
      </p:sp>
      <p:sp>
        <p:nvSpPr>
          <p:cNvPr id="21" name="Text 19"/>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01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6604000" y="0"/>
            <a:ext cx="5588000" cy="6858000"/>
          </a:xfrm>
          <a:prstGeom prst="rect">
            <a:avLst/>
          </a:prstGeom>
          <a:solidFill>
            <a:srgbClr val="0A1633"/>
          </a:solidFill>
          <a:ln/>
        </p:spPr>
      </p:sp>
      <p:sp>
        <p:nvSpPr>
          <p:cNvPr id="3" name="Text 1"/>
          <p:cNvSpPr/>
          <p:nvPr/>
        </p:nvSpPr>
        <p:spPr>
          <a:xfrm>
            <a:off x="812800" y="711200"/>
            <a:ext cx="54940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428A0"/>
                </a:solidFill>
                <a:latin typeface="Noto Sans KR" pitchFamily="34" charset="0"/>
                <a:ea typeface="Noto Sans KR" pitchFamily="34" charset="-122"/>
                <a:cs typeface="Noto Sans KR" pitchFamily="34" charset="-120"/>
              </a:rPr>
              <a:t>01 · 사례</a:t>
            </a:r>
            <a:endParaRPr lang="en-US" sz="1200" dirty="0"/>
          </a:p>
        </p:txBody>
      </p:sp>
      <p:sp>
        <p:nvSpPr>
          <p:cNvPr id="4" name="Text 2"/>
          <p:cNvSpPr/>
          <p:nvPr>
            <p:ph type="title"/>
          </p:nvPr>
        </p:nvSpPr>
        <p:spPr>
          <a:xfrm>
            <a:off x="812800" y="1000720"/>
            <a:ext cx="5494020" cy="415032"/>
          </a:xfrm>
          <a:prstGeom prst="rect">
            <a:avLst/>
          </a:prstGeom>
          <a:noFill/>
          <a:ln/>
        </p:spPr>
        <p:txBody>
          <a:bodyPr wrap="square" lIns="0" tIns="0" rIns="0" bIns="0" rtlCol="0" anchor="t">
            <a:normAutofit/>
          </a:bodyPr>
          <a:lstStyle/>
          <a:p>
            <a:pPr algn="l" indent="0" marL="0">
              <a:lnSpc>
                <a:spcPts val="3068"/>
              </a:lnSpc>
              <a:buNone/>
            </a:pPr>
            <a:r>
              <a:rPr lang="en-US" sz="2600" b="1" i="0" dirty="0">
                <a:solidFill>
                  <a:srgbClr val="0E1320"/>
                </a:solidFill>
                <a:latin typeface="Noto Sans KR" pitchFamily="34" charset="0"/>
                <a:ea typeface="Noto Sans KR" pitchFamily="34" charset="-122"/>
                <a:cs typeface="Noto Sans KR" pitchFamily="34" charset="-120"/>
              </a:rPr>
              <a:t>3.20 사이버테러 공격 출발지 IP 분석</a:t>
            </a:r>
            <a:endParaRPr lang="en-US" sz="2600" dirty="0"/>
          </a:p>
        </p:txBody>
      </p:sp>
      <p:sp>
        <p:nvSpPr>
          <p:cNvPr id="5" name="Text 3"/>
          <p:cNvSpPr/>
          <p:nvPr/>
        </p:nvSpPr>
        <p:spPr>
          <a:xfrm>
            <a:off x="812800" y="1466552"/>
            <a:ext cx="5494020"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366"/>
                </a:solidFill>
                <a:latin typeface="Noto Sans KR" pitchFamily="34" charset="0"/>
                <a:ea typeface="Noto Sans KR" pitchFamily="34" charset="-122"/>
                <a:cs typeface="Noto Sans KR" pitchFamily="34" charset="-120"/>
              </a:rPr>
              <a:t>2013.3.20 14시, 방송 3사·금융 3사 전산망 동시 마비 — PC·서버 약 4만 8천 대 손상</a:t>
            </a:r>
            <a:endParaRPr lang="en-US" sz="1300" dirty="0"/>
          </a:p>
        </p:txBody>
      </p:sp>
      <p:sp>
        <p:nvSpPr>
          <p:cNvPr id="6" name="Shape 4"/>
          <p:cNvSpPr/>
          <p:nvPr/>
        </p:nvSpPr>
        <p:spPr>
          <a:xfrm>
            <a:off x="812800" y="2100759"/>
            <a:ext cx="5334000" cy="0"/>
          </a:xfrm>
          <a:prstGeom prst="line">
            <a:avLst/>
          </a:prstGeom>
          <a:noFill/>
          <a:ln w="6350">
            <a:solidFill>
              <a:srgbClr val="DCE1EA"/>
            </a:solidFill>
            <a:prstDash val="solid"/>
          </a:ln>
        </p:spPr>
      </p:sp>
      <p:sp>
        <p:nvSpPr>
          <p:cNvPr id="7" name="Text 5"/>
          <p:cNvSpPr/>
          <p:nvPr/>
        </p:nvSpPr>
        <p:spPr>
          <a:xfrm>
            <a:off x="812800" y="2262684"/>
            <a:ext cx="1511300" cy="327620"/>
          </a:xfrm>
          <a:prstGeom prst="rect">
            <a:avLst/>
          </a:prstGeom>
          <a:noFill/>
          <a:ln/>
        </p:spPr>
        <p:txBody>
          <a:bodyPr wrap="none" lIns="0" tIns="0" rIns="0" bIns="0" rtlCol="0" anchor="t">
            <a:normAutofit/>
          </a:bodyPr>
          <a:lstStyle/>
          <a:p>
            <a:pPr algn="l" indent="0" marL="0">
              <a:lnSpc>
                <a:spcPts val="2380"/>
              </a:lnSpc>
              <a:buNone/>
            </a:pPr>
            <a:r>
              <a:rPr lang="en-US" sz="1700" b="1" dirty="0">
                <a:solidFill>
                  <a:srgbClr val="C8102E"/>
                </a:solidFill>
                <a:latin typeface="Noto Sans KR" pitchFamily="34" charset="0"/>
                <a:ea typeface="Noto Sans KR" pitchFamily="34" charset="-122"/>
                <a:cs typeface="Noto Sans KR" pitchFamily="34" charset="-120"/>
              </a:rPr>
              <a:t>175.45.178.xx</a:t>
            </a:r>
            <a:endParaRPr lang="en-US" sz="1700" dirty="0"/>
          </a:p>
        </p:txBody>
      </p:sp>
      <p:sp>
        <p:nvSpPr>
          <p:cNvPr id="8" name="Text 6"/>
          <p:cNvSpPr/>
          <p:nvPr/>
        </p:nvSpPr>
        <p:spPr>
          <a:xfrm>
            <a:off x="2425700" y="2192834"/>
            <a:ext cx="3832733"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366"/>
                </a:solidFill>
                <a:latin typeface="Noto Sans KR" pitchFamily="34" charset="0"/>
                <a:ea typeface="Noto Sans KR" pitchFamily="34" charset="-122"/>
                <a:cs typeface="Noto Sans KR" pitchFamily="34" charset="-120"/>
              </a:rPr>
              <a:t>북한 내부 IP. 1,590회 원격 접속 중 13회 노출 — 통신 오류로 수 분간 드러남</a:t>
            </a:r>
            <a:endParaRPr lang="en-US" sz="1200" dirty="0"/>
          </a:p>
        </p:txBody>
      </p:sp>
      <p:sp>
        <p:nvSpPr>
          <p:cNvPr id="9" name="Shape 7"/>
          <p:cNvSpPr/>
          <p:nvPr/>
        </p:nvSpPr>
        <p:spPr>
          <a:xfrm>
            <a:off x="812800" y="2726829"/>
            <a:ext cx="5334000" cy="0"/>
          </a:xfrm>
          <a:prstGeom prst="line">
            <a:avLst/>
          </a:prstGeom>
          <a:noFill/>
          <a:ln w="6350">
            <a:solidFill>
              <a:srgbClr val="DCE1EA"/>
            </a:solidFill>
            <a:prstDash val="solid"/>
          </a:ln>
        </p:spPr>
      </p:sp>
      <p:sp>
        <p:nvSpPr>
          <p:cNvPr id="10" name="Text 8"/>
          <p:cNvSpPr/>
          <p:nvPr/>
        </p:nvSpPr>
        <p:spPr>
          <a:xfrm>
            <a:off x="812800" y="2888754"/>
            <a:ext cx="1511300" cy="327620"/>
          </a:xfrm>
          <a:prstGeom prst="rect">
            <a:avLst/>
          </a:prstGeom>
          <a:noFill/>
          <a:ln/>
        </p:spPr>
        <p:txBody>
          <a:bodyPr wrap="none" lIns="0" tIns="0" rIns="0" bIns="0" rtlCol="0" anchor="t">
            <a:normAutofit/>
          </a:bodyPr>
          <a:lstStyle/>
          <a:p>
            <a:pPr algn="l" indent="0" marL="0">
              <a:lnSpc>
                <a:spcPts val="2380"/>
              </a:lnSpc>
              <a:buNone/>
            </a:pPr>
            <a:r>
              <a:rPr lang="en-US" sz="1700" b="1" dirty="0">
                <a:solidFill>
                  <a:srgbClr val="1428A0"/>
                </a:solidFill>
                <a:latin typeface="Noto Sans KR" pitchFamily="34" charset="0"/>
                <a:ea typeface="Noto Sans KR" pitchFamily="34" charset="-122"/>
                <a:cs typeface="Noto Sans KR" pitchFamily="34" charset="-120"/>
              </a:rPr>
              <a:t>경유지 49곳</a:t>
            </a:r>
            <a:endParaRPr lang="en-US" sz="1700" dirty="0"/>
          </a:p>
        </p:txBody>
      </p:sp>
      <p:sp>
        <p:nvSpPr>
          <p:cNvPr id="11" name="Text 9"/>
          <p:cNvSpPr/>
          <p:nvPr/>
        </p:nvSpPr>
        <p:spPr>
          <a:xfrm>
            <a:off x="2425700" y="2818904"/>
            <a:ext cx="3832733"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366"/>
                </a:solidFill>
                <a:latin typeface="Noto Sans KR" pitchFamily="34" charset="0"/>
                <a:ea typeface="Noto Sans KR" pitchFamily="34" charset="-122"/>
                <a:cs typeface="Noto Sans KR" pitchFamily="34" charset="-120"/>
              </a:rPr>
              <a:t>국내 25·해외 24곳(미국·홍콩 등 10개국). 22곳은 과거 북한 해킹에 쓰인 곳</a:t>
            </a:r>
            <a:endParaRPr lang="en-US" sz="1200" dirty="0"/>
          </a:p>
        </p:txBody>
      </p:sp>
      <p:sp>
        <p:nvSpPr>
          <p:cNvPr id="12" name="Shape 10"/>
          <p:cNvSpPr/>
          <p:nvPr/>
        </p:nvSpPr>
        <p:spPr>
          <a:xfrm>
            <a:off x="812800" y="3352899"/>
            <a:ext cx="5334000" cy="0"/>
          </a:xfrm>
          <a:prstGeom prst="line">
            <a:avLst/>
          </a:prstGeom>
          <a:noFill/>
          <a:ln w="6350">
            <a:solidFill>
              <a:srgbClr val="DCE1EA"/>
            </a:solidFill>
            <a:prstDash val="solid"/>
          </a:ln>
        </p:spPr>
      </p:sp>
      <p:sp>
        <p:nvSpPr>
          <p:cNvPr id="13" name="Text 11"/>
          <p:cNvSpPr/>
          <p:nvPr/>
        </p:nvSpPr>
        <p:spPr>
          <a:xfrm>
            <a:off x="812800" y="3514824"/>
            <a:ext cx="1511300" cy="327620"/>
          </a:xfrm>
          <a:prstGeom prst="rect">
            <a:avLst/>
          </a:prstGeom>
          <a:noFill/>
          <a:ln/>
        </p:spPr>
        <p:txBody>
          <a:bodyPr wrap="none" lIns="0" tIns="0" rIns="0" bIns="0" rtlCol="0" anchor="t">
            <a:normAutofit/>
          </a:bodyPr>
          <a:lstStyle/>
          <a:p>
            <a:pPr algn="l" indent="0" marL="0">
              <a:lnSpc>
                <a:spcPts val="2380"/>
              </a:lnSpc>
              <a:buNone/>
            </a:pPr>
            <a:r>
              <a:rPr lang="en-US" sz="1700" b="1" dirty="0">
                <a:solidFill>
                  <a:srgbClr val="1428A0"/>
                </a:solidFill>
                <a:latin typeface="Noto Sans KR" pitchFamily="34" charset="0"/>
                <a:ea typeface="Noto Sans KR" pitchFamily="34" charset="-122"/>
                <a:cs typeface="Noto Sans KR" pitchFamily="34" charset="-120"/>
              </a:rPr>
              <a:t>9개월</a:t>
            </a:r>
            <a:endParaRPr lang="en-US" sz="1700" dirty="0"/>
          </a:p>
        </p:txBody>
      </p:sp>
      <p:sp>
        <p:nvSpPr>
          <p:cNvPr id="14" name="Text 12"/>
          <p:cNvSpPr/>
          <p:nvPr/>
        </p:nvSpPr>
        <p:spPr>
          <a:xfrm>
            <a:off x="2425700" y="3444974"/>
            <a:ext cx="3832733"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366"/>
                </a:solidFill>
                <a:latin typeface="Noto Sans KR" pitchFamily="34" charset="0"/>
                <a:ea typeface="Noto Sans KR" pitchFamily="34" charset="-122"/>
                <a:cs typeface="Noto Sans KR" pitchFamily="34" charset="-120"/>
              </a:rPr>
              <a:t>2012.6.28부터 침투·준비, 2013.2.22 북한 IP로 첫 시험 접속</a:t>
            </a:r>
            <a:endParaRPr lang="en-US" sz="1200" dirty="0"/>
          </a:p>
        </p:txBody>
      </p:sp>
      <p:sp>
        <p:nvSpPr>
          <p:cNvPr id="15" name="Shape 13"/>
          <p:cNvSpPr/>
          <p:nvPr/>
        </p:nvSpPr>
        <p:spPr>
          <a:xfrm>
            <a:off x="812800" y="3978970"/>
            <a:ext cx="5334000" cy="0"/>
          </a:xfrm>
          <a:prstGeom prst="line">
            <a:avLst/>
          </a:prstGeom>
          <a:noFill/>
          <a:ln w="6350">
            <a:solidFill>
              <a:srgbClr val="DCE1EA"/>
            </a:solidFill>
            <a:prstDash val="solid"/>
          </a:ln>
        </p:spPr>
      </p:sp>
      <p:sp>
        <p:nvSpPr>
          <p:cNvPr id="16" name="Shape 14"/>
          <p:cNvSpPr/>
          <p:nvPr/>
        </p:nvSpPr>
        <p:spPr>
          <a:xfrm>
            <a:off x="812800" y="4465340"/>
            <a:ext cx="5334000" cy="0"/>
          </a:xfrm>
          <a:prstGeom prst="line">
            <a:avLst/>
          </a:prstGeom>
          <a:noFill/>
          <a:ln w="6350">
            <a:solidFill>
              <a:srgbClr val="DCE1EA"/>
            </a:solidFill>
            <a:prstDash val="solid"/>
          </a:ln>
        </p:spPr>
      </p:sp>
      <p:sp>
        <p:nvSpPr>
          <p:cNvPr id="17" name="Text 15"/>
          <p:cNvSpPr/>
          <p:nvPr/>
        </p:nvSpPr>
        <p:spPr>
          <a:xfrm>
            <a:off x="812800" y="4071045"/>
            <a:ext cx="1511300" cy="327620"/>
          </a:xfrm>
          <a:prstGeom prst="rect">
            <a:avLst/>
          </a:prstGeom>
          <a:noFill/>
          <a:ln/>
        </p:spPr>
        <p:txBody>
          <a:bodyPr wrap="none" lIns="0" tIns="0" rIns="0" bIns="0" rtlCol="0" anchor="t">
            <a:normAutofit/>
          </a:bodyPr>
          <a:lstStyle/>
          <a:p>
            <a:pPr algn="l" indent="0" marL="0">
              <a:lnSpc>
                <a:spcPts val="2380"/>
              </a:lnSpc>
              <a:buNone/>
            </a:pPr>
            <a:r>
              <a:rPr lang="en-US" sz="1700" b="1" dirty="0">
                <a:solidFill>
                  <a:srgbClr val="1428A0"/>
                </a:solidFill>
                <a:latin typeface="Noto Sans KR" pitchFamily="34" charset="0"/>
                <a:ea typeface="Noto Sans KR" pitchFamily="34" charset="-122"/>
                <a:cs typeface="Noto Sans KR" pitchFamily="34" charset="-120"/>
              </a:rPr>
              <a:t>악성코드 76종</a:t>
            </a:r>
            <a:endParaRPr lang="en-US" sz="1700" dirty="0"/>
          </a:p>
        </p:txBody>
      </p:sp>
      <p:sp>
        <p:nvSpPr>
          <p:cNvPr id="18" name="Text 16"/>
          <p:cNvSpPr/>
          <p:nvPr/>
        </p:nvSpPr>
        <p:spPr>
          <a:xfrm>
            <a:off x="2425700" y="4111625"/>
            <a:ext cx="3832733"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366"/>
                </a:solidFill>
                <a:latin typeface="Noto Sans KR" pitchFamily="34" charset="0"/>
                <a:ea typeface="Noto Sans KR" pitchFamily="34" charset="-122"/>
                <a:cs typeface="Noto Sans KR" pitchFamily="34" charset="-120"/>
              </a:rPr>
              <a:t>30종 이상이 과거 북한 공격 코드를 재활용</a:t>
            </a:r>
            <a:endParaRPr lang="en-US" sz="1200" dirty="0"/>
          </a:p>
        </p:txBody>
      </p:sp>
      <p:sp>
        <p:nvSpPr>
          <p:cNvPr id="19" name="Shape 17"/>
          <p:cNvSpPr/>
          <p:nvPr/>
        </p:nvSpPr>
        <p:spPr>
          <a:xfrm>
            <a:off x="812800" y="4620915"/>
            <a:ext cx="5334000" cy="770830"/>
          </a:xfrm>
          <a:prstGeom prst="roundRect">
            <a:avLst>
              <a:gd name="adj" fmla="val 13181"/>
            </a:avLst>
          </a:prstGeom>
          <a:solidFill>
            <a:srgbClr val="1428A0"/>
          </a:solidFill>
          <a:ln/>
        </p:spPr>
      </p:sp>
      <p:sp>
        <p:nvSpPr>
          <p:cNvPr id="20" name="Text 18"/>
          <p:cNvSpPr/>
          <p:nvPr/>
        </p:nvSpPr>
        <p:spPr>
          <a:xfrm>
            <a:off x="1016000" y="4760615"/>
            <a:ext cx="5075428"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FFFFF"/>
                </a:solidFill>
                <a:latin typeface="Noto Sans KR" pitchFamily="34" charset="0"/>
                <a:ea typeface="Noto Sans KR" pitchFamily="34" charset="-122"/>
                <a:cs typeface="Noto Sans KR" pitchFamily="34" charset="-120"/>
              </a:rPr>
              <a:t>2013.4.10 민·관·군 합동대응팀: “북한 정찰총국 소행”</a:t>
            </a:r>
            <a:endParaRPr lang="en-US" sz="1400" dirty="0"/>
          </a:p>
        </p:txBody>
      </p:sp>
      <p:sp>
        <p:nvSpPr>
          <p:cNvPr id="21" name="Text 19"/>
          <p:cNvSpPr/>
          <p:nvPr/>
        </p:nvSpPr>
        <p:spPr>
          <a:xfrm>
            <a:off x="1016000" y="5038725"/>
            <a:ext cx="50754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F5"/>
                </a:solidFill>
                <a:latin typeface="Noto Sans KR" pitchFamily="34" charset="0"/>
                <a:ea typeface="Noto Sans KR" pitchFamily="34" charset="-122"/>
                <a:cs typeface="Noto Sans KR" pitchFamily="34" charset="-120"/>
              </a:rPr>
              <a:t>공격자가 로그 대부분을 지웠지만, 남아 있던 원격 접속 로그로 출발지를 추적</a:t>
            </a:r>
            <a:endParaRPr lang="en-US" sz="1200" dirty="0"/>
          </a:p>
        </p:txBody>
      </p:sp>
      <p:sp>
        <p:nvSpPr>
          <p:cNvPr id="22" name="Text 20"/>
          <p:cNvSpPr/>
          <p:nvPr/>
        </p:nvSpPr>
        <p:spPr>
          <a:xfrm>
            <a:off x="6985000" y="711200"/>
            <a:ext cx="470916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FFFF"/>
                </a:solidFill>
                <a:latin typeface="Noto Sans KR" pitchFamily="34" charset="0"/>
                <a:ea typeface="Noto Sans KR" pitchFamily="34" charset="-122"/>
                <a:cs typeface="Noto Sans KR" pitchFamily="34" charset="-120"/>
              </a:rPr>
              <a:t>공격 경로 (IP 역추적 결과)</a:t>
            </a:r>
            <a:endParaRPr lang="en-US" sz="1500" dirty="0"/>
          </a:p>
        </p:txBody>
      </p:sp>
      <p:sp>
        <p:nvSpPr>
          <p:cNvPr id="23" name="Text 21"/>
          <p:cNvSpPr/>
          <p:nvPr/>
        </p:nvSpPr>
        <p:spPr>
          <a:xfrm>
            <a:off x="6985000" y="1028700"/>
            <a:ext cx="4709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A524"/>
                </a:solidFill>
                <a:latin typeface="Noto Sans KR" pitchFamily="34" charset="0"/>
                <a:ea typeface="Noto Sans KR" pitchFamily="34" charset="-122"/>
                <a:cs typeface="Noto Sans KR" pitchFamily="34" charset="-120"/>
              </a:rPr>
              <a:t>- - -</a:t>
            </a:r>
            <a:r>
              <a:rPr lang="en-US" sz="1200" dirty="0">
                <a:solidFill>
                  <a:srgbClr val="D7DEEE"/>
                </a:solidFill>
                <a:latin typeface="Noto Sans KR" pitchFamily="34" charset="0"/>
                <a:ea typeface="Noto Sans KR" pitchFamily="34" charset="-122"/>
                <a:cs typeface="Noto Sans KR" pitchFamily="34" charset="-120"/>
              </a:rPr>
              <a:t> 북한 → 해외 경유지 24곳 (미국·홍콩 등 10개국)</a:t>
            </a:r>
            <a:endParaRPr lang="en-US" sz="1200" dirty="0"/>
          </a:p>
        </p:txBody>
      </p:sp>
      <p:sp>
        <p:nvSpPr>
          <p:cNvPr id="24" name="Text 22"/>
          <p:cNvSpPr/>
          <p:nvPr/>
        </p:nvSpPr>
        <p:spPr>
          <a:xfrm>
            <a:off x="6985000" y="1257300"/>
            <a:ext cx="4709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6B6F"/>
                </a:solidFill>
                <a:latin typeface="Noto Sans KR" pitchFamily="34" charset="0"/>
                <a:ea typeface="Noto Sans KR" pitchFamily="34" charset="-122"/>
                <a:cs typeface="Noto Sans KR" pitchFamily="34" charset="-120"/>
              </a:rPr>
              <a:t>——</a:t>
            </a:r>
            <a:r>
              <a:rPr lang="en-US" sz="1200" dirty="0">
                <a:solidFill>
                  <a:srgbClr val="D7DEEE"/>
                </a:solidFill>
                <a:latin typeface="Noto Sans KR" pitchFamily="34" charset="0"/>
                <a:ea typeface="Noto Sans KR" pitchFamily="34" charset="-122"/>
                <a:cs typeface="Noto Sans KR" pitchFamily="34" charset="-120"/>
              </a:rPr>
              <a:t> 해외 경유지 → 국내 경유지 25곳 → 피해기관</a:t>
            </a:r>
            <a:endParaRPr lang="en-US" sz="1200" dirty="0"/>
          </a:p>
        </p:txBody>
      </p:sp>
      <p:pic>
        <p:nvPicPr>
          <p:cNvPr id="25" name="Image 0" descr="3.20 사이버테러 공격 경로: 북한 평양의 내부 IP에서 미국·홍콩 등 해외 경유지를 거쳐 국내 경유지와 서울의 피해기관으로 이어진 경로를 지구본 위에 표시">    </p:cNvPr>
          <p:cNvPicPr>
            <a:picLocks noChangeAspect="1"/>
          </p:cNvPicPr>
          <p:nvPr/>
        </p:nvPicPr>
        <p:blipFill>
          <a:blip r:embed="rId1"/>
          <a:srcRect l="0" r="0" t="0" b="0"/>
          <a:stretch/>
        </p:blipFill>
        <p:spPr>
          <a:xfrm>
            <a:off x="7239000" y="1587500"/>
            <a:ext cx="4318000" cy="4318000"/>
          </a:xfrm>
          <a:prstGeom prst="rect">
            <a:avLst/>
          </a:prstGeom>
        </p:spPr>
      </p:pic>
      <p:sp>
        <p:nvSpPr>
          <p:cNvPr id="26" name="Text 23"/>
          <p:cNvSpPr/>
          <p:nvPr/>
        </p:nvSpPr>
        <p:spPr>
          <a:xfrm>
            <a:off x="7226300" y="2984500"/>
            <a:ext cx="1485900" cy="436761"/>
          </a:xfrm>
          <a:prstGeom prst="rect">
            <a:avLst/>
          </a:prstGeom>
          <a:noFill/>
          <a:ln/>
        </p:spPr>
        <p:txBody>
          <a:bodyPr wrap="square" lIns="0" tIns="0" rIns="0" bIns="0" rtlCol="0" anchor="t">
            <a:normAutofit/>
          </a:bodyPr>
          <a:lstStyle/>
          <a:p>
            <a:pPr algn="r" indent="0" marL="0">
              <a:lnSpc>
                <a:spcPts val="1620"/>
              </a:lnSpc>
              <a:buNone/>
            </a:pPr>
            <a:r>
              <a:rPr lang="en-US" sz="1200" b="1" dirty="0">
                <a:solidFill>
                  <a:srgbClr val="FF6B6F"/>
                </a:solidFill>
                <a:latin typeface="Noto Sans KR" pitchFamily="34" charset="0"/>
                <a:ea typeface="Noto Sans KR" pitchFamily="34" charset="-122"/>
                <a:cs typeface="Noto Sans KR" pitchFamily="34" charset="-120"/>
              </a:rPr>
              <a:t>평양 · 북한 IP</a:t>
            </a:r>
            <a:endParaRPr lang="en-US" sz="1200" dirty="0"/>
          </a:p>
          <a:p>
            <a:pPr algn="r" indent="0" marL="0">
              <a:lnSpc>
                <a:spcPts val="1620"/>
              </a:lnSpc>
              <a:buNone/>
            </a:pPr>
            <a:r>
              <a:rPr lang="en-US" sz="1200" b="1" dirty="0">
                <a:solidFill>
                  <a:srgbClr val="FFFFFF"/>
                </a:solidFill>
                <a:latin typeface="Noto Sans KR" pitchFamily="34" charset="0"/>
                <a:ea typeface="Noto Sans KR" pitchFamily="34" charset="-122"/>
                <a:cs typeface="Noto Sans KR" pitchFamily="34" charset="-120"/>
              </a:rPr>
              <a:t>175.45.178.xx</a:t>
            </a:r>
            <a:endParaRPr lang="en-US" sz="1200" dirty="0"/>
          </a:p>
        </p:txBody>
      </p:sp>
      <p:sp>
        <p:nvSpPr>
          <p:cNvPr id="27" name="Text 24"/>
          <p:cNvSpPr/>
          <p:nvPr/>
        </p:nvSpPr>
        <p:spPr>
          <a:xfrm>
            <a:off x="8915400" y="3594100"/>
            <a:ext cx="1831340" cy="43676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8FB3FF"/>
                </a:solidFill>
                <a:latin typeface="Noto Sans KR" pitchFamily="34" charset="0"/>
                <a:ea typeface="Noto Sans KR" pitchFamily="34" charset="-122"/>
                <a:cs typeface="Noto Sans KR" pitchFamily="34" charset="-120"/>
              </a:rPr>
              <a:t>서울 · 피해기관</a:t>
            </a:r>
            <a:endParaRPr lang="en-US" sz="1200" dirty="0"/>
          </a:p>
          <a:p>
            <a:pPr algn="l" indent="0" marL="0">
              <a:lnSpc>
                <a:spcPts val="1620"/>
              </a:lnSpc>
              <a:buNone/>
            </a:pPr>
            <a:r>
              <a:rPr lang="en-US" sz="1200" b="1" dirty="0">
                <a:solidFill>
                  <a:srgbClr val="FFFFFF"/>
                </a:solidFill>
                <a:latin typeface="Noto Sans KR" pitchFamily="34" charset="0"/>
                <a:ea typeface="Noto Sans KR" pitchFamily="34" charset="-122"/>
                <a:cs typeface="Noto Sans KR" pitchFamily="34" charset="-120"/>
              </a:rPr>
              <a:t>방송 3사·금융 3사</a:t>
            </a:r>
            <a:endParaRPr lang="en-US" sz="1200" dirty="0"/>
          </a:p>
        </p:txBody>
      </p:sp>
      <p:sp>
        <p:nvSpPr>
          <p:cNvPr id="28" name="Text 25"/>
          <p:cNvSpPr/>
          <p:nvPr/>
        </p:nvSpPr>
        <p:spPr>
          <a:xfrm>
            <a:off x="6908800" y="4102100"/>
            <a:ext cx="1384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5A524"/>
                </a:solidFill>
                <a:latin typeface="Noto Sans KR" pitchFamily="34" charset="0"/>
                <a:ea typeface="Noto Sans KR" pitchFamily="34" charset="-122"/>
                <a:cs typeface="Noto Sans KR" pitchFamily="34" charset="-120"/>
              </a:rPr>
              <a:t>경유 · 홍콩</a:t>
            </a:r>
            <a:endParaRPr lang="en-US" sz="1200" dirty="0"/>
          </a:p>
        </p:txBody>
      </p:sp>
      <p:sp>
        <p:nvSpPr>
          <p:cNvPr id="29" name="Text 26"/>
          <p:cNvSpPr/>
          <p:nvPr/>
        </p:nvSpPr>
        <p:spPr>
          <a:xfrm>
            <a:off x="9855200" y="2717800"/>
            <a:ext cx="13208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F5A524"/>
                </a:solidFill>
                <a:latin typeface="Noto Sans KR" pitchFamily="34" charset="0"/>
                <a:ea typeface="Noto Sans KR" pitchFamily="34" charset="-122"/>
                <a:cs typeface="Noto Sans KR" pitchFamily="34" charset="-120"/>
              </a:rPr>
              <a:t>경유 · 미국</a:t>
            </a:r>
            <a:endParaRPr lang="en-US" sz="1200" dirty="0"/>
          </a:p>
        </p:txBody>
      </p:sp>
      <p:sp>
        <p:nvSpPr>
          <p:cNvPr id="30" name="Text 27"/>
          <p:cNvSpPr/>
          <p:nvPr/>
        </p:nvSpPr>
        <p:spPr>
          <a:xfrm>
            <a:off x="812800" y="6238280"/>
            <a:ext cx="5791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출처: 미래창조과학부·민관군 합동대응팀 발표(2013.4.10), 서울신문·아이뉴스24 보도</a:t>
            </a:r>
            <a:endParaRPr lang="en-US" sz="1200" dirty="0"/>
          </a:p>
        </p:txBody>
      </p:sp>
      <p:sp>
        <p:nvSpPr>
          <p:cNvPr id="31" name="Text 28"/>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0D6"/>
                </a:solidFill>
                <a:latin typeface="Noto Sans KR" pitchFamily="34" charset="0"/>
                <a:ea typeface="Noto Sans KR" pitchFamily="34" charset="-122"/>
                <a:cs typeface="Noto Sans KR"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0E1320"/>
                </a:solidFill>
                <a:latin typeface="Noto Sans KR" pitchFamily="34" charset="0"/>
                <a:ea typeface="Noto Sans KR" pitchFamily="34" charset="-122"/>
                <a:cs typeface="Noto Sans KR" pitchFamily="34" charset="-120"/>
              </a:rPr>
              <a:t>Figma · Adobe Firefly</a:t>
            </a:r>
            <a:endParaRPr lang="en-US" sz="2800" dirty="0"/>
          </a:p>
        </p:txBody>
      </p:sp>
      <p:sp>
        <p:nvSpPr>
          <p:cNvPr id="3" name="Text 1"/>
          <p:cNvSpPr/>
          <p:nvPr/>
        </p:nvSpPr>
        <p:spPr>
          <a:xfrm>
            <a:off x="812800" y="1323280"/>
            <a:ext cx="79682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8A0"/>
                </a:solidFill>
                <a:latin typeface="Noto Sans KR" pitchFamily="34" charset="0"/>
                <a:ea typeface="Noto Sans KR" pitchFamily="34" charset="-122"/>
                <a:cs typeface="Noto Sans KR" pitchFamily="34" charset="-120"/>
              </a:rPr>
              <a:t>Figma</a:t>
            </a:r>
            <a:endParaRPr lang="en-US" sz="1800" dirty="0"/>
          </a:p>
        </p:txBody>
      </p:sp>
      <p:sp>
        <p:nvSpPr>
          <p:cNvPr id="4" name="Text 2"/>
          <p:cNvSpPr/>
          <p:nvPr/>
        </p:nvSpPr>
        <p:spPr>
          <a:xfrm>
            <a:off x="1609626" y="1374080"/>
            <a:ext cx="202263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6"/>
                </a:solidFill>
                <a:latin typeface="Noto Sans KR" pitchFamily="34" charset="0"/>
                <a:ea typeface="Noto Sans KR" pitchFamily="34" charset="-122"/>
                <a:cs typeface="Noto Sans KR" pitchFamily="34" charset="-120"/>
              </a:rPr>
              <a:t>프롬프트로 앱·화면 생성</a:t>
            </a:r>
            <a:endParaRPr lang="en-US" sz="1300" dirty="0"/>
          </a:p>
        </p:txBody>
      </p:sp>
      <p:pic>
        <p:nvPicPr>
          <p:cNvPr id="5" name="Image 0" descr="Figma Make에서 프롬프트로 생성한 음악 플레이어 앱 화면">    </p:cNvPr>
          <p:cNvPicPr>
            <a:picLocks noChangeAspect="1"/>
          </p:cNvPicPr>
          <p:nvPr/>
        </p:nvPicPr>
        <p:blipFill>
          <a:blip r:embed="rId1"/>
          <a:srcRect l="0" r="0" t="368" b="368"/>
          <a:stretch/>
        </p:blipFill>
        <p:spPr>
          <a:xfrm>
            <a:off x="812800" y="1681361"/>
            <a:ext cx="5181600" cy="3429000"/>
          </a:xfrm>
          <a:prstGeom prst="roundRect">
            <a:avLst>
              <a:gd name="adj" fmla="val 2222"/>
            </a:avLst>
          </a:prstGeom>
        </p:spPr>
      </p:pic>
      <p:sp>
        <p:nvSpPr>
          <p:cNvPr id="6" name="Text 3"/>
          <p:cNvSpPr/>
          <p:nvPr/>
        </p:nvSpPr>
        <p:spPr>
          <a:xfrm>
            <a:off x="812800" y="5186561"/>
            <a:ext cx="53370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Figma Make 생성 결과 · 출처: The Verge</a:t>
            </a:r>
            <a:endParaRPr lang="en-US" sz="1200" dirty="0"/>
          </a:p>
        </p:txBody>
      </p:sp>
      <p:sp>
        <p:nvSpPr>
          <p:cNvPr id="7" name="Text 4"/>
          <p:cNvSpPr/>
          <p:nvPr/>
        </p:nvSpPr>
        <p:spPr>
          <a:xfrm>
            <a:off x="6197600" y="1323280"/>
            <a:ext cx="158839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8A0"/>
                </a:solidFill>
                <a:latin typeface="Noto Sans KR" pitchFamily="34" charset="0"/>
                <a:ea typeface="Noto Sans KR" pitchFamily="34" charset="-122"/>
                <a:cs typeface="Noto Sans KR" pitchFamily="34" charset="-120"/>
              </a:rPr>
              <a:t>Adobe Firefly</a:t>
            </a:r>
            <a:endParaRPr lang="en-US" sz="1800" dirty="0"/>
          </a:p>
        </p:txBody>
      </p:sp>
      <p:sp>
        <p:nvSpPr>
          <p:cNvPr id="8" name="Text 5"/>
          <p:cNvSpPr/>
          <p:nvPr/>
        </p:nvSpPr>
        <p:spPr>
          <a:xfrm>
            <a:off x="7785993" y="1374080"/>
            <a:ext cx="238720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6"/>
                </a:solidFill>
                <a:latin typeface="Noto Sans KR" pitchFamily="34" charset="0"/>
                <a:ea typeface="Noto Sans KR" pitchFamily="34" charset="-122"/>
                <a:cs typeface="Noto Sans KR" pitchFamily="34" charset="-120"/>
              </a:rPr>
              <a:t>프롬프트로 이미지·영상 생성</a:t>
            </a:r>
            <a:endParaRPr lang="en-US" sz="1300" dirty="0"/>
          </a:p>
        </p:txBody>
      </p:sp>
      <p:pic>
        <p:nvPicPr>
          <p:cNvPr id="9" name="Image 1" descr="Adobe Firefly 이미지 모델로 생성한 인물 이미지 비교">    </p:cNvPr>
          <p:cNvPicPr>
            <a:picLocks noChangeAspect="1"/>
          </p:cNvPicPr>
          <p:nvPr/>
        </p:nvPicPr>
        <p:blipFill>
          <a:blip r:embed="rId2"/>
          <a:srcRect l="3219" r="3219" t="0" b="0"/>
          <a:stretch/>
        </p:blipFill>
        <p:spPr>
          <a:xfrm>
            <a:off x="6197600" y="1681361"/>
            <a:ext cx="5181600" cy="3429000"/>
          </a:xfrm>
          <a:prstGeom prst="roundRect">
            <a:avLst>
              <a:gd name="adj" fmla="val 2222"/>
            </a:avLst>
          </a:prstGeom>
        </p:spPr>
      </p:pic>
      <p:sp>
        <p:nvSpPr>
          <p:cNvPr id="10" name="Text 6"/>
          <p:cNvSpPr/>
          <p:nvPr/>
        </p:nvSpPr>
        <p:spPr>
          <a:xfrm>
            <a:off x="6197600" y="5186561"/>
            <a:ext cx="53370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Firefly 이미지 생성 결과 · 출처: TechCrunch</a:t>
            </a:r>
            <a:endParaRPr lang="en-US" sz="1200" dirty="0"/>
          </a:p>
        </p:txBody>
      </p:sp>
      <p:sp>
        <p:nvSpPr>
          <p:cNvPr id="11" name="Text 7"/>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Text 0"/>
          <p:cNvSpPr/>
          <p:nvPr>
            <p:ph type="title"/>
          </p:nvPr>
        </p:nvSpPr>
        <p:spPr>
          <a:xfrm>
            <a:off x="812800" y="660400"/>
            <a:ext cx="5656302"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0E1320"/>
                </a:solidFill>
                <a:latin typeface="Noto Sans KR" pitchFamily="34" charset="0"/>
                <a:ea typeface="Noto Sans KR" pitchFamily="34" charset="-122"/>
                <a:cs typeface="Noto Sans KR" pitchFamily="34" charset="-120"/>
              </a:rPr>
              <a:t>SSS AI 도입 방식 공유 시 고려사항</a:t>
            </a:r>
            <a:endParaRPr lang="en-US" sz="2600" dirty="0"/>
          </a:p>
        </p:txBody>
      </p:sp>
      <p:sp>
        <p:nvSpPr>
          <p:cNvPr id="3" name="Text 1"/>
          <p:cNvSpPr/>
          <p:nvPr/>
        </p:nvSpPr>
        <p:spPr>
          <a:xfrm>
            <a:off x="9575800" y="788690"/>
            <a:ext cx="1857502"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A</a:t>
            </a:r>
            <a:r>
              <a:rPr lang="en-US" sz="1200" dirty="0">
                <a:solidFill>
                  <a:srgbClr val="5B6577"/>
                </a:solidFill>
                <a:latin typeface="Noto Sans KR" pitchFamily="34" charset="0"/>
                <a:ea typeface="Noto Sans KR" pitchFamily="34" charset="-122"/>
                <a:cs typeface="Noto Sans KR" pitchFamily="34" charset="-120"/>
              </a:rPr>
              <a:t> 삼성 A (도입사) · </a:t>
            </a:r>
            <a:r>
              <a:rPr lang="en-US" sz="1200" b="1" dirty="0">
                <a:solidFill>
                  <a:srgbClr val="5B6577"/>
                </a:solidFill>
                <a:latin typeface="Noto Sans KR" pitchFamily="34" charset="0"/>
                <a:ea typeface="Noto Sans KR" pitchFamily="34" charset="-122"/>
                <a:cs typeface="Noto Sans KR" pitchFamily="34" charset="-120"/>
              </a:rPr>
              <a:t>B</a:t>
            </a:r>
            <a:r>
              <a:rPr lang="en-US" sz="1200" dirty="0">
                <a:solidFill>
                  <a:srgbClr val="5B6577"/>
                </a:solidFill>
                <a:latin typeface="Noto Sans KR" pitchFamily="34" charset="0"/>
                <a:ea typeface="Noto Sans KR" pitchFamily="34" charset="-122"/>
                <a:cs typeface="Noto Sans KR" pitchFamily="34" charset="-120"/>
              </a:rPr>
              <a:t> 삼성 B</a:t>
            </a:r>
            <a:endParaRPr lang="en-US" sz="1200" dirty="0"/>
          </a:p>
        </p:txBody>
      </p:sp>
      <p:sp>
        <p:nvSpPr>
          <p:cNvPr id="4" name="Text 2"/>
          <p:cNvSpPr/>
          <p:nvPr/>
        </p:nvSpPr>
        <p:spPr>
          <a:xfrm>
            <a:off x="3437930" y="1192510"/>
            <a:ext cx="4499570" cy="373360"/>
          </a:xfrm>
          <a:custGeom>
            <a:avLst/>
            <a:gdLst/>
            <a:ahLst/>
            <a:cxnLst/>
            <a:rect l="l" t="t" r="r" b="b"/>
            <a:pathLst>
              <a:path w="4499570" h="373360">
                <a:moveTo>
                  <a:pt x="127000" y="0"/>
                </a:moveTo>
                <a:lnTo>
                  <a:pt x="4474170" y="0"/>
                </a:lnTo>
                <a:arcTo hR="25400" wR="25400" stAng="16200000" swAng="5400000"/>
                <a:lnTo>
                  <a:pt x="4499570" y="246360"/>
                </a:lnTo>
                <a:arcTo hR="127000" wR="127000" stAng="0" swAng="5400000"/>
                <a:lnTo>
                  <a:pt x="127000" y="373360"/>
                </a:lnTo>
                <a:arcTo hR="127000" wR="127000" stAng="5400000" swAng="5400000"/>
                <a:lnTo>
                  <a:pt x="0" y="127000"/>
                </a:lnTo>
                <a:arcTo hR="127000" wR="127000" stAng="10800000" swAng="5400000"/>
                <a:close/>
              </a:path>
            </a:pathLst>
          </a:custGeom>
          <a:solidFill>
            <a:srgbClr val="DCE4F7"/>
          </a:solidFill>
          <a:ln/>
        </p:spPr>
        <p:txBody>
          <a:bodyPr wrap="none" lIns="0" tIns="0" rIns="0" bIns="0" rtlCol="0" anchor="ctr">
            <a:normAutofit/>
          </a:bodyPr>
          <a:lstStyle/>
          <a:p>
            <a:pPr algn="ctr" indent="0" marL="0">
              <a:lnSpc>
                <a:spcPts val="1740"/>
              </a:lnSpc>
              <a:buNone/>
            </a:pPr>
            <a:r>
              <a:rPr lang="en-US" sz="1200" dirty="0">
                <a:solidFill>
                  <a:srgbClr val="0E1320"/>
                </a:solidFill>
                <a:latin typeface="Noto Sans KR" pitchFamily="34" charset="0"/>
                <a:ea typeface="Noto Sans KR" pitchFamily="34" charset="-122"/>
                <a:cs typeface="Noto Sans KR" pitchFamily="34" charset="-120"/>
              </a:rPr>
              <a:t>A야, 너희 이번에 SSS AI 쓴다며? 우리도 그대로 똑같이 따라 하려고.</a:t>
            </a:r>
            <a:endParaRPr lang="en-US" sz="1200" dirty="0"/>
          </a:p>
        </p:txBody>
      </p:sp>
      <p:sp>
        <p:nvSpPr>
          <p:cNvPr id="5" name="Text 3"/>
          <p:cNvSpPr/>
          <p:nvPr/>
        </p:nvSpPr>
        <p:spPr>
          <a:xfrm>
            <a:off x="8026400" y="1192510"/>
            <a:ext cx="355600" cy="355600"/>
          </a:xfrm>
          <a:prstGeom prst="roundRect">
            <a:avLst>
              <a:gd name="adj" fmla="val 50000"/>
            </a:avLst>
          </a:prstGeom>
          <a:solidFill>
            <a:srgbClr val="5B6577"/>
          </a:solidFill>
          <a:ln/>
        </p:spPr>
        <p:txBody>
          <a:bodyPr wrap="square" lIns="0" tIns="0" rIns="0" bIns="0" rtlCol="0" anchor="ctr">
            <a:normAutofit/>
          </a:bodyPr>
          <a:lstStyle/>
          <a:p>
            <a:pPr algn="ctr" indent="0" marL="0">
              <a:lnSpc>
                <a:spcPts val="1820"/>
              </a:lnSpc>
              <a:buNone/>
            </a:pPr>
            <a:r>
              <a:rPr lang="en-US" sz="1300" b="1" dirty="0">
                <a:solidFill>
                  <a:srgbClr val="FFFFFF"/>
                </a:solidFill>
                <a:latin typeface="Noto Sans KR" pitchFamily="34" charset="0"/>
                <a:ea typeface="Noto Sans KR" pitchFamily="34" charset="-122"/>
                <a:cs typeface="Noto Sans KR" pitchFamily="34" charset="-120"/>
              </a:rPr>
              <a:t>B</a:t>
            </a:r>
            <a:endParaRPr lang="en-US" sz="1300" dirty="0"/>
          </a:p>
        </p:txBody>
      </p:sp>
      <p:sp>
        <p:nvSpPr>
          <p:cNvPr id="6" name="Text 4"/>
          <p:cNvSpPr/>
          <p:nvPr/>
        </p:nvSpPr>
        <p:spPr>
          <a:xfrm>
            <a:off x="812800" y="1642070"/>
            <a:ext cx="355600" cy="355600"/>
          </a:xfrm>
          <a:prstGeom prst="roundRect">
            <a:avLst>
              <a:gd name="adj" fmla="val 50000"/>
            </a:avLst>
          </a:prstGeom>
          <a:solidFill>
            <a:srgbClr val="1428A0"/>
          </a:solidFill>
          <a:ln/>
        </p:spPr>
        <p:txBody>
          <a:bodyPr wrap="square" lIns="0" tIns="0" rIns="0" bIns="0" rtlCol="0" anchor="ctr">
            <a:normAutofit/>
          </a:bodyPr>
          <a:lstStyle/>
          <a:p>
            <a:pPr algn="ctr" indent="0" marL="0">
              <a:lnSpc>
                <a:spcPts val="1820"/>
              </a:lnSpc>
              <a:buNone/>
            </a:pPr>
            <a:r>
              <a:rPr lang="en-US" sz="1300" b="1" dirty="0">
                <a:solidFill>
                  <a:srgbClr val="FFFFFF"/>
                </a:solidFill>
                <a:latin typeface="Noto Sans KR" pitchFamily="34" charset="0"/>
                <a:ea typeface="Noto Sans KR" pitchFamily="34" charset="-122"/>
                <a:cs typeface="Noto Sans KR" pitchFamily="34" charset="-120"/>
              </a:rPr>
              <a:t>A</a:t>
            </a:r>
            <a:endParaRPr lang="en-US" sz="1300" dirty="0"/>
          </a:p>
        </p:txBody>
      </p:sp>
      <p:sp>
        <p:nvSpPr>
          <p:cNvPr id="7" name="Text 5"/>
          <p:cNvSpPr/>
          <p:nvPr/>
        </p:nvSpPr>
        <p:spPr>
          <a:xfrm>
            <a:off x="1260475" y="1645245"/>
            <a:ext cx="4929684" cy="379710"/>
          </a:xfrm>
          <a:custGeom>
            <a:avLst/>
            <a:gdLst/>
            <a:ahLst/>
            <a:cxnLst/>
            <a:rect l="l" t="t" r="r" b="b"/>
            <a:pathLst>
              <a:path w="4929684" h="379710">
                <a:moveTo>
                  <a:pt x="22225" y="0"/>
                </a:moveTo>
                <a:lnTo>
                  <a:pt x="4805859" y="0"/>
                </a:lnTo>
                <a:arcTo hR="123825" wR="123825" stAng="16200000" swAng="5400000"/>
                <a:lnTo>
                  <a:pt x="4929684" y="255885"/>
                </a:lnTo>
                <a:arcTo hR="123825" wR="123825" stAng="0" swAng="5400000"/>
                <a:lnTo>
                  <a:pt x="123825" y="379710"/>
                </a:lnTo>
                <a:arcTo hR="123825" wR="123825" stAng="5400000" swAng="5400000"/>
                <a:lnTo>
                  <a:pt x="0" y="22225"/>
                </a:lnTo>
                <a:arcTo hR="22225" wR="22225" stAng="10800000" swAng="5400000"/>
                <a:close/>
              </a:path>
            </a:pathLst>
          </a:custGeom>
          <a:solidFill>
            <a:srgbClr val="FFFFFF"/>
          </a:solidFill>
          <a:ln w="6350">
            <a:solidFill>
              <a:srgbClr val="DCE1EA"/>
            </a:solidFill>
            <a:prstDash val="solid"/>
          </a:ln>
        </p:spPr>
        <p:txBody>
          <a:bodyPr wrap="none" lIns="0" tIns="0" rIns="0" bIns="0" rtlCol="0" anchor="ctr">
            <a:normAutofit/>
          </a:bodyPr>
          <a:lstStyle/>
          <a:p>
            <a:pPr algn="ctr" indent="0" marL="0">
              <a:lnSpc>
                <a:spcPts val="1740"/>
              </a:lnSpc>
              <a:buNone/>
            </a:pPr>
            <a:r>
              <a:rPr lang="en-US" sz="1200" dirty="0">
                <a:solidFill>
                  <a:srgbClr val="0E1320"/>
                </a:solidFill>
                <a:latin typeface="Noto Sans KR" pitchFamily="34" charset="0"/>
                <a:ea typeface="Noto Sans KR" pitchFamily="34" charset="-122"/>
                <a:cs typeface="Noto Sans KR" pitchFamily="34" charset="-120"/>
              </a:rPr>
              <a:t>엔터프라이즈 계정에 SSO 붙이고, 관리자 설정값은 우리 거 그대로 쓰면 돼.</a:t>
            </a:r>
            <a:endParaRPr lang="en-US" sz="1200" dirty="0"/>
          </a:p>
        </p:txBody>
      </p:sp>
      <p:sp>
        <p:nvSpPr>
          <p:cNvPr id="8" name="Text 6"/>
          <p:cNvSpPr/>
          <p:nvPr/>
        </p:nvSpPr>
        <p:spPr>
          <a:xfrm>
            <a:off x="5367437" y="2104330"/>
            <a:ext cx="2570063" cy="373360"/>
          </a:xfrm>
          <a:custGeom>
            <a:avLst/>
            <a:gdLst/>
            <a:ahLst/>
            <a:cxnLst/>
            <a:rect l="l" t="t" r="r" b="b"/>
            <a:pathLst>
              <a:path w="2570063" h="373360">
                <a:moveTo>
                  <a:pt x="127000" y="0"/>
                </a:moveTo>
                <a:lnTo>
                  <a:pt x="2544663" y="0"/>
                </a:lnTo>
                <a:arcTo hR="25400" wR="25400" stAng="16200000" swAng="5400000"/>
                <a:lnTo>
                  <a:pt x="2570063" y="246360"/>
                </a:lnTo>
                <a:arcTo hR="127000" wR="127000" stAng="0" swAng="5400000"/>
                <a:lnTo>
                  <a:pt x="127000" y="373360"/>
                </a:lnTo>
                <a:arcTo hR="127000" wR="127000" stAng="5400000" swAng="5400000"/>
                <a:lnTo>
                  <a:pt x="0" y="127000"/>
                </a:lnTo>
                <a:arcTo hR="127000" wR="127000" stAng="10800000" swAng="5400000"/>
                <a:close/>
              </a:path>
            </a:pathLst>
          </a:custGeom>
          <a:solidFill>
            <a:srgbClr val="DCE4F7"/>
          </a:solidFill>
          <a:ln/>
        </p:spPr>
        <p:txBody>
          <a:bodyPr wrap="none" lIns="0" tIns="0" rIns="0" bIns="0" rtlCol="0" anchor="ctr">
            <a:normAutofit/>
          </a:bodyPr>
          <a:lstStyle/>
          <a:p>
            <a:pPr algn="ctr" indent="0" marL="0">
              <a:lnSpc>
                <a:spcPts val="1740"/>
              </a:lnSpc>
              <a:buNone/>
            </a:pPr>
            <a:r>
              <a:rPr lang="en-US" sz="1200" dirty="0">
                <a:solidFill>
                  <a:srgbClr val="0E1320"/>
                </a:solidFill>
                <a:latin typeface="Noto Sans KR" pitchFamily="34" charset="0"/>
                <a:ea typeface="Noto Sans KR" pitchFamily="34" charset="-122"/>
                <a:cs typeface="Noto Sans KR" pitchFamily="34" charset="-120"/>
              </a:rPr>
              <a:t>오케이, 좋아. 이대로 하면 되는 거지?</a:t>
            </a:r>
            <a:endParaRPr lang="en-US" sz="1200" dirty="0"/>
          </a:p>
        </p:txBody>
      </p:sp>
      <p:sp>
        <p:nvSpPr>
          <p:cNvPr id="9" name="Text 7"/>
          <p:cNvSpPr/>
          <p:nvPr/>
        </p:nvSpPr>
        <p:spPr>
          <a:xfrm>
            <a:off x="8026400" y="2104330"/>
            <a:ext cx="355600" cy="355600"/>
          </a:xfrm>
          <a:prstGeom prst="roundRect">
            <a:avLst>
              <a:gd name="adj" fmla="val 50000"/>
            </a:avLst>
          </a:prstGeom>
          <a:solidFill>
            <a:srgbClr val="5B6577"/>
          </a:solidFill>
          <a:ln/>
        </p:spPr>
        <p:txBody>
          <a:bodyPr wrap="square" lIns="0" tIns="0" rIns="0" bIns="0" rtlCol="0" anchor="ctr">
            <a:normAutofit/>
          </a:bodyPr>
          <a:lstStyle/>
          <a:p>
            <a:pPr algn="ctr" indent="0" marL="0">
              <a:lnSpc>
                <a:spcPts val="1820"/>
              </a:lnSpc>
              <a:buNone/>
            </a:pPr>
            <a:r>
              <a:rPr lang="en-US" sz="1300" b="1" dirty="0">
                <a:solidFill>
                  <a:srgbClr val="FFFFFF"/>
                </a:solidFill>
                <a:latin typeface="Noto Sans KR" pitchFamily="34" charset="0"/>
                <a:ea typeface="Noto Sans KR" pitchFamily="34" charset="-122"/>
                <a:cs typeface="Noto Sans KR" pitchFamily="34" charset="-120"/>
              </a:rPr>
              <a:t>B</a:t>
            </a:r>
            <a:endParaRPr lang="en-US" sz="1300" dirty="0"/>
          </a:p>
        </p:txBody>
      </p:sp>
      <p:sp>
        <p:nvSpPr>
          <p:cNvPr id="10" name="Text 8"/>
          <p:cNvSpPr/>
          <p:nvPr/>
        </p:nvSpPr>
        <p:spPr>
          <a:xfrm>
            <a:off x="812800" y="2553891"/>
            <a:ext cx="355600" cy="355600"/>
          </a:xfrm>
          <a:prstGeom prst="roundRect">
            <a:avLst>
              <a:gd name="adj" fmla="val 50000"/>
            </a:avLst>
          </a:prstGeom>
          <a:solidFill>
            <a:srgbClr val="1428A0"/>
          </a:solidFill>
          <a:ln/>
        </p:spPr>
        <p:txBody>
          <a:bodyPr wrap="square" lIns="0" tIns="0" rIns="0" bIns="0" rtlCol="0" anchor="ctr">
            <a:normAutofit/>
          </a:bodyPr>
          <a:lstStyle/>
          <a:p>
            <a:pPr algn="ctr" indent="0" marL="0">
              <a:lnSpc>
                <a:spcPts val="1820"/>
              </a:lnSpc>
              <a:buNone/>
            </a:pPr>
            <a:r>
              <a:rPr lang="en-US" sz="1300" b="1" dirty="0">
                <a:solidFill>
                  <a:srgbClr val="FFFFFF"/>
                </a:solidFill>
                <a:latin typeface="Noto Sans KR" pitchFamily="34" charset="0"/>
                <a:ea typeface="Noto Sans KR" pitchFamily="34" charset="-122"/>
                <a:cs typeface="Noto Sans KR" pitchFamily="34" charset="-120"/>
              </a:rPr>
              <a:t>A</a:t>
            </a:r>
            <a:endParaRPr lang="en-US" sz="1300" dirty="0"/>
          </a:p>
        </p:txBody>
      </p:sp>
      <p:sp>
        <p:nvSpPr>
          <p:cNvPr id="11" name="Shape 9"/>
          <p:cNvSpPr/>
          <p:nvPr/>
        </p:nvSpPr>
        <p:spPr>
          <a:xfrm>
            <a:off x="1260475" y="2557066"/>
            <a:ext cx="6430466" cy="1365151"/>
          </a:xfrm>
          <a:custGeom>
            <a:avLst/>
            <a:gdLst/>
            <a:ahLst/>
            <a:cxnLst/>
            <a:rect l="l" t="t" r="r" b="b"/>
            <a:pathLst>
              <a:path w="6430466" h="1365151">
                <a:moveTo>
                  <a:pt x="22225" y="0"/>
                </a:moveTo>
                <a:lnTo>
                  <a:pt x="6306641" y="0"/>
                </a:lnTo>
                <a:arcTo hR="123825" wR="123825" stAng="16200000" swAng="5400000"/>
                <a:lnTo>
                  <a:pt x="6430466" y="1241326"/>
                </a:lnTo>
                <a:arcTo hR="123825" wR="123825" stAng="0" swAng="5400000"/>
                <a:lnTo>
                  <a:pt x="123825" y="1365151"/>
                </a:lnTo>
                <a:arcTo hR="123825" wR="123825" stAng="5400000" swAng="5400000"/>
                <a:lnTo>
                  <a:pt x="0" y="22225"/>
                </a:lnTo>
                <a:arcTo hR="22225" wR="22225" stAng="10800000" swAng="5400000"/>
                <a:close/>
              </a:path>
            </a:pathLst>
          </a:custGeom>
          <a:solidFill>
            <a:srgbClr val="FFFFFF"/>
          </a:solidFill>
          <a:ln w="6350">
            <a:solidFill>
              <a:srgbClr val="DCE1EA"/>
            </a:solidFill>
            <a:prstDash val="solid"/>
          </a:ln>
        </p:spPr>
      </p:sp>
      <p:sp>
        <p:nvSpPr>
          <p:cNvPr id="12" name="Text 10"/>
          <p:cNvSpPr/>
          <p:nvPr/>
        </p:nvSpPr>
        <p:spPr>
          <a:xfrm>
            <a:off x="1403350" y="2636441"/>
            <a:ext cx="6329058"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0E1320"/>
                </a:solidFill>
                <a:latin typeface="Noto Sans KR" pitchFamily="34" charset="0"/>
                <a:ea typeface="Noto Sans KR" pitchFamily="34" charset="-122"/>
                <a:cs typeface="Noto Sans KR" pitchFamily="34" charset="-120"/>
              </a:rPr>
              <a:t>근데 그거 쉽지 않을 텐데? 설정만 똑같이 한다고 되는 게 아니거든.</a:t>
            </a:r>
            <a:endParaRPr lang="en-US" sz="1200" dirty="0"/>
          </a:p>
        </p:txBody>
      </p:sp>
      <p:sp>
        <p:nvSpPr>
          <p:cNvPr id="13" name="Text 11"/>
          <p:cNvSpPr/>
          <p:nvPr/>
        </p:nvSpPr>
        <p:spPr>
          <a:xfrm>
            <a:off x="1403350" y="2882801"/>
            <a:ext cx="6329058"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0E1320"/>
                </a:solidFill>
                <a:latin typeface="Noto Sans KR" pitchFamily="34" charset="0"/>
                <a:ea typeface="Noto Sans KR" pitchFamily="34" charset="-122"/>
                <a:cs typeface="Noto Sans KR" pitchFamily="34" charset="-120"/>
              </a:rPr>
              <a:t>프롬프트 검증은 우리가 </a:t>
            </a:r>
            <a:r>
              <a:rPr lang="en-US" sz="1200" b="1" dirty="0">
                <a:solidFill>
                  <a:srgbClr val="C8102E"/>
                </a:solidFill>
                <a:latin typeface="Noto Sans KR" pitchFamily="34" charset="0"/>
                <a:ea typeface="Noto Sans KR" pitchFamily="34" charset="-122"/>
                <a:cs typeface="Noto Sans KR" pitchFamily="34" charset="-120"/>
              </a:rPr>
              <a:t>AI 레드팀 전담 부서</a:t>
            </a:r>
            <a:r>
              <a:rPr lang="en-US" sz="1200" dirty="0">
                <a:solidFill>
                  <a:srgbClr val="0E1320"/>
                </a:solidFill>
                <a:latin typeface="Noto Sans KR" pitchFamily="34" charset="0"/>
                <a:ea typeface="Noto Sans KR" pitchFamily="34" charset="-122"/>
                <a:cs typeface="Noto Sans KR" pitchFamily="34" charset="-120"/>
              </a:rPr>
              <a:t>를 따로 돌려서 맞추고 있고,</a:t>
            </a:r>
            <a:endParaRPr lang="en-US" sz="1200" dirty="0"/>
          </a:p>
        </p:txBody>
      </p:sp>
      <p:sp>
        <p:nvSpPr>
          <p:cNvPr id="14" name="Text 12"/>
          <p:cNvSpPr/>
          <p:nvPr/>
        </p:nvSpPr>
        <p:spPr>
          <a:xfrm>
            <a:off x="1403350" y="3129161"/>
            <a:ext cx="6329058"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0E1320"/>
                </a:solidFill>
                <a:latin typeface="Noto Sans KR" pitchFamily="34" charset="0"/>
                <a:ea typeface="Noto Sans KR" pitchFamily="34" charset="-122"/>
                <a:cs typeface="Noto Sans KR" pitchFamily="34" charset="-120"/>
              </a:rPr>
              <a:t>Tool 검증은 </a:t>
            </a:r>
            <a:r>
              <a:rPr lang="en-US" sz="1200" b="1" dirty="0">
                <a:solidFill>
                  <a:srgbClr val="C8102E"/>
                </a:solidFill>
                <a:latin typeface="Noto Sans KR" pitchFamily="34" charset="0"/>
                <a:ea typeface="Noto Sans KR" pitchFamily="34" charset="-122"/>
                <a:cs typeface="Noto Sans KR" pitchFamily="34" charset="-120"/>
              </a:rPr>
              <a:t>자체 MCP 마켓플레이스</a:t>
            </a:r>
            <a:r>
              <a:rPr lang="en-US" sz="1200" dirty="0">
                <a:solidFill>
                  <a:srgbClr val="0E1320"/>
                </a:solidFill>
                <a:latin typeface="Noto Sans KR" pitchFamily="34" charset="0"/>
                <a:ea typeface="Noto Sans KR" pitchFamily="34" charset="-122"/>
                <a:cs typeface="Noto Sans KR" pitchFamily="34" charset="-120"/>
              </a:rPr>
              <a:t> 만들어서 거기서 검증하고 있어.</a:t>
            </a:r>
            <a:endParaRPr lang="en-US" sz="1200" dirty="0"/>
          </a:p>
        </p:txBody>
      </p:sp>
      <p:sp>
        <p:nvSpPr>
          <p:cNvPr id="15" name="Text 13"/>
          <p:cNvSpPr/>
          <p:nvPr/>
        </p:nvSpPr>
        <p:spPr>
          <a:xfrm>
            <a:off x="1403350" y="3375521"/>
            <a:ext cx="6329058"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0E1320"/>
                </a:solidFill>
                <a:latin typeface="Noto Sans KR" pitchFamily="34" charset="0"/>
                <a:ea typeface="Noto Sans KR" pitchFamily="34" charset="-122"/>
                <a:cs typeface="Noto Sans KR" pitchFamily="34" charset="-120"/>
              </a:rPr>
              <a:t>모니터링은 </a:t>
            </a:r>
            <a:r>
              <a:rPr lang="en-US" sz="1200" b="1" dirty="0">
                <a:solidFill>
                  <a:srgbClr val="C8102E"/>
                </a:solidFill>
                <a:latin typeface="Noto Sans KR" pitchFamily="34" charset="0"/>
                <a:ea typeface="Noto Sans KR" pitchFamily="34" charset="-122"/>
                <a:cs typeface="Noto Sans KR" pitchFamily="34" charset="-120"/>
              </a:rPr>
              <a:t>Skyhigh 프록시</a:t>
            </a:r>
            <a:r>
              <a:rPr lang="en-US" sz="1200" dirty="0">
                <a:solidFill>
                  <a:srgbClr val="0E1320"/>
                </a:solidFill>
                <a:latin typeface="Noto Sans KR" pitchFamily="34" charset="0"/>
                <a:ea typeface="Noto Sans KR" pitchFamily="34" charset="-122"/>
                <a:cs typeface="Noto Sans KR" pitchFamily="34" charset="-120"/>
              </a:rPr>
              <a:t>에 </a:t>
            </a:r>
            <a:r>
              <a:rPr lang="en-US" sz="1200" b="1" dirty="0">
                <a:solidFill>
                  <a:srgbClr val="C8102E"/>
                </a:solidFill>
                <a:latin typeface="Noto Sans KR" pitchFamily="34" charset="0"/>
                <a:ea typeface="Noto Sans KR" pitchFamily="34" charset="-122"/>
                <a:cs typeface="Noto Sans KR" pitchFamily="34" charset="-120"/>
              </a:rPr>
              <a:t>AI DLP</a:t>
            </a:r>
            <a:r>
              <a:rPr lang="en-US" sz="1200" dirty="0">
                <a:solidFill>
                  <a:srgbClr val="0E1320"/>
                </a:solidFill>
                <a:latin typeface="Noto Sans KR" pitchFamily="34" charset="0"/>
                <a:ea typeface="Noto Sans KR" pitchFamily="34" charset="-122"/>
                <a:cs typeface="Noto Sans KR" pitchFamily="34" charset="-120"/>
              </a:rPr>
              <a:t> 붙여서 쓰고 있어서, </a:t>
            </a:r>
            <a:r>
              <a:rPr lang="en-US" sz="1200" b="1" dirty="0">
                <a:solidFill>
                  <a:srgbClr val="C8102E"/>
                </a:solidFill>
                <a:latin typeface="Noto Sans KR" pitchFamily="34" charset="0"/>
                <a:ea typeface="Noto Sans KR" pitchFamily="34" charset="-122"/>
                <a:cs typeface="Noto Sans KR" pitchFamily="34" charset="-120"/>
              </a:rPr>
              <a:t>~~ 룰 필터</a:t>
            </a:r>
            <a:r>
              <a:rPr lang="en-US" sz="1200" dirty="0">
                <a:solidFill>
                  <a:srgbClr val="0E1320"/>
                </a:solidFill>
                <a:latin typeface="Noto Sans KR" pitchFamily="34" charset="0"/>
                <a:ea typeface="Noto Sans KR" pitchFamily="34" charset="-122"/>
                <a:cs typeface="Noto Sans KR" pitchFamily="34" charset="-120"/>
              </a:rPr>
              <a:t> 걸어 두니까 다 잡히더라고.</a:t>
            </a:r>
            <a:endParaRPr lang="en-US" sz="1200" dirty="0"/>
          </a:p>
        </p:txBody>
      </p:sp>
      <p:sp>
        <p:nvSpPr>
          <p:cNvPr id="16" name="Text 14"/>
          <p:cNvSpPr/>
          <p:nvPr/>
        </p:nvSpPr>
        <p:spPr>
          <a:xfrm>
            <a:off x="1403350" y="3621881"/>
            <a:ext cx="6329058"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0E1320"/>
                </a:solidFill>
                <a:latin typeface="Noto Sans KR" pitchFamily="34" charset="0"/>
                <a:ea typeface="Noto Sans KR" pitchFamily="34" charset="-122"/>
                <a:cs typeface="Noto Sans KR" pitchFamily="34" charset="-120"/>
              </a:rPr>
              <a:t>계정도 </a:t>
            </a:r>
            <a:r>
              <a:rPr lang="en-US" sz="1200" b="1" dirty="0">
                <a:solidFill>
                  <a:srgbClr val="C8102E"/>
                </a:solidFill>
                <a:latin typeface="Noto Sans KR" pitchFamily="34" charset="0"/>
                <a:ea typeface="Noto Sans KR" pitchFamily="34" charset="-122"/>
                <a:cs typeface="Noto Sans KR" pitchFamily="34" charset="-120"/>
              </a:rPr>
              <a:t>인사 시스템이랑 연동</a:t>
            </a:r>
            <a:r>
              <a:rPr lang="en-US" sz="1200" dirty="0">
                <a:solidFill>
                  <a:srgbClr val="0E1320"/>
                </a:solidFill>
                <a:latin typeface="Noto Sans KR" pitchFamily="34" charset="0"/>
                <a:ea typeface="Noto Sans KR" pitchFamily="34" charset="-122"/>
                <a:cs typeface="Noto Sans KR" pitchFamily="34" charset="-120"/>
              </a:rPr>
              <a:t>해 놔서 전배·퇴사하면 자동으로 회수되고.</a:t>
            </a:r>
            <a:endParaRPr lang="en-US" sz="1200" dirty="0"/>
          </a:p>
        </p:txBody>
      </p:sp>
      <p:sp>
        <p:nvSpPr>
          <p:cNvPr id="17" name="Text 15"/>
          <p:cNvSpPr/>
          <p:nvPr/>
        </p:nvSpPr>
        <p:spPr>
          <a:xfrm>
            <a:off x="4156174" y="4001591"/>
            <a:ext cx="3781326" cy="373360"/>
          </a:xfrm>
          <a:custGeom>
            <a:avLst/>
            <a:gdLst/>
            <a:ahLst/>
            <a:cxnLst/>
            <a:rect l="l" t="t" r="r" b="b"/>
            <a:pathLst>
              <a:path w="3781326" h="373360">
                <a:moveTo>
                  <a:pt x="127000" y="0"/>
                </a:moveTo>
                <a:lnTo>
                  <a:pt x="3755926" y="0"/>
                </a:lnTo>
                <a:arcTo hR="25400" wR="25400" stAng="16200000" swAng="5400000"/>
                <a:lnTo>
                  <a:pt x="3781326" y="246360"/>
                </a:lnTo>
                <a:arcTo hR="127000" wR="127000" stAng="0" swAng="5400000"/>
                <a:lnTo>
                  <a:pt x="127000" y="373360"/>
                </a:lnTo>
                <a:arcTo hR="127000" wR="127000" stAng="5400000" swAng="5400000"/>
                <a:lnTo>
                  <a:pt x="0" y="127000"/>
                </a:lnTo>
                <a:arcTo hR="127000" wR="127000" stAng="10800000" swAng="5400000"/>
                <a:close/>
              </a:path>
            </a:pathLst>
          </a:custGeom>
          <a:solidFill>
            <a:srgbClr val="DCE4F7"/>
          </a:solidFill>
          <a:ln/>
        </p:spPr>
        <p:txBody>
          <a:bodyPr wrap="none" lIns="0" tIns="0" rIns="0" bIns="0" rtlCol="0" anchor="ctr">
            <a:normAutofit/>
          </a:bodyPr>
          <a:lstStyle/>
          <a:p>
            <a:pPr algn="ctr" indent="0" marL="0">
              <a:lnSpc>
                <a:spcPts val="1740"/>
              </a:lnSpc>
              <a:buNone/>
            </a:pPr>
            <a:r>
              <a:rPr lang="en-US" sz="1200" dirty="0">
                <a:solidFill>
                  <a:srgbClr val="0E1320"/>
                </a:solidFill>
                <a:latin typeface="Noto Sans KR" pitchFamily="34" charset="0"/>
                <a:ea typeface="Noto Sans KR" pitchFamily="34" charset="-122"/>
                <a:cs typeface="Noto Sans KR" pitchFamily="34" charset="-120"/>
              </a:rPr>
              <a:t>그래도 사전검토 항목들은 설정만 똑같이 맞추면 되겠네?</a:t>
            </a:r>
            <a:endParaRPr lang="en-US" sz="1200" dirty="0"/>
          </a:p>
        </p:txBody>
      </p:sp>
      <p:sp>
        <p:nvSpPr>
          <p:cNvPr id="18" name="Text 16"/>
          <p:cNvSpPr/>
          <p:nvPr/>
        </p:nvSpPr>
        <p:spPr>
          <a:xfrm>
            <a:off x="8026400" y="4001591"/>
            <a:ext cx="355600" cy="355600"/>
          </a:xfrm>
          <a:prstGeom prst="roundRect">
            <a:avLst>
              <a:gd name="adj" fmla="val 50000"/>
            </a:avLst>
          </a:prstGeom>
          <a:solidFill>
            <a:srgbClr val="5B6577"/>
          </a:solidFill>
          <a:ln/>
        </p:spPr>
        <p:txBody>
          <a:bodyPr wrap="square" lIns="0" tIns="0" rIns="0" bIns="0" rtlCol="0" anchor="ctr">
            <a:normAutofit/>
          </a:bodyPr>
          <a:lstStyle/>
          <a:p>
            <a:pPr algn="ctr" indent="0" marL="0">
              <a:lnSpc>
                <a:spcPts val="1820"/>
              </a:lnSpc>
              <a:buNone/>
            </a:pPr>
            <a:r>
              <a:rPr lang="en-US" sz="1300" b="1" dirty="0">
                <a:solidFill>
                  <a:srgbClr val="FFFFFF"/>
                </a:solidFill>
                <a:latin typeface="Noto Sans KR" pitchFamily="34" charset="0"/>
                <a:ea typeface="Noto Sans KR" pitchFamily="34" charset="-122"/>
                <a:cs typeface="Noto Sans KR" pitchFamily="34" charset="-120"/>
              </a:rPr>
              <a:t>B</a:t>
            </a:r>
            <a:endParaRPr lang="en-US" sz="1300" dirty="0"/>
          </a:p>
        </p:txBody>
      </p:sp>
      <p:sp>
        <p:nvSpPr>
          <p:cNvPr id="19" name="Text 17"/>
          <p:cNvSpPr/>
          <p:nvPr/>
        </p:nvSpPr>
        <p:spPr>
          <a:xfrm>
            <a:off x="812800" y="4451152"/>
            <a:ext cx="355600" cy="355600"/>
          </a:xfrm>
          <a:prstGeom prst="roundRect">
            <a:avLst>
              <a:gd name="adj" fmla="val 50000"/>
            </a:avLst>
          </a:prstGeom>
          <a:solidFill>
            <a:srgbClr val="1428A0"/>
          </a:solidFill>
          <a:ln/>
        </p:spPr>
        <p:txBody>
          <a:bodyPr wrap="square" lIns="0" tIns="0" rIns="0" bIns="0" rtlCol="0" anchor="ctr">
            <a:normAutofit/>
          </a:bodyPr>
          <a:lstStyle/>
          <a:p>
            <a:pPr algn="ctr" indent="0" marL="0">
              <a:lnSpc>
                <a:spcPts val="1820"/>
              </a:lnSpc>
              <a:buNone/>
            </a:pPr>
            <a:r>
              <a:rPr lang="en-US" sz="1300" b="1" dirty="0">
                <a:solidFill>
                  <a:srgbClr val="FFFFFF"/>
                </a:solidFill>
                <a:latin typeface="Noto Sans KR" pitchFamily="34" charset="0"/>
                <a:ea typeface="Noto Sans KR" pitchFamily="34" charset="-122"/>
                <a:cs typeface="Noto Sans KR" pitchFamily="34" charset="-120"/>
              </a:rPr>
              <a:t>A</a:t>
            </a:r>
            <a:endParaRPr lang="en-US" sz="1300" dirty="0"/>
          </a:p>
        </p:txBody>
      </p:sp>
      <p:sp>
        <p:nvSpPr>
          <p:cNvPr id="20" name="Text 18"/>
          <p:cNvSpPr/>
          <p:nvPr/>
        </p:nvSpPr>
        <p:spPr>
          <a:xfrm>
            <a:off x="1260475" y="4454327"/>
            <a:ext cx="4994672" cy="379710"/>
          </a:xfrm>
          <a:custGeom>
            <a:avLst/>
            <a:gdLst/>
            <a:ahLst/>
            <a:cxnLst/>
            <a:rect l="l" t="t" r="r" b="b"/>
            <a:pathLst>
              <a:path w="4994672" h="379710">
                <a:moveTo>
                  <a:pt x="22225" y="0"/>
                </a:moveTo>
                <a:lnTo>
                  <a:pt x="4870847" y="0"/>
                </a:lnTo>
                <a:arcTo hR="123825" wR="123825" stAng="16200000" swAng="5400000"/>
                <a:lnTo>
                  <a:pt x="4994672" y="255885"/>
                </a:lnTo>
                <a:arcTo hR="123825" wR="123825" stAng="0" swAng="5400000"/>
                <a:lnTo>
                  <a:pt x="123825" y="379710"/>
                </a:lnTo>
                <a:arcTo hR="123825" wR="123825" stAng="5400000" swAng="5400000"/>
                <a:lnTo>
                  <a:pt x="0" y="22225"/>
                </a:lnTo>
                <a:arcTo hR="22225" wR="22225" stAng="10800000" swAng="5400000"/>
                <a:close/>
              </a:path>
            </a:pathLst>
          </a:custGeom>
          <a:solidFill>
            <a:srgbClr val="FFFFFF"/>
          </a:solidFill>
          <a:ln w="6350">
            <a:solidFill>
              <a:srgbClr val="DCE1EA"/>
            </a:solidFill>
            <a:prstDash val="solid"/>
          </a:ln>
        </p:spPr>
        <p:txBody>
          <a:bodyPr wrap="none" lIns="0" tIns="0" rIns="0" bIns="0" rtlCol="0" anchor="ctr">
            <a:normAutofit/>
          </a:bodyPr>
          <a:lstStyle/>
          <a:p>
            <a:pPr algn="ctr" indent="0" marL="0">
              <a:lnSpc>
                <a:spcPts val="1740"/>
              </a:lnSpc>
              <a:buNone/>
            </a:pPr>
            <a:r>
              <a:rPr lang="en-US" sz="1200" dirty="0">
                <a:solidFill>
                  <a:srgbClr val="0E1320"/>
                </a:solidFill>
                <a:latin typeface="Noto Sans KR" pitchFamily="34" charset="0"/>
                <a:ea typeface="Noto Sans KR" pitchFamily="34" charset="-122"/>
                <a:cs typeface="Noto Sans KR" pitchFamily="34" charset="-120"/>
              </a:rPr>
              <a:t>응, 그건 그대로 가져가도 돼. 우리 관리자 설정값이랑 근거 자료 공유해 줄게.</a:t>
            </a:r>
            <a:endParaRPr lang="en-US" sz="1200" dirty="0"/>
          </a:p>
        </p:txBody>
      </p:sp>
      <p:sp>
        <p:nvSpPr>
          <p:cNvPr id="21" name="Shape 19"/>
          <p:cNvSpPr/>
          <p:nvPr/>
        </p:nvSpPr>
        <p:spPr>
          <a:xfrm>
            <a:off x="8588375" y="1195685"/>
            <a:ext cx="2787650" cy="4706640"/>
          </a:xfrm>
          <a:prstGeom prst="roundRect">
            <a:avLst>
              <a:gd name="adj" fmla="val 3531"/>
            </a:avLst>
          </a:prstGeom>
          <a:solidFill>
            <a:srgbClr val="FFFFFF"/>
          </a:solidFill>
          <a:ln w="6350">
            <a:solidFill>
              <a:srgbClr val="DCE1EA"/>
            </a:solidFill>
            <a:prstDash val="solid"/>
          </a:ln>
        </p:spPr>
      </p:sp>
      <p:sp>
        <p:nvSpPr>
          <p:cNvPr id="22" name="Text 20"/>
          <p:cNvSpPr/>
          <p:nvPr/>
        </p:nvSpPr>
        <p:spPr>
          <a:xfrm>
            <a:off x="8769350" y="1351260"/>
            <a:ext cx="2498471"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1320"/>
                </a:solidFill>
                <a:latin typeface="Noto Sans KR" pitchFamily="34" charset="0"/>
                <a:ea typeface="Noto Sans KR" pitchFamily="34" charset="-122"/>
                <a:cs typeface="Noto Sans KR" pitchFamily="34" charset="-120"/>
              </a:rPr>
              <a:t>보안 체크리스트 69개</a:t>
            </a:r>
            <a:endParaRPr lang="en-US" sz="1300" dirty="0"/>
          </a:p>
        </p:txBody>
      </p:sp>
      <p:sp>
        <p:nvSpPr>
          <p:cNvPr id="23" name="Shape 21"/>
          <p:cNvSpPr/>
          <p:nvPr/>
        </p:nvSpPr>
        <p:spPr>
          <a:xfrm>
            <a:off x="8769350" y="1623616"/>
            <a:ext cx="2425700" cy="0"/>
          </a:xfrm>
          <a:prstGeom prst="line">
            <a:avLst/>
          </a:prstGeom>
          <a:noFill/>
          <a:ln w="6350">
            <a:solidFill>
              <a:srgbClr val="DCE1EA"/>
            </a:solidFill>
            <a:prstDash val="solid"/>
          </a:ln>
        </p:spPr>
      </p:sp>
      <p:sp>
        <p:nvSpPr>
          <p:cNvPr id="24" name="Text 22"/>
          <p:cNvSpPr/>
          <p:nvPr/>
        </p:nvSpPr>
        <p:spPr>
          <a:xfrm>
            <a:off x="8769350" y="1715691"/>
            <a:ext cx="555823" cy="452041"/>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1428A0"/>
                </a:solidFill>
                <a:latin typeface="Noto Sans KR" pitchFamily="34" charset="0"/>
                <a:ea typeface="Noto Sans KR" pitchFamily="34" charset="-122"/>
                <a:cs typeface="Noto Sans KR" pitchFamily="34" charset="-120"/>
              </a:rPr>
              <a:t>32</a:t>
            </a:r>
            <a:endParaRPr lang="en-US" sz="3200" dirty="0"/>
          </a:p>
        </p:txBody>
      </p:sp>
      <p:sp>
        <p:nvSpPr>
          <p:cNvPr id="25" name="Text 23"/>
          <p:cNvSpPr/>
          <p:nvPr/>
        </p:nvSpPr>
        <p:spPr>
          <a:xfrm>
            <a:off x="9325173" y="1918891"/>
            <a:ext cx="202704"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개</a:t>
            </a:r>
            <a:endParaRPr lang="en-US" sz="1300" dirty="0"/>
          </a:p>
        </p:txBody>
      </p:sp>
      <p:sp>
        <p:nvSpPr>
          <p:cNvPr id="26" name="Text 24"/>
          <p:cNvSpPr/>
          <p:nvPr/>
        </p:nvSpPr>
        <p:spPr>
          <a:xfrm>
            <a:off x="8769350" y="2162671"/>
            <a:ext cx="249847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1320"/>
                </a:solidFill>
                <a:latin typeface="Noto Sans KR" pitchFamily="34" charset="0"/>
                <a:ea typeface="Noto Sans KR" pitchFamily="34" charset="-122"/>
                <a:cs typeface="Noto Sans KR" pitchFamily="34" charset="-120"/>
              </a:rPr>
              <a:t>사전검토 · 설정 그대로 적용</a:t>
            </a:r>
            <a:endParaRPr lang="en-US" sz="1200" dirty="0"/>
          </a:p>
        </p:txBody>
      </p:sp>
      <p:sp>
        <p:nvSpPr>
          <p:cNvPr id="27" name="Text 25"/>
          <p:cNvSpPr/>
          <p:nvPr/>
        </p:nvSpPr>
        <p:spPr>
          <a:xfrm>
            <a:off x="8769350" y="2388691"/>
            <a:ext cx="24984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생성형AI 22 · MCP 1 · Agent 9</a:t>
            </a:r>
            <a:endParaRPr lang="en-US" sz="1200" dirty="0"/>
          </a:p>
        </p:txBody>
      </p:sp>
      <p:sp>
        <p:nvSpPr>
          <p:cNvPr id="28" name="Shape 26"/>
          <p:cNvSpPr/>
          <p:nvPr/>
        </p:nvSpPr>
        <p:spPr>
          <a:xfrm>
            <a:off x="8769350" y="2694087"/>
            <a:ext cx="2425700" cy="0"/>
          </a:xfrm>
          <a:prstGeom prst="line">
            <a:avLst/>
          </a:prstGeom>
          <a:noFill/>
          <a:ln w="6350">
            <a:solidFill>
              <a:srgbClr val="DCE1EA"/>
            </a:solidFill>
            <a:prstDash val="solid"/>
          </a:ln>
        </p:spPr>
      </p:sp>
      <p:sp>
        <p:nvSpPr>
          <p:cNvPr id="29" name="Text 27"/>
          <p:cNvSpPr/>
          <p:nvPr/>
        </p:nvSpPr>
        <p:spPr>
          <a:xfrm>
            <a:off x="8769350" y="2786162"/>
            <a:ext cx="555823" cy="452041"/>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C8102E"/>
                </a:solidFill>
                <a:latin typeface="Noto Sans KR" pitchFamily="34" charset="0"/>
                <a:ea typeface="Noto Sans KR" pitchFamily="34" charset="-122"/>
                <a:cs typeface="Noto Sans KR" pitchFamily="34" charset="-120"/>
              </a:rPr>
              <a:t>34</a:t>
            </a:r>
            <a:endParaRPr lang="en-US" sz="3200" dirty="0"/>
          </a:p>
        </p:txBody>
      </p:sp>
      <p:sp>
        <p:nvSpPr>
          <p:cNvPr id="30" name="Text 28"/>
          <p:cNvSpPr/>
          <p:nvPr/>
        </p:nvSpPr>
        <p:spPr>
          <a:xfrm>
            <a:off x="9325173" y="2989362"/>
            <a:ext cx="202704"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8102E"/>
                </a:solidFill>
                <a:latin typeface="Noto Sans KR" pitchFamily="34" charset="0"/>
                <a:ea typeface="Noto Sans KR" pitchFamily="34" charset="-122"/>
                <a:cs typeface="Noto Sans KR" pitchFamily="34" charset="-120"/>
              </a:rPr>
              <a:t>개</a:t>
            </a:r>
            <a:endParaRPr lang="en-US" sz="1300" dirty="0"/>
          </a:p>
        </p:txBody>
      </p:sp>
      <p:sp>
        <p:nvSpPr>
          <p:cNvPr id="31" name="Text 29"/>
          <p:cNvSpPr/>
          <p:nvPr/>
        </p:nvSpPr>
        <p:spPr>
          <a:xfrm>
            <a:off x="8769350" y="3233142"/>
            <a:ext cx="249847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1320"/>
                </a:solidFill>
                <a:latin typeface="Noto Sans KR" pitchFamily="34" charset="0"/>
                <a:ea typeface="Noto Sans KR" pitchFamily="34" charset="-122"/>
                <a:cs typeface="Noto Sans KR" pitchFamily="34" charset="-120"/>
              </a:rPr>
              <a:t>각사검토 · 환경에 맞춰 구축</a:t>
            </a:r>
            <a:endParaRPr lang="en-US" sz="1200" dirty="0"/>
          </a:p>
        </p:txBody>
      </p:sp>
      <p:sp>
        <p:nvSpPr>
          <p:cNvPr id="32" name="Text 30"/>
          <p:cNvSpPr/>
          <p:nvPr/>
        </p:nvSpPr>
        <p:spPr>
          <a:xfrm>
            <a:off x="8769350" y="3459163"/>
            <a:ext cx="24984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생성형AI 9 · MCP 14 · Agent 11</a:t>
            </a:r>
            <a:endParaRPr lang="en-US" sz="1200" dirty="0"/>
          </a:p>
        </p:txBody>
      </p:sp>
      <p:sp>
        <p:nvSpPr>
          <p:cNvPr id="33" name="Shape 31"/>
          <p:cNvSpPr/>
          <p:nvPr/>
        </p:nvSpPr>
        <p:spPr>
          <a:xfrm>
            <a:off x="8769350" y="3764558"/>
            <a:ext cx="2425700" cy="0"/>
          </a:xfrm>
          <a:prstGeom prst="line">
            <a:avLst/>
          </a:prstGeom>
          <a:noFill/>
          <a:ln w="6350">
            <a:solidFill>
              <a:srgbClr val="DCE1EA"/>
            </a:solidFill>
            <a:prstDash val="solid"/>
          </a:ln>
        </p:spPr>
      </p:sp>
      <p:sp>
        <p:nvSpPr>
          <p:cNvPr id="34" name="Text 32"/>
          <p:cNvSpPr/>
          <p:nvPr/>
        </p:nvSpPr>
        <p:spPr>
          <a:xfrm>
            <a:off x="8769350" y="3856633"/>
            <a:ext cx="290612" cy="452041"/>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5B6577"/>
                </a:solidFill>
                <a:latin typeface="Noto Sans KR" pitchFamily="34" charset="0"/>
                <a:ea typeface="Noto Sans KR" pitchFamily="34" charset="-122"/>
                <a:cs typeface="Noto Sans KR" pitchFamily="34" charset="-120"/>
              </a:rPr>
              <a:t>3</a:t>
            </a:r>
            <a:endParaRPr lang="en-US" sz="3200" dirty="0"/>
          </a:p>
        </p:txBody>
      </p:sp>
      <p:sp>
        <p:nvSpPr>
          <p:cNvPr id="35" name="Text 33"/>
          <p:cNvSpPr/>
          <p:nvPr/>
        </p:nvSpPr>
        <p:spPr>
          <a:xfrm>
            <a:off x="9085362" y="4059833"/>
            <a:ext cx="202704"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5B6577"/>
                </a:solidFill>
                <a:latin typeface="Noto Sans KR" pitchFamily="34" charset="0"/>
                <a:ea typeface="Noto Sans KR" pitchFamily="34" charset="-122"/>
                <a:cs typeface="Noto Sans KR" pitchFamily="34" charset="-120"/>
              </a:rPr>
              <a:t>개</a:t>
            </a:r>
            <a:endParaRPr lang="en-US" sz="1300" dirty="0"/>
          </a:p>
        </p:txBody>
      </p:sp>
      <p:sp>
        <p:nvSpPr>
          <p:cNvPr id="36" name="Text 34"/>
          <p:cNvSpPr/>
          <p:nvPr/>
        </p:nvSpPr>
        <p:spPr>
          <a:xfrm>
            <a:off x="8769350" y="4303613"/>
            <a:ext cx="249847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1320"/>
                </a:solidFill>
                <a:latin typeface="Noto Sans KR" pitchFamily="34" charset="0"/>
                <a:ea typeface="Noto Sans KR" pitchFamily="34" charset="-122"/>
                <a:cs typeface="Noto Sans KR" pitchFamily="34" charset="-120"/>
              </a:rPr>
              <a:t>사용자안내</a:t>
            </a:r>
            <a:endParaRPr lang="en-US" sz="1200" dirty="0"/>
          </a:p>
        </p:txBody>
      </p:sp>
      <p:sp>
        <p:nvSpPr>
          <p:cNvPr id="37" name="Text 35"/>
          <p:cNvSpPr/>
          <p:nvPr/>
        </p:nvSpPr>
        <p:spPr>
          <a:xfrm>
            <a:off x="8769350" y="4529634"/>
            <a:ext cx="24984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생성형AI 3</a:t>
            </a:r>
            <a:endParaRPr lang="en-US" sz="1200" dirty="0"/>
          </a:p>
        </p:txBody>
      </p:sp>
      <p:sp>
        <p:nvSpPr>
          <p:cNvPr id="38" name="Text 36"/>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Text 0"/>
          <p:cNvSpPr/>
          <p:nvPr>
            <p:ph type="title"/>
          </p:nvPr>
        </p:nvSpPr>
        <p:spPr>
          <a:xfrm>
            <a:off x="812800" y="66040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0E1320"/>
                </a:solidFill>
                <a:latin typeface="Noto Sans KR" pitchFamily="34" charset="0"/>
                <a:ea typeface="Noto Sans KR" pitchFamily="34" charset="-122"/>
                <a:cs typeface="Noto Sans KR" pitchFamily="34" charset="-120"/>
              </a:rPr>
              <a:t>프록시에서 보이는 질의·도구 호출 내용</a:t>
            </a:r>
            <a:endParaRPr lang="en-US" sz="2600" dirty="0"/>
          </a:p>
        </p:txBody>
      </p:sp>
      <p:sp>
        <p:nvSpPr>
          <p:cNvPr id="3" name="Text 1"/>
          <p:cNvSpPr/>
          <p:nvPr/>
        </p:nvSpPr>
        <p:spPr>
          <a:xfrm>
            <a:off x="812800" y="1192510"/>
            <a:ext cx="126920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8A0"/>
                </a:solidFill>
                <a:latin typeface="Noto Sans KR" pitchFamily="34" charset="0"/>
                <a:ea typeface="Noto Sans KR" pitchFamily="34" charset="-122"/>
                <a:cs typeface="Noto Sans KR" pitchFamily="34" charset="-120"/>
              </a:rPr>
              <a:t>Claude 앱 채팅</a:t>
            </a:r>
            <a:endParaRPr lang="en-US" sz="1400" dirty="0"/>
          </a:p>
        </p:txBody>
      </p:sp>
      <p:sp>
        <p:nvSpPr>
          <p:cNvPr id="4" name="Text 2"/>
          <p:cNvSpPr/>
          <p:nvPr/>
        </p:nvSpPr>
        <p:spPr>
          <a:xfrm>
            <a:off x="2082006" y="1198860"/>
            <a:ext cx="25886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POST claude.ai/…/completion</a:t>
            </a:r>
            <a:endParaRPr lang="en-US" sz="1200" dirty="0"/>
          </a:p>
        </p:txBody>
      </p:sp>
      <p:sp>
        <p:nvSpPr>
          <p:cNvPr id="5" name="Shape 3"/>
          <p:cNvSpPr/>
          <p:nvPr/>
        </p:nvSpPr>
        <p:spPr>
          <a:xfrm>
            <a:off x="812800" y="1462980"/>
            <a:ext cx="6756400" cy="1835150"/>
          </a:xfrm>
          <a:prstGeom prst="roundRect">
            <a:avLst>
              <a:gd name="adj" fmla="val 4152"/>
            </a:avLst>
          </a:prstGeom>
          <a:solidFill>
            <a:srgbClr val="161A22"/>
          </a:solidFill>
          <a:ln/>
        </p:spPr>
      </p:sp>
      <p:pic>
        <p:nvPicPr>
          <p:cNvPr id="6" name="Image 0" descr="프록시 뷰어의 요청 본문, 질의 원문이 노란색으로 표시됨">    </p:cNvPr>
          <p:cNvPicPr>
            <a:picLocks noChangeAspect="1"/>
          </p:cNvPicPr>
          <p:nvPr/>
        </p:nvPicPr>
        <p:blipFill>
          <a:blip r:embed="rId1"/>
          <a:srcRect l="-12" r="-12" t="0" b="0"/>
          <a:stretch/>
        </p:blipFill>
        <p:spPr>
          <a:xfrm>
            <a:off x="863600" y="1513780"/>
            <a:ext cx="6502400" cy="1733550"/>
          </a:xfrm>
          <a:prstGeom prst="rect">
            <a:avLst/>
          </a:prstGeom>
        </p:spPr>
      </p:pic>
      <p:sp>
        <p:nvSpPr>
          <p:cNvPr id="7" name="Text 4"/>
          <p:cNvSpPr/>
          <p:nvPr/>
        </p:nvSpPr>
        <p:spPr>
          <a:xfrm>
            <a:off x="812800" y="3348930"/>
            <a:ext cx="69590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8102E"/>
                </a:solidFill>
                <a:latin typeface="Noto Sans KR" pitchFamily="34" charset="0"/>
                <a:ea typeface="Noto Sans KR" pitchFamily="34" charset="-122"/>
                <a:cs typeface="Noto Sans KR" pitchFamily="34" charset="-120"/>
              </a:rPr>
              <a:t>① 질의 원문(노란색) ② 연결된 도구(Gmail) 정의</a:t>
            </a:r>
            <a:endParaRPr lang="en-US" sz="1200" dirty="0"/>
          </a:p>
        </p:txBody>
      </p:sp>
      <p:sp>
        <p:nvSpPr>
          <p:cNvPr id="8" name="Text 5"/>
          <p:cNvSpPr/>
          <p:nvPr/>
        </p:nvSpPr>
        <p:spPr>
          <a:xfrm>
            <a:off x="812800" y="3689251"/>
            <a:ext cx="207813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8A0"/>
                </a:solidFill>
                <a:latin typeface="Noto Sans KR" pitchFamily="34" charset="0"/>
                <a:ea typeface="Noto Sans KR" pitchFamily="34" charset="-122"/>
                <a:cs typeface="Noto Sans KR" pitchFamily="34" charset="-120"/>
              </a:rPr>
              <a:t>Claude Code (SSH 원격)</a:t>
            </a:r>
            <a:endParaRPr lang="en-US" sz="1400" dirty="0"/>
          </a:p>
        </p:txBody>
      </p:sp>
      <p:sp>
        <p:nvSpPr>
          <p:cNvPr id="9" name="Text 6"/>
          <p:cNvSpPr/>
          <p:nvPr/>
        </p:nvSpPr>
        <p:spPr>
          <a:xfrm>
            <a:off x="2890937" y="3695601"/>
            <a:ext cx="32427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POST api.anthropic.com/v1/messages</a:t>
            </a:r>
            <a:endParaRPr lang="en-US" sz="1200" dirty="0"/>
          </a:p>
        </p:txBody>
      </p:sp>
      <p:sp>
        <p:nvSpPr>
          <p:cNvPr id="10" name="Shape 7"/>
          <p:cNvSpPr/>
          <p:nvPr/>
        </p:nvSpPr>
        <p:spPr>
          <a:xfrm>
            <a:off x="812800" y="3959721"/>
            <a:ext cx="6756400" cy="1352550"/>
          </a:xfrm>
          <a:prstGeom prst="roundRect">
            <a:avLst>
              <a:gd name="adj" fmla="val 5634"/>
            </a:avLst>
          </a:prstGeom>
          <a:solidFill>
            <a:srgbClr val="161A22"/>
          </a:solidFill>
          <a:ln/>
        </p:spPr>
      </p:sp>
      <p:pic>
        <p:nvPicPr>
          <p:cNvPr id="11" name="Image 1" descr="프록시 뷰어의 요청 본문, 질의 원문이 노란색으로 표시됨">    </p:cNvPr>
          <p:cNvPicPr>
            <a:picLocks noChangeAspect="1"/>
          </p:cNvPicPr>
          <p:nvPr/>
        </p:nvPicPr>
        <p:blipFill>
          <a:blip r:embed="rId2"/>
          <a:srcRect l="-47" r="-47" t="0" b="0"/>
          <a:stretch/>
        </p:blipFill>
        <p:spPr>
          <a:xfrm>
            <a:off x="863600" y="4010521"/>
            <a:ext cx="6502400" cy="1250950"/>
          </a:xfrm>
          <a:prstGeom prst="rect">
            <a:avLst/>
          </a:prstGeom>
        </p:spPr>
      </p:pic>
      <p:sp>
        <p:nvSpPr>
          <p:cNvPr id="12" name="Text 8"/>
          <p:cNvSpPr/>
          <p:nvPr/>
        </p:nvSpPr>
        <p:spPr>
          <a:xfrm>
            <a:off x="812800" y="5363071"/>
            <a:ext cx="69590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8102E"/>
                </a:solidFill>
                <a:latin typeface="Noto Sans KR" pitchFamily="34" charset="0"/>
                <a:ea typeface="Noto Sans KR" pitchFamily="34" charset="-122"/>
                <a:cs typeface="Noto Sans KR" pitchFamily="34" charset="-120"/>
              </a:rPr>
              <a:t>① 질의 원문(노란색) ② 파일 읽기·MCP 도구 호출 지시</a:t>
            </a:r>
            <a:endParaRPr lang="en-US" sz="1200" dirty="0"/>
          </a:p>
        </p:txBody>
      </p:sp>
      <p:sp>
        <p:nvSpPr>
          <p:cNvPr id="13" name="Shape 9"/>
          <p:cNvSpPr/>
          <p:nvPr/>
        </p:nvSpPr>
        <p:spPr>
          <a:xfrm>
            <a:off x="7826375" y="1195685"/>
            <a:ext cx="3549650" cy="4706640"/>
          </a:xfrm>
          <a:prstGeom prst="roundRect">
            <a:avLst>
              <a:gd name="adj" fmla="val 2773"/>
            </a:avLst>
          </a:prstGeom>
          <a:solidFill>
            <a:srgbClr val="FFFFFF"/>
          </a:solidFill>
          <a:ln w="6350">
            <a:solidFill>
              <a:srgbClr val="DCE1EA"/>
            </a:solidFill>
            <a:prstDash val="solid"/>
          </a:ln>
        </p:spPr>
      </p:sp>
      <p:sp>
        <p:nvSpPr>
          <p:cNvPr id="14" name="Text 10"/>
          <p:cNvSpPr/>
          <p:nvPr/>
        </p:nvSpPr>
        <p:spPr>
          <a:xfrm>
            <a:off x="8007350" y="1351260"/>
            <a:ext cx="156845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프록시</a:t>
            </a:r>
            <a:endParaRPr lang="en-US" sz="1300" dirty="0"/>
          </a:p>
        </p:txBody>
      </p:sp>
      <p:sp>
        <p:nvSpPr>
          <p:cNvPr id="15" name="Text 11"/>
          <p:cNvSpPr/>
          <p:nvPr/>
        </p:nvSpPr>
        <p:spPr>
          <a:xfrm>
            <a:off x="8007350" y="1620441"/>
            <a:ext cx="156845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0E1320"/>
                </a:solidFill>
                <a:latin typeface="Noto Sans KR" pitchFamily="34" charset="0"/>
                <a:ea typeface="Noto Sans KR" pitchFamily="34" charset="-122"/>
                <a:cs typeface="Noto Sans KR" pitchFamily="34" charset="-120"/>
              </a:rPr>
              <a:t>Zscaler</a:t>
            </a:r>
            <a:endParaRPr lang="en-US" sz="1200" dirty="0"/>
          </a:p>
        </p:txBody>
      </p:sp>
      <p:sp>
        <p:nvSpPr>
          <p:cNvPr id="16" name="Text 12"/>
          <p:cNvSpPr/>
          <p:nvPr/>
        </p:nvSpPr>
        <p:spPr>
          <a:xfrm>
            <a:off x="8007350" y="1861741"/>
            <a:ext cx="156845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0E1320"/>
                </a:solidFill>
                <a:latin typeface="Noto Sans KR" pitchFamily="34" charset="0"/>
                <a:ea typeface="Noto Sans KR" pitchFamily="34" charset="-122"/>
                <a:cs typeface="Noto Sans KR" pitchFamily="34" charset="-120"/>
              </a:rPr>
              <a:t>Netskope</a:t>
            </a:r>
            <a:endParaRPr lang="en-US" sz="1200" dirty="0"/>
          </a:p>
        </p:txBody>
      </p:sp>
      <p:sp>
        <p:nvSpPr>
          <p:cNvPr id="17" name="Text 13"/>
          <p:cNvSpPr/>
          <p:nvPr/>
        </p:nvSpPr>
        <p:spPr>
          <a:xfrm>
            <a:off x="8007350" y="2103041"/>
            <a:ext cx="156845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0E1320"/>
                </a:solidFill>
                <a:latin typeface="Noto Sans KR" pitchFamily="34" charset="0"/>
                <a:ea typeface="Noto Sans KR" pitchFamily="34" charset="-122"/>
                <a:cs typeface="Noto Sans KR" pitchFamily="34" charset="-120"/>
              </a:rPr>
              <a:t>Skyhigh</a:t>
            </a:r>
            <a:endParaRPr lang="en-US" sz="1200" dirty="0"/>
          </a:p>
        </p:txBody>
      </p:sp>
      <p:sp>
        <p:nvSpPr>
          <p:cNvPr id="18" name="Text 14"/>
          <p:cNvSpPr/>
          <p:nvPr/>
        </p:nvSpPr>
        <p:spPr>
          <a:xfrm>
            <a:off x="8007350" y="2344341"/>
            <a:ext cx="156845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0E1320"/>
                </a:solidFill>
                <a:latin typeface="Noto Sans KR" pitchFamily="34" charset="0"/>
                <a:ea typeface="Noto Sans KR" pitchFamily="34" charset="-122"/>
                <a:cs typeface="Noto Sans KR" pitchFamily="34" charset="-120"/>
              </a:rPr>
              <a:t>Symantec Edge SWG</a:t>
            </a:r>
            <a:endParaRPr lang="en-US" sz="1200" dirty="0"/>
          </a:p>
        </p:txBody>
      </p:sp>
      <p:sp>
        <p:nvSpPr>
          <p:cNvPr id="19" name="Text 15"/>
          <p:cNvSpPr/>
          <p:nvPr/>
        </p:nvSpPr>
        <p:spPr>
          <a:xfrm>
            <a:off x="8007350" y="2585641"/>
            <a:ext cx="156845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0E1320"/>
                </a:solidFill>
                <a:latin typeface="Noto Sans KR" pitchFamily="34" charset="0"/>
                <a:ea typeface="Noto Sans KR" pitchFamily="34" charset="-122"/>
                <a:cs typeface="Noto Sans KR" pitchFamily="34" charset="-120"/>
              </a:rPr>
              <a:t>Palo Alto Prisma</a:t>
            </a:r>
            <a:endParaRPr lang="en-US" sz="1200" dirty="0"/>
          </a:p>
        </p:txBody>
      </p:sp>
      <p:sp>
        <p:nvSpPr>
          <p:cNvPr id="20" name="Text 16"/>
          <p:cNvSpPr/>
          <p:nvPr/>
        </p:nvSpPr>
        <p:spPr>
          <a:xfrm>
            <a:off x="9677400" y="1351260"/>
            <a:ext cx="156845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DLP</a:t>
            </a:r>
            <a:endParaRPr lang="en-US" sz="1300" dirty="0"/>
          </a:p>
        </p:txBody>
      </p:sp>
      <p:sp>
        <p:nvSpPr>
          <p:cNvPr id="21" name="Text 17"/>
          <p:cNvSpPr/>
          <p:nvPr/>
        </p:nvSpPr>
        <p:spPr>
          <a:xfrm>
            <a:off x="9677400" y="1620441"/>
            <a:ext cx="156845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0E1320"/>
                </a:solidFill>
                <a:latin typeface="Noto Sans KR" pitchFamily="34" charset="0"/>
                <a:ea typeface="Noto Sans KR" pitchFamily="34" charset="-122"/>
                <a:cs typeface="Noto Sans KR" pitchFamily="34" charset="-120"/>
              </a:rPr>
              <a:t>Symantec DLP</a:t>
            </a:r>
            <a:endParaRPr lang="en-US" sz="1200" dirty="0"/>
          </a:p>
        </p:txBody>
      </p:sp>
      <p:sp>
        <p:nvSpPr>
          <p:cNvPr id="22" name="Text 18"/>
          <p:cNvSpPr/>
          <p:nvPr/>
        </p:nvSpPr>
        <p:spPr>
          <a:xfrm>
            <a:off x="9677400" y="1861741"/>
            <a:ext cx="156845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0E1320"/>
                </a:solidFill>
                <a:latin typeface="Noto Sans KR" pitchFamily="34" charset="0"/>
                <a:ea typeface="Noto Sans KR" pitchFamily="34" charset="-122"/>
                <a:cs typeface="Noto Sans KR" pitchFamily="34" charset="-120"/>
              </a:rPr>
              <a:t>Forcepoint DLP</a:t>
            </a:r>
            <a:endParaRPr lang="en-US" sz="1200" dirty="0"/>
          </a:p>
        </p:txBody>
      </p:sp>
      <p:sp>
        <p:nvSpPr>
          <p:cNvPr id="23" name="Text 19"/>
          <p:cNvSpPr/>
          <p:nvPr/>
        </p:nvSpPr>
        <p:spPr>
          <a:xfrm>
            <a:off x="9677400" y="2103041"/>
            <a:ext cx="156845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0E1320"/>
                </a:solidFill>
                <a:latin typeface="Noto Sans KR" pitchFamily="34" charset="0"/>
                <a:ea typeface="Noto Sans KR" pitchFamily="34" charset="-122"/>
                <a:cs typeface="Noto Sans KR" pitchFamily="34" charset="-120"/>
              </a:rPr>
              <a:t>MS Purview</a:t>
            </a:r>
            <a:endParaRPr lang="en-US" sz="1200" dirty="0"/>
          </a:p>
        </p:txBody>
      </p:sp>
      <p:sp>
        <p:nvSpPr>
          <p:cNvPr id="24" name="Text 20"/>
          <p:cNvSpPr/>
          <p:nvPr/>
        </p:nvSpPr>
        <p:spPr>
          <a:xfrm>
            <a:off x="9677400" y="2344341"/>
            <a:ext cx="156845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0E1320"/>
                </a:solidFill>
                <a:latin typeface="Noto Sans KR" pitchFamily="34" charset="0"/>
                <a:ea typeface="Noto Sans KR" pitchFamily="34" charset="-122"/>
                <a:cs typeface="Noto Sans KR" pitchFamily="34" charset="-120"/>
              </a:rPr>
              <a:t>Trellix DLP</a:t>
            </a:r>
            <a:endParaRPr lang="en-US" sz="1200" dirty="0"/>
          </a:p>
        </p:txBody>
      </p:sp>
      <p:sp>
        <p:nvSpPr>
          <p:cNvPr id="25" name="Text 21"/>
          <p:cNvSpPr/>
          <p:nvPr/>
        </p:nvSpPr>
        <p:spPr>
          <a:xfrm>
            <a:off x="9677400" y="2585641"/>
            <a:ext cx="156845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0E1320"/>
                </a:solidFill>
                <a:latin typeface="Noto Sans KR" pitchFamily="34" charset="0"/>
                <a:ea typeface="Noto Sans KR" pitchFamily="34" charset="-122"/>
                <a:cs typeface="Noto Sans KR" pitchFamily="34" charset="-120"/>
              </a:rPr>
              <a:t>소만사 DLP</a:t>
            </a:r>
            <a:endParaRPr lang="en-US" sz="1200" dirty="0"/>
          </a:p>
        </p:txBody>
      </p:sp>
      <p:pic>
        <p:nvPicPr>
          <p:cNvPr id="26" name="Image 2" descr="line">    </p:cNvPr>
          <p:cNvPicPr>
            <a:picLocks noChangeAspect="1"/>
          </p:cNvPicPr>
          <p:nvPr/>
        </p:nvPicPr>
        <p:blipFill>
          <a:blip r:embed="rId3"/>
          <a:srcRect l="0" r="0" t="0" b="0"/>
          <a:stretch/>
        </p:blipFill>
        <p:spPr>
          <a:xfrm>
            <a:off x="8007350" y="2915841"/>
            <a:ext cx="3187700" cy="6350"/>
          </a:xfrm>
          <a:prstGeom prst="rect">
            <a:avLst/>
          </a:prstGeom>
        </p:spPr>
      </p:pic>
      <p:sp>
        <p:nvSpPr>
          <p:cNvPr id="27" name="Text 22"/>
          <p:cNvSpPr/>
          <p:nvPr/>
        </p:nvSpPr>
        <p:spPr>
          <a:xfrm>
            <a:off x="8007350" y="3023791"/>
            <a:ext cx="3283331"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8102E"/>
                </a:solidFill>
                <a:latin typeface="Noto Sans KR" pitchFamily="34" charset="0"/>
                <a:ea typeface="Noto Sans KR" pitchFamily="34" charset="-122"/>
                <a:cs typeface="Noto Sans KR" pitchFamily="34" charset="-120"/>
              </a:rPr>
              <a:t>프록시·DLP 장비가 갖춰야 할 조건</a:t>
            </a:r>
            <a:endParaRPr lang="en-US" sz="1300" dirty="0"/>
          </a:p>
        </p:txBody>
      </p:sp>
      <p:sp>
        <p:nvSpPr>
          <p:cNvPr id="28" name="Text 23"/>
          <p:cNvSpPr/>
          <p:nvPr/>
        </p:nvSpPr>
        <p:spPr>
          <a:xfrm>
            <a:off x="8007350" y="3356471"/>
            <a:ext cx="241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1</a:t>
            </a:r>
            <a:endParaRPr lang="en-US" sz="1200" dirty="0"/>
          </a:p>
        </p:txBody>
      </p:sp>
      <p:sp>
        <p:nvSpPr>
          <p:cNvPr id="29" name="Text 24"/>
          <p:cNvSpPr/>
          <p:nvPr/>
        </p:nvSpPr>
        <p:spPr>
          <a:xfrm>
            <a:off x="8261350" y="3356471"/>
            <a:ext cx="30217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320"/>
                </a:solidFill>
                <a:latin typeface="Noto Sans KR" pitchFamily="34" charset="0"/>
                <a:ea typeface="Noto Sans KR" pitchFamily="34" charset="-122"/>
                <a:cs typeface="Noto Sans KR" pitchFamily="34" charset="-120"/>
              </a:rPr>
              <a:t>TLS 1.3·HTTP/2 복호화 지원</a:t>
            </a:r>
            <a:endParaRPr lang="en-US" sz="1200" dirty="0"/>
          </a:p>
        </p:txBody>
      </p:sp>
      <p:sp>
        <p:nvSpPr>
          <p:cNvPr id="30" name="Text 25"/>
          <p:cNvSpPr/>
          <p:nvPr/>
        </p:nvSpPr>
        <p:spPr>
          <a:xfrm>
            <a:off x="8007350" y="3607891"/>
            <a:ext cx="24130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2</a:t>
            </a:r>
            <a:endParaRPr lang="en-US" sz="1200" dirty="0"/>
          </a:p>
        </p:txBody>
      </p:sp>
      <p:sp>
        <p:nvSpPr>
          <p:cNvPr id="31" name="Text 26"/>
          <p:cNvSpPr/>
          <p:nvPr/>
        </p:nvSpPr>
        <p:spPr>
          <a:xfrm>
            <a:off x="8261350" y="3607891"/>
            <a:ext cx="302171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320"/>
                </a:solidFill>
                <a:latin typeface="Noto Sans KR" pitchFamily="34" charset="0"/>
                <a:ea typeface="Noto Sans KR" pitchFamily="34" charset="-122"/>
                <a:cs typeface="Noto Sans KR" pitchFamily="34" charset="-120"/>
              </a:rPr>
              <a:t>대용량 본문 파싱 (gzip·zstd 해제, base64 첨부)</a:t>
            </a:r>
            <a:endParaRPr lang="en-US" sz="1200" dirty="0"/>
          </a:p>
        </p:txBody>
      </p:sp>
      <p:sp>
        <p:nvSpPr>
          <p:cNvPr id="32" name="Text 27"/>
          <p:cNvSpPr/>
          <p:nvPr/>
        </p:nvSpPr>
        <p:spPr>
          <a:xfrm>
            <a:off x="8007350" y="4072632"/>
            <a:ext cx="241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3</a:t>
            </a:r>
            <a:endParaRPr lang="en-US" sz="1200" dirty="0"/>
          </a:p>
        </p:txBody>
      </p:sp>
      <p:sp>
        <p:nvSpPr>
          <p:cNvPr id="33" name="Text 28"/>
          <p:cNvSpPr/>
          <p:nvPr/>
        </p:nvSpPr>
        <p:spPr>
          <a:xfrm>
            <a:off x="8261350" y="4072632"/>
            <a:ext cx="30217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320"/>
                </a:solidFill>
                <a:latin typeface="Noto Sans KR" pitchFamily="34" charset="0"/>
                <a:ea typeface="Noto Sans KR" pitchFamily="34" charset="-122"/>
                <a:cs typeface="Noto Sans KR" pitchFamily="34" charset="-120"/>
              </a:rPr>
              <a:t>스트리밍(SSE) 응답 재조합·저장</a:t>
            </a:r>
            <a:endParaRPr lang="en-US" sz="1200" dirty="0"/>
          </a:p>
        </p:txBody>
      </p:sp>
      <p:sp>
        <p:nvSpPr>
          <p:cNvPr id="34" name="Text 29"/>
          <p:cNvSpPr/>
          <p:nvPr/>
        </p:nvSpPr>
        <p:spPr>
          <a:xfrm>
            <a:off x="8007350" y="4324052"/>
            <a:ext cx="24130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4</a:t>
            </a:r>
            <a:endParaRPr lang="en-US" sz="1200" dirty="0"/>
          </a:p>
        </p:txBody>
      </p:sp>
      <p:sp>
        <p:nvSpPr>
          <p:cNvPr id="35" name="Text 30"/>
          <p:cNvSpPr/>
          <p:nvPr/>
        </p:nvSpPr>
        <p:spPr>
          <a:xfrm>
            <a:off x="8261350" y="4324052"/>
            <a:ext cx="302171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320"/>
                </a:solidFill>
                <a:latin typeface="Noto Sans KR" pitchFamily="34" charset="0"/>
                <a:ea typeface="Noto Sans KR" pitchFamily="34" charset="-122"/>
                <a:cs typeface="Noto Sans KR" pitchFamily="34" charset="-120"/>
              </a:rPr>
              <a:t>AI 서비스별 JSON 필드 추출 룰 (prompt·tools)</a:t>
            </a:r>
            <a:endParaRPr lang="en-US" sz="1200" dirty="0"/>
          </a:p>
        </p:txBody>
      </p:sp>
      <p:sp>
        <p:nvSpPr>
          <p:cNvPr id="36" name="Text 31"/>
          <p:cNvSpPr/>
          <p:nvPr/>
        </p:nvSpPr>
        <p:spPr>
          <a:xfrm>
            <a:off x="8007350" y="4788793"/>
            <a:ext cx="241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5</a:t>
            </a:r>
            <a:endParaRPr lang="en-US" sz="1200" dirty="0"/>
          </a:p>
        </p:txBody>
      </p:sp>
      <p:sp>
        <p:nvSpPr>
          <p:cNvPr id="37" name="Text 32"/>
          <p:cNvSpPr/>
          <p:nvPr/>
        </p:nvSpPr>
        <p:spPr>
          <a:xfrm>
            <a:off x="8261350" y="4788793"/>
            <a:ext cx="30217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320"/>
                </a:solidFill>
                <a:latin typeface="Noto Sans KR" pitchFamily="34" charset="0"/>
                <a:ea typeface="Noto Sans KR" pitchFamily="34" charset="-122"/>
                <a:cs typeface="Noto Sans KR" pitchFamily="34" charset="-120"/>
              </a:rPr>
              <a:t>IdP·SSO 연동으로 사용자 식별</a:t>
            </a:r>
            <a:endParaRPr lang="en-US" sz="1200" dirty="0"/>
          </a:p>
        </p:txBody>
      </p:sp>
      <p:sp>
        <p:nvSpPr>
          <p:cNvPr id="38" name="Text 33"/>
          <p:cNvSpPr/>
          <p:nvPr/>
        </p:nvSpPr>
        <p:spPr>
          <a:xfrm>
            <a:off x="8007350" y="5040213"/>
            <a:ext cx="241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6</a:t>
            </a:r>
            <a:endParaRPr lang="en-US" sz="1200" dirty="0"/>
          </a:p>
        </p:txBody>
      </p:sp>
      <p:sp>
        <p:nvSpPr>
          <p:cNvPr id="39" name="Text 34"/>
          <p:cNvSpPr/>
          <p:nvPr/>
        </p:nvSpPr>
        <p:spPr>
          <a:xfrm>
            <a:off x="8261350" y="5040213"/>
            <a:ext cx="30217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320"/>
                </a:solidFill>
                <a:latin typeface="Noto Sans KR" pitchFamily="34" charset="0"/>
                <a:ea typeface="Noto Sans KR" pitchFamily="34" charset="-122"/>
                <a:cs typeface="Noto Sans KR" pitchFamily="34" charset="-120"/>
              </a:rPr>
              <a:t>본문 로그 저장·SIEM 전송 (1년 보관)</a:t>
            </a:r>
            <a:endParaRPr lang="en-US" sz="1200" dirty="0"/>
          </a:p>
        </p:txBody>
      </p:sp>
      <p:sp>
        <p:nvSpPr>
          <p:cNvPr id="40" name="Text 3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출처: 모니터링 실험(L7 프록시 뷰어 캡처, 2026.9~10)</a:t>
            </a:r>
            <a:endParaRPr lang="en-US" sz="1200" dirty="0"/>
          </a:p>
        </p:txBody>
      </p:sp>
      <p:sp>
        <p:nvSpPr>
          <p:cNvPr id="41" name="Text 36"/>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762000" y="533400"/>
            <a:ext cx="536280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428A0"/>
                </a:solidFill>
                <a:latin typeface="Noto Sans KR" pitchFamily="34" charset="0"/>
                <a:ea typeface="Noto Sans KR" pitchFamily="34" charset="-122"/>
                <a:cs typeface="Noto Sans KR" pitchFamily="34" charset="-120"/>
              </a:rPr>
              <a:t>참고 위치</a:t>
            </a:r>
            <a:endParaRPr lang="en-US" sz="1200" dirty="0"/>
          </a:p>
        </p:txBody>
      </p:sp>
      <p:pic>
        <p:nvPicPr>
          <p:cNvPr id="3" name="Image 0" descr="preencoded.png">    </p:cNvPr>
          <p:cNvPicPr>
            <a:picLocks noChangeAspect="1"/>
          </p:cNvPicPr>
          <p:nvPr/>
        </p:nvPicPr>
        <p:blipFill>
          <a:blip r:embed="rId1"/>
          <a:srcRect l="0" r="0" t="0" b="0"/>
          <a:stretch/>
        </p:blipFill>
        <p:spPr>
          <a:xfrm>
            <a:off x="762000" y="830461"/>
            <a:ext cx="342900" cy="342900"/>
          </a:xfrm>
          <a:prstGeom prst="rect">
            <a:avLst/>
          </a:prstGeom>
        </p:spPr>
      </p:pic>
      <p:sp>
        <p:nvSpPr>
          <p:cNvPr id="4" name="Text 1"/>
          <p:cNvSpPr/>
          <p:nvPr>
            <p:ph type="title"/>
          </p:nvPr>
        </p:nvSpPr>
        <p:spPr>
          <a:xfrm>
            <a:off x="1219200" y="797520"/>
            <a:ext cx="5699284"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0E1320"/>
                </a:solidFill>
                <a:latin typeface="Noto Sans KR" pitchFamily="34" charset="0"/>
                <a:ea typeface="Noto Sans KR" pitchFamily="34" charset="-122"/>
                <a:cs typeface="Noto Sans KR" pitchFamily="34" charset="-120"/>
              </a:rPr>
              <a:t>통합보안센터 Confluence 경로</a:t>
            </a:r>
            <a:endParaRPr lang="en-US" sz="2800" dirty="0"/>
          </a:p>
        </p:txBody>
      </p:sp>
      <p:sp>
        <p:nvSpPr>
          <p:cNvPr id="5" name="Shape 2"/>
          <p:cNvSpPr/>
          <p:nvPr/>
        </p:nvSpPr>
        <p:spPr>
          <a:xfrm>
            <a:off x="9395420" y="769541"/>
            <a:ext cx="2034580" cy="436860"/>
          </a:xfrm>
          <a:prstGeom prst="roundRect">
            <a:avLst>
              <a:gd name="adj" fmla="val 17443"/>
            </a:avLst>
          </a:prstGeom>
          <a:solidFill>
            <a:srgbClr val="0E1320"/>
          </a:solidFill>
          <a:ln/>
        </p:spPr>
      </p:sp>
      <p:pic>
        <p:nvPicPr>
          <p:cNvPr id="6" name="Image 1" descr="preencoded.png">    </p:cNvPr>
          <p:cNvPicPr>
            <a:picLocks noChangeAspect="1"/>
          </p:cNvPicPr>
          <p:nvPr/>
        </p:nvPicPr>
        <p:blipFill>
          <a:blip r:embed="rId2"/>
          <a:srcRect l="0" r="0" t="0" b="0"/>
          <a:stretch/>
        </p:blipFill>
        <p:spPr>
          <a:xfrm>
            <a:off x="9547820" y="892671"/>
            <a:ext cx="190500" cy="190500"/>
          </a:xfrm>
          <a:prstGeom prst="rect">
            <a:avLst/>
          </a:prstGeom>
        </p:spPr>
      </p:pic>
      <p:sp>
        <p:nvSpPr>
          <p:cNvPr id="7" name="Text 3"/>
          <p:cNvSpPr/>
          <p:nvPr/>
        </p:nvSpPr>
        <p:spPr>
          <a:xfrm>
            <a:off x="9814520" y="845741"/>
            <a:ext cx="161548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FFFF"/>
                </a:solidFill>
                <a:latin typeface="JetBrains Mono" pitchFamily="49" charset="0"/>
                <a:ea typeface="JetBrains Mono" pitchFamily="49" charset="-122"/>
                <a:cs typeface="JetBrains Mono" pitchFamily="49" charset="-120"/>
              </a:rPr>
              <a:t>sscboard.net</a:t>
            </a:r>
            <a:endParaRPr lang="en-US" sz="1600" dirty="0"/>
          </a:p>
        </p:txBody>
      </p:sp>
      <p:sp>
        <p:nvSpPr>
          <p:cNvPr id="8" name="Shape 4"/>
          <p:cNvSpPr/>
          <p:nvPr/>
        </p:nvSpPr>
        <p:spPr>
          <a:xfrm>
            <a:off x="765175" y="1387376"/>
            <a:ext cx="5226050" cy="4768949"/>
          </a:xfrm>
          <a:prstGeom prst="roundRect">
            <a:avLst>
              <a:gd name="adj" fmla="val 2330"/>
            </a:avLst>
          </a:prstGeom>
          <a:solidFill>
            <a:srgbClr val="FFFFFF"/>
          </a:solidFill>
          <a:ln w="6350">
            <a:solidFill>
              <a:srgbClr val="DCE1EA"/>
            </a:solidFill>
            <a:prstDash val="solid"/>
          </a:ln>
        </p:spPr>
      </p:sp>
      <p:sp>
        <p:nvSpPr>
          <p:cNvPr id="9" name="Text 5"/>
          <p:cNvSpPr/>
          <p:nvPr/>
        </p:nvSpPr>
        <p:spPr>
          <a:xfrm>
            <a:off x="1009650" y="1593751"/>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1428A0"/>
          </a:solidFill>
          <a:ln/>
        </p:spPr>
        <p:txBody>
          <a:bodyPr wrap="square" lIns="0" tIns="0" rIns="0" bIns="0" rtlCol="0" anchor="t">
            <a:normAutofit/>
          </a:bodyPr>
          <a:lstStyle/>
          <a:p>
            <a:pPr algn="l" indent="0" marL="0">
              <a:lnSpc>
                <a:spcPts val="1960"/>
              </a:lnSpc>
              <a:buNone/>
            </a:pPr>
            <a:r>
              <a:rPr lang="en-US" sz="1400" b="1" dirty="0">
                <a:solidFill>
                  <a:srgbClr val="FFFFFF"/>
                </a:solidFill>
                <a:latin typeface="Noto Sans KR" pitchFamily="34" charset="0"/>
                <a:ea typeface="Noto Sans KR" pitchFamily="34" charset="-122"/>
                <a:cs typeface="Noto Sans KR" pitchFamily="34" charset="-120"/>
              </a:rPr>
              <a:t>1</a:t>
            </a:r>
            <a:endParaRPr lang="en-US" sz="1400" dirty="0"/>
          </a:p>
        </p:txBody>
      </p:sp>
      <p:sp>
        <p:nvSpPr>
          <p:cNvPr id="10" name="Text 6"/>
          <p:cNvSpPr/>
          <p:nvPr/>
        </p:nvSpPr>
        <p:spPr>
          <a:xfrm>
            <a:off x="1441450" y="1581051"/>
            <a:ext cx="2562225"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E1320"/>
                </a:solidFill>
                <a:latin typeface="Noto Sans KR" pitchFamily="34" charset="0"/>
                <a:ea typeface="Noto Sans KR" pitchFamily="34" charset="-122"/>
                <a:cs typeface="Noto Sans KR" pitchFamily="34" charset="-120"/>
              </a:rPr>
              <a:t>가이드 · 체크리스트</a:t>
            </a:r>
            <a:endParaRPr lang="en-US" sz="2000" dirty="0"/>
          </a:p>
        </p:txBody>
      </p:sp>
      <p:sp>
        <p:nvSpPr>
          <p:cNvPr id="11" name="Text 7"/>
          <p:cNvSpPr/>
          <p:nvPr/>
        </p:nvSpPr>
        <p:spPr>
          <a:xfrm>
            <a:off x="1009650" y="2050951"/>
            <a:ext cx="4737100" cy="340320"/>
          </a:xfrm>
          <a:prstGeom prst="roundRect">
            <a:avLst>
              <a:gd name="adj" fmla="val 18659"/>
            </a:avLst>
          </a:prstGeom>
          <a:solidFill>
            <a:srgbClr val="F4F6FA"/>
          </a:solidFill>
          <a:ln/>
        </p:spPr>
        <p:txBody>
          <a:bodyPr wrap="square" lIns="95701" tIns="44901" rIns="0" bIns="19501"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통합보안센터 컨플 › 보안정책 › 보안가이드</a:t>
            </a:r>
            <a:endParaRPr lang="en-US" sz="1200" dirty="0"/>
          </a:p>
        </p:txBody>
      </p:sp>
      <p:sp>
        <p:nvSpPr>
          <p:cNvPr id="12" name="Shape 8"/>
          <p:cNvSpPr/>
          <p:nvPr/>
        </p:nvSpPr>
        <p:spPr>
          <a:xfrm>
            <a:off x="1009650" y="3326011"/>
            <a:ext cx="431800" cy="431800"/>
          </a:xfrm>
          <a:prstGeom prst="roundRect">
            <a:avLst>
              <a:gd name="adj" fmla="val 23529"/>
            </a:avLst>
          </a:prstGeom>
          <a:solidFill>
            <a:srgbClr val="EEF1FB"/>
          </a:solidFill>
          <a:ln/>
        </p:spPr>
      </p:sp>
      <p:pic>
        <p:nvPicPr>
          <p:cNvPr id="13" name="Image 2" descr="preencoded.png">    </p:cNvPr>
          <p:cNvPicPr>
            <a:picLocks noChangeAspect="1"/>
          </p:cNvPicPr>
          <p:nvPr/>
        </p:nvPicPr>
        <p:blipFill>
          <a:blip r:embed="rId3"/>
          <a:srcRect l="0" r="0" t="0" b="0"/>
          <a:stretch/>
        </p:blipFill>
        <p:spPr>
          <a:xfrm>
            <a:off x="1098550" y="3414911"/>
            <a:ext cx="254000" cy="254000"/>
          </a:xfrm>
          <a:prstGeom prst="rect">
            <a:avLst/>
          </a:prstGeom>
        </p:spPr>
      </p:pic>
      <p:sp>
        <p:nvSpPr>
          <p:cNvPr id="14" name="Text 9"/>
          <p:cNvSpPr/>
          <p:nvPr/>
        </p:nvSpPr>
        <p:spPr>
          <a:xfrm>
            <a:off x="1530350" y="3381871"/>
            <a:ext cx="2081332"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E1320"/>
                </a:solidFill>
                <a:latin typeface="Noto Sans KR" pitchFamily="34" charset="0"/>
                <a:ea typeface="Noto Sans KR" pitchFamily="34" charset="-122"/>
                <a:cs typeface="Noto Sans KR" pitchFamily="34" charset="-120"/>
              </a:rPr>
              <a:t>통합보안센터 컨플</a:t>
            </a:r>
            <a:endParaRPr lang="en-US" sz="1800" dirty="0"/>
          </a:p>
        </p:txBody>
      </p:sp>
      <p:pic>
        <p:nvPicPr>
          <p:cNvPr id="15" name="Image 3" descr="preencoded.png">    </p:cNvPr>
          <p:cNvPicPr>
            <a:picLocks noChangeAspect="1"/>
          </p:cNvPicPr>
          <p:nvPr/>
        </p:nvPicPr>
        <p:blipFill>
          <a:blip r:embed="rId4"/>
          <a:srcRect l="0" r="0" t="0" b="0"/>
          <a:stretch/>
        </p:blipFill>
        <p:spPr>
          <a:xfrm>
            <a:off x="1009650" y="4059436"/>
            <a:ext cx="266700" cy="266700"/>
          </a:xfrm>
          <a:prstGeom prst="rect">
            <a:avLst/>
          </a:prstGeom>
        </p:spPr>
      </p:pic>
      <p:pic>
        <p:nvPicPr>
          <p:cNvPr id="16" name="Image 4" descr="preencoded.png">    </p:cNvPr>
          <p:cNvPicPr>
            <a:picLocks noChangeAspect="1"/>
          </p:cNvPicPr>
          <p:nvPr/>
        </p:nvPicPr>
        <p:blipFill>
          <a:blip r:embed="rId5"/>
          <a:srcRect l="0" r="0" t="0" b="0"/>
          <a:stretch/>
        </p:blipFill>
        <p:spPr>
          <a:xfrm>
            <a:off x="1352550" y="4046736"/>
            <a:ext cx="292100" cy="292100"/>
          </a:xfrm>
          <a:prstGeom prst="rect">
            <a:avLst/>
          </a:prstGeom>
        </p:spPr>
      </p:pic>
      <p:sp>
        <p:nvSpPr>
          <p:cNvPr id="17" name="Text 10"/>
          <p:cNvSpPr/>
          <p:nvPr/>
        </p:nvSpPr>
        <p:spPr>
          <a:xfrm>
            <a:off x="1720850" y="4037211"/>
            <a:ext cx="981551" cy="336550"/>
          </a:xfrm>
          <a:prstGeom prst="rect">
            <a:avLst/>
          </a:prstGeom>
          <a:noFill/>
          <a:ln/>
        </p:spPr>
        <p:txBody>
          <a:bodyPr wrap="square" lIns="0" tIns="0" rIns="0" bIns="0" rtlCol="0" anchor="t">
            <a:normAutofit/>
          </a:bodyPr>
          <a:lstStyle/>
          <a:p>
            <a:pPr algn="l" indent="0" marL="0">
              <a:lnSpc>
                <a:spcPts val="2450"/>
              </a:lnSpc>
              <a:buNone/>
            </a:pPr>
            <a:r>
              <a:rPr lang="en-US" sz="1750" dirty="0">
                <a:solidFill>
                  <a:srgbClr val="0E1320"/>
                </a:solidFill>
                <a:latin typeface="Noto Sans KR" pitchFamily="34" charset="0"/>
                <a:ea typeface="Noto Sans KR" pitchFamily="34" charset="-122"/>
                <a:cs typeface="Noto Sans KR" pitchFamily="34" charset="-120"/>
              </a:rPr>
              <a:t>보안정책</a:t>
            </a:r>
            <a:endParaRPr lang="en-US" sz="1750" dirty="0"/>
          </a:p>
        </p:txBody>
      </p:sp>
      <p:pic>
        <p:nvPicPr>
          <p:cNvPr id="18" name="Image 5" descr="preencoded.png">    </p:cNvPr>
          <p:cNvPicPr>
            <a:picLocks noChangeAspect="1"/>
          </p:cNvPicPr>
          <p:nvPr/>
        </p:nvPicPr>
        <p:blipFill>
          <a:blip r:embed="rId6"/>
          <a:srcRect l="0" r="0" t="0" b="0"/>
          <a:stretch/>
        </p:blipFill>
        <p:spPr>
          <a:xfrm>
            <a:off x="1009650" y="4738886"/>
            <a:ext cx="266700" cy="266700"/>
          </a:xfrm>
          <a:prstGeom prst="rect">
            <a:avLst/>
          </a:prstGeom>
        </p:spPr>
      </p:pic>
      <p:sp>
        <p:nvSpPr>
          <p:cNvPr id="19" name="Shape 11"/>
          <p:cNvSpPr/>
          <p:nvPr/>
        </p:nvSpPr>
        <p:spPr>
          <a:xfrm>
            <a:off x="1352550" y="4627761"/>
            <a:ext cx="1657350" cy="488950"/>
          </a:xfrm>
          <a:prstGeom prst="roundRect">
            <a:avLst>
              <a:gd name="adj" fmla="val 18182"/>
            </a:avLst>
          </a:prstGeom>
          <a:solidFill>
            <a:srgbClr val="1428A0"/>
          </a:solidFill>
          <a:ln/>
        </p:spPr>
      </p:sp>
      <p:pic>
        <p:nvPicPr>
          <p:cNvPr id="20" name="Image 6" descr="preencoded.png">    </p:cNvPr>
          <p:cNvPicPr>
            <a:picLocks noChangeAspect="1"/>
          </p:cNvPicPr>
          <p:nvPr/>
        </p:nvPicPr>
        <p:blipFill>
          <a:blip r:embed="rId7"/>
          <a:srcRect l="0" r="0" t="0" b="0"/>
          <a:stretch/>
        </p:blipFill>
        <p:spPr>
          <a:xfrm>
            <a:off x="1504950" y="4745236"/>
            <a:ext cx="254000" cy="254000"/>
          </a:xfrm>
          <a:prstGeom prst="rect">
            <a:avLst/>
          </a:prstGeom>
        </p:spPr>
      </p:pic>
      <p:sp>
        <p:nvSpPr>
          <p:cNvPr id="21" name="Text 12"/>
          <p:cNvSpPr/>
          <p:nvPr/>
        </p:nvSpPr>
        <p:spPr>
          <a:xfrm>
            <a:off x="1835150" y="4716661"/>
            <a:ext cx="1174750" cy="336550"/>
          </a:xfrm>
          <a:prstGeom prst="rect">
            <a:avLst/>
          </a:prstGeom>
          <a:noFill/>
          <a:ln/>
        </p:spPr>
        <p:txBody>
          <a:bodyPr wrap="square" lIns="0" tIns="0" rIns="0" bIns="0" rtlCol="0" anchor="t">
            <a:normAutofit/>
          </a:bodyPr>
          <a:lstStyle/>
          <a:p>
            <a:pPr algn="l" indent="0" marL="0">
              <a:lnSpc>
                <a:spcPts val="2450"/>
              </a:lnSpc>
              <a:buNone/>
            </a:pPr>
            <a:r>
              <a:rPr lang="en-US" sz="1750" b="1" dirty="0">
                <a:solidFill>
                  <a:srgbClr val="FFFFFF"/>
                </a:solidFill>
                <a:latin typeface="Noto Sans KR" pitchFamily="34" charset="0"/>
                <a:ea typeface="Noto Sans KR" pitchFamily="34" charset="-122"/>
                <a:cs typeface="Noto Sans KR" pitchFamily="34" charset="-120"/>
              </a:rPr>
              <a:t>보안가이드</a:t>
            </a:r>
            <a:endParaRPr lang="en-US" sz="1750" dirty="0"/>
          </a:p>
        </p:txBody>
      </p:sp>
      <p:sp>
        <p:nvSpPr>
          <p:cNvPr id="22" name="Shape 13"/>
          <p:cNvSpPr/>
          <p:nvPr/>
        </p:nvSpPr>
        <p:spPr>
          <a:xfrm>
            <a:off x="6200775" y="1387376"/>
            <a:ext cx="5226050" cy="4768949"/>
          </a:xfrm>
          <a:prstGeom prst="roundRect">
            <a:avLst>
              <a:gd name="adj" fmla="val 2330"/>
            </a:avLst>
          </a:prstGeom>
          <a:solidFill>
            <a:srgbClr val="FFFFFF"/>
          </a:solidFill>
          <a:ln w="6350">
            <a:solidFill>
              <a:srgbClr val="DCE1EA"/>
            </a:solidFill>
            <a:prstDash val="solid"/>
          </a:ln>
        </p:spPr>
      </p:sp>
      <p:sp>
        <p:nvSpPr>
          <p:cNvPr id="23" name="Text 14"/>
          <p:cNvSpPr/>
          <p:nvPr/>
        </p:nvSpPr>
        <p:spPr>
          <a:xfrm>
            <a:off x="6445250" y="1593751"/>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C8102E"/>
          </a:solidFill>
          <a:ln/>
        </p:spPr>
        <p:txBody>
          <a:bodyPr wrap="square" lIns="0" tIns="0" rIns="0" bIns="0" rtlCol="0" anchor="t">
            <a:normAutofit/>
          </a:bodyPr>
          <a:lstStyle/>
          <a:p>
            <a:pPr algn="l" indent="0" marL="0">
              <a:lnSpc>
                <a:spcPts val="1960"/>
              </a:lnSpc>
              <a:buNone/>
            </a:pPr>
            <a:r>
              <a:rPr lang="en-US" sz="1400" b="1" dirty="0">
                <a:solidFill>
                  <a:srgbClr val="FFFFFF"/>
                </a:solidFill>
                <a:latin typeface="Noto Sans KR" pitchFamily="34" charset="0"/>
                <a:ea typeface="Noto Sans KR" pitchFamily="34" charset="-122"/>
                <a:cs typeface="Noto Sans KR" pitchFamily="34" charset="-120"/>
              </a:rPr>
              <a:t>2</a:t>
            </a:r>
            <a:endParaRPr lang="en-US" sz="1400" dirty="0"/>
          </a:p>
        </p:txBody>
      </p:sp>
      <p:sp>
        <p:nvSpPr>
          <p:cNvPr id="24" name="Text 15"/>
          <p:cNvSpPr/>
          <p:nvPr/>
        </p:nvSpPr>
        <p:spPr>
          <a:xfrm>
            <a:off x="6877050" y="1581051"/>
            <a:ext cx="2662238"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E1320"/>
                </a:solidFill>
                <a:latin typeface="Noto Sans KR" pitchFamily="34" charset="0"/>
                <a:ea typeface="Noto Sans KR" pitchFamily="34" charset="-122"/>
                <a:cs typeface="Noto Sans KR" pitchFamily="34" charset="-120"/>
              </a:rPr>
              <a:t>선제검토 공유 사이트</a:t>
            </a:r>
            <a:endParaRPr lang="en-US" sz="2000" dirty="0"/>
          </a:p>
        </p:txBody>
      </p:sp>
      <p:sp>
        <p:nvSpPr>
          <p:cNvPr id="25" name="Text 16"/>
          <p:cNvSpPr/>
          <p:nvPr/>
        </p:nvSpPr>
        <p:spPr>
          <a:xfrm>
            <a:off x="6445250" y="2050951"/>
            <a:ext cx="4737100" cy="553641"/>
          </a:xfrm>
          <a:prstGeom prst="roundRect">
            <a:avLst>
              <a:gd name="adj" fmla="val 11470"/>
            </a:avLst>
          </a:prstGeom>
          <a:solidFill>
            <a:srgbClr val="F4F6FA"/>
          </a:solidFill>
          <a:ln/>
        </p:spPr>
        <p:txBody>
          <a:bodyPr wrap="square" lIns="95701" tIns="44901" rIns="0" bIns="19501"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통합보안센터 컨플 › 보안점검 › 통합보안센터 AI 서비스 보안검토 › SaaS AI 서비스 보안검토 현황</a:t>
            </a:r>
            <a:endParaRPr lang="en-US" sz="1200" dirty="0"/>
          </a:p>
        </p:txBody>
      </p:sp>
      <p:sp>
        <p:nvSpPr>
          <p:cNvPr id="26" name="Shape 17"/>
          <p:cNvSpPr/>
          <p:nvPr/>
        </p:nvSpPr>
        <p:spPr>
          <a:xfrm>
            <a:off x="6445250" y="3305770"/>
            <a:ext cx="431800" cy="431800"/>
          </a:xfrm>
          <a:prstGeom prst="roundRect">
            <a:avLst>
              <a:gd name="adj" fmla="val 23529"/>
            </a:avLst>
          </a:prstGeom>
          <a:solidFill>
            <a:srgbClr val="FCE8EA"/>
          </a:solidFill>
          <a:ln/>
        </p:spPr>
      </p:sp>
      <p:pic>
        <p:nvPicPr>
          <p:cNvPr id="27" name="Image 7" descr="preencoded.png">    </p:cNvPr>
          <p:cNvPicPr>
            <a:picLocks noChangeAspect="1"/>
          </p:cNvPicPr>
          <p:nvPr/>
        </p:nvPicPr>
        <p:blipFill>
          <a:blip r:embed="rId8"/>
          <a:srcRect l="0" r="0" t="0" b="0"/>
          <a:stretch/>
        </p:blipFill>
        <p:spPr>
          <a:xfrm>
            <a:off x="6534150" y="3394670"/>
            <a:ext cx="254000" cy="254000"/>
          </a:xfrm>
          <a:prstGeom prst="rect">
            <a:avLst/>
          </a:prstGeom>
        </p:spPr>
      </p:pic>
      <p:sp>
        <p:nvSpPr>
          <p:cNvPr id="28" name="Text 18"/>
          <p:cNvSpPr/>
          <p:nvPr/>
        </p:nvSpPr>
        <p:spPr>
          <a:xfrm>
            <a:off x="6965950" y="3361630"/>
            <a:ext cx="2081332"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E1320"/>
                </a:solidFill>
                <a:latin typeface="Noto Sans KR" pitchFamily="34" charset="0"/>
                <a:ea typeface="Noto Sans KR" pitchFamily="34" charset="-122"/>
                <a:cs typeface="Noto Sans KR" pitchFamily="34" charset="-120"/>
              </a:rPr>
              <a:t>통합보안센터 컨플</a:t>
            </a:r>
            <a:endParaRPr lang="en-US" sz="1800" dirty="0"/>
          </a:p>
        </p:txBody>
      </p:sp>
      <p:pic>
        <p:nvPicPr>
          <p:cNvPr id="29" name="Image 8" descr="preencoded.png">    </p:cNvPr>
          <p:cNvPicPr>
            <a:picLocks noChangeAspect="1"/>
          </p:cNvPicPr>
          <p:nvPr/>
        </p:nvPicPr>
        <p:blipFill>
          <a:blip r:embed="rId9"/>
          <a:srcRect l="0" r="0" t="0" b="0"/>
          <a:stretch/>
        </p:blipFill>
        <p:spPr>
          <a:xfrm>
            <a:off x="6445250" y="3950295"/>
            <a:ext cx="266700" cy="266700"/>
          </a:xfrm>
          <a:prstGeom prst="rect">
            <a:avLst/>
          </a:prstGeom>
        </p:spPr>
      </p:pic>
      <p:pic>
        <p:nvPicPr>
          <p:cNvPr id="30" name="Image 9" descr="preencoded.png">    </p:cNvPr>
          <p:cNvPicPr>
            <a:picLocks noChangeAspect="1"/>
          </p:cNvPicPr>
          <p:nvPr/>
        </p:nvPicPr>
        <p:blipFill>
          <a:blip r:embed="rId10"/>
          <a:srcRect l="0" r="0" t="0" b="0"/>
          <a:stretch/>
        </p:blipFill>
        <p:spPr>
          <a:xfrm>
            <a:off x="6788150" y="3937595"/>
            <a:ext cx="292100" cy="292100"/>
          </a:xfrm>
          <a:prstGeom prst="rect">
            <a:avLst/>
          </a:prstGeom>
        </p:spPr>
      </p:pic>
      <p:sp>
        <p:nvSpPr>
          <p:cNvPr id="31" name="Text 19"/>
          <p:cNvSpPr/>
          <p:nvPr/>
        </p:nvSpPr>
        <p:spPr>
          <a:xfrm>
            <a:off x="7156450" y="3928070"/>
            <a:ext cx="981551" cy="336550"/>
          </a:xfrm>
          <a:prstGeom prst="rect">
            <a:avLst/>
          </a:prstGeom>
          <a:noFill/>
          <a:ln/>
        </p:spPr>
        <p:txBody>
          <a:bodyPr wrap="square" lIns="0" tIns="0" rIns="0" bIns="0" rtlCol="0" anchor="t">
            <a:normAutofit/>
          </a:bodyPr>
          <a:lstStyle/>
          <a:p>
            <a:pPr algn="l" indent="0" marL="0">
              <a:lnSpc>
                <a:spcPts val="2450"/>
              </a:lnSpc>
              <a:buNone/>
            </a:pPr>
            <a:r>
              <a:rPr lang="en-US" sz="1750" dirty="0">
                <a:solidFill>
                  <a:srgbClr val="0E1320"/>
                </a:solidFill>
                <a:latin typeface="Noto Sans KR" pitchFamily="34" charset="0"/>
                <a:ea typeface="Noto Sans KR" pitchFamily="34" charset="-122"/>
                <a:cs typeface="Noto Sans KR" pitchFamily="34" charset="-120"/>
              </a:rPr>
              <a:t>보안점검</a:t>
            </a:r>
            <a:endParaRPr lang="en-US" sz="1750" dirty="0"/>
          </a:p>
        </p:txBody>
      </p:sp>
      <p:pic>
        <p:nvPicPr>
          <p:cNvPr id="32" name="Image 10" descr="preencoded.png">    </p:cNvPr>
          <p:cNvPicPr>
            <a:picLocks noChangeAspect="1"/>
          </p:cNvPicPr>
          <p:nvPr/>
        </p:nvPicPr>
        <p:blipFill>
          <a:blip r:embed="rId11"/>
          <a:srcRect l="0" r="0" t="0" b="0"/>
          <a:stretch/>
        </p:blipFill>
        <p:spPr>
          <a:xfrm>
            <a:off x="6445250" y="4443016"/>
            <a:ext cx="266700" cy="266700"/>
          </a:xfrm>
          <a:prstGeom prst="rect">
            <a:avLst/>
          </a:prstGeom>
        </p:spPr>
      </p:pic>
      <p:pic>
        <p:nvPicPr>
          <p:cNvPr id="33" name="Image 11" descr="preencoded.png">    </p:cNvPr>
          <p:cNvPicPr>
            <a:picLocks noChangeAspect="1"/>
          </p:cNvPicPr>
          <p:nvPr/>
        </p:nvPicPr>
        <p:blipFill>
          <a:blip r:embed="rId12"/>
          <a:srcRect l="0" r="0" t="0" b="0"/>
          <a:stretch/>
        </p:blipFill>
        <p:spPr>
          <a:xfrm>
            <a:off x="6788150" y="4430316"/>
            <a:ext cx="292100" cy="292100"/>
          </a:xfrm>
          <a:prstGeom prst="rect">
            <a:avLst/>
          </a:prstGeom>
        </p:spPr>
      </p:pic>
      <p:sp>
        <p:nvSpPr>
          <p:cNvPr id="34" name="Text 20"/>
          <p:cNvSpPr/>
          <p:nvPr/>
        </p:nvSpPr>
        <p:spPr>
          <a:xfrm>
            <a:off x="7156450" y="4429720"/>
            <a:ext cx="2928100" cy="318691"/>
          </a:xfrm>
          <a:prstGeom prst="rect">
            <a:avLst/>
          </a:prstGeom>
          <a:noFill/>
          <a:ln/>
        </p:spPr>
        <p:txBody>
          <a:bodyPr wrap="none" lIns="0" tIns="0" rIns="0" bIns="0" rtlCol="0" anchor="t">
            <a:normAutofit/>
          </a:bodyPr>
          <a:lstStyle/>
          <a:p>
            <a:pPr algn="l" indent="0" marL="0">
              <a:lnSpc>
                <a:spcPts val="2310"/>
              </a:lnSpc>
              <a:buNone/>
            </a:pPr>
            <a:r>
              <a:rPr lang="en-US" sz="1650" dirty="0">
                <a:solidFill>
                  <a:srgbClr val="0E1320"/>
                </a:solidFill>
                <a:latin typeface="Noto Sans KR" pitchFamily="34" charset="0"/>
                <a:ea typeface="Noto Sans KR" pitchFamily="34" charset="-122"/>
                <a:cs typeface="Noto Sans KR" pitchFamily="34" charset="-120"/>
              </a:rPr>
              <a:t>통합보안센터 AI 서비스 보안검토</a:t>
            </a:r>
            <a:endParaRPr lang="en-US" sz="1650" dirty="0"/>
          </a:p>
        </p:txBody>
      </p:sp>
      <p:pic>
        <p:nvPicPr>
          <p:cNvPr id="35" name="Image 12" descr="preencoded.png">    </p:cNvPr>
          <p:cNvPicPr>
            <a:picLocks noChangeAspect="1"/>
          </p:cNvPicPr>
          <p:nvPr/>
        </p:nvPicPr>
        <p:blipFill>
          <a:blip r:embed="rId13"/>
          <a:srcRect l="0" r="0" t="0" b="0"/>
          <a:stretch/>
        </p:blipFill>
        <p:spPr>
          <a:xfrm>
            <a:off x="6445250" y="4998541"/>
            <a:ext cx="266700" cy="266700"/>
          </a:xfrm>
          <a:prstGeom prst="rect">
            <a:avLst/>
          </a:prstGeom>
        </p:spPr>
      </p:pic>
      <p:sp>
        <p:nvSpPr>
          <p:cNvPr id="36" name="Shape 21"/>
          <p:cNvSpPr/>
          <p:nvPr/>
        </p:nvSpPr>
        <p:spPr>
          <a:xfrm>
            <a:off x="6788150" y="4913511"/>
            <a:ext cx="3129657" cy="436860"/>
          </a:xfrm>
          <a:prstGeom prst="roundRect">
            <a:avLst>
              <a:gd name="adj" fmla="val 20350"/>
            </a:avLst>
          </a:prstGeom>
          <a:solidFill>
            <a:srgbClr val="C8102E"/>
          </a:solidFill>
          <a:ln/>
        </p:spPr>
      </p:sp>
      <p:pic>
        <p:nvPicPr>
          <p:cNvPr id="37" name="Image 13" descr="preencoded.png">    </p:cNvPr>
          <p:cNvPicPr>
            <a:picLocks noChangeAspect="1"/>
          </p:cNvPicPr>
          <p:nvPr/>
        </p:nvPicPr>
        <p:blipFill>
          <a:blip r:embed="rId14"/>
          <a:srcRect l="0" r="0" t="0" b="0"/>
          <a:stretch/>
        </p:blipFill>
        <p:spPr>
          <a:xfrm>
            <a:off x="6915150" y="5011241"/>
            <a:ext cx="241300" cy="241300"/>
          </a:xfrm>
          <a:prstGeom prst="rect">
            <a:avLst/>
          </a:prstGeom>
        </p:spPr>
      </p:pic>
      <p:sp>
        <p:nvSpPr>
          <p:cNvPr id="38" name="Text 22"/>
          <p:cNvSpPr/>
          <p:nvPr/>
        </p:nvSpPr>
        <p:spPr>
          <a:xfrm>
            <a:off x="7232650" y="4989711"/>
            <a:ext cx="2634902" cy="309860"/>
          </a:xfrm>
          <a:prstGeom prst="rect">
            <a:avLst/>
          </a:prstGeom>
          <a:noFill/>
          <a:ln/>
        </p:spPr>
        <p:txBody>
          <a:bodyPr wrap="none" lIns="0" tIns="0" rIns="0" bIns="0" rtlCol="0" anchor="t">
            <a:normAutofit/>
          </a:bodyPr>
          <a:lstStyle/>
          <a:p>
            <a:pPr algn="l" indent="0" marL="0">
              <a:lnSpc>
                <a:spcPts val="2240"/>
              </a:lnSpc>
              <a:buNone/>
            </a:pPr>
            <a:r>
              <a:rPr lang="en-US" sz="1600" b="1" dirty="0">
                <a:solidFill>
                  <a:srgbClr val="FFFFFF"/>
                </a:solidFill>
                <a:latin typeface="Noto Sans KR" pitchFamily="34" charset="0"/>
                <a:ea typeface="Noto Sans KR" pitchFamily="34" charset="-122"/>
                <a:cs typeface="Noto Sans KR" pitchFamily="34" charset="-120"/>
              </a:rPr>
              <a:t>SaaS AI 서비스 보안검토 현황</a:t>
            </a:r>
            <a:endParaRPr lang="en-US" sz="1600" dirty="0"/>
          </a:p>
        </p:txBody>
      </p:sp>
      <p:sp>
        <p:nvSpPr>
          <p:cNvPr id="39" name="Text 23"/>
          <p:cNvSpPr/>
          <p:nvPr/>
        </p:nvSpPr>
        <p:spPr>
          <a:xfrm>
            <a:off x="10871200" y="63144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0E1320"/>
                </a:solidFill>
                <a:latin typeface="Noto Sans KR" pitchFamily="34" charset="0"/>
                <a:ea typeface="Noto Sans KR" pitchFamily="34" charset="-122"/>
                <a:cs typeface="Noto Sans KR" pitchFamily="34" charset="-120"/>
              </a:rPr>
              <a:t>필수 4개: 빠른 탈락 기준</a:t>
            </a:r>
            <a:endParaRPr lang="en-US" sz="2800" dirty="0"/>
          </a:p>
        </p:txBody>
      </p:sp>
      <p:sp>
        <p:nvSpPr>
          <p:cNvPr id="3" name="Text 1"/>
          <p:cNvSpPr/>
          <p:nvPr/>
        </p:nvSpPr>
        <p:spPr>
          <a:xfrm>
            <a:off x="812800" y="118358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6"/>
                </a:solidFill>
                <a:latin typeface="Noto Sans KR" pitchFamily="34" charset="0"/>
                <a:ea typeface="Noto Sans KR" pitchFamily="34" charset="-122"/>
                <a:cs typeface="Noto Sans KR" pitchFamily="34" charset="-120"/>
              </a:rPr>
              <a:t>서비스 제공사가 기능으로 제공해야만 가능 · 빠르게 탈락시키고 결과를 공유</a:t>
            </a:r>
            <a:endParaRPr lang="en-US" sz="1300" dirty="0"/>
          </a:p>
        </p:txBody>
      </p:sp>
      <p:sp>
        <p:nvSpPr>
          <p:cNvPr id="4" name="Shape 2"/>
          <p:cNvSpPr/>
          <p:nvPr/>
        </p:nvSpPr>
        <p:spPr>
          <a:xfrm>
            <a:off x="815975" y="1595636"/>
            <a:ext cx="2540000" cy="895152"/>
          </a:xfrm>
          <a:prstGeom prst="roundRect">
            <a:avLst>
              <a:gd name="adj" fmla="val 8158"/>
            </a:avLst>
          </a:prstGeom>
          <a:solidFill>
            <a:srgbClr val="FFFFFF"/>
          </a:solidFill>
          <a:ln w="6350">
            <a:solidFill>
              <a:srgbClr val="DCE1EA"/>
            </a:solidFill>
            <a:prstDash val="solid"/>
          </a:ln>
        </p:spPr>
      </p:sp>
      <p:sp>
        <p:nvSpPr>
          <p:cNvPr id="5" name="Text 3"/>
          <p:cNvSpPr/>
          <p:nvPr/>
        </p:nvSpPr>
        <p:spPr>
          <a:xfrm>
            <a:off x="958850" y="1700411"/>
            <a:ext cx="232187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C8102E"/>
                </a:solidFill>
                <a:latin typeface="Noto Sans KR" pitchFamily="34" charset="0"/>
                <a:ea typeface="Noto Sans KR" pitchFamily="34" charset="-122"/>
                <a:cs typeface="Noto Sans KR" pitchFamily="34" charset="-120"/>
              </a:rPr>
              <a:t>01</a:t>
            </a:r>
            <a:r>
              <a:rPr lang="en-US" sz="1400" b="1" dirty="0">
                <a:solidFill>
                  <a:srgbClr val="0E1320"/>
                </a:solidFill>
                <a:latin typeface="Noto Sans KR" pitchFamily="34" charset="0"/>
                <a:ea typeface="Noto Sans KR" pitchFamily="34" charset="-122"/>
                <a:cs typeface="Noto Sans KR" pitchFamily="34" charset="-120"/>
              </a:rPr>
              <a:t> 데이터 격리</a:t>
            </a:r>
            <a:endParaRPr lang="en-US" sz="1400" dirty="0"/>
          </a:p>
        </p:txBody>
      </p:sp>
      <p:sp>
        <p:nvSpPr>
          <p:cNvPr id="6" name="Text 4"/>
          <p:cNvSpPr/>
          <p:nvPr/>
        </p:nvSpPr>
        <p:spPr>
          <a:xfrm>
            <a:off x="958850" y="1974652"/>
            <a:ext cx="2321877"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366"/>
                </a:solidFill>
                <a:latin typeface="Noto Sans KR" pitchFamily="34" charset="0"/>
                <a:ea typeface="Noto Sans KR" pitchFamily="34" charset="-122"/>
                <a:cs typeface="Noto Sans KR" pitchFamily="34" charset="-120"/>
              </a:rPr>
              <a:t>학습 미사용 계약</a:t>
            </a:r>
            <a:endParaRPr lang="en-US" sz="1200" dirty="0"/>
          </a:p>
        </p:txBody>
      </p:sp>
      <p:sp>
        <p:nvSpPr>
          <p:cNvPr id="7" name="Shape 5"/>
          <p:cNvSpPr/>
          <p:nvPr/>
        </p:nvSpPr>
        <p:spPr>
          <a:xfrm>
            <a:off x="3489325" y="1595636"/>
            <a:ext cx="2540000" cy="895152"/>
          </a:xfrm>
          <a:prstGeom prst="roundRect">
            <a:avLst>
              <a:gd name="adj" fmla="val 8158"/>
            </a:avLst>
          </a:prstGeom>
          <a:solidFill>
            <a:srgbClr val="FFFFFF"/>
          </a:solidFill>
          <a:ln w="6350">
            <a:solidFill>
              <a:srgbClr val="DCE1EA"/>
            </a:solidFill>
            <a:prstDash val="solid"/>
          </a:ln>
        </p:spPr>
      </p:sp>
      <p:sp>
        <p:nvSpPr>
          <p:cNvPr id="8" name="Text 6"/>
          <p:cNvSpPr/>
          <p:nvPr/>
        </p:nvSpPr>
        <p:spPr>
          <a:xfrm>
            <a:off x="3632200" y="1700411"/>
            <a:ext cx="232187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C8102E"/>
                </a:solidFill>
                <a:latin typeface="Noto Sans KR" pitchFamily="34" charset="0"/>
                <a:ea typeface="Noto Sans KR" pitchFamily="34" charset="-122"/>
                <a:cs typeface="Noto Sans KR" pitchFamily="34" charset="-120"/>
              </a:rPr>
              <a:t>04</a:t>
            </a:r>
            <a:r>
              <a:rPr lang="en-US" sz="1400" b="1" dirty="0">
                <a:solidFill>
                  <a:srgbClr val="0E1320"/>
                </a:solidFill>
                <a:latin typeface="Noto Sans KR" pitchFamily="34" charset="0"/>
                <a:ea typeface="Noto Sans KR" pitchFamily="34" charset="-122"/>
                <a:cs typeface="Noto Sans KR" pitchFamily="34" charset="-120"/>
              </a:rPr>
              <a:t> 계정·인증</a:t>
            </a:r>
            <a:endParaRPr lang="en-US" sz="1400" dirty="0"/>
          </a:p>
        </p:txBody>
      </p:sp>
      <p:sp>
        <p:nvSpPr>
          <p:cNvPr id="9" name="Text 7"/>
          <p:cNvSpPr/>
          <p:nvPr/>
        </p:nvSpPr>
        <p:spPr>
          <a:xfrm>
            <a:off x="3632200" y="1974652"/>
            <a:ext cx="2321877"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366"/>
                </a:solidFill>
                <a:latin typeface="Noto Sans KR" pitchFamily="34" charset="0"/>
                <a:ea typeface="Noto Sans KR" pitchFamily="34" charset="-122"/>
                <a:cs typeface="Noto Sans KR" pitchFamily="34" charset="-120"/>
              </a:rPr>
              <a:t>MFA · 사외접속·개인계정 차단</a:t>
            </a:r>
            <a:endParaRPr lang="en-US" sz="1200" dirty="0"/>
          </a:p>
        </p:txBody>
      </p:sp>
      <p:sp>
        <p:nvSpPr>
          <p:cNvPr id="10" name="Shape 8"/>
          <p:cNvSpPr/>
          <p:nvPr/>
        </p:nvSpPr>
        <p:spPr>
          <a:xfrm>
            <a:off x="6162675" y="1595636"/>
            <a:ext cx="2540000" cy="895152"/>
          </a:xfrm>
          <a:prstGeom prst="roundRect">
            <a:avLst>
              <a:gd name="adj" fmla="val 8158"/>
            </a:avLst>
          </a:prstGeom>
          <a:solidFill>
            <a:srgbClr val="FFFFFF"/>
          </a:solidFill>
          <a:ln w="6350">
            <a:solidFill>
              <a:srgbClr val="DCE1EA"/>
            </a:solidFill>
            <a:prstDash val="solid"/>
          </a:ln>
        </p:spPr>
      </p:sp>
      <p:sp>
        <p:nvSpPr>
          <p:cNvPr id="11" name="Text 9"/>
          <p:cNvSpPr/>
          <p:nvPr/>
        </p:nvSpPr>
        <p:spPr>
          <a:xfrm>
            <a:off x="6305550" y="1700411"/>
            <a:ext cx="232187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C8102E"/>
                </a:solidFill>
                <a:latin typeface="Noto Sans KR" pitchFamily="34" charset="0"/>
                <a:ea typeface="Noto Sans KR" pitchFamily="34" charset="-122"/>
                <a:cs typeface="Noto Sans KR" pitchFamily="34" charset="-120"/>
              </a:rPr>
              <a:t>10</a:t>
            </a:r>
            <a:r>
              <a:rPr lang="en-US" sz="1400" b="1" dirty="0">
                <a:solidFill>
                  <a:srgbClr val="0E1320"/>
                </a:solidFill>
                <a:latin typeface="Noto Sans KR" pitchFamily="34" charset="0"/>
                <a:ea typeface="Noto Sans KR" pitchFamily="34" charset="-122"/>
                <a:cs typeface="Noto Sans KR" pitchFamily="34" charset="-120"/>
              </a:rPr>
              <a:t> 모니터링·로그</a:t>
            </a:r>
            <a:endParaRPr lang="en-US" sz="1400" dirty="0"/>
          </a:p>
        </p:txBody>
      </p:sp>
      <p:sp>
        <p:nvSpPr>
          <p:cNvPr id="12" name="Text 10"/>
          <p:cNvSpPr/>
          <p:nvPr/>
        </p:nvSpPr>
        <p:spPr>
          <a:xfrm>
            <a:off x="6305550" y="1974652"/>
            <a:ext cx="2321877"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366"/>
                </a:solidFill>
                <a:latin typeface="Noto Sans KR" pitchFamily="34" charset="0"/>
                <a:ea typeface="Noto Sans KR" pitchFamily="34" charset="-122"/>
                <a:cs typeface="Noto Sans KR" pitchFamily="34" charset="-120"/>
              </a:rPr>
              <a:t>모든 방법(API·프록시·OTel·Hook)으로도 불가 시 ✗</a:t>
            </a:r>
            <a:endParaRPr lang="en-US" sz="1200" dirty="0"/>
          </a:p>
        </p:txBody>
      </p:sp>
      <p:sp>
        <p:nvSpPr>
          <p:cNvPr id="13" name="Shape 11"/>
          <p:cNvSpPr/>
          <p:nvPr/>
        </p:nvSpPr>
        <p:spPr>
          <a:xfrm>
            <a:off x="8836025" y="1595636"/>
            <a:ext cx="2540000" cy="895152"/>
          </a:xfrm>
          <a:prstGeom prst="roundRect">
            <a:avLst>
              <a:gd name="adj" fmla="val 8158"/>
            </a:avLst>
          </a:prstGeom>
          <a:solidFill>
            <a:srgbClr val="FFFFFF"/>
          </a:solidFill>
          <a:ln w="6350">
            <a:solidFill>
              <a:srgbClr val="DCE1EA"/>
            </a:solidFill>
            <a:prstDash val="solid"/>
          </a:ln>
        </p:spPr>
      </p:sp>
      <p:sp>
        <p:nvSpPr>
          <p:cNvPr id="14" name="Text 12"/>
          <p:cNvSpPr/>
          <p:nvPr/>
        </p:nvSpPr>
        <p:spPr>
          <a:xfrm>
            <a:off x="8978900" y="1700411"/>
            <a:ext cx="232187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C8102E"/>
                </a:solidFill>
                <a:latin typeface="Noto Sans KR" pitchFamily="34" charset="0"/>
                <a:ea typeface="Noto Sans KR" pitchFamily="34" charset="-122"/>
                <a:cs typeface="Noto Sans KR" pitchFamily="34" charset="-120"/>
              </a:rPr>
              <a:t>11</a:t>
            </a:r>
            <a:r>
              <a:rPr lang="en-US" sz="1400" b="1" dirty="0">
                <a:solidFill>
                  <a:srgbClr val="0E1320"/>
                </a:solidFill>
                <a:latin typeface="Noto Sans KR" pitchFamily="34" charset="0"/>
                <a:ea typeface="Noto Sans KR" pitchFamily="34" charset="-122"/>
                <a:cs typeface="Noto Sans KR" pitchFamily="34" charset="-120"/>
              </a:rPr>
              <a:t> 공급자 신뢰성</a:t>
            </a:r>
            <a:endParaRPr lang="en-US" sz="1400" dirty="0"/>
          </a:p>
        </p:txBody>
      </p:sp>
      <p:sp>
        <p:nvSpPr>
          <p:cNvPr id="15" name="Text 13"/>
          <p:cNvSpPr/>
          <p:nvPr/>
        </p:nvSpPr>
        <p:spPr>
          <a:xfrm>
            <a:off x="8978900" y="1974652"/>
            <a:ext cx="2321877"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366"/>
                </a:solidFill>
                <a:latin typeface="Noto Sans KR" pitchFamily="34" charset="0"/>
                <a:ea typeface="Noto Sans KR" pitchFamily="34" charset="-122"/>
                <a:cs typeface="Noto Sans KR" pitchFamily="34" charset="-120"/>
              </a:rPr>
              <a:t>SOC 2 인증</a:t>
            </a:r>
            <a:endParaRPr lang="en-US" sz="1200" dirty="0"/>
          </a:p>
        </p:txBody>
      </p:sp>
      <p:sp>
        <p:nvSpPr>
          <p:cNvPr id="16" name="Shape 14"/>
          <p:cNvSpPr/>
          <p:nvPr/>
        </p:nvSpPr>
        <p:spPr>
          <a:xfrm>
            <a:off x="822325" y="2681288"/>
            <a:ext cx="10547350" cy="3151188"/>
          </a:xfrm>
          <a:prstGeom prst="roundRect">
            <a:avLst>
              <a:gd name="adj" fmla="val 4534"/>
            </a:avLst>
          </a:prstGeom>
          <a:noFill/>
          <a:ln w="19050">
            <a:solidFill>
              <a:srgbClr val="1428A0"/>
            </a:solidFill>
            <a:prstDash val="dash"/>
          </a:ln>
        </p:spPr>
      </p:sp>
      <p:sp>
        <p:nvSpPr>
          <p:cNvPr id="17" name="Text 15"/>
          <p:cNvSpPr/>
          <p:nvPr/>
        </p:nvSpPr>
        <p:spPr>
          <a:xfrm>
            <a:off x="1009650" y="2830513"/>
            <a:ext cx="10477881"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AI 서비스 전체 = 하나의 공간</a:t>
            </a:r>
            <a:endParaRPr lang="en-US" sz="1300" dirty="0"/>
          </a:p>
        </p:txBody>
      </p:sp>
      <p:sp>
        <p:nvSpPr>
          <p:cNvPr id="18" name="Shape 16"/>
          <p:cNvSpPr/>
          <p:nvPr/>
        </p:nvSpPr>
        <p:spPr>
          <a:xfrm>
            <a:off x="1009650" y="3150493"/>
            <a:ext cx="5073650" cy="2532757"/>
          </a:xfrm>
          <a:prstGeom prst="roundRect">
            <a:avLst>
              <a:gd name="adj" fmla="val 4011"/>
            </a:avLst>
          </a:prstGeom>
          <a:solidFill>
            <a:srgbClr val="FCE8EA"/>
          </a:solidFill>
          <a:ln/>
        </p:spPr>
      </p:sp>
      <p:pic>
        <p:nvPicPr>
          <p:cNvPr id="19" name="Image 0" descr="Warning">    </p:cNvPr>
          <p:cNvPicPr>
            <a:picLocks noChangeAspect="1"/>
          </p:cNvPicPr>
          <p:nvPr/>
        </p:nvPicPr>
        <p:blipFill>
          <a:blip r:embed="rId1"/>
          <a:srcRect l="0" r="0" t="0" b="0"/>
          <a:stretch/>
        </p:blipFill>
        <p:spPr>
          <a:xfrm>
            <a:off x="1212850" y="3889871"/>
            <a:ext cx="304800" cy="304800"/>
          </a:xfrm>
          <a:prstGeom prst="rect">
            <a:avLst/>
          </a:prstGeom>
        </p:spPr>
      </p:pic>
      <p:sp>
        <p:nvSpPr>
          <p:cNvPr id="20" name="Text 17"/>
          <p:cNvSpPr/>
          <p:nvPr/>
        </p:nvSpPr>
        <p:spPr>
          <a:xfrm>
            <a:off x="1606550" y="3908921"/>
            <a:ext cx="131385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C8102E"/>
                </a:solidFill>
                <a:latin typeface="Noto Sans KR" pitchFamily="34" charset="0"/>
                <a:ea typeface="Noto Sans KR" pitchFamily="34" charset="-122"/>
                <a:cs typeface="Noto Sans KR" pitchFamily="34" charset="-120"/>
              </a:rPr>
              <a:t>하나라도 불가</a:t>
            </a:r>
            <a:endParaRPr lang="en-US" sz="1500" dirty="0"/>
          </a:p>
        </p:txBody>
      </p:sp>
      <p:sp>
        <p:nvSpPr>
          <p:cNvPr id="21" name="Text 18"/>
          <p:cNvSpPr/>
          <p:nvPr/>
        </p:nvSpPr>
        <p:spPr>
          <a:xfrm>
            <a:off x="1212850" y="4258171"/>
            <a:ext cx="4807268"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0E1320"/>
                </a:solidFill>
                <a:latin typeface="Noto Sans KR" pitchFamily="34" charset="0"/>
                <a:ea typeface="Noto Sans KR" pitchFamily="34" charset="-122"/>
                <a:cs typeface="Noto Sans KR" pitchFamily="34" charset="-120"/>
              </a:rPr>
              <a:t>절대 안 됨</a:t>
            </a:r>
            <a:endParaRPr lang="en-US" sz="2800" dirty="0"/>
          </a:p>
        </p:txBody>
      </p:sp>
      <p:sp>
        <p:nvSpPr>
          <p:cNvPr id="22" name="Text 19"/>
          <p:cNvSpPr/>
          <p:nvPr/>
        </p:nvSpPr>
        <p:spPr>
          <a:xfrm>
            <a:off x="1212850" y="4712791"/>
            <a:ext cx="480726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6"/>
                </a:solidFill>
                <a:latin typeface="Noto Sans KR" pitchFamily="34" charset="0"/>
                <a:ea typeface="Noto Sans KR" pitchFamily="34" charset="-122"/>
                <a:cs typeface="Noto Sans KR" pitchFamily="34" charset="-120"/>
              </a:rPr>
              <a:t>서비스 기능 개발 대기</a:t>
            </a:r>
            <a:endParaRPr lang="en-US" sz="1300" dirty="0"/>
          </a:p>
        </p:txBody>
      </p:sp>
      <p:sp>
        <p:nvSpPr>
          <p:cNvPr id="23" name="Shape 20"/>
          <p:cNvSpPr/>
          <p:nvPr/>
        </p:nvSpPr>
        <p:spPr>
          <a:xfrm>
            <a:off x="6096000" y="3150493"/>
            <a:ext cx="0" cy="2532757"/>
          </a:xfrm>
          <a:prstGeom prst="line">
            <a:avLst/>
          </a:prstGeom>
          <a:noFill/>
          <a:ln w="25400">
            <a:solidFill>
              <a:srgbClr val="0E1320"/>
            </a:solidFill>
            <a:prstDash val="solid"/>
          </a:ln>
        </p:spPr>
      </p:sp>
      <p:sp>
        <p:nvSpPr>
          <p:cNvPr id="24" name="Shape 21"/>
          <p:cNvSpPr/>
          <p:nvPr/>
        </p:nvSpPr>
        <p:spPr>
          <a:xfrm>
            <a:off x="6108700" y="3150493"/>
            <a:ext cx="5073650" cy="2532757"/>
          </a:xfrm>
          <a:prstGeom prst="roundRect">
            <a:avLst>
              <a:gd name="adj" fmla="val 4011"/>
            </a:avLst>
          </a:prstGeom>
          <a:solidFill>
            <a:srgbClr val="EEF1FB"/>
          </a:solidFill>
          <a:ln/>
        </p:spPr>
      </p:sp>
      <p:pic>
        <p:nvPicPr>
          <p:cNvPr id="25" name="Image 1" descr="CheckCircle">    </p:cNvPr>
          <p:cNvPicPr>
            <a:picLocks noChangeAspect="1"/>
          </p:cNvPicPr>
          <p:nvPr/>
        </p:nvPicPr>
        <p:blipFill>
          <a:blip r:embed="rId2"/>
          <a:srcRect l="0" r="0" t="0" b="0"/>
          <a:stretch/>
        </p:blipFill>
        <p:spPr>
          <a:xfrm>
            <a:off x="6311900" y="3889871"/>
            <a:ext cx="304800" cy="304800"/>
          </a:xfrm>
          <a:prstGeom prst="rect">
            <a:avLst/>
          </a:prstGeom>
        </p:spPr>
      </p:pic>
      <p:sp>
        <p:nvSpPr>
          <p:cNvPr id="26" name="Text 22"/>
          <p:cNvSpPr/>
          <p:nvPr/>
        </p:nvSpPr>
        <p:spPr>
          <a:xfrm>
            <a:off x="6705600" y="3908921"/>
            <a:ext cx="269224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8A0"/>
                </a:solidFill>
                <a:latin typeface="Noto Sans KR" pitchFamily="34" charset="0"/>
                <a:ea typeface="Noto Sans KR" pitchFamily="34" charset="-122"/>
                <a:cs typeface="Noto Sans KR" pitchFamily="34" charset="-120"/>
              </a:rPr>
              <a:t>4개 모두 통과 · 31개 서비스</a:t>
            </a:r>
            <a:endParaRPr lang="en-US" sz="1500" dirty="0"/>
          </a:p>
        </p:txBody>
      </p:sp>
      <p:sp>
        <p:nvSpPr>
          <p:cNvPr id="27" name="Text 23"/>
          <p:cNvSpPr/>
          <p:nvPr/>
        </p:nvSpPr>
        <p:spPr>
          <a:xfrm>
            <a:off x="6311900" y="4258171"/>
            <a:ext cx="4807268"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0E1320"/>
                </a:solidFill>
                <a:latin typeface="Noto Sans KR" pitchFamily="34" charset="0"/>
                <a:ea typeface="Noto Sans KR" pitchFamily="34" charset="-122"/>
                <a:cs typeface="Noto Sans KR" pitchFamily="34" charset="-120"/>
              </a:rPr>
              <a:t>쓸 수 없을 수도 있음</a:t>
            </a:r>
            <a:endParaRPr lang="en-US" sz="2800" dirty="0"/>
          </a:p>
        </p:txBody>
      </p:sp>
      <p:sp>
        <p:nvSpPr>
          <p:cNvPr id="28" name="Text 24"/>
          <p:cNvSpPr/>
          <p:nvPr/>
        </p:nvSpPr>
        <p:spPr>
          <a:xfrm>
            <a:off x="6311900" y="4712791"/>
            <a:ext cx="480726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6"/>
                </a:solidFill>
                <a:latin typeface="Noto Sans KR" pitchFamily="34" charset="0"/>
                <a:ea typeface="Noto Sans KR" pitchFamily="34" charset="-122"/>
                <a:cs typeface="Noto Sans KR" pitchFamily="34" charset="-120"/>
              </a:rPr>
              <a:t>현재 각 사 상황에 따라 다름</a:t>
            </a:r>
            <a:endParaRPr lang="en-US" sz="1300" dirty="0"/>
          </a:p>
        </p:txBody>
      </p:sp>
      <p:sp>
        <p:nvSpPr>
          <p:cNvPr id="29" name="Text 25"/>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428A0"/>
                </a:solidFill>
                <a:latin typeface="Noto Sans KR" pitchFamily="34" charset="0"/>
                <a:ea typeface="Noto Sans KR" pitchFamily="34" charset="-122"/>
                <a:cs typeface="Noto Sans KR" pitchFamily="34" charset="-120"/>
              </a:rPr>
              <a:t>솔루션 ① 기밀정보 마스킹·필터링</a:t>
            </a:r>
            <a:endParaRPr lang="en-US" sz="1200" dirty="0"/>
          </a:p>
        </p:txBody>
      </p:sp>
      <p:sp>
        <p:nvSpPr>
          <p:cNvPr id="3" name="Text 1"/>
          <p:cNvSpPr/>
          <p:nvPr>
            <p:ph type="title"/>
          </p:nvPr>
        </p:nvSpPr>
        <p:spPr>
          <a:xfrm>
            <a:off x="812800" y="886420"/>
            <a:ext cx="1088339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0E1320"/>
                </a:solidFill>
                <a:latin typeface="Noto Sans KR" pitchFamily="34" charset="0"/>
                <a:ea typeface="Noto Sans KR" pitchFamily="34" charset="-122"/>
                <a:cs typeface="Noto Sans KR" pitchFamily="34" charset="-120"/>
              </a:rPr>
              <a:t>기밀정보 마스킹·필터링</a:t>
            </a:r>
            <a:endParaRPr lang="en-US" sz="2800" dirty="0"/>
          </a:p>
        </p:txBody>
      </p:sp>
      <p:sp>
        <p:nvSpPr>
          <p:cNvPr id="4" name="Shape 2"/>
          <p:cNvSpPr/>
          <p:nvPr/>
        </p:nvSpPr>
        <p:spPr>
          <a:xfrm>
            <a:off x="815975" y="1450876"/>
            <a:ext cx="5175250" cy="4514949"/>
          </a:xfrm>
          <a:prstGeom prst="roundRect">
            <a:avLst>
              <a:gd name="adj" fmla="val 1899"/>
            </a:avLst>
          </a:prstGeom>
          <a:solidFill>
            <a:srgbClr val="FFFFFF"/>
          </a:solidFill>
          <a:ln w="6350">
            <a:solidFill>
              <a:srgbClr val="DCE1EA"/>
            </a:solidFill>
            <a:prstDash val="solid"/>
          </a:ln>
        </p:spPr>
      </p:sp>
      <p:sp>
        <p:nvSpPr>
          <p:cNvPr id="5" name="Text 3"/>
          <p:cNvSpPr/>
          <p:nvPr/>
        </p:nvSpPr>
        <p:spPr>
          <a:xfrm>
            <a:off x="971550" y="1657251"/>
            <a:ext cx="102046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마스킹·필터링</a:t>
            </a:r>
            <a:endParaRPr lang="en-US" sz="1200" dirty="0"/>
          </a:p>
        </p:txBody>
      </p:sp>
      <p:sp>
        <p:nvSpPr>
          <p:cNvPr id="6" name="Text 4"/>
          <p:cNvSpPr/>
          <p:nvPr/>
        </p:nvSpPr>
        <p:spPr>
          <a:xfrm>
            <a:off x="1992015" y="1568351"/>
            <a:ext cx="159514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E1320"/>
                </a:solidFill>
                <a:latin typeface="Noto Sans KR" pitchFamily="34" charset="0"/>
                <a:ea typeface="Noto Sans KR" pitchFamily="34" charset="-122"/>
                <a:cs typeface="Noto Sans KR" pitchFamily="34" charset="-120"/>
              </a:rPr>
              <a:t>SecureBridge</a:t>
            </a:r>
            <a:endParaRPr lang="en-US" sz="1800" dirty="0"/>
          </a:p>
        </p:txBody>
      </p:sp>
      <p:sp>
        <p:nvSpPr>
          <p:cNvPr id="7" name="Text 5"/>
          <p:cNvSpPr/>
          <p:nvPr/>
        </p:nvSpPr>
        <p:spPr>
          <a:xfrm>
            <a:off x="3587155" y="1644551"/>
            <a:ext cx="164044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577"/>
                </a:solidFill>
                <a:latin typeface="Noto Sans KR" pitchFamily="34" charset="0"/>
                <a:ea typeface="Noto Sans KR" pitchFamily="34" charset="-122"/>
                <a:cs typeface="Noto Sans KR" pitchFamily="34" charset="-120"/>
              </a:rPr>
              <a:t>안랩클라우드메이트</a:t>
            </a:r>
            <a:endParaRPr lang="en-US" sz="1300" dirty="0"/>
          </a:p>
        </p:txBody>
      </p:sp>
      <p:sp>
        <p:nvSpPr>
          <p:cNvPr id="8" name="Shape 6"/>
          <p:cNvSpPr/>
          <p:nvPr/>
        </p:nvSpPr>
        <p:spPr>
          <a:xfrm>
            <a:off x="971550" y="1964531"/>
            <a:ext cx="4864100" cy="3114278"/>
          </a:xfrm>
          <a:prstGeom prst="roundRect">
            <a:avLst>
              <a:gd name="adj" fmla="val 2447"/>
            </a:avLst>
          </a:prstGeom>
          <a:solidFill>
            <a:srgbClr val="E9EDF5"/>
          </a:solidFill>
          <a:ln/>
        </p:spPr>
      </p:sp>
      <p:pic>
        <p:nvPicPr>
          <p:cNvPr id="9" name="Image 0" descr="SecureBridge 관리 서비스 모니터링 화면. 1: AI 서비스별 프롬프트 목록과 탐지 표시, 2: 개인정보 탐지 상세">    </p:cNvPr>
          <p:cNvPicPr>
            <a:picLocks noChangeAspect="1"/>
          </p:cNvPicPr>
          <p:nvPr/>
        </p:nvPicPr>
        <p:blipFill>
          <a:blip r:embed="rId1"/>
          <a:srcRect l="0" r="0" t="0" b="0"/>
          <a:stretch/>
        </p:blipFill>
        <p:spPr>
          <a:xfrm>
            <a:off x="971550" y="2090241"/>
            <a:ext cx="4864100" cy="2862858"/>
          </a:xfrm>
          <a:prstGeom prst="rect">
            <a:avLst/>
          </a:prstGeom>
        </p:spPr>
      </p:pic>
      <p:sp>
        <p:nvSpPr>
          <p:cNvPr id="10" name="Text 7"/>
          <p:cNvSpPr/>
          <p:nvPr/>
        </p:nvSpPr>
        <p:spPr>
          <a:xfrm>
            <a:off x="971550" y="5155009"/>
            <a:ext cx="215900" cy="215900"/>
          </a:xfrm>
          <a:custGeom>
            <a:avLst/>
            <a:gdLst/>
            <a:ahLst/>
            <a:cxnLst/>
            <a:rect l="l" t="t" r="r" b="b"/>
            <a:pathLst>
              <a:path w="215900" h="215900">
                <a:moveTo>
                  <a:pt x="25400" y="0"/>
                </a:moveTo>
                <a:lnTo>
                  <a:pt x="190500" y="0"/>
                </a:lnTo>
                <a:arcTo hR="25400" wR="25400" stAng="16200000" swAng="5400000"/>
                <a:lnTo>
                  <a:pt x="215900" y="190500"/>
                </a:lnTo>
                <a:arcTo hR="25400" wR="25400" stAng="0" swAng="5400000"/>
                <a:lnTo>
                  <a:pt x="25400" y="215900"/>
                </a:lnTo>
                <a:arcTo hR="25400" wR="25400" stAng="5400000" swAng="5400000"/>
                <a:lnTo>
                  <a:pt x="0" y="25400"/>
                </a:lnTo>
                <a:arcTo hR="25400" wR="25400" stAng="10800000" swAng="5400000"/>
                <a:close/>
              </a:path>
            </a:pathLst>
          </a:custGeom>
          <a:solidFill>
            <a:srgbClr val="E00000"/>
          </a:solid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1</a:t>
            </a:r>
            <a:endParaRPr lang="en-US" sz="1200" dirty="0"/>
          </a:p>
        </p:txBody>
      </p:sp>
      <p:sp>
        <p:nvSpPr>
          <p:cNvPr id="11" name="Text 8"/>
          <p:cNvSpPr/>
          <p:nvPr/>
        </p:nvSpPr>
        <p:spPr>
          <a:xfrm>
            <a:off x="1263650" y="5155009"/>
            <a:ext cx="47091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320"/>
                </a:solidFill>
                <a:latin typeface="Noto Sans KR" pitchFamily="34" charset="0"/>
                <a:ea typeface="Noto Sans KR" pitchFamily="34" charset="-122"/>
                <a:cs typeface="Noto Sans KR" pitchFamily="34" charset="-120"/>
              </a:rPr>
              <a:t>AI 서비스별로 사용자 프롬프트를 모으고, 개인정보·기밀이 들어가면 빨간 체크</a:t>
            </a:r>
            <a:endParaRPr lang="en-US" sz="1200" dirty="0"/>
          </a:p>
        </p:txBody>
      </p:sp>
      <p:sp>
        <p:nvSpPr>
          <p:cNvPr id="12" name="Text 9"/>
          <p:cNvSpPr/>
          <p:nvPr/>
        </p:nvSpPr>
        <p:spPr>
          <a:xfrm>
            <a:off x="971550" y="5632450"/>
            <a:ext cx="215900" cy="215900"/>
          </a:xfrm>
          <a:custGeom>
            <a:avLst/>
            <a:gdLst/>
            <a:ahLst/>
            <a:cxnLst/>
            <a:rect l="l" t="t" r="r" b="b"/>
            <a:pathLst>
              <a:path w="215900" h="215900">
                <a:moveTo>
                  <a:pt x="25400" y="0"/>
                </a:moveTo>
                <a:lnTo>
                  <a:pt x="190500" y="0"/>
                </a:lnTo>
                <a:arcTo hR="25400" wR="25400" stAng="16200000" swAng="5400000"/>
                <a:lnTo>
                  <a:pt x="215900" y="190500"/>
                </a:lnTo>
                <a:arcTo hR="25400" wR="25400" stAng="0" swAng="5400000"/>
                <a:lnTo>
                  <a:pt x="25400" y="215900"/>
                </a:lnTo>
                <a:arcTo hR="25400" wR="25400" stAng="5400000" swAng="5400000"/>
                <a:lnTo>
                  <a:pt x="0" y="25400"/>
                </a:lnTo>
                <a:arcTo hR="25400" wR="25400" stAng="10800000" swAng="5400000"/>
                <a:close/>
              </a:path>
            </a:pathLst>
          </a:custGeom>
          <a:solidFill>
            <a:srgbClr val="E00000"/>
          </a:solid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2</a:t>
            </a:r>
            <a:endParaRPr lang="en-US" sz="1200" dirty="0"/>
          </a:p>
        </p:txBody>
      </p:sp>
      <p:sp>
        <p:nvSpPr>
          <p:cNvPr id="13" name="Text 10"/>
          <p:cNvSpPr/>
          <p:nvPr/>
        </p:nvSpPr>
        <p:spPr>
          <a:xfrm>
            <a:off x="1263650" y="5632450"/>
            <a:ext cx="4709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320"/>
                </a:solidFill>
                <a:latin typeface="Noto Sans KR" pitchFamily="34" charset="0"/>
                <a:ea typeface="Noto Sans KR" pitchFamily="34" charset="-122"/>
                <a:cs typeface="Noto Sans KR" pitchFamily="34" charset="-120"/>
              </a:rPr>
              <a:t>선택한 질의에서 무엇이 걸렸는지(개인정보 57건 등) 상세 확인</a:t>
            </a:r>
            <a:endParaRPr lang="en-US" sz="1200" dirty="0"/>
          </a:p>
        </p:txBody>
      </p:sp>
      <p:sp>
        <p:nvSpPr>
          <p:cNvPr id="14" name="Shape 11"/>
          <p:cNvSpPr/>
          <p:nvPr/>
        </p:nvSpPr>
        <p:spPr>
          <a:xfrm>
            <a:off x="6200775" y="1450876"/>
            <a:ext cx="5175250" cy="4514949"/>
          </a:xfrm>
          <a:prstGeom prst="roundRect">
            <a:avLst>
              <a:gd name="adj" fmla="val 1899"/>
            </a:avLst>
          </a:prstGeom>
          <a:solidFill>
            <a:srgbClr val="FFFFFF"/>
          </a:solidFill>
          <a:ln w="6350">
            <a:solidFill>
              <a:srgbClr val="DCE1EA"/>
            </a:solidFill>
            <a:prstDash val="solid"/>
          </a:ln>
        </p:spPr>
      </p:sp>
      <p:sp>
        <p:nvSpPr>
          <p:cNvPr id="15" name="Text 12"/>
          <p:cNvSpPr/>
          <p:nvPr/>
        </p:nvSpPr>
        <p:spPr>
          <a:xfrm>
            <a:off x="6356350" y="1657251"/>
            <a:ext cx="102046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마스킹·필터링</a:t>
            </a:r>
            <a:endParaRPr lang="en-US" sz="1200" dirty="0"/>
          </a:p>
        </p:txBody>
      </p:sp>
      <p:sp>
        <p:nvSpPr>
          <p:cNvPr id="16" name="Text 13"/>
          <p:cNvSpPr/>
          <p:nvPr/>
        </p:nvSpPr>
        <p:spPr>
          <a:xfrm>
            <a:off x="7376815" y="1568351"/>
            <a:ext cx="1220986"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E1320"/>
                </a:solidFill>
                <a:latin typeface="Noto Sans KR" pitchFamily="34" charset="0"/>
                <a:ea typeface="Noto Sans KR" pitchFamily="34" charset="-122"/>
                <a:cs typeface="Noto Sans KR" pitchFamily="34" charset="-120"/>
              </a:rPr>
              <a:t>SPHINX AI</a:t>
            </a:r>
            <a:endParaRPr lang="en-US" sz="1800" dirty="0"/>
          </a:p>
        </p:txBody>
      </p:sp>
      <p:sp>
        <p:nvSpPr>
          <p:cNvPr id="17" name="Text 14"/>
          <p:cNvSpPr/>
          <p:nvPr/>
        </p:nvSpPr>
        <p:spPr>
          <a:xfrm>
            <a:off x="8597801" y="1644551"/>
            <a:ext cx="145827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577"/>
                </a:solidFill>
                <a:latin typeface="Noto Sans KR" pitchFamily="34" charset="0"/>
                <a:ea typeface="Noto Sans KR" pitchFamily="34" charset="-122"/>
                <a:cs typeface="Noto Sans KR" pitchFamily="34" charset="-120"/>
              </a:rPr>
              <a:t>컴트루테크놀로지</a:t>
            </a:r>
            <a:endParaRPr lang="en-US" sz="1300" dirty="0"/>
          </a:p>
        </p:txBody>
      </p:sp>
      <p:sp>
        <p:nvSpPr>
          <p:cNvPr id="18" name="Shape 15"/>
          <p:cNvSpPr/>
          <p:nvPr/>
        </p:nvSpPr>
        <p:spPr>
          <a:xfrm>
            <a:off x="6356350" y="1964531"/>
            <a:ext cx="4864100" cy="3325019"/>
          </a:xfrm>
          <a:prstGeom prst="roundRect">
            <a:avLst>
              <a:gd name="adj" fmla="val 2292"/>
            </a:avLst>
          </a:prstGeom>
          <a:solidFill>
            <a:srgbClr val="E9EDF5"/>
          </a:solidFill>
          <a:ln/>
        </p:spPr>
      </p:sp>
      <p:pic>
        <p:nvPicPr>
          <p:cNvPr id="19" name="Image 1" descr="SPHINX AI 데모 화면. 1: Gemini에 이력서 PDF 업로드, 2: 차단 메시지와 사유">    </p:cNvPr>
          <p:cNvPicPr>
            <a:picLocks noChangeAspect="1"/>
          </p:cNvPicPr>
          <p:nvPr/>
        </p:nvPicPr>
        <p:blipFill>
          <a:blip r:embed="rId2"/>
          <a:srcRect l="-2" r="-2" t="0" b="0"/>
          <a:stretch/>
        </p:blipFill>
        <p:spPr>
          <a:xfrm>
            <a:off x="6356350" y="2316163"/>
            <a:ext cx="4864100" cy="2621657"/>
          </a:xfrm>
          <a:prstGeom prst="rect">
            <a:avLst/>
          </a:prstGeom>
        </p:spPr>
      </p:pic>
      <p:sp>
        <p:nvSpPr>
          <p:cNvPr id="20" name="Text 16"/>
          <p:cNvSpPr/>
          <p:nvPr/>
        </p:nvSpPr>
        <p:spPr>
          <a:xfrm>
            <a:off x="6356350" y="5365750"/>
            <a:ext cx="215900" cy="215900"/>
          </a:xfrm>
          <a:custGeom>
            <a:avLst/>
            <a:gdLst/>
            <a:ahLst/>
            <a:cxnLst/>
            <a:rect l="l" t="t" r="r" b="b"/>
            <a:pathLst>
              <a:path w="215900" h="215900">
                <a:moveTo>
                  <a:pt x="25400" y="0"/>
                </a:moveTo>
                <a:lnTo>
                  <a:pt x="190500" y="0"/>
                </a:lnTo>
                <a:arcTo hR="25400" wR="25400" stAng="16200000" swAng="5400000"/>
                <a:lnTo>
                  <a:pt x="215900" y="190500"/>
                </a:lnTo>
                <a:arcTo hR="25400" wR="25400" stAng="0" swAng="5400000"/>
                <a:lnTo>
                  <a:pt x="25400" y="215900"/>
                </a:lnTo>
                <a:arcTo hR="25400" wR="25400" stAng="5400000" swAng="5400000"/>
                <a:lnTo>
                  <a:pt x="0" y="25400"/>
                </a:lnTo>
                <a:arcTo hR="25400" wR="25400" stAng="10800000" swAng="5400000"/>
                <a:close/>
              </a:path>
            </a:pathLst>
          </a:custGeom>
          <a:solidFill>
            <a:srgbClr val="E00000"/>
          </a:solid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1</a:t>
            </a:r>
            <a:endParaRPr lang="en-US" sz="1200" dirty="0"/>
          </a:p>
        </p:txBody>
      </p:sp>
      <p:sp>
        <p:nvSpPr>
          <p:cNvPr id="21" name="Text 17"/>
          <p:cNvSpPr/>
          <p:nvPr/>
        </p:nvSpPr>
        <p:spPr>
          <a:xfrm>
            <a:off x="6648450" y="5365750"/>
            <a:ext cx="4709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320"/>
                </a:solidFill>
                <a:latin typeface="Noto Sans KR" pitchFamily="34" charset="0"/>
                <a:ea typeface="Noto Sans KR" pitchFamily="34" charset="-122"/>
                <a:cs typeface="Noto Sans KR" pitchFamily="34" charset="-120"/>
              </a:rPr>
              <a:t>주민등록번호가 든 이력서 PDF를 Gemini에 올림</a:t>
            </a:r>
            <a:endParaRPr lang="en-US" sz="1200" dirty="0"/>
          </a:p>
        </p:txBody>
      </p:sp>
      <p:sp>
        <p:nvSpPr>
          <p:cNvPr id="22" name="Text 18"/>
          <p:cNvSpPr/>
          <p:nvPr/>
        </p:nvSpPr>
        <p:spPr>
          <a:xfrm>
            <a:off x="6356350" y="5632450"/>
            <a:ext cx="215900" cy="215900"/>
          </a:xfrm>
          <a:custGeom>
            <a:avLst/>
            <a:gdLst/>
            <a:ahLst/>
            <a:cxnLst/>
            <a:rect l="l" t="t" r="r" b="b"/>
            <a:pathLst>
              <a:path w="215900" h="215900">
                <a:moveTo>
                  <a:pt x="25400" y="0"/>
                </a:moveTo>
                <a:lnTo>
                  <a:pt x="190500" y="0"/>
                </a:lnTo>
                <a:arcTo hR="25400" wR="25400" stAng="16200000" swAng="5400000"/>
                <a:lnTo>
                  <a:pt x="215900" y="190500"/>
                </a:lnTo>
                <a:arcTo hR="25400" wR="25400" stAng="0" swAng="5400000"/>
                <a:lnTo>
                  <a:pt x="25400" y="215900"/>
                </a:lnTo>
                <a:arcTo hR="25400" wR="25400" stAng="5400000" swAng="5400000"/>
                <a:lnTo>
                  <a:pt x="0" y="25400"/>
                </a:lnTo>
                <a:arcTo hR="25400" wR="25400" stAng="10800000" swAng="5400000"/>
                <a:close/>
              </a:path>
            </a:pathLst>
          </a:custGeom>
          <a:solidFill>
            <a:srgbClr val="E00000"/>
          </a:solid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2</a:t>
            </a:r>
            <a:endParaRPr lang="en-US" sz="1200" dirty="0"/>
          </a:p>
        </p:txBody>
      </p:sp>
      <p:sp>
        <p:nvSpPr>
          <p:cNvPr id="23" name="Text 19"/>
          <p:cNvSpPr/>
          <p:nvPr/>
        </p:nvSpPr>
        <p:spPr>
          <a:xfrm>
            <a:off x="6648450" y="5632450"/>
            <a:ext cx="4709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320"/>
                </a:solidFill>
                <a:latin typeface="Noto Sans KR" pitchFamily="34" charset="0"/>
                <a:ea typeface="Noto Sans KR" pitchFamily="34" charset="-122"/>
                <a:cs typeface="Noto Sans KR" pitchFamily="34" charset="-120"/>
              </a:rPr>
              <a:t>SPHINX AI가 전송을 막고 차단 사유(주민등록번호)를 표시</a:t>
            </a:r>
            <a:endParaRPr lang="en-US" sz="1200" dirty="0"/>
          </a:p>
        </p:txBody>
      </p:sp>
      <p:sp>
        <p:nvSpPr>
          <p:cNvPr id="24" name="Text 20"/>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화면 출처: 이티뉴스(SecureBridge), 컴트루 홈페이지 데모(SPHINX AI)</a:t>
            </a:r>
            <a:endParaRPr lang="en-US" sz="1200" dirty="0"/>
          </a:p>
        </p:txBody>
      </p:sp>
      <p:sp>
        <p:nvSpPr>
          <p:cNvPr id="25" name="Text 21"/>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428A0"/>
                </a:solidFill>
                <a:latin typeface="Noto Sans KR" pitchFamily="34" charset="0"/>
                <a:ea typeface="Noto Sans KR" pitchFamily="34" charset="-122"/>
                <a:cs typeface="Noto Sans KR" pitchFamily="34" charset="-120"/>
              </a:rPr>
              <a:t>솔루션 ② 모니터링</a:t>
            </a:r>
            <a:endParaRPr lang="en-US" sz="1200" dirty="0"/>
          </a:p>
        </p:txBody>
      </p:sp>
      <p:sp>
        <p:nvSpPr>
          <p:cNvPr id="3" name="Text 1"/>
          <p:cNvSpPr/>
          <p:nvPr>
            <p:ph type="title"/>
          </p:nvPr>
        </p:nvSpPr>
        <p:spPr>
          <a:xfrm>
            <a:off x="812800" y="886420"/>
            <a:ext cx="1088339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0E1320"/>
                </a:solidFill>
                <a:latin typeface="Noto Sans KR" pitchFamily="34" charset="0"/>
                <a:ea typeface="Noto Sans KR" pitchFamily="34" charset="-122"/>
                <a:cs typeface="Noto Sans KR" pitchFamily="34" charset="-120"/>
              </a:rPr>
              <a:t>로그 수집 · 유사도 기반 탐지</a:t>
            </a:r>
            <a:endParaRPr lang="en-US" sz="2800" dirty="0"/>
          </a:p>
        </p:txBody>
      </p:sp>
      <p:sp>
        <p:nvSpPr>
          <p:cNvPr id="4" name="Shape 2"/>
          <p:cNvSpPr/>
          <p:nvPr/>
        </p:nvSpPr>
        <p:spPr>
          <a:xfrm>
            <a:off x="815975" y="1450876"/>
            <a:ext cx="5175250" cy="4514949"/>
          </a:xfrm>
          <a:prstGeom prst="roundRect">
            <a:avLst>
              <a:gd name="adj" fmla="val 1899"/>
            </a:avLst>
          </a:prstGeom>
          <a:solidFill>
            <a:srgbClr val="FFFFFF"/>
          </a:solidFill>
          <a:ln w="6350">
            <a:solidFill>
              <a:srgbClr val="DCE1EA"/>
            </a:solidFill>
            <a:prstDash val="solid"/>
          </a:ln>
        </p:spPr>
      </p:sp>
      <p:sp>
        <p:nvSpPr>
          <p:cNvPr id="5" name="Text 3"/>
          <p:cNvSpPr/>
          <p:nvPr/>
        </p:nvSpPr>
        <p:spPr>
          <a:xfrm>
            <a:off x="971550" y="1657251"/>
            <a:ext cx="6844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로그 수집</a:t>
            </a:r>
            <a:endParaRPr lang="en-US" sz="1200" dirty="0"/>
          </a:p>
        </p:txBody>
      </p:sp>
      <p:sp>
        <p:nvSpPr>
          <p:cNvPr id="6" name="Text 4"/>
          <p:cNvSpPr/>
          <p:nvPr/>
        </p:nvSpPr>
        <p:spPr>
          <a:xfrm>
            <a:off x="1655961" y="1568351"/>
            <a:ext cx="1015107"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E1320"/>
                </a:solidFill>
                <a:latin typeface="Noto Sans KR" pitchFamily="34" charset="0"/>
                <a:ea typeface="Noto Sans KR" pitchFamily="34" charset="-122"/>
                <a:cs typeface="Noto Sans KR" pitchFamily="34" charset="-120"/>
              </a:rPr>
              <a:t>LocKard</a:t>
            </a:r>
            <a:endParaRPr lang="en-US" sz="1800" dirty="0"/>
          </a:p>
        </p:txBody>
      </p:sp>
      <p:sp>
        <p:nvSpPr>
          <p:cNvPr id="7" name="Text 5"/>
          <p:cNvSpPr/>
          <p:nvPr/>
        </p:nvSpPr>
        <p:spPr>
          <a:xfrm>
            <a:off x="2671068" y="1644551"/>
            <a:ext cx="72913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577"/>
                </a:solidFill>
                <a:latin typeface="Noto Sans KR" pitchFamily="34" charset="0"/>
                <a:ea typeface="Noto Sans KR" pitchFamily="34" charset="-122"/>
                <a:cs typeface="Noto Sans KR" pitchFamily="34" charset="-120"/>
              </a:rPr>
              <a:t>시큐다임</a:t>
            </a:r>
            <a:endParaRPr lang="en-US" sz="1300" dirty="0"/>
          </a:p>
        </p:txBody>
      </p:sp>
      <p:sp>
        <p:nvSpPr>
          <p:cNvPr id="8" name="Shape 6"/>
          <p:cNvSpPr/>
          <p:nvPr/>
        </p:nvSpPr>
        <p:spPr>
          <a:xfrm>
            <a:off x="971550" y="1964531"/>
            <a:ext cx="4864100" cy="3325019"/>
          </a:xfrm>
          <a:prstGeom prst="roundRect">
            <a:avLst>
              <a:gd name="adj" fmla="val 2292"/>
            </a:avLst>
          </a:prstGeom>
          <a:solidFill>
            <a:srgbClr val="E9EDF5"/>
          </a:solidFill>
          <a:ln/>
        </p:spPr>
      </p:sp>
      <p:pic>
        <p:nvPicPr>
          <p:cNvPr id="9" name="Image 0" descr="LocKard 대시보드. 1: 외부 발송 메일·FTP·대용량 첨부 집계, 2: 고위험 키워드 포함 사외메일 발송 집계">    </p:cNvPr>
          <p:cNvPicPr>
            <a:picLocks noChangeAspect="1"/>
          </p:cNvPicPr>
          <p:nvPr/>
        </p:nvPicPr>
        <p:blipFill>
          <a:blip r:embed="rId1"/>
          <a:srcRect l="-1" r="-1" t="0" b="0"/>
          <a:stretch/>
        </p:blipFill>
        <p:spPr>
          <a:xfrm>
            <a:off x="971550" y="1696442"/>
            <a:ext cx="4864100" cy="3861296"/>
          </a:xfrm>
          <a:prstGeom prst="rect">
            <a:avLst/>
          </a:prstGeom>
        </p:spPr>
      </p:pic>
      <p:sp>
        <p:nvSpPr>
          <p:cNvPr id="10" name="Text 7"/>
          <p:cNvSpPr/>
          <p:nvPr/>
        </p:nvSpPr>
        <p:spPr>
          <a:xfrm>
            <a:off x="971550" y="5365750"/>
            <a:ext cx="215900" cy="215900"/>
          </a:xfrm>
          <a:custGeom>
            <a:avLst/>
            <a:gdLst/>
            <a:ahLst/>
            <a:cxnLst/>
            <a:rect l="l" t="t" r="r" b="b"/>
            <a:pathLst>
              <a:path w="215900" h="215900">
                <a:moveTo>
                  <a:pt x="25400" y="0"/>
                </a:moveTo>
                <a:lnTo>
                  <a:pt x="190500" y="0"/>
                </a:lnTo>
                <a:arcTo hR="25400" wR="25400" stAng="16200000" swAng="5400000"/>
                <a:lnTo>
                  <a:pt x="215900" y="190500"/>
                </a:lnTo>
                <a:arcTo hR="25400" wR="25400" stAng="0" swAng="5400000"/>
                <a:lnTo>
                  <a:pt x="25400" y="215900"/>
                </a:lnTo>
                <a:arcTo hR="25400" wR="25400" stAng="5400000" swAng="5400000"/>
                <a:lnTo>
                  <a:pt x="0" y="25400"/>
                </a:lnTo>
                <a:arcTo hR="25400" wR="25400" stAng="10800000" swAng="5400000"/>
                <a:close/>
              </a:path>
            </a:pathLst>
          </a:custGeom>
          <a:solidFill>
            <a:srgbClr val="E00000"/>
          </a:solid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1</a:t>
            </a:r>
            <a:endParaRPr lang="en-US" sz="1200" dirty="0"/>
          </a:p>
        </p:txBody>
      </p:sp>
      <p:sp>
        <p:nvSpPr>
          <p:cNvPr id="11" name="Text 8"/>
          <p:cNvSpPr/>
          <p:nvPr/>
        </p:nvSpPr>
        <p:spPr>
          <a:xfrm>
            <a:off x="1263650" y="5365750"/>
            <a:ext cx="4709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320"/>
                </a:solidFill>
                <a:latin typeface="Noto Sans KR" pitchFamily="34" charset="0"/>
                <a:ea typeface="Noto Sans KR" pitchFamily="34" charset="-122"/>
                <a:cs typeface="Noto Sans KR" pitchFamily="34" charset="-120"/>
              </a:rPr>
              <a:t>메일·FTP·대용량 첨부파일 등 외부로 나가는 전송을 채널별로 집계</a:t>
            </a:r>
            <a:endParaRPr lang="en-US" sz="1200" dirty="0"/>
          </a:p>
        </p:txBody>
      </p:sp>
      <p:sp>
        <p:nvSpPr>
          <p:cNvPr id="12" name="Text 9"/>
          <p:cNvSpPr/>
          <p:nvPr/>
        </p:nvSpPr>
        <p:spPr>
          <a:xfrm>
            <a:off x="971550" y="5632450"/>
            <a:ext cx="215900" cy="215900"/>
          </a:xfrm>
          <a:custGeom>
            <a:avLst/>
            <a:gdLst/>
            <a:ahLst/>
            <a:cxnLst/>
            <a:rect l="l" t="t" r="r" b="b"/>
            <a:pathLst>
              <a:path w="215900" h="215900">
                <a:moveTo>
                  <a:pt x="25400" y="0"/>
                </a:moveTo>
                <a:lnTo>
                  <a:pt x="190500" y="0"/>
                </a:lnTo>
                <a:arcTo hR="25400" wR="25400" stAng="16200000" swAng="5400000"/>
                <a:lnTo>
                  <a:pt x="215900" y="190500"/>
                </a:lnTo>
                <a:arcTo hR="25400" wR="25400" stAng="0" swAng="5400000"/>
                <a:lnTo>
                  <a:pt x="25400" y="215900"/>
                </a:lnTo>
                <a:arcTo hR="25400" wR="25400" stAng="5400000" swAng="5400000"/>
                <a:lnTo>
                  <a:pt x="0" y="25400"/>
                </a:lnTo>
                <a:arcTo hR="25400" wR="25400" stAng="10800000" swAng="5400000"/>
                <a:close/>
              </a:path>
            </a:pathLst>
          </a:custGeom>
          <a:solidFill>
            <a:srgbClr val="E00000"/>
          </a:solid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2</a:t>
            </a:r>
            <a:endParaRPr lang="en-US" sz="1200" dirty="0"/>
          </a:p>
        </p:txBody>
      </p:sp>
      <p:sp>
        <p:nvSpPr>
          <p:cNvPr id="13" name="Text 10"/>
          <p:cNvSpPr/>
          <p:nvPr/>
        </p:nvSpPr>
        <p:spPr>
          <a:xfrm>
            <a:off x="1263650" y="5632450"/>
            <a:ext cx="4709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320"/>
                </a:solidFill>
                <a:latin typeface="Noto Sans KR" pitchFamily="34" charset="0"/>
                <a:ea typeface="Noto Sans KR" pitchFamily="34" charset="-122"/>
                <a:cs typeface="Noto Sans KR" pitchFamily="34" charset="-120"/>
              </a:rPr>
              <a:t>고위험 키워드가 담긴 첨부파일을 사외메일로 보낸 건을 따로 추적</a:t>
            </a:r>
            <a:endParaRPr lang="en-US" sz="1200" dirty="0"/>
          </a:p>
        </p:txBody>
      </p:sp>
      <p:sp>
        <p:nvSpPr>
          <p:cNvPr id="14" name="Shape 11"/>
          <p:cNvSpPr/>
          <p:nvPr/>
        </p:nvSpPr>
        <p:spPr>
          <a:xfrm>
            <a:off x="6200775" y="1450876"/>
            <a:ext cx="5175250" cy="4514949"/>
          </a:xfrm>
          <a:prstGeom prst="roundRect">
            <a:avLst>
              <a:gd name="adj" fmla="val 1899"/>
            </a:avLst>
          </a:prstGeom>
          <a:solidFill>
            <a:srgbClr val="FFFFFF"/>
          </a:solidFill>
          <a:ln w="6350">
            <a:solidFill>
              <a:srgbClr val="DCE1EA"/>
            </a:solidFill>
            <a:prstDash val="solid"/>
          </a:ln>
        </p:spPr>
      </p:sp>
      <p:sp>
        <p:nvSpPr>
          <p:cNvPr id="15" name="Text 12"/>
          <p:cNvSpPr/>
          <p:nvPr/>
        </p:nvSpPr>
        <p:spPr>
          <a:xfrm>
            <a:off x="6356350" y="1657251"/>
            <a:ext cx="82460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유사도 기반</a:t>
            </a:r>
            <a:endParaRPr lang="en-US" sz="1200" dirty="0"/>
          </a:p>
        </p:txBody>
      </p:sp>
      <p:sp>
        <p:nvSpPr>
          <p:cNvPr id="16" name="Text 13"/>
          <p:cNvSpPr/>
          <p:nvPr/>
        </p:nvSpPr>
        <p:spPr>
          <a:xfrm>
            <a:off x="7180957" y="1568351"/>
            <a:ext cx="737989"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E1320"/>
                </a:solidFill>
                <a:latin typeface="Noto Sans KR" pitchFamily="34" charset="0"/>
                <a:ea typeface="Noto Sans KR" pitchFamily="34" charset="-122"/>
                <a:cs typeface="Noto Sans KR" pitchFamily="34" charset="-120"/>
              </a:rPr>
              <a:t>J-CLP</a:t>
            </a:r>
            <a:endParaRPr lang="en-US" sz="1800" dirty="0"/>
          </a:p>
        </p:txBody>
      </p:sp>
      <p:sp>
        <p:nvSpPr>
          <p:cNvPr id="17" name="Text 14"/>
          <p:cNvSpPr/>
          <p:nvPr/>
        </p:nvSpPr>
        <p:spPr>
          <a:xfrm>
            <a:off x="7918946" y="1644551"/>
            <a:ext cx="203537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577"/>
                </a:solidFill>
                <a:latin typeface="Noto Sans KR" pitchFamily="34" charset="0"/>
                <a:ea typeface="Noto Sans KR" pitchFamily="34" charset="-122"/>
                <a:cs typeface="Noto Sans KR" pitchFamily="34" charset="-120"/>
              </a:rPr>
              <a:t>제이슨 · JMachine CLP</a:t>
            </a:r>
            <a:endParaRPr lang="en-US" sz="1300" dirty="0"/>
          </a:p>
        </p:txBody>
      </p:sp>
      <p:sp>
        <p:nvSpPr>
          <p:cNvPr id="18" name="Shape 15"/>
          <p:cNvSpPr/>
          <p:nvPr/>
        </p:nvSpPr>
        <p:spPr>
          <a:xfrm>
            <a:off x="6356350" y="1964531"/>
            <a:ext cx="4864100" cy="3325019"/>
          </a:xfrm>
          <a:prstGeom prst="roundRect">
            <a:avLst>
              <a:gd name="adj" fmla="val 2292"/>
            </a:avLst>
          </a:prstGeom>
          <a:solidFill>
            <a:srgbClr val="E9EDF5"/>
          </a:solidFill>
          <a:ln/>
        </p:spPr>
      </p:sp>
      <p:pic>
        <p:nvPicPr>
          <p:cNvPr id="19" name="Image 1" descr="JMachine CLP 화면. 1: 문서·PC 화면·도식·폰 촬영 등 유형별 탐지 건수, 2: 모니터 촬영 사진의 유사도 90% 판정">    </p:cNvPr>
          <p:cNvPicPr>
            <a:picLocks noChangeAspect="1"/>
          </p:cNvPicPr>
          <p:nvPr/>
        </p:nvPicPr>
        <p:blipFill>
          <a:blip r:embed="rId2"/>
          <a:srcRect l="-1" r="-1" t="0" b="0"/>
          <a:stretch/>
        </p:blipFill>
        <p:spPr>
          <a:xfrm>
            <a:off x="6356350" y="2274193"/>
            <a:ext cx="4864100" cy="2705596"/>
          </a:xfrm>
          <a:prstGeom prst="rect">
            <a:avLst/>
          </a:prstGeom>
        </p:spPr>
      </p:pic>
      <p:sp>
        <p:nvSpPr>
          <p:cNvPr id="20" name="Text 16"/>
          <p:cNvSpPr/>
          <p:nvPr/>
        </p:nvSpPr>
        <p:spPr>
          <a:xfrm>
            <a:off x="6356350" y="5365750"/>
            <a:ext cx="215900" cy="215900"/>
          </a:xfrm>
          <a:custGeom>
            <a:avLst/>
            <a:gdLst/>
            <a:ahLst/>
            <a:cxnLst/>
            <a:rect l="l" t="t" r="r" b="b"/>
            <a:pathLst>
              <a:path w="215900" h="215900">
                <a:moveTo>
                  <a:pt x="25400" y="0"/>
                </a:moveTo>
                <a:lnTo>
                  <a:pt x="190500" y="0"/>
                </a:lnTo>
                <a:arcTo hR="25400" wR="25400" stAng="16200000" swAng="5400000"/>
                <a:lnTo>
                  <a:pt x="215900" y="190500"/>
                </a:lnTo>
                <a:arcTo hR="25400" wR="25400" stAng="0" swAng="5400000"/>
                <a:lnTo>
                  <a:pt x="25400" y="215900"/>
                </a:lnTo>
                <a:arcTo hR="25400" wR="25400" stAng="5400000" swAng="5400000"/>
                <a:lnTo>
                  <a:pt x="0" y="25400"/>
                </a:lnTo>
                <a:arcTo hR="25400" wR="25400" stAng="10800000" swAng="5400000"/>
                <a:close/>
              </a:path>
            </a:pathLst>
          </a:custGeom>
          <a:solidFill>
            <a:srgbClr val="E00000"/>
          </a:solid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1</a:t>
            </a:r>
            <a:endParaRPr lang="en-US" sz="1200" dirty="0"/>
          </a:p>
        </p:txBody>
      </p:sp>
      <p:sp>
        <p:nvSpPr>
          <p:cNvPr id="21" name="Text 17"/>
          <p:cNvSpPr/>
          <p:nvPr/>
        </p:nvSpPr>
        <p:spPr>
          <a:xfrm>
            <a:off x="6648450" y="5365750"/>
            <a:ext cx="4709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320"/>
                </a:solidFill>
                <a:latin typeface="Noto Sans KR" pitchFamily="34" charset="0"/>
                <a:ea typeface="Noto Sans KR" pitchFamily="34" charset="-122"/>
                <a:cs typeface="Noto Sans KR" pitchFamily="34" charset="-120"/>
              </a:rPr>
              <a:t>탐지한 파일을 문서·PC 화면·도식·폰 촬영·텍스트로 자동 분류</a:t>
            </a:r>
            <a:endParaRPr lang="en-US" sz="1200" dirty="0"/>
          </a:p>
        </p:txBody>
      </p:sp>
      <p:sp>
        <p:nvSpPr>
          <p:cNvPr id="22" name="Text 18"/>
          <p:cNvSpPr/>
          <p:nvPr/>
        </p:nvSpPr>
        <p:spPr>
          <a:xfrm>
            <a:off x="6356350" y="5632450"/>
            <a:ext cx="215900" cy="215900"/>
          </a:xfrm>
          <a:custGeom>
            <a:avLst/>
            <a:gdLst/>
            <a:ahLst/>
            <a:cxnLst/>
            <a:rect l="l" t="t" r="r" b="b"/>
            <a:pathLst>
              <a:path w="215900" h="215900">
                <a:moveTo>
                  <a:pt x="25400" y="0"/>
                </a:moveTo>
                <a:lnTo>
                  <a:pt x="190500" y="0"/>
                </a:lnTo>
                <a:arcTo hR="25400" wR="25400" stAng="16200000" swAng="5400000"/>
                <a:lnTo>
                  <a:pt x="215900" y="190500"/>
                </a:lnTo>
                <a:arcTo hR="25400" wR="25400" stAng="0" swAng="5400000"/>
                <a:lnTo>
                  <a:pt x="25400" y="215900"/>
                </a:lnTo>
                <a:arcTo hR="25400" wR="25400" stAng="5400000" swAng="5400000"/>
                <a:lnTo>
                  <a:pt x="0" y="25400"/>
                </a:lnTo>
                <a:arcTo hR="25400" wR="25400" stAng="10800000" swAng="5400000"/>
                <a:close/>
              </a:path>
            </a:pathLst>
          </a:custGeom>
          <a:solidFill>
            <a:srgbClr val="E00000"/>
          </a:solid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2</a:t>
            </a:r>
            <a:endParaRPr lang="en-US" sz="1200" dirty="0"/>
          </a:p>
        </p:txBody>
      </p:sp>
      <p:sp>
        <p:nvSpPr>
          <p:cNvPr id="23" name="Text 19"/>
          <p:cNvSpPr/>
          <p:nvPr/>
        </p:nvSpPr>
        <p:spPr>
          <a:xfrm>
            <a:off x="6648450" y="5632450"/>
            <a:ext cx="4709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320"/>
                </a:solidFill>
                <a:latin typeface="Noto Sans KR" pitchFamily="34" charset="0"/>
                <a:ea typeface="Noto Sans KR" pitchFamily="34" charset="-122"/>
                <a:cs typeface="Noto Sans KR" pitchFamily="34" charset="-120"/>
              </a:rPr>
              <a:t>모니터를 폰으로 찍은 사진도 기밀 화면과 유사도 90%로 탐지</a:t>
            </a:r>
            <a:endParaRPr lang="en-US" sz="1200" dirty="0"/>
          </a:p>
        </p:txBody>
      </p:sp>
      <p:sp>
        <p:nvSpPr>
          <p:cNvPr id="24" name="Text 20"/>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화면 출처: 전자신문(LocKard), 보안뉴스(J-CLP)</a:t>
            </a:r>
            <a:endParaRPr lang="en-US" sz="1200" dirty="0"/>
          </a:p>
        </p:txBody>
      </p:sp>
      <p:sp>
        <p:nvSpPr>
          <p:cNvPr id="25" name="Text 21"/>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428A0"/>
                </a:solidFill>
                <a:latin typeface="Noto Sans KR" pitchFamily="34" charset="0"/>
                <a:ea typeface="Noto Sans KR" pitchFamily="34" charset="-122"/>
                <a:cs typeface="Noto Sans KR" pitchFamily="34" charset="-120"/>
              </a:rPr>
              <a:t>솔루션 ③ 모니터링</a:t>
            </a:r>
            <a:endParaRPr lang="en-US" sz="1200" dirty="0"/>
          </a:p>
        </p:txBody>
      </p:sp>
      <p:sp>
        <p:nvSpPr>
          <p:cNvPr id="3" name="Text 1"/>
          <p:cNvSpPr/>
          <p:nvPr>
            <p:ph type="title"/>
          </p:nvPr>
        </p:nvSpPr>
        <p:spPr>
          <a:xfrm>
            <a:off x="812800" y="886420"/>
            <a:ext cx="1088339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0E1320"/>
                </a:solidFill>
                <a:latin typeface="Noto Sans KR" pitchFamily="34" charset="0"/>
                <a:ea typeface="Noto Sans KR" pitchFamily="34" charset="-122"/>
                <a:cs typeface="Noto Sans KR" pitchFamily="34" charset="-120"/>
              </a:rPr>
              <a:t>통합 분석 · 이벤트 대응</a:t>
            </a:r>
            <a:endParaRPr lang="en-US" sz="2800" dirty="0"/>
          </a:p>
        </p:txBody>
      </p:sp>
      <p:sp>
        <p:nvSpPr>
          <p:cNvPr id="4" name="Shape 2"/>
          <p:cNvSpPr/>
          <p:nvPr/>
        </p:nvSpPr>
        <p:spPr>
          <a:xfrm>
            <a:off x="815975" y="1450876"/>
            <a:ext cx="5175250" cy="4514949"/>
          </a:xfrm>
          <a:prstGeom prst="roundRect">
            <a:avLst>
              <a:gd name="adj" fmla="val 1899"/>
            </a:avLst>
          </a:prstGeom>
          <a:solidFill>
            <a:srgbClr val="FFFFFF"/>
          </a:solidFill>
          <a:ln w="6350">
            <a:solidFill>
              <a:srgbClr val="DCE1EA"/>
            </a:solidFill>
            <a:prstDash val="solid"/>
          </a:ln>
        </p:spPr>
      </p:sp>
      <p:sp>
        <p:nvSpPr>
          <p:cNvPr id="5" name="Text 3"/>
          <p:cNvSpPr/>
          <p:nvPr/>
        </p:nvSpPr>
        <p:spPr>
          <a:xfrm>
            <a:off x="971550" y="1657251"/>
            <a:ext cx="6844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통합 분석</a:t>
            </a:r>
            <a:endParaRPr lang="en-US" sz="1200" dirty="0"/>
          </a:p>
        </p:txBody>
      </p:sp>
      <p:sp>
        <p:nvSpPr>
          <p:cNvPr id="6" name="Text 4"/>
          <p:cNvSpPr/>
          <p:nvPr/>
        </p:nvSpPr>
        <p:spPr>
          <a:xfrm>
            <a:off x="1655961" y="1568351"/>
            <a:ext cx="950595"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E1320"/>
                </a:solidFill>
                <a:latin typeface="Noto Sans KR" pitchFamily="34" charset="0"/>
                <a:ea typeface="Noto Sans KR" pitchFamily="34" charset="-122"/>
                <a:cs typeface="Noto Sans KR" pitchFamily="34" charset="-120"/>
              </a:rPr>
              <a:t>Splunk</a:t>
            </a:r>
            <a:endParaRPr lang="en-US" sz="1800" dirty="0"/>
          </a:p>
        </p:txBody>
      </p:sp>
      <p:sp>
        <p:nvSpPr>
          <p:cNvPr id="7" name="Shape 5"/>
          <p:cNvSpPr/>
          <p:nvPr/>
        </p:nvSpPr>
        <p:spPr>
          <a:xfrm>
            <a:off x="971550" y="1964531"/>
            <a:ext cx="4864100" cy="3114278"/>
          </a:xfrm>
          <a:prstGeom prst="roundRect">
            <a:avLst>
              <a:gd name="adj" fmla="val 2447"/>
            </a:avLst>
          </a:prstGeom>
          <a:solidFill>
            <a:srgbClr val="E9EDF5"/>
          </a:solidFill>
          <a:ln/>
        </p:spPr>
      </p:sp>
      <p:pic>
        <p:nvPicPr>
          <p:cNvPr id="8" name="Image 0" descr="Splunk 검색 화면. 1: 게이트웨이 로그 검색 쿼리, 2: 내부 PC 한 대의 외부 전송량 급증">    </p:cNvPr>
          <p:cNvPicPr>
            <a:picLocks noChangeAspect="1"/>
          </p:cNvPicPr>
          <p:nvPr/>
        </p:nvPicPr>
        <p:blipFill>
          <a:blip r:embed="rId1"/>
          <a:srcRect l="-2" r="-2" t="0" b="0"/>
          <a:stretch/>
        </p:blipFill>
        <p:spPr>
          <a:xfrm>
            <a:off x="971550" y="2210693"/>
            <a:ext cx="4864100" cy="2621855"/>
          </a:xfrm>
          <a:prstGeom prst="rect">
            <a:avLst/>
          </a:prstGeom>
        </p:spPr>
      </p:pic>
      <p:sp>
        <p:nvSpPr>
          <p:cNvPr id="9" name="Text 6"/>
          <p:cNvSpPr/>
          <p:nvPr/>
        </p:nvSpPr>
        <p:spPr>
          <a:xfrm>
            <a:off x="971550" y="5155009"/>
            <a:ext cx="215900" cy="215900"/>
          </a:xfrm>
          <a:custGeom>
            <a:avLst/>
            <a:gdLst/>
            <a:ahLst/>
            <a:cxnLst/>
            <a:rect l="l" t="t" r="r" b="b"/>
            <a:pathLst>
              <a:path w="215900" h="215900">
                <a:moveTo>
                  <a:pt x="25400" y="0"/>
                </a:moveTo>
                <a:lnTo>
                  <a:pt x="190500" y="0"/>
                </a:lnTo>
                <a:arcTo hR="25400" wR="25400" stAng="16200000" swAng="5400000"/>
                <a:lnTo>
                  <a:pt x="215900" y="190500"/>
                </a:lnTo>
                <a:arcTo hR="25400" wR="25400" stAng="0" swAng="5400000"/>
                <a:lnTo>
                  <a:pt x="25400" y="215900"/>
                </a:lnTo>
                <a:arcTo hR="25400" wR="25400" stAng="5400000" swAng="5400000"/>
                <a:lnTo>
                  <a:pt x="0" y="25400"/>
                </a:lnTo>
                <a:arcTo hR="25400" wR="25400" stAng="10800000" swAng="5400000"/>
                <a:close/>
              </a:path>
            </a:pathLst>
          </a:custGeom>
          <a:solidFill>
            <a:srgbClr val="E00000"/>
          </a:solid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1</a:t>
            </a:r>
            <a:endParaRPr lang="en-US" sz="1200" dirty="0"/>
          </a:p>
        </p:txBody>
      </p:sp>
      <p:sp>
        <p:nvSpPr>
          <p:cNvPr id="10" name="Text 7"/>
          <p:cNvSpPr/>
          <p:nvPr/>
        </p:nvSpPr>
        <p:spPr>
          <a:xfrm>
            <a:off x="1263650" y="5155009"/>
            <a:ext cx="4709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320"/>
                </a:solidFill>
                <a:latin typeface="Noto Sans KR" pitchFamily="34" charset="0"/>
                <a:ea typeface="Noto Sans KR" pitchFamily="34" charset="-122"/>
                <a:cs typeface="Noto Sans KR" pitchFamily="34" charset="-120"/>
              </a:rPr>
              <a:t>게이트웨이 로그에서 출발지→목적지별 전송량을 집계하는 검색</a:t>
            </a:r>
            <a:endParaRPr lang="en-US" sz="1200" dirty="0"/>
          </a:p>
        </p:txBody>
      </p:sp>
      <p:sp>
        <p:nvSpPr>
          <p:cNvPr id="11" name="Text 8"/>
          <p:cNvSpPr/>
          <p:nvPr/>
        </p:nvSpPr>
        <p:spPr>
          <a:xfrm>
            <a:off x="971550" y="5421709"/>
            <a:ext cx="215900" cy="215900"/>
          </a:xfrm>
          <a:custGeom>
            <a:avLst/>
            <a:gdLst/>
            <a:ahLst/>
            <a:cxnLst/>
            <a:rect l="l" t="t" r="r" b="b"/>
            <a:pathLst>
              <a:path w="215900" h="215900">
                <a:moveTo>
                  <a:pt x="25400" y="0"/>
                </a:moveTo>
                <a:lnTo>
                  <a:pt x="190500" y="0"/>
                </a:lnTo>
                <a:arcTo hR="25400" wR="25400" stAng="16200000" swAng="5400000"/>
                <a:lnTo>
                  <a:pt x="215900" y="190500"/>
                </a:lnTo>
                <a:arcTo hR="25400" wR="25400" stAng="0" swAng="5400000"/>
                <a:lnTo>
                  <a:pt x="25400" y="215900"/>
                </a:lnTo>
                <a:arcTo hR="25400" wR="25400" stAng="5400000" swAng="5400000"/>
                <a:lnTo>
                  <a:pt x="0" y="25400"/>
                </a:lnTo>
                <a:arcTo hR="25400" wR="25400" stAng="10800000" swAng="5400000"/>
                <a:close/>
              </a:path>
            </a:pathLst>
          </a:custGeom>
          <a:solidFill>
            <a:srgbClr val="E00000"/>
          </a:solid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2</a:t>
            </a:r>
            <a:endParaRPr lang="en-US" sz="1200" dirty="0"/>
          </a:p>
        </p:txBody>
      </p:sp>
      <p:sp>
        <p:nvSpPr>
          <p:cNvPr id="12" name="Text 9"/>
          <p:cNvSpPr/>
          <p:nvPr/>
        </p:nvSpPr>
        <p:spPr>
          <a:xfrm>
            <a:off x="1263650" y="5421709"/>
            <a:ext cx="47091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320"/>
                </a:solidFill>
                <a:latin typeface="Noto Sans KR" pitchFamily="34" charset="0"/>
                <a:ea typeface="Noto Sans KR" pitchFamily="34" charset="-122"/>
                <a:cs typeface="Noto Sans KR" pitchFamily="34" charset="-120"/>
              </a:rPr>
              <a:t>내부 PC 한 대(192.168.100.122)의 외부 트래픽이 약 6.8GB로 급증한 구간</a:t>
            </a:r>
            <a:endParaRPr lang="en-US" sz="1200" dirty="0"/>
          </a:p>
        </p:txBody>
      </p:sp>
      <p:sp>
        <p:nvSpPr>
          <p:cNvPr id="13" name="Shape 10"/>
          <p:cNvSpPr/>
          <p:nvPr/>
        </p:nvSpPr>
        <p:spPr>
          <a:xfrm>
            <a:off x="6200775" y="1450876"/>
            <a:ext cx="5175250" cy="4514949"/>
          </a:xfrm>
          <a:prstGeom prst="roundRect">
            <a:avLst>
              <a:gd name="adj" fmla="val 1899"/>
            </a:avLst>
          </a:prstGeom>
          <a:solidFill>
            <a:srgbClr val="FFFFFF"/>
          </a:solidFill>
          <a:ln w="6350">
            <a:solidFill>
              <a:srgbClr val="DCE1EA"/>
            </a:solidFill>
            <a:prstDash val="solid"/>
          </a:ln>
        </p:spPr>
      </p:sp>
      <p:sp>
        <p:nvSpPr>
          <p:cNvPr id="14" name="Text 11"/>
          <p:cNvSpPr/>
          <p:nvPr/>
        </p:nvSpPr>
        <p:spPr>
          <a:xfrm>
            <a:off x="6356350" y="1657251"/>
            <a:ext cx="82460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이벤트 대응</a:t>
            </a:r>
            <a:endParaRPr lang="en-US" sz="1200" dirty="0"/>
          </a:p>
        </p:txBody>
      </p:sp>
      <p:sp>
        <p:nvSpPr>
          <p:cNvPr id="15" name="Text 12"/>
          <p:cNvSpPr/>
          <p:nvPr/>
        </p:nvSpPr>
        <p:spPr>
          <a:xfrm>
            <a:off x="7180957" y="1568351"/>
            <a:ext cx="1242814"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E1320"/>
                </a:solidFill>
                <a:latin typeface="Noto Sans KR" pitchFamily="34" charset="0"/>
                <a:ea typeface="Noto Sans KR" pitchFamily="34" charset="-122"/>
                <a:cs typeface="Noto Sans KR" pitchFamily="34" charset="-120"/>
              </a:rPr>
              <a:t>FortiSOAR</a:t>
            </a:r>
            <a:endParaRPr lang="en-US" sz="1800" dirty="0"/>
          </a:p>
        </p:txBody>
      </p:sp>
      <p:sp>
        <p:nvSpPr>
          <p:cNvPr id="16" name="Text 13"/>
          <p:cNvSpPr/>
          <p:nvPr/>
        </p:nvSpPr>
        <p:spPr>
          <a:xfrm>
            <a:off x="8423771" y="1644551"/>
            <a:ext cx="73449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577"/>
                </a:solidFill>
                <a:latin typeface="Noto Sans KR" pitchFamily="34" charset="0"/>
                <a:ea typeface="Noto Sans KR" pitchFamily="34" charset="-122"/>
                <a:cs typeface="Noto Sans KR" pitchFamily="34" charset="-120"/>
              </a:rPr>
              <a:t>Fortinet</a:t>
            </a:r>
            <a:endParaRPr lang="en-US" sz="1300" dirty="0"/>
          </a:p>
        </p:txBody>
      </p:sp>
      <p:sp>
        <p:nvSpPr>
          <p:cNvPr id="17" name="Shape 14"/>
          <p:cNvSpPr/>
          <p:nvPr/>
        </p:nvSpPr>
        <p:spPr>
          <a:xfrm>
            <a:off x="6356350" y="1964531"/>
            <a:ext cx="4864100" cy="3114278"/>
          </a:xfrm>
          <a:prstGeom prst="roundRect">
            <a:avLst>
              <a:gd name="adj" fmla="val 2447"/>
            </a:avLst>
          </a:prstGeom>
          <a:solidFill>
            <a:srgbClr val="E9EDF5"/>
          </a:solidFill>
          <a:ln/>
        </p:spPr>
      </p:sp>
      <p:pic>
        <p:nvPicPr>
          <p:cNvPr id="18" name="Image 1" descr="FortiSOAR 플레이북 화면. 1: 차단 여부 판단 후 지표 차단 또는 메일 통보, 2: 플레이북 실행 이력">    </p:cNvPr>
          <p:cNvPicPr>
            <a:picLocks noChangeAspect="1"/>
          </p:cNvPicPr>
          <p:nvPr/>
        </p:nvPicPr>
        <p:blipFill>
          <a:blip r:embed="rId2"/>
          <a:srcRect l="-1" r="-1" t="0" b="0"/>
          <a:stretch/>
        </p:blipFill>
        <p:spPr>
          <a:xfrm>
            <a:off x="6356350" y="2374305"/>
            <a:ext cx="4864100" cy="2294632"/>
          </a:xfrm>
          <a:prstGeom prst="rect">
            <a:avLst/>
          </a:prstGeom>
        </p:spPr>
      </p:pic>
      <p:sp>
        <p:nvSpPr>
          <p:cNvPr id="19" name="Text 15"/>
          <p:cNvSpPr/>
          <p:nvPr/>
        </p:nvSpPr>
        <p:spPr>
          <a:xfrm>
            <a:off x="6356350" y="5155009"/>
            <a:ext cx="215900" cy="215900"/>
          </a:xfrm>
          <a:custGeom>
            <a:avLst/>
            <a:gdLst/>
            <a:ahLst/>
            <a:cxnLst/>
            <a:rect l="l" t="t" r="r" b="b"/>
            <a:pathLst>
              <a:path w="215900" h="215900">
                <a:moveTo>
                  <a:pt x="25400" y="0"/>
                </a:moveTo>
                <a:lnTo>
                  <a:pt x="190500" y="0"/>
                </a:lnTo>
                <a:arcTo hR="25400" wR="25400" stAng="16200000" swAng="5400000"/>
                <a:lnTo>
                  <a:pt x="215900" y="190500"/>
                </a:lnTo>
                <a:arcTo hR="25400" wR="25400" stAng="0" swAng="5400000"/>
                <a:lnTo>
                  <a:pt x="25400" y="215900"/>
                </a:lnTo>
                <a:arcTo hR="25400" wR="25400" stAng="5400000" swAng="5400000"/>
                <a:lnTo>
                  <a:pt x="0" y="25400"/>
                </a:lnTo>
                <a:arcTo hR="25400" wR="25400" stAng="10800000" swAng="5400000"/>
                <a:close/>
              </a:path>
            </a:pathLst>
          </a:custGeom>
          <a:solidFill>
            <a:srgbClr val="E00000"/>
          </a:solid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1</a:t>
            </a:r>
            <a:endParaRPr lang="en-US" sz="1200" dirty="0"/>
          </a:p>
        </p:txBody>
      </p:sp>
      <p:sp>
        <p:nvSpPr>
          <p:cNvPr id="20" name="Text 16"/>
          <p:cNvSpPr/>
          <p:nvPr/>
        </p:nvSpPr>
        <p:spPr>
          <a:xfrm>
            <a:off x="6648450" y="5155009"/>
            <a:ext cx="47091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320"/>
                </a:solidFill>
                <a:latin typeface="Noto Sans KR" pitchFamily="34" charset="0"/>
                <a:ea typeface="Noto Sans KR" pitchFamily="34" charset="-122"/>
                <a:cs typeface="Noto Sans KR" pitchFamily="34" charset="-120"/>
              </a:rPr>
              <a:t>경보가 오면 플레이북이 자동 실행: 차단 여부 판단 → 지표 차단 또는 메일 통보</a:t>
            </a:r>
            <a:endParaRPr lang="en-US" sz="1200" dirty="0"/>
          </a:p>
        </p:txBody>
      </p:sp>
      <p:sp>
        <p:nvSpPr>
          <p:cNvPr id="21" name="Text 17"/>
          <p:cNvSpPr/>
          <p:nvPr/>
        </p:nvSpPr>
        <p:spPr>
          <a:xfrm>
            <a:off x="6356350" y="5632450"/>
            <a:ext cx="215900" cy="215900"/>
          </a:xfrm>
          <a:custGeom>
            <a:avLst/>
            <a:gdLst/>
            <a:ahLst/>
            <a:cxnLst/>
            <a:rect l="l" t="t" r="r" b="b"/>
            <a:pathLst>
              <a:path w="215900" h="215900">
                <a:moveTo>
                  <a:pt x="25400" y="0"/>
                </a:moveTo>
                <a:lnTo>
                  <a:pt x="190500" y="0"/>
                </a:lnTo>
                <a:arcTo hR="25400" wR="25400" stAng="16200000" swAng="5400000"/>
                <a:lnTo>
                  <a:pt x="215900" y="190500"/>
                </a:lnTo>
                <a:arcTo hR="25400" wR="25400" stAng="0" swAng="5400000"/>
                <a:lnTo>
                  <a:pt x="25400" y="215900"/>
                </a:lnTo>
                <a:arcTo hR="25400" wR="25400" stAng="5400000" swAng="5400000"/>
                <a:lnTo>
                  <a:pt x="0" y="25400"/>
                </a:lnTo>
                <a:arcTo hR="25400" wR="25400" stAng="10800000" swAng="5400000"/>
                <a:close/>
              </a:path>
            </a:pathLst>
          </a:custGeom>
          <a:solidFill>
            <a:srgbClr val="E00000"/>
          </a:solid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2</a:t>
            </a:r>
            <a:endParaRPr lang="en-US" sz="1200" dirty="0"/>
          </a:p>
        </p:txBody>
      </p:sp>
      <p:sp>
        <p:nvSpPr>
          <p:cNvPr id="22" name="Text 18"/>
          <p:cNvSpPr/>
          <p:nvPr/>
        </p:nvSpPr>
        <p:spPr>
          <a:xfrm>
            <a:off x="6648450" y="5632450"/>
            <a:ext cx="4709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320"/>
                </a:solidFill>
                <a:latin typeface="Noto Sans KR" pitchFamily="34" charset="0"/>
                <a:ea typeface="Noto Sans KR" pitchFamily="34" charset="-122"/>
                <a:cs typeface="Noto Sans KR" pitchFamily="34" charset="-120"/>
              </a:rPr>
              <a:t>플레이북 실행 이력(완료·중단·실패) 확인</a:t>
            </a:r>
            <a:endParaRPr lang="en-US" sz="1200" dirty="0"/>
          </a:p>
        </p:txBody>
      </p:sp>
      <p:sp>
        <p:nvSpPr>
          <p:cNvPr id="23" name="Text 19"/>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화면 출처: Splunk·Fortinet 공식 자료</a:t>
            </a:r>
            <a:endParaRPr lang="en-US" sz="1200" dirty="0"/>
          </a:p>
        </p:txBody>
      </p:sp>
      <p:sp>
        <p:nvSpPr>
          <p:cNvPr id="24" name="Text 20"/>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0E1320"/>
                </a:solidFill>
                <a:latin typeface="Noto Sans KR" pitchFamily="34" charset="0"/>
                <a:ea typeface="Noto Sans KR" pitchFamily="34" charset="-122"/>
                <a:cs typeface="Noto Sans KR" pitchFamily="34" charset="-120"/>
              </a:rPr>
              <a:t>상담 챗봇: 원본 · 학습용 · 검색용 데이터</a:t>
            </a:r>
            <a:endParaRPr lang="en-US" sz="2800" dirty="0"/>
          </a:p>
        </p:txBody>
      </p:sp>
      <p:sp>
        <p:nvSpPr>
          <p:cNvPr id="3" name="Shape 1"/>
          <p:cNvSpPr/>
          <p:nvPr/>
        </p:nvSpPr>
        <p:spPr>
          <a:xfrm>
            <a:off x="812800" y="1186755"/>
            <a:ext cx="4445000" cy="0"/>
          </a:xfrm>
          <a:prstGeom prst="line">
            <a:avLst/>
          </a:prstGeom>
          <a:noFill/>
          <a:ln w="31750">
            <a:solidFill>
              <a:srgbClr val="1428A0"/>
            </a:solidFill>
            <a:prstDash val="solid"/>
          </a:ln>
        </p:spPr>
      </p:sp>
      <p:sp>
        <p:nvSpPr>
          <p:cNvPr id="4" name="Text 2"/>
          <p:cNvSpPr/>
          <p:nvPr/>
        </p:nvSpPr>
        <p:spPr>
          <a:xfrm>
            <a:off x="812800" y="1266130"/>
            <a:ext cx="1092994" cy="327620"/>
          </a:xfrm>
          <a:prstGeom prst="rect">
            <a:avLst/>
          </a:prstGeom>
          <a:noFill/>
          <a:ln/>
        </p:spPr>
        <p:txBody>
          <a:bodyPr wrap="none" lIns="0" tIns="0" rIns="0" bIns="0" rtlCol="0" anchor="t">
            <a:normAutofit/>
          </a:bodyPr>
          <a:lstStyle/>
          <a:p>
            <a:pPr algn="l" indent="0" marL="0">
              <a:lnSpc>
                <a:spcPts val="2380"/>
              </a:lnSpc>
              <a:buNone/>
            </a:pPr>
            <a:r>
              <a:rPr lang="en-US" sz="1700" b="1" dirty="0">
                <a:solidFill>
                  <a:srgbClr val="1428A0"/>
                </a:solidFill>
                <a:latin typeface="Noto Sans KR" pitchFamily="34" charset="0"/>
                <a:ea typeface="Noto Sans KR" pitchFamily="34" charset="-122"/>
                <a:cs typeface="Noto Sans KR" pitchFamily="34" charset="-120"/>
              </a:rPr>
              <a:t>원본 데이터</a:t>
            </a:r>
            <a:endParaRPr lang="en-US" sz="1700" dirty="0"/>
          </a:p>
        </p:txBody>
      </p:sp>
      <p:sp>
        <p:nvSpPr>
          <p:cNvPr id="5" name="Text 3"/>
          <p:cNvSpPr/>
          <p:nvPr/>
        </p:nvSpPr>
        <p:spPr>
          <a:xfrm>
            <a:off x="1943894" y="1310580"/>
            <a:ext cx="96033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상담 이력 원문</a:t>
            </a:r>
            <a:endParaRPr lang="en-US" sz="1200" dirty="0"/>
          </a:p>
        </p:txBody>
      </p:sp>
      <p:sp>
        <p:nvSpPr>
          <p:cNvPr id="6" name="Text 4"/>
          <p:cNvSpPr/>
          <p:nvPr/>
        </p:nvSpPr>
        <p:spPr>
          <a:xfrm>
            <a:off x="812800" y="1644551"/>
            <a:ext cx="4445000" cy="3796209"/>
          </a:xfrm>
          <a:prstGeom prst="roundRect">
            <a:avLst>
              <a:gd name="adj" fmla="val 2342"/>
            </a:avLst>
          </a:prstGeom>
          <a:solidFill>
            <a:srgbClr val="0E1320"/>
          </a:solidFill>
          <a:ln/>
        </p:spPr>
        <p:txBody>
          <a:bodyPr wrap="square" lIns="126362" tIns="88262" rIns="2156" bIns="88262" rtlCol="0" anchor="t">
            <a:normAutofit/>
          </a:bodyPr>
          <a:lstStyle/>
          <a:p>
            <a:pPr algn="l" indent="0" marL="0">
              <a:lnSpc>
                <a:spcPts val="1740"/>
              </a:lnSpc>
              <a:buNone/>
            </a:pPr>
            <a:r>
              <a:rPr lang="en-US" sz="1200" dirty="0">
                <a:solidFill>
                  <a:srgbClr val="8A93A6"/>
                </a:solidFill>
                <a:latin typeface="JetBrains Mono" pitchFamily="49" charset="0"/>
                <a:ea typeface="JetBrains Mono" pitchFamily="49" charset="-122"/>
                <a:cs typeface="JetBrains Mono" pitchFamily="49" charset="-120"/>
              </a:rPr>
              <a:t># 상담 이력 로그 (chat_log_20260912.txt)</a:t>
            </a:r>
            <a:r>
              <a:rPr lang="en-US" sz="1200" dirty="0">
                <a:solidFill>
                  <a:srgbClr val="E6EAF2"/>
                </a:solidFill>
                <a:latin typeface="JetBrains Mono" pitchFamily="49" charset="0"/>
                <a:ea typeface="JetBrains Mono" pitchFamily="49" charset="-122"/>
                <a:cs typeface="JetBrains Mono" pitchFamily="49" charset="-120"/>
              </a:rPr>
              <a:t> [상담ID] C-20260912-004817 [채널] 채팅 [상담원] A1023 [고객] </a:t>
            </a:r>
            <a:r>
              <a:rPr lang="en-US" sz="1200" b="1" dirty="0">
                <a:solidFill>
                  <a:srgbClr val="FF6B6B"/>
                </a:solidFill>
                <a:latin typeface="JetBrains Mono" pitchFamily="49" charset="0"/>
                <a:ea typeface="JetBrains Mono" pitchFamily="49" charset="-122"/>
                <a:cs typeface="JetBrains Mono" pitchFamily="49" charset="-120"/>
              </a:rPr>
              <a:t>홍길동</a:t>
            </a:r>
            <a:r>
              <a:rPr lang="en-US" sz="1200" dirty="0">
                <a:solidFill>
                  <a:srgbClr val="E6EAF2"/>
                </a:solidFill>
                <a:latin typeface="JetBrains Mono" pitchFamily="49" charset="0"/>
                <a:ea typeface="JetBrains Mono" pitchFamily="49" charset="-122"/>
                <a:cs typeface="JetBrains Mono" pitchFamily="49" charset="-120"/>
              </a:rPr>
              <a:t> / </a:t>
            </a:r>
            <a:r>
              <a:rPr lang="en-US" sz="1200" b="1" dirty="0">
                <a:solidFill>
                  <a:srgbClr val="FF6B6B"/>
                </a:solidFill>
                <a:latin typeface="JetBrains Mono" pitchFamily="49" charset="0"/>
                <a:ea typeface="JetBrains Mono" pitchFamily="49" charset="-122"/>
                <a:cs typeface="JetBrains Mono" pitchFamily="49" charset="-120"/>
              </a:rPr>
              <a:t>010-2345-6789</a:t>
            </a:r>
            <a:r>
              <a:rPr lang="en-US" sz="1200" dirty="0">
                <a:solidFill>
                  <a:srgbClr val="E6EAF2"/>
                </a:solidFill>
                <a:latin typeface="JetBrains Mono" pitchFamily="49" charset="0"/>
                <a:ea typeface="JetBrains Mono" pitchFamily="49" charset="-122"/>
                <a:cs typeface="JetBrains Mono" pitchFamily="49" charset="-120"/>
              </a:rPr>
              <a:t> 14:02:11 고객: 안녕하세요 어제 카드를 잃어버렸어요 14:02:30 상담원: 불편을 드려 죄송합니다. 본인 확인을 위해 생년월일 말씀 부탁드립니다 14:02:41 고객: </a:t>
            </a:r>
            <a:r>
              <a:rPr lang="en-US" sz="1200" b="1" dirty="0">
                <a:solidFill>
                  <a:srgbClr val="FF6B6B"/>
                </a:solidFill>
                <a:latin typeface="JetBrains Mono" pitchFamily="49" charset="0"/>
                <a:ea typeface="JetBrains Mono" pitchFamily="49" charset="-122"/>
                <a:cs typeface="JetBrains Mono" pitchFamily="49" charset="-120"/>
              </a:rPr>
              <a:t>850315</a:t>
            </a:r>
            <a:r>
              <a:rPr lang="en-US" sz="1200" dirty="0">
                <a:solidFill>
                  <a:srgbClr val="E6EAF2"/>
                </a:solidFill>
                <a:latin typeface="JetBrains Mono" pitchFamily="49" charset="0"/>
                <a:ea typeface="JetBrains Mono" pitchFamily="49" charset="-122"/>
                <a:cs typeface="JetBrains Mono" pitchFamily="49" charset="-120"/>
              </a:rPr>
              <a:t>요 14:02:58 상담원: 확인되었습니다. 끝자리 </a:t>
            </a:r>
            <a:r>
              <a:rPr lang="en-US" sz="1200" b="1" dirty="0">
                <a:solidFill>
                  <a:srgbClr val="FF6B6B"/>
                </a:solidFill>
                <a:latin typeface="JetBrains Mono" pitchFamily="49" charset="0"/>
                <a:ea typeface="JetBrains Mono" pitchFamily="49" charset="-122"/>
                <a:cs typeface="JetBrains Mono" pitchFamily="49" charset="-120"/>
              </a:rPr>
              <a:t>4821</a:t>
            </a:r>
            <a:r>
              <a:rPr lang="en-US" sz="1200" dirty="0">
                <a:solidFill>
                  <a:srgbClr val="E6EAF2"/>
                </a:solidFill>
                <a:latin typeface="JetBrains Mono" pitchFamily="49" charset="0"/>
                <a:ea typeface="JetBrains Mono" pitchFamily="49" charset="-122"/>
                <a:cs typeface="JetBrains Mono" pitchFamily="49" charset="-120"/>
              </a:rPr>
              <a:t> 카드 맞으실까요? 14:03:05 고객: 네 맞아요 혹시 해외결제도 막아주세요 14:03:40 상담원: 분실 신고와 해외결제 차단 완료했습니다. 재발급은 3~5영업일 걸립니다</a:t>
            </a:r>
            <a:endParaRPr lang="en-US" sz="1200" dirty="0"/>
          </a:p>
        </p:txBody>
      </p:sp>
      <p:sp>
        <p:nvSpPr>
          <p:cNvPr id="7" name="Text 5"/>
          <p:cNvSpPr/>
          <p:nvPr/>
        </p:nvSpPr>
        <p:spPr>
          <a:xfrm>
            <a:off x="812800" y="5516959"/>
            <a:ext cx="14108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a:t>
            </a:r>
            <a:endParaRPr lang="en-US" sz="1200" dirty="0"/>
          </a:p>
        </p:txBody>
      </p:sp>
      <p:sp>
        <p:nvSpPr>
          <p:cNvPr id="8" name="Text 6"/>
          <p:cNvSpPr/>
          <p:nvPr/>
        </p:nvSpPr>
        <p:spPr>
          <a:xfrm>
            <a:off x="966589" y="5516959"/>
            <a:ext cx="44199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6"/>
                </a:solidFill>
                <a:latin typeface="Noto Sans KR" pitchFamily="34" charset="0"/>
                <a:ea typeface="Noto Sans KR" pitchFamily="34" charset="-122"/>
                <a:cs typeface="Noto Sans KR" pitchFamily="34" charset="-120"/>
              </a:rPr>
              <a:t>사람이 읽는 대화 로그 그대로</a:t>
            </a:r>
            <a:endParaRPr lang="en-US" sz="1200" dirty="0"/>
          </a:p>
        </p:txBody>
      </p:sp>
      <p:sp>
        <p:nvSpPr>
          <p:cNvPr id="9" name="Text 7"/>
          <p:cNvSpPr/>
          <p:nvPr/>
        </p:nvSpPr>
        <p:spPr>
          <a:xfrm>
            <a:off x="812800" y="5755680"/>
            <a:ext cx="14108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a:t>
            </a:r>
            <a:endParaRPr lang="en-US" sz="1200" dirty="0"/>
          </a:p>
        </p:txBody>
      </p:sp>
      <p:sp>
        <p:nvSpPr>
          <p:cNvPr id="10" name="Text 8"/>
          <p:cNvSpPr/>
          <p:nvPr/>
        </p:nvSpPr>
        <p:spPr>
          <a:xfrm>
            <a:off x="966589" y="5755680"/>
            <a:ext cx="44199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6"/>
                </a:solidFill>
                <a:latin typeface="Noto Sans KR" pitchFamily="34" charset="0"/>
                <a:ea typeface="Noto Sans KR" pitchFamily="34" charset="-122"/>
                <a:cs typeface="Noto Sans KR" pitchFamily="34" charset="-120"/>
              </a:rPr>
              <a:t>고객 이름·연락처·생년월일·카드번호 등 </a:t>
            </a:r>
            <a:r>
              <a:rPr lang="en-US" sz="1200" b="1" dirty="0">
                <a:solidFill>
                  <a:srgbClr val="C8102E"/>
                </a:solidFill>
                <a:latin typeface="Noto Sans KR" pitchFamily="34" charset="0"/>
                <a:ea typeface="Noto Sans KR" pitchFamily="34" charset="-122"/>
                <a:cs typeface="Noto Sans KR" pitchFamily="34" charset="-120"/>
              </a:rPr>
              <a:t>개인정보</a:t>
            </a:r>
            <a:r>
              <a:rPr lang="en-US" sz="1200" dirty="0">
                <a:solidFill>
                  <a:srgbClr val="4A5366"/>
                </a:solidFill>
                <a:latin typeface="Noto Sans KR" pitchFamily="34" charset="0"/>
                <a:ea typeface="Noto Sans KR" pitchFamily="34" charset="-122"/>
                <a:cs typeface="Noto Sans KR" pitchFamily="34" charset="-120"/>
              </a:rPr>
              <a:t>가 그대로 남음</a:t>
            </a:r>
            <a:endParaRPr lang="en-US" sz="1200" dirty="0"/>
          </a:p>
        </p:txBody>
      </p:sp>
      <p:sp>
        <p:nvSpPr>
          <p:cNvPr id="11" name="Shape 9"/>
          <p:cNvSpPr/>
          <p:nvPr/>
        </p:nvSpPr>
        <p:spPr>
          <a:xfrm>
            <a:off x="5461000" y="1186755"/>
            <a:ext cx="5918200" cy="0"/>
          </a:xfrm>
          <a:prstGeom prst="line">
            <a:avLst/>
          </a:prstGeom>
          <a:noFill/>
          <a:ln w="31750">
            <a:solidFill>
              <a:srgbClr val="1428A0"/>
            </a:solidFill>
            <a:prstDash val="solid"/>
          </a:ln>
        </p:spPr>
      </p:sp>
      <p:sp>
        <p:nvSpPr>
          <p:cNvPr id="12" name="Text 10"/>
          <p:cNvSpPr/>
          <p:nvPr/>
        </p:nvSpPr>
        <p:spPr>
          <a:xfrm>
            <a:off x="5461000" y="1266130"/>
            <a:ext cx="1291630" cy="327620"/>
          </a:xfrm>
          <a:prstGeom prst="rect">
            <a:avLst/>
          </a:prstGeom>
          <a:noFill/>
          <a:ln/>
        </p:spPr>
        <p:txBody>
          <a:bodyPr wrap="none" lIns="0" tIns="0" rIns="0" bIns="0" rtlCol="0" anchor="t">
            <a:normAutofit/>
          </a:bodyPr>
          <a:lstStyle/>
          <a:p>
            <a:pPr algn="l" indent="0" marL="0">
              <a:lnSpc>
                <a:spcPts val="2380"/>
              </a:lnSpc>
              <a:buNone/>
            </a:pPr>
            <a:r>
              <a:rPr lang="en-US" sz="1700" b="1" dirty="0">
                <a:solidFill>
                  <a:srgbClr val="1428A0"/>
                </a:solidFill>
                <a:latin typeface="Noto Sans KR" pitchFamily="34" charset="0"/>
                <a:ea typeface="Noto Sans KR" pitchFamily="34" charset="-122"/>
                <a:cs typeface="Noto Sans KR" pitchFamily="34" charset="-120"/>
              </a:rPr>
              <a:t>학습용 데이터</a:t>
            </a:r>
            <a:endParaRPr lang="en-US" sz="1700" dirty="0"/>
          </a:p>
        </p:txBody>
      </p:sp>
      <p:sp>
        <p:nvSpPr>
          <p:cNvPr id="13" name="Text 11"/>
          <p:cNvSpPr/>
          <p:nvPr/>
        </p:nvSpPr>
        <p:spPr>
          <a:xfrm>
            <a:off x="6790730" y="1310580"/>
            <a:ext cx="1521222"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모델을 가르치는 데이터</a:t>
            </a:r>
            <a:endParaRPr lang="en-US" sz="1200" dirty="0"/>
          </a:p>
        </p:txBody>
      </p:sp>
      <p:sp>
        <p:nvSpPr>
          <p:cNvPr id="14" name="Text 12"/>
          <p:cNvSpPr/>
          <p:nvPr/>
        </p:nvSpPr>
        <p:spPr>
          <a:xfrm>
            <a:off x="8350052" y="1297880"/>
            <a:ext cx="1028303" cy="238720"/>
          </a:xfrm>
          <a:prstGeom prst="roundRect">
            <a:avLst>
              <a:gd name="adj" fmla="val 21280"/>
            </a:avLst>
          </a:prstGeom>
          <a:solidFill>
            <a:srgbClr val="EEF1FB"/>
          </a:solidFill>
          <a:ln/>
        </p:spPr>
        <p:txBody>
          <a:bodyPr wrap="none" lIns="0" tIns="0" rIns="0" bIns="0" rtlCol="0" anchor="ctr">
            <a:normAutofit/>
          </a:bodyPr>
          <a:lstStyle/>
          <a:p>
            <a:pPr algn="ctr"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개인정보 삭제</a:t>
            </a:r>
            <a:endParaRPr lang="en-US" sz="1200" dirty="0"/>
          </a:p>
        </p:txBody>
      </p:sp>
      <p:sp>
        <p:nvSpPr>
          <p:cNvPr id="15" name="Text 13"/>
          <p:cNvSpPr/>
          <p:nvPr/>
        </p:nvSpPr>
        <p:spPr>
          <a:xfrm>
            <a:off x="9429155" y="1310580"/>
            <a:ext cx="203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a:t>
            </a:r>
            <a:endParaRPr lang="en-US" sz="1200" dirty="0"/>
          </a:p>
        </p:txBody>
      </p:sp>
      <p:sp>
        <p:nvSpPr>
          <p:cNvPr id="16" name="Text 14"/>
          <p:cNvSpPr/>
          <p:nvPr/>
        </p:nvSpPr>
        <p:spPr>
          <a:xfrm>
            <a:off x="9632355" y="1297880"/>
            <a:ext cx="888107" cy="238720"/>
          </a:xfrm>
          <a:prstGeom prst="roundRect">
            <a:avLst>
              <a:gd name="adj" fmla="val 21280"/>
            </a:avLst>
          </a:prstGeom>
          <a:solidFill>
            <a:srgbClr val="EEF1FB"/>
          </a:solidFill>
          <a:ln/>
        </p:spPr>
        <p:txBody>
          <a:bodyPr wrap="none" lIns="0" tIns="0" rIns="0" bIns="0" rtlCol="0" anchor="ctr">
            <a:normAutofit/>
          </a:bodyPr>
          <a:lstStyle/>
          <a:p>
            <a:pPr algn="ctr"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텍스트 추출</a:t>
            </a:r>
            <a:endParaRPr lang="en-US" sz="1200" dirty="0"/>
          </a:p>
        </p:txBody>
      </p:sp>
      <p:sp>
        <p:nvSpPr>
          <p:cNvPr id="17" name="Text 15"/>
          <p:cNvSpPr/>
          <p:nvPr/>
        </p:nvSpPr>
        <p:spPr>
          <a:xfrm>
            <a:off x="10571262" y="1310580"/>
            <a:ext cx="203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a:t>
            </a:r>
            <a:endParaRPr lang="en-US" sz="1200" dirty="0"/>
          </a:p>
        </p:txBody>
      </p:sp>
      <p:sp>
        <p:nvSpPr>
          <p:cNvPr id="18" name="Text 16"/>
          <p:cNvSpPr/>
          <p:nvPr/>
        </p:nvSpPr>
        <p:spPr>
          <a:xfrm>
            <a:off x="10774462" y="1297880"/>
            <a:ext cx="573088" cy="238720"/>
          </a:xfrm>
          <a:prstGeom prst="roundRect">
            <a:avLst>
              <a:gd name="adj" fmla="val 21280"/>
            </a:avLst>
          </a:prstGeom>
          <a:solidFill>
            <a:srgbClr val="EEF1FB"/>
          </a:solidFill>
          <a:ln/>
        </p:spPr>
        <p:txBody>
          <a:bodyPr wrap="none" lIns="0" tIns="0" rIns="0" bIns="0" rtlCol="0" anchor="ctr">
            <a:normAutofit/>
          </a:bodyPr>
          <a:lstStyle/>
          <a:p>
            <a:pPr algn="ctr"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라벨링</a:t>
            </a:r>
            <a:endParaRPr lang="en-US" sz="1200" dirty="0"/>
          </a:p>
        </p:txBody>
      </p:sp>
      <p:sp>
        <p:nvSpPr>
          <p:cNvPr id="19" name="Text 17"/>
          <p:cNvSpPr/>
          <p:nvPr/>
        </p:nvSpPr>
        <p:spPr>
          <a:xfrm>
            <a:off x="5461000" y="1644551"/>
            <a:ext cx="5918200" cy="1565970"/>
          </a:xfrm>
          <a:prstGeom prst="roundRect">
            <a:avLst>
              <a:gd name="adj" fmla="val 5677"/>
            </a:avLst>
          </a:prstGeom>
          <a:solidFill>
            <a:srgbClr val="0E1320"/>
          </a:solidFill>
          <a:ln/>
        </p:spPr>
        <p:txBody>
          <a:bodyPr wrap="square" lIns="126362" tIns="88262" rIns="0" bIns="88262" rtlCol="0" anchor="t">
            <a:normAutofit/>
          </a:bodyPr>
          <a:lstStyle/>
          <a:p>
            <a:pPr algn="l" indent="0" marL="0">
              <a:lnSpc>
                <a:spcPts val="1740"/>
              </a:lnSpc>
              <a:buNone/>
            </a:pPr>
            <a:r>
              <a:rPr lang="en-US" sz="1200" dirty="0">
                <a:solidFill>
                  <a:srgbClr val="E6EAF2"/>
                </a:solidFill>
                <a:latin typeface="JetBrains Mono" pitchFamily="49" charset="0"/>
                <a:ea typeface="JetBrains Mono" pitchFamily="49" charset="-122"/>
                <a:cs typeface="JetBrains Mono" pitchFamily="49" charset="-120"/>
              </a:rPr>
              <a:t>{ </a:t>
            </a:r>
            <a:r>
              <a:rPr lang="en-US" sz="1200" dirty="0">
                <a:solidFill>
                  <a:srgbClr val="9DB4FF"/>
                </a:solidFill>
                <a:latin typeface="JetBrains Mono" pitchFamily="49" charset="0"/>
                <a:ea typeface="JetBrains Mono" pitchFamily="49" charset="-122"/>
                <a:cs typeface="JetBrains Mono" pitchFamily="49" charset="-120"/>
              </a:rPr>
              <a:t>"question"</a:t>
            </a:r>
            <a:r>
              <a:rPr lang="en-US" sz="1200" dirty="0">
                <a:solidFill>
                  <a:srgbClr val="E6EAF2"/>
                </a:solidFill>
                <a:latin typeface="JetBrains Mono" pitchFamily="49" charset="0"/>
                <a:ea typeface="JetBrains Mono" pitchFamily="49" charset="-122"/>
                <a:cs typeface="JetBrains Mono" pitchFamily="49" charset="-120"/>
              </a:rPr>
              <a:t>: "어제 카드를 잃어버렸어요. 해외결제도 막아주세요", </a:t>
            </a:r>
            <a:r>
              <a:rPr lang="en-US" sz="1200" dirty="0">
                <a:solidFill>
                  <a:srgbClr val="9DB4FF"/>
                </a:solidFill>
                <a:latin typeface="JetBrains Mono" pitchFamily="49" charset="0"/>
                <a:ea typeface="JetBrains Mono" pitchFamily="49" charset="-122"/>
                <a:cs typeface="JetBrains Mono" pitchFamily="49" charset="-120"/>
              </a:rPr>
              <a:t>"answer"</a:t>
            </a:r>
            <a:r>
              <a:rPr lang="en-US" sz="1200" dirty="0">
                <a:solidFill>
                  <a:srgbClr val="E6EAF2"/>
                </a:solidFill>
                <a:latin typeface="JetBrains Mono" pitchFamily="49" charset="0"/>
                <a:ea typeface="JetBrains Mono" pitchFamily="49" charset="-122"/>
                <a:cs typeface="JetBrains Mono" pitchFamily="49" charset="-120"/>
              </a:rPr>
              <a:t>: "분실 신고와 해외결제 차단 완료했습니다. 재발급은 3~5영업일 걸립니다", </a:t>
            </a:r>
            <a:r>
              <a:rPr lang="en-US" sz="1200" dirty="0">
                <a:solidFill>
                  <a:srgbClr val="9DB4FF"/>
                </a:solidFill>
                <a:latin typeface="JetBrains Mono" pitchFamily="49" charset="0"/>
                <a:ea typeface="JetBrains Mono" pitchFamily="49" charset="-122"/>
                <a:cs typeface="JetBrains Mono" pitchFamily="49" charset="-120"/>
              </a:rPr>
              <a:t>"label"</a:t>
            </a:r>
            <a:r>
              <a:rPr lang="en-US" sz="1200" dirty="0">
                <a:solidFill>
                  <a:srgbClr val="E6EAF2"/>
                </a:solidFill>
                <a:latin typeface="JetBrains Mono" pitchFamily="49" charset="0"/>
                <a:ea typeface="JetBrains Mono" pitchFamily="49" charset="-122"/>
                <a:cs typeface="JetBrains Mono" pitchFamily="49" charset="-120"/>
              </a:rPr>
              <a:t>: { </a:t>
            </a:r>
            <a:r>
              <a:rPr lang="en-US" sz="1200" dirty="0">
                <a:solidFill>
                  <a:srgbClr val="9DB4FF"/>
                </a:solidFill>
                <a:latin typeface="JetBrains Mono" pitchFamily="49" charset="0"/>
                <a:ea typeface="JetBrains Mono" pitchFamily="49" charset="-122"/>
                <a:cs typeface="JetBrains Mono" pitchFamily="49" charset="-120"/>
              </a:rPr>
              <a:t>"intent"</a:t>
            </a:r>
            <a:r>
              <a:rPr lang="en-US" sz="1200" dirty="0">
                <a:solidFill>
                  <a:srgbClr val="E6EAF2"/>
                </a:solidFill>
                <a:latin typeface="JetBrains Mono" pitchFamily="49" charset="0"/>
                <a:ea typeface="JetBrains Mono" pitchFamily="49" charset="-122"/>
                <a:cs typeface="JetBrains Mono" pitchFamily="49" charset="-120"/>
              </a:rPr>
              <a:t>: "카드분실", </a:t>
            </a:r>
            <a:r>
              <a:rPr lang="en-US" sz="1200" dirty="0">
                <a:solidFill>
                  <a:srgbClr val="9DB4FF"/>
                </a:solidFill>
                <a:latin typeface="JetBrains Mono" pitchFamily="49" charset="0"/>
                <a:ea typeface="JetBrains Mono" pitchFamily="49" charset="-122"/>
                <a:cs typeface="JetBrains Mono" pitchFamily="49" charset="-120"/>
              </a:rPr>
              <a:t>"result"</a:t>
            </a:r>
            <a:r>
              <a:rPr lang="en-US" sz="1200" dirty="0">
                <a:solidFill>
                  <a:srgbClr val="E6EAF2"/>
                </a:solidFill>
                <a:latin typeface="JetBrains Mono" pitchFamily="49" charset="0"/>
                <a:ea typeface="JetBrains Mono" pitchFamily="49" charset="-122"/>
                <a:cs typeface="JetBrains Mono" pitchFamily="49" charset="-120"/>
              </a:rPr>
              <a:t>: "해결" }, </a:t>
            </a:r>
            <a:r>
              <a:rPr lang="en-US" sz="1200" dirty="0">
                <a:solidFill>
                  <a:srgbClr val="9DB4FF"/>
                </a:solidFill>
                <a:latin typeface="JetBrains Mono" pitchFamily="49" charset="0"/>
                <a:ea typeface="JetBrains Mono" pitchFamily="49" charset="-122"/>
                <a:cs typeface="JetBrains Mono" pitchFamily="49" charset="-120"/>
              </a:rPr>
              <a:t>"pii_removed"</a:t>
            </a:r>
            <a:r>
              <a:rPr lang="en-US" sz="1200" dirty="0">
                <a:solidFill>
                  <a:srgbClr val="E6EAF2"/>
                </a:solidFill>
                <a:latin typeface="JetBrains Mono" pitchFamily="49" charset="0"/>
                <a:ea typeface="JetBrains Mono" pitchFamily="49" charset="-122"/>
                <a:cs typeface="JetBrains Mono" pitchFamily="49" charset="-120"/>
              </a:rPr>
              <a:t>: [</a:t>
            </a:r>
            <a:r>
              <a:rPr lang="en-US" sz="1200" b="1" dirty="0">
                <a:solidFill>
                  <a:srgbClr val="7EE2A8"/>
                </a:solidFill>
                <a:latin typeface="JetBrains Mono" pitchFamily="49" charset="0"/>
                <a:ea typeface="JetBrains Mono" pitchFamily="49" charset="-122"/>
                <a:cs typeface="JetBrains Mono" pitchFamily="49" charset="-120"/>
              </a:rPr>
              <a:t>"이름", "연락처", "생년월일", "카드번호"</a:t>
            </a:r>
            <a:r>
              <a:rPr lang="en-US" sz="1200" dirty="0">
                <a:solidFill>
                  <a:srgbClr val="E6EAF2"/>
                </a:solidFill>
                <a:latin typeface="JetBrains Mono" pitchFamily="49" charset="0"/>
                <a:ea typeface="JetBrains Mono" pitchFamily="49" charset="-122"/>
                <a:cs typeface="JetBrains Mono" pitchFamily="49" charset="-120"/>
              </a:rPr>
              <a:t>] }</a:t>
            </a:r>
            <a:endParaRPr lang="en-US" sz="1200" dirty="0"/>
          </a:p>
        </p:txBody>
      </p:sp>
      <p:sp>
        <p:nvSpPr>
          <p:cNvPr id="20" name="Text 18"/>
          <p:cNvSpPr/>
          <p:nvPr/>
        </p:nvSpPr>
        <p:spPr>
          <a:xfrm>
            <a:off x="5461000" y="3286720"/>
            <a:ext cx="14108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a:t>
            </a:r>
            <a:endParaRPr lang="en-US" sz="1200" dirty="0"/>
          </a:p>
        </p:txBody>
      </p:sp>
      <p:sp>
        <p:nvSpPr>
          <p:cNvPr id="21" name="Text 19"/>
          <p:cNvSpPr/>
          <p:nvPr/>
        </p:nvSpPr>
        <p:spPr>
          <a:xfrm>
            <a:off x="5614789" y="3286720"/>
            <a:ext cx="593734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6"/>
                </a:solidFill>
                <a:latin typeface="Noto Sans KR" pitchFamily="34" charset="0"/>
                <a:ea typeface="Noto Sans KR" pitchFamily="34" charset="-122"/>
                <a:cs typeface="Noto Sans KR" pitchFamily="34" charset="-120"/>
              </a:rPr>
              <a:t>사람이 읽을 수 있는 텍스트 그대로 · 모델 추가 학습(파인튜닝)에 사용</a:t>
            </a:r>
            <a:endParaRPr lang="en-US" sz="1200" dirty="0"/>
          </a:p>
        </p:txBody>
      </p:sp>
      <p:sp>
        <p:nvSpPr>
          <p:cNvPr id="22" name="Shape 20"/>
          <p:cNvSpPr/>
          <p:nvPr/>
        </p:nvSpPr>
        <p:spPr>
          <a:xfrm>
            <a:off x="5461000" y="3655616"/>
            <a:ext cx="5918200" cy="0"/>
          </a:xfrm>
          <a:prstGeom prst="line">
            <a:avLst/>
          </a:prstGeom>
          <a:noFill/>
          <a:ln w="31750">
            <a:solidFill>
              <a:srgbClr val="1428A0"/>
            </a:solidFill>
            <a:prstDash val="solid"/>
          </a:ln>
        </p:spPr>
      </p:sp>
      <p:sp>
        <p:nvSpPr>
          <p:cNvPr id="23" name="Text 21"/>
          <p:cNvSpPr/>
          <p:nvPr/>
        </p:nvSpPr>
        <p:spPr>
          <a:xfrm>
            <a:off x="5461000" y="3734991"/>
            <a:ext cx="1291630" cy="327620"/>
          </a:xfrm>
          <a:prstGeom prst="rect">
            <a:avLst/>
          </a:prstGeom>
          <a:noFill/>
          <a:ln/>
        </p:spPr>
        <p:txBody>
          <a:bodyPr wrap="none" lIns="0" tIns="0" rIns="0" bIns="0" rtlCol="0" anchor="t">
            <a:normAutofit/>
          </a:bodyPr>
          <a:lstStyle/>
          <a:p>
            <a:pPr algn="l" indent="0" marL="0">
              <a:lnSpc>
                <a:spcPts val="2380"/>
              </a:lnSpc>
              <a:buNone/>
            </a:pPr>
            <a:r>
              <a:rPr lang="en-US" sz="1700" b="1" dirty="0">
                <a:solidFill>
                  <a:srgbClr val="1428A0"/>
                </a:solidFill>
                <a:latin typeface="Noto Sans KR" pitchFamily="34" charset="0"/>
                <a:ea typeface="Noto Sans KR" pitchFamily="34" charset="-122"/>
                <a:cs typeface="Noto Sans KR" pitchFamily="34" charset="-120"/>
              </a:rPr>
              <a:t>검색용 데이터</a:t>
            </a:r>
            <a:endParaRPr lang="en-US" sz="1700" dirty="0"/>
          </a:p>
        </p:txBody>
      </p:sp>
      <p:sp>
        <p:nvSpPr>
          <p:cNvPr id="24" name="Text 22"/>
          <p:cNvSpPr/>
          <p:nvPr/>
        </p:nvSpPr>
        <p:spPr>
          <a:xfrm>
            <a:off x="6790730" y="3779441"/>
            <a:ext cx="1589484"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답변 때 찾아 쓰는 데이터</a:t>
            </a:r>
            <a:endParaRPr lang="en-US" sz="1200" dirty="0"/>
          </a:p>
        </p:txBody>
      </p:sp>
      <p:sp>
        <p:nvSpPr>
          <p:cNvPr id="25" name="Text 23"/>
          <p:cNvSpPr/>
          <p:nvPr/>
        </p:nvSpPr>
        <p:spPr>
          <a:xfrm>
            <a:off x="8418314" y="3766741"/>
            <a:ext cx="432891" cy="238720"/>
          </a:xfrm>
          <a:prstGeom prst="roundRect">
            <a:avLst>
              <a:gd name="adj" fmla="val 21280"/>
            </a:avLst>
          </a:prstGeom>
          <a:solidFill>
            <a:srgbClr val="EEF1FB"/>
          </a:solidFill>
          <a:ln/>
        </p:spPr>
        <p:txBody>
          <a:bodyPr wrap="none" lIns="0" tIns="0" rIns="0" bIns="0" rtlCol="0" anchor="ctr">
            <a:normAutofit/>
          </a:bodyPr>
          <a:lstStyle/>
          <a:p>
            <a:pPr algn="ctr"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청킹</a:t>
            </a:r>
            <a:endParaRPr lang="en-US" sz="1200" dirty="0"/>
          </a:p>
        </p:txBody>
      </p:sp>
      <p:sp>
        <p:nvSpPr>
          <p:cNvPr id="26" name="Text 24"/>
          <p:cNvSpPr/>
          <p:nvPr/>
        </p:nvSpPr>
        <p:spPr>
          <a:xfrm>
            <a:off x="8902005" y="3779441"/>
            <a:ext cx="203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a:t>
            </a:r>
            <a:endParaRPr lang="en-US" sz="1200" dirty="0"/>
          </a:p>
        </p:txBody>
      </p:sp>
      <p:sp>
        <p:nvSpPr>
          <p:cNvPr id="27" name="Text 25"/>
          <p:cNvSpPr/>
          <p:nvPr/>
        </p:nvSpPr>
        <p:spPr>
          <a:xfrm>
            <a:off x="9105205" y="3766741"/>
            <a:ext cx="573088" cy="238720"/>
          </a:xfrm>
          <a:prstGeom prst="roundRect">
            <a:avLst>
              <a:gd name="adj" fmla="val 21280"/>
            </a:avLst>
          </a:prstGeom>
          <a:solidFill>
            <a:srgbClr val="EEF1FB"/>
          </a:solidFill>
          <a:ln/>
        </p:spPr>
        <p:txBody>
          <a:bodyPr wrap="none" lIns="0" tIns="0" rIns="0" bIns="0" rtlCol="0" anchor="ctr">
            <a:normAutofit/>
          </a:bodyPr>
          <a:lstStyle/>
          <a:p>
            <a:pPr algn="ctr"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토큰화</a:t>
            </a:r>
            <a:endParaRPr lang="en-US" sz="1200" dirty="0"/>
          </a:p>
        </p:txBody>
      </p:sp>
      <p:sp>
        <p:nvSpPr>
          <p:cNvPr id="28" name="Text 26"/>
          <p:cNvSpPr/>
          <p:nvPr/>
        </p:nvSpPr>
        <p:spPr>
          <a:xfrm>
            <a:off x="9729093" y="3779441"/>
            <a:ext cx="203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a:t>
            </a:r>
            <a:endParaRPr lang="en-US" sz="1200" dirty="0"/>
          </a:p>
        </p:txBody>
      </p:sp>
      <p:sp>
        <p:nvSpPr>
          <p:cNvPr id="29" name="Text 27"/>
          <p:cNvSpPr/>
          <p:nvPr/>
        </p:nvSpPr>
        <p:spPr>
          <a:xfrm>
            <a:off x="9932293" y="3766741"/>
            <a:ext cx="573088" cy="238720"/>
          </a:xfrm>
          <a:prstGeom prst="roundRect">
            <a:avLst>
              <a:gd name="adj" fmla="val 21280"/>
            </a:avLst>
          </a:prstGeom>
          <a:solidFill>
            <a:srgbClr val="EEF1FB"/>
          </a:solidFill>
          <a:ln/>
        </p:spPr>
        <p:txBody>
          <a:bodyPr wrap="none" lIns="0" tIns="0" rIns="0" bIns="0" rtlCol="0" anchor="ctr">
            <a:normAutofit/>
          </a:bodyPr>
          <a:lstStyle/>
          <a:p>
            <a:pPr algn="ctr"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벡터화</a:t>
            </a:r>
            <a:endParaRPr lang="en-US" sz="1200" dirty="0"/>
          </a:p>
        </p:txBody>
      </p:sp>
      <p:sp>
        <p:nvSpPr>
          <p:cNvPr id="30" name="Text 28"/>
          <p:cNvSpPr/>
          <p:nvPr/>
        </p:nvSpPr>
        <p:spPr>
          <a:xfrm>
            <a:off x="5461000" y="4113411"/>
            <a:ext cx="5918200" cy="1566069"/>
          </a:xfrm>
          <a:prstGeom prst="roundRect">
            <a:avLst>
              <a:gd name="adj" fmla="val 5677"/>
            </a:avLst>
          </a:prstGeom>
          <a:solidFill>
            <a:srgbClr val="0E1320"/>
          </a:solidFill>
          <a:ln/>
        </p:spPr>
        <p:txBody>
          <a:bodyPr wrap="square" lIns="126362" tIns="88262" rIns="0" bIns="88262" rtlCol="0" anchor="t">
            <a:normAutofit/>
          </a:bodyPr>
          <a:lstStyle/>
          <a:p>
            <a:pPr algn="l" indent="0" marL="0">
              <a:lnSpc>
                <a:spcPts val="1740"/>
              </a:lnSpc>
              <a:buNone/>
            </a:pPr>
            <a:r>
              <a:rPr lang="en-US" sz="1200" dirty="0">
                <a:solidFill>
                  <a:srgbClr val="E6EAF2"/>
                </a:solidFill>
                <a:latin typeface="JetBrains Mono" pitchFamily="49" charset="0"/>
                <a:ea typeface="JetBrains Mono" pitchFamily="49" charset="-122"/>
                <a:cs typeface="JetBrains Mono" pitchFamily="49" charset="-120"/>
              </a:rPr>
              <a:t>{ </a:t>
            </a:r>
            <a:r>
              <a:rPr lang="en-US" sz="1200" dirty="0">
                <a:solidFill>
                  <a:srgbClr val="9DB4FF"/>
                </a:solidFill>
                <a:latin typeface="JetBrains Mono" pitchFamily="49" charset="0"/>
                <a:ea typeface="JetBrains Mono" pitchFamily="49" charset="-122"/>
                <a:cs typeface="JetBrains Mono" pitchFamily="49" charset="-120"/>
              </a:rPr>
              <a:t>"chunk_id"</a:t>
            </a:r>
            <a:r>
              <a:rPr lang="en-US" sz="1200" dirty="0">
                <a:solidFill>
                  <a:srgbClr val="E6EAF2"/>
                </a:solidFill>
                <a:latin typeface="JetBrains Mono" pitchFamily="49" charset="0"/>
                <a:ea typeface="JetBrains Mono" pitchFamily="49" charset="-122"/>
                <a:cs typeface="JetBrains Mono" pitchFamily="49" charset="-120"/>
              </a:rPr>
              <a:t>: "C-20260912-004817#2", </a:t>
            </a:r>
            <a:r>
              <a:rPr lang="en-US" sz="1200" dirty="0">
                <a:solidFill>
                  <a:srgbClr val="9DB4FF"/>
                </a:solidFill>
                <a:latin typeface="JetBrains Mono" pitchFamily="49" charset="0"/>
                <a:ea typeface="JetBrains Mono" pitchFamily="49" charset="-122"/>
                <a:cs typeface="JetBrains Mono" pitchFamily="49" charset="-120"/>
              </a:rPr>
              <a:t>"text"</a:t>
            </a:r>
            <a:r>
              <a:rPr lang="en-US" sz="1200" dirty="0">
                <a:solidFill>
                  <a:srgbClr val="E6EAF2"/>
                </a:solidFill>
                <a:latin typeface="JetBrains Mono" pitchFamily="49" charset="0"/>
                <a:ea typeface="JetBrains Mono" pitchFamily="49" charset="-122"/>
                <a:cs typeface="JetBrains Mono" pitchFamily="49" charset="-120"/>
              </a:rPr>
              <a:t>: "고객: 카드를 잃어버렸어요 … 상담원: 분실 신고 완료했습니다", </a:t>
            </a:r>
            <a:r>
              <a:rPr lang="en-US" sz="1200" dirty="0">
                <a:solidFill>
                  <a:srgbClr val="9DB4FF"/>
                </a:solidFill>
                <a:latin typeface="JetBrains Mono" pitchFamily="49" charset="0"/>
                <a:ea typeface="JetBrains Mono" pitchFamily="49" charset="-122"/>
                <a:cs typeface="JetBrains Mono" pitchFamily="49" charset="-120"/>
              </a:rPr>
              <a:t>"tokens"</a:t>
            </a:r>
            <a:r>
              <a:rPr lang="en-US" sz="1200" dirty="0">
                <a:solidFill>
                  <a:srgbClr val="E6EAF2"/>
                </a:solidFill>
                <a:latin typeface="JetBrains Mono" pitchFamily="49" charset="0"/>
                <a:ea typeface="JetBrains Mono" pitchFamily="49" charset="-122"/>
                <a:cs typeface="JetBrains Mono" pitchFamily="49" charset="-120"/>
              </a:rPr>
              <a:t>: ["▁카드를", "▁잃어", "버렸", "어요", …], </a:t>
            </a:r>
            <a:r>
              <a:rPr lang="en-US" sz="1200" dirty="0">
                <a:solidFill>
                  <a:srgbClr val="9DB4FF"/>
                </a:solidFill>
                <a:latin typeface="JetBrains Mono" pitchFamily="49" charset="0"/>
                <a:ea typeface="JetBrains Mono" pitchFamily="49" charset="-122"/>
                <a:cs typeface="JetBrains Mono" pitchFamily="49" charset="-120"/>
              </a:rPr>
              <a:t>"token_ids"</a:t>
            </a:r>
            <a:r>
              <a:rPr lang="en-US" sz="1200" dirty="0">
                <a:solidFill>
                  <a:srgbClr val="E6EAF2"/>
                </a:solidFill>
                <a:latin typeface="JetBrains Mono" pitchFamily="49" charset="0"/>
                <a:ea typeface="JetBrains Mono" pitchFamily="49" charset="-122"/>
                <a:cs typeface="JetBrains Mono" pitchFamily="49" charset="-120"/>
              </a:rPr>
              <a:t>: [</a:t>
            </a:r>
            <a:r>
              <a:rPr lang="en-US" sz="1200" dirty="0">
                <a:solidFill>
                  <a:srgbClr val="F5C26B"/>
                </a:solidFill>
                <a:latin typeface="JetBrains Mono" pitchFamily="49" charset="0"/>
                <a:ea typeface="JetBrains Mono" pitchFamily="49" charset="-122"/>
                <a:cs typeface="JetBrains Mono" pitchFamily="49" charset="-120"/>
              </a:rPr>
              <a:t>90233, 27710, 61458, 4413</a:t>
            </a:r>
            <a:r>
              <a:rPr lang="en-US" sz="1200" dirty="0">
                <a:solidFill>
                  <a:srgbClr val="E6EAF2"/>
                </a:solidFill>
                <a:latin typeface="JetBrains Mono" pitchFamily="49" charset="0"/>
                <a:ea typeface="JetBrains Mono" pitchFamily="49" charset="-122"/>
                <a:cs typeface="JetBrains Mono" pitchFamily="49" charset="-120"/>
              </a:rPr>
              <a:t>, …], </a:t>
            </a:r>
            <a:r>
              <a:rPr lang="en-US" sz="1200" dirty="0">
                <a:solidFill>
                  <a:srgbClr val="9DB4FF"/>
                </a:solidFill>
                <a:latin typeface="JetBrains Mono" pitchFamily="49" charset="0"/>
                <a:ea typeface="JetBrains Mono" pitchFamily="49" charset="-122"/>
                <a:cs typeface="JetBrains Mono" pitchFamily="49" charset="-120"/>
              </a:rPr>
              <a:t>"embedding"</a:t>
            </a:r>
            <a:r>
              <a:rPr lang="en-US" sz="1200" dirty="0">
                <a:solidFill>
                  <a:srgbClr val="E6EAF2"/>
                </a:solidFill>
                <a:latin typeface="JetBrains Mono" pitchFamily="49" charset="0"/>
                <a:ea typeface="JetBrains Mono" pitchFamily="49" charset="-122"/>
                <a:cs typeface="JetBrains Mono" pitchFamily="49" charset="-120"/>
              </a:rPr>
              <a:t>: [</a:t>
            </a:r>
            <a:r>
              <a:rPr lang="en-US" sz="1200" dirty="0">
                <a:solidFill>
                  <a:srgbClr val="F5C26B"/>
                </a:solidFill>
                <a:latin typeface="JetBrains Mono" pitchFamily="49" charset="0"/>
                <a:ea typeface="JetBrains Mono" pitchFamily="49" charset="-122"/>
                <a:cs typeface="JetBrains Mono" pitchFamily="49" charset="-120"/>
              </a:rPr>
              <a:t>0.0213, -0.1182, 0.0457</a:t>
            </a:r>
            <a:r>
              <a:rPr lang="en-US" sz="1200" dirty="0">
                <a:solidFill>
                  <a:srgbClr val="E6EAF2"/>
                </a:solidFill>
                <a:latin typeface="JetBrains Mono" pitchFamily="49" charset="0"/>
                <a:ea typeface="JetBrains Mono" pitchFamily="49" charset="-122"/>
                <a:cs typeface="JetBrains Mono" pitchFamily="49" charset="-120"/>
              </a:rPr>
              <a:t>, …] </a:t>
            </a:r>
            <a:r>
              <a:rPr lang="en-US" sz="1200" dirty="0">
                <a:solidFill>
                  <a:srgbClr val="8A93A6"/>
                </a:solidFill>
                <a:latin typeface="JetBrains Mono" pitchFamily="49" charset="0"/>
                <a:ea typeface="JetBrains Mono" pitchFamily="49" charset="-122"/>
                <a:cs typeface="JetBrains Mono" pitchFamily="49" charset="-120"/>
              </a:rPr>
              <a:t>// 숫자 1,536개</a:t>
            </a:r>
            <a:r>
              <a:rPr lang="en-US" sz="1200" dirty="0">
                <a:solidFill>
                  <a:srgbClr val="E6EAF2"/>
                </a:solidFill>
                <a:latin typeface="JetBrains Mono" pitchFamily="49" charset="0"/>
                <a:ea typeface="JetBrains Mono" pitchFamily="49" charset="-122"/>
                <a:cs typeface="JetBrains Mono" pitchFamily="49" charset="-120"/>
              </a:rPr>
              <a:t> }</a:t>
            </a:r>
            <a:endParaRPr lang="en-US" sz="1200" dirty="0"/>
          </a:p>
        </p:txBody>
      </p:sp>
      <p:sp>
        <p:nvSpPr>
          <p:cNvPr id="31" name="Text 29"/>
          <p:cNvSpPr/>
          <p:nvPr/>
        </p:nvSpPr>
        <p:spPr>
          <a:xfrm>
            <a:off x="5461000" y="5755680"/>
            <a:ext cx="14108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a:t>
            </a:r>
            <a:endParaRPr lang="en-US" sz="1200" dirty="0"/>
          </a:p>
        </p:txBody>
      </p:sp>
      <p:sp>
        <p:nvSpPr>
          <p:cNvPr id="32" name="Text 30"/>
          <p:cNvSpPr/>
          <p:nvPr/>
        </p:nvSpPr>
        <p:spPr>
          <a:xfrm>
            <a:off x="5614789" y="5755680"/>
            <a:ext cx="593734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6"/>
                </a:solidFill>
                <a:latin typeface="Noto Sans KR" pitchFamily="34" charset="0"/>
                <a:ea typeface="Noto Sans KR" pitchFamily="34" charset="-122"/>
                <a:cs typeface="Noto Sans KR" pitchFamily="34" charset="-120"/>
              </a:rPr>
              <a:t>숫자로 바뀐 형태 · 질문과 가까운 청크를 찾아 답변에 활용</a:t>
            </a:r>
            <a:endParaRPr lang="en-US" sz="1200" dirty="0"/>
          </a:p>
        </p:txBody>
      </p:sp>
      <p:sp>
        <p:nvSpPr>
          <p:cNvPr id="33" name="Text 31"/>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2561868"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0E1320"/>
                </a:solidFill>
                <a:latin typeface="Noto Sans KR" pitchFamily="34" charset="0"/>
                <a:ea typeface="Noto Sans KR" pitchFamily="34" charset="-122"/>
                <a:cs typeface="Noto Sans KR" pitchFamily="34" charset="-120"/>
              </a:rPr>
              <a:t>SaaS와 PaaS</a:t>
            </a:r>
            <a:endParaRPr lang="en-US" sz="2800" dirty="0"/>
          </a:p>
        </p:txBody>
      </p:sp>
      <p:sp>
        <p:nvSpPr>
          <p:cNvPr id="3" name="Shape 1"/>
          <p:cNvSpPr/>
          <p:nvPr/>
        </p:nvSpPr>
        <p:spPr>
          <a:xfrm>
            <a:off x="9184382" y="772120"/>
            <a:ext cx="177800" cy="177800"/>
          </a:xfrm>
          <a:prstGeom prst="roundRect">
            <a:avLst>
              <a:gd name="adj" fmla="val 21429"/>
            </a:avLst>
          </a:prstGeom>
          <a:solidFill>
            <a:srgbClr val="1428A0"/>
          </a:solidFill>
          <a:ln/>
        </p:spPr>
      </p:sp>
      <p:sp>
        <p:nvSpPr>
          <p:cNvPr id="4" name="Text 2"/>
          <p:cNvSpPr/>
          <p:nvPr/>
        </p:nvSpPr>
        <p:spPr>
          <a:xfrm>
            <a:off x="9438382" y="754360"/>
            <a:ext cx="8114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6"/>
                </a:solidFill>
                <a:latin typeface="Noto Sans KR" pitchFamily="34" charset="0"/>
                <a:ea typeface="Noto Sans KR" pitchFamily="34" charset="-122"/>
                <a:cs typeface="Noto Sans KR" pitchFamily="34" charset="-120"/>
              </a:rPr>
              <a:t>회사가 관리</a:t>
            </a:r>
            <a:endParaRPr lang="en-US" sz="1200" dirty="0"/>
          </a:p>
        </p:txBody>
      </p:sp>
      <p:sp>
        <p:nvSpPr>
          <p:cNvPr id="5" name="Shape 3"/>
          <p:cNvSpPr/>
          <p:nvPr/>
        </p:nvSpPr>
        <p:spPr>
          <a:xfrm>
            <a:off x="10249793" y="772120"/>
            <a:ext cx="177800" cy="177800"/>
          </a:xfrm>
          <a:prstGeom prst="roundRect">
            <a:avLst>
              <a:gd name="adj" fmla="val 21429"/>
            </a:avLst>
          </a:prstGeom>
          <a:solidFill>
            <a:srgbClr val="DCE1EA"/>
          </a:solidFill>
          <a:ln/>
        </p:spPr>
      </p:sp>
      <p:sp>
        <p:nvSpPr>
          <p:cNvPr id="6" name="Text 4"/>
          <p:cNvSpPr/>
          <p:nvPr/>
        </p:nvSpPr>
        <p:spPr>
          <a:xfrm>
            <a:off x="10503793" y="754360"/>
            <a:ext cx="10504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6"/>
                </a:solidFill>
                <a:latin typeface="Noto Sans KR" pitchFamily="34" charset="0"/>
                <a:ea typeface="Noto Sans KR" pitchFamily="34" charset="-122"/>
                <a:cs typeface="Noto Sans KR" pitchFamily="34" charset="-120"/>
              </a:rPr>
              <a:t>제공사가 관리</a:t>
            </a:r>
            <a:endParaRPr lang="en-US" sz="1200" dirty="0"/>
          </a:p>
        </p:txBody>
      </p:sp>
      <p:sp>
        <p:nvSpPr>
          <p:cNvPr id="7" name="Shape 5"/>
          <p:cNvSpPr/>
          <p:nvPr/>
        </p:nvSpPr>
        <p:spPr>
          <a:xfrm>
            <a:off x="812800" y="1186755"/>
            <a:ext cx="5130800" cy="0"/>
          </a:xfrm>
          <a:prstGeom prst="line">
            <a:avLst/>
          </a:prstGeom>
          <a:noFill/>
          <a:ln w="31750">
            <a:solidFill>
              <a:srgbClr val="1428A0"/>
            </a:solidFill>
            <a:prstDash val="solid"/>
          </a:ln>
        </p:spPr>
      </p:sp>
      <p:sp>
        <p:nvSpPr>
          <p:cNvPr id="8" name="Text 6"/>
          <p:cNvSpPr/>
          <p:nvPr/>
        </p:nvSpPr>
        <p:spPr>
          <a:xfrm>
            <a:off x="812800" y="1278830"/>
            <a:ext cx="780554"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8A0"/>
                </a:solidFill>
                <a:latin typeface="Noto Sans KR" pitchFamily="34" charset="0"/>
                <a:ea typeface="Noto Sans KR" pitchFamily="34" charset="-122"/>
                <a:cs typeface="Noto Sans KR" pitchFamily="34" charset="-120"/>
              </a:rPr>
              <a:t>SaaS</a:t>
            </a:r>
            <a:endParaRPr lang="en-US" sz="2200" dirty="0"/>
          </a:p>
        </p:txBody>
      </p:sp>
      <p:sp>
        <p:nvSpPr>
          <p:cNvPr id="9" name="Text 7"/>
          <p:cNvSpPr/>
          <p:nvPr/>
        </p:nvSpPr>
        <p:spPr>
          <a:xfrm>
            <a:off x="1593354" y="1418530"/>
            <a:ext cx="17997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Software as a Service</a:t>
            </a:r>
            <a:endParaRPr lang="en-US" sz="1200" dirty="0"/>
          </a:p>
        </p:txBody>
      </p:sp>
      <p:sp>
        <p:nvSpPr>
          <p:cNvPr id="10" name="Text 8"/>
          <p:cNvSpPr/>
          <p:nvPr/>
        </p:nvSpPr>
        <p:spPr>
          <a:xfrm>
            <a:off x="812800" y="1771551"/>
            <a:ext cx="528472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E1320"/>
                </a:solidFill>
                <a:latin typeface="Noto Sans KR" pitchFamily="34" charset="0"/>
                <a:ea typeface="Noto Sans KR" pitchFamily="34" charset="-122"/>
                <a:cs typeface="Noto Sans KR" pitchFamily="34" charset="-120"/>
              </a:rPr>
              <a:t>완성된 AI 서비스를 그대로 가입해서 사용</a:t>
            </a:r>
            <a:endParaRPr lang="en-US" sz="1400" dirty="0"/>
          </a:p>
        </p:txBody>
      </p:sp>
      <p:sp>
        <p:nvSpPr>
          <p:cNvPr id="11" name="Shape 9"/>
          <p:cNvSpPr/>
          <p:nvPr/>
        </p:nvSpPr>
        <p:spPr>
          <a:xfrm>
            <a:off x="812800" y="2121991"/>
            <a:ext cx="5130800" cy="527050"/>
          </a:xfrm>
          <a:prstGeom prst="roundRect">
            <a:avLst>
              <a:gd name="adj" fmla="val 12048"/>
            </a:avLst>
          </a:prstGeom>
          <a:solidFill>
            <a:srgbClr val="1428A0"/>
          </a:solidFill>
          <a:ln/>
        </p:spPr>
      </p:sp>
      <p:sp>
        <p:nvSpPr>
          <p:cNvPr id="12" name="Text 10"/>
          <p:cNvSpPr/>
          <p:nvPr/>
        </p:nvSpPr>
        <p:spPr>
          <a:xfrm>
            <a:off x="965200" y="2261096"/>
            <a:ext cx="1511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Noto Sans KR" pitchFamily="34" charset="0"/>
                <a:ea typeface="Noto Sans KR" pitchFamily="34" charset="-122"/>
                <a:cs typeface="Noto Sans KR" pitchFamily="34" charset="-120"/>
              </a:rPr>
              <a:t>사용자·계정 설정</a:t>
            </a:r>
            <a:endParaRPr lang="en-US" sz="1400" dirty="0"/>
          </a:p>
        </p:txBody>
      </p:sp>
      <p:sp>
        <p:nvSpPr>
          <p:cNvPr id="13" name="Text 11"/>
          <p:cNvSpPr/>
          <p:nvPr/>
        </p:nvSpPr>
        <p:spPr>
          <a:xfrm>
            <a:off x="2527300" y="2278856"/>
            <a:ext cx="29682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F5"/>
                </a:solidFill>
                <a:latin typeface="Noto Sans KR" pitchFamily="34" charset="0"/>
                <a:ea typeface="Noto Sans KR" pitchFamily="34" charset="-122"/>
                <a:cs typeface="Noto Sans KR" pitchFamily="34" charset="-120"/>
              </a:rPr>
              <a:t>권한, SSO, 관리자 옵션</a:t>
            </a:r>
            <a:endParaRPr lang="en-US" sz="1200" dirty="0"/>
          </a:p>
        </p:txBody>
      </p:sp>
      <p:sp>
        <p:nvSpPr>
          <p:cNvPr id="14" name="Text 12"/>
          <p:cNvSpPr/>
          <p:nvPr/>
        </p:nvSpPr>
        <p:spPr>
          <a:xfrm>
            <a:off x="5510709" y="2278856"/>
            <a:ext cx="33659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회사</a:t>
            </a:r>
            <a:endParaRPr lang="en-US" sz="1200" dirty="0"/>
          </a:p>
        </p:txBody>
      </p:sp>
      <p:sp>
        <p:nvSpPr>
          <p:cNvPr id="15" name="Shape 13"/>
          <p:cNvSpPr/>
          <p:nvPr/>
        </p:nvSpPr>
        <p:spPr>
          <a:xfrm>
            <a:off x="812800" y="2699841"/>
            <a:ext cx="5130800" cy="527149"/>
          </a:xfrm>
          <a:prstGeom prst="roundRect">
            <a:avLst>
              <a:gd name="adj" fmla="val 12046"/>
            </a:avLst>
          </a:prstGeom>
          <a:solidFill>
            <a:srgbClr val="DCE1EA"/>
          </a:solidFill>
          <a:ln/>
        </p:spPr>
      </p:sp>
      <p:sp>
        <p:nvSpPr>
          <p:cNvPr id="16" name="Text 14"/>
          <p:cNvSpPr/>
          <p:nvPr/>
        </p:nvSpPr>
        <p:spPr>
          <a:xfrm>
            <a:off x="965200" y="2838946"/>
            <a:ext cx="1511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366"/>
                </a:solidFill>
                <a:latin typeface="Noto Sans KR" pitchFamily="34" charset="0"/>
                <a:ea typeface="Noto Sans KR" pitchFamily="34" charset="-122"/>
                <a:cs typeface="Noto Sans KR" pitchFamily="34" charset="-120"/>
              </a:rPr>
              <a:t>애플리케이션</a:t>
            </a:r>
            <a:endParaRPr lang="en-US" sz="1400" dirty="0"/>
          </a:p>
        </p:txBody>
      </p:sp>
      <p:sp>
        <p:nvSpPr>
          <p:cNvPr id="17" name="Text 15"/>
          <p:cNvSpPr/>
          <p:nvPr/>
        </p:nvSpPr>
        <p:spPr>
          <a:xfrm>
            <a:off x="2527300" y="2856706"/>
            <a:ext cx="28238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챗봇 화면·기능</a:t>
            </a:r>
            <a:endParaRPr lang="en-US" sz="1200" dirty="0"/>
          </a:p>
        </p:txBody>
      </p:sp>
      <p:sp>
        <p:nvSpPr>
          <p:cNvPr id="18" name="Text 16"/>
          <p:cNvSpPr/>
          <p:nvPr/>
        </p:nvSpPr>
        <p:spPr>
          <a:xfrm>
            <a:off x="5370513" y="2856706"/>
            <a:ext cx="50482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366"/>
                </a:solidFill>
                <a:latin typeface="Noto Sans KR" pitchFamily="34" charset="0"/>
                <a:ea typeface="Noto Sans KR" pitchFamily="34" charset="-122"/>
                <a:cs typeface="Noto Sans KR" pitchFamily="34" charset="-120"/>
              </a:rPr>
              <a:t>제공사</a:t>
            </a:r>
            <a:endParaRPr lang="en-US" sz="1200" dirty="0"/>
          </a:p>
        </p:txBody>
      </p:sp>
      <p:sp>
        <p:nvSpPr>
          <p:cNvPr id="19" name="Shape 17"/>
          <p:cNvSpPr/>
          <p:nvPr/>
        </p:nvSpPr>
        <p:spPr>
          <a:xfrm>
            <a:off x="812800" y="3277791"/>
            <a:ext cx="5130800" cy="527050"/>
          </a:xfrm>
          <a:prstGeom prst="roundRect">
            <a:avLst>
              <a:gd name="adj" fmla="val 12048"/>
            </a:avLst>
          </a:prstGeom>
          <a:solidFill>
            <a:srgbClr val="DCE1EA"/>
          </a:solidFill>
          <a:ln/>
        </p:spPr>
      </p:sp>
      <p:sp>
        <p:nvSpPr>
          <p:cNvPr id="20" name="Text 18"/>
          <p:cNvSpPr/>
          <p:nvPr/>
        </p:nvSpPr>
        <p:spPr>
          <a:xfrm>
            <a:off x="965200" y="3416895"/>
            <a:ext cx="1511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366"/>
                </a:solidFill>
                <a:latin typeface="Noto Sans KR" pitchFamily="34" charset="0"/>
                <a:ea typeface="Noto Sans KR" pitchFamily="34" charset="-122"/>
                <a:cs typeface="Noto Sans KR" pitchFamily="34" charset="-120"/>
              </a:rPr>
              <a:t>데이터 처리</a:t>
            </a:r>
            <a:endParaRPr lang="en-US" sz="1400" dirty="0"/>
          </a:p>
        </p:txBody>
      </p:sp>
      <p:sp>
        <p:nvSpPr>
          <p:cNvPr id="21" name="Text 19"/>
          <p:cNvSpPr/>
          <p:nvPr/>
        </p:nvSpPr>
        <p:spPr>
          <a:xfrm>
            <a:off x="2527300" y="3434655"/>
            <a:ext cx="28238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프롬프트, RAG, 로그</a:t>
            </a:r>
            <a:endParaRPr lang="en-US" sz="1200" dirty="0"/>
          </a:p>
        </p:txBody>
      </p:sp>
      <p:sp>
        <p:nvSpPr>
          <p:cNvPr id="22" name="Text 20"/>
          <p:cNvSpPr/>
          <p:nvPr/>
        </p:nvSpPr>
        <p:spPr>
          <a:xfrm>
            <a:off x="5370513" y="3434655"/>
            <a:ext cx="50482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366"/>
                </a:solidFill>
                <a:latin typeface="Noto Sans KR" pitchFamily="34" charset="0"/>
                <a:ea typeface="Noto Sans KR" pitchFamily="34" charset="-122"/>
                <a:cs typeface="Noto Sans KR" pitchFamily="34" charset="-120"/>
              </a:rPr>
              <a:t>제공사</a:t>
            </a:r>
            <a:endParaRPr lang="en-US" sz="1200" dirty="0"/>
          </a:p>
        </p:txBody>
      </p:sp>
      <p:sp>
        <p:nvSpPr>
          <p:cNvPr id="23" name="Shape 21"/>
          <p:cNvSpPr/>
          <p:nvPr/>
        </p:nvSpPr>
        <p:spPr>
          <a:xfrm>
            <a:off x="812800" y="3855641"/>
            <a:ext cx="5130800" cy="527149"/>
          </a:xfrm>
          <a:prstGeom prst="roundRect">
            <a:avLst>
              <a:gd name="adj" fmla="val 12046"/>
            </a:avLst>
          </a:prstGeom>
          <a:solidFill>
            <a:srgbClr val="DCE1EA"/>
          </a:solidFill>
          <a:ln/>
        </p:spPr>
      </p:sp>
      <p:sp>
        <p:nvSpPr>
          <p:cNvPr id="24" name="Text 22"/>
          <p:cNvSpPr/>
          <p:nvPr/>
        </p:nvSpPr>
        <p:spPr>
          <a:xfrm>
            <a:off x="965200" y="3994745"/>
            <a:ext cx="1511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366"/>
                </a:solidFill>
                <a:latin typeface="Noto Sans KR" pitchFamily="34" charset="0"/>
                <a:ea typeface="Noto Sans KR" pitchFamily="34" charset="-122"/>
                <a:cs typeface="Noto Sans KR" pitchFamily="34" charset="-120"/>
              </a:rPr>
              <a:t>AI 모델</a:t>
            </a:r>
            <a:endParaRPr lang="en-US" sz="1400" dirty="0"/>
          </a:p>
        </p:txBody>
      </p:sp>
      <p:sp>
        <p:nvSpPr>
          <p:cNvPr id="25" name="Text 23"/>
          <p:cNvSpPr/>
          <p:nvPr/>
        </p:nvSpPr>
        <p:spPr>
          <a:xfrm>
            <a:off x="2527300" y="4012505"/>
            <a:ext cx="28238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LLM</a:t>
            </a:r>
            <a:endParaRPr lang="en-US" sz="1200" dirty="0"/>
          </a:p>
        </p:txBody>
      </p:sp>
      <p:sp>
        <p:nvSpPr>
          <p:cNvPr id="26" name="Text 24"/>
          <p:cNvSpPr/>
          <p:nvPr/>
        </p:nvSpPr>
        <p:spPr>
          <a:xfrm>
            <a:off x="5370513" y="4012505"/>
            <a:ext cx="50482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366"/>
                </a:solidFill>
                <a:latin typeface="Noto Sans KR" pitchFamily="34" charset="0"/>
                <a:ea typeface="Noto Sans KR" pitchFamily="34" charset="-122"/>
                <a:cs typeface="Noto Sans KR" pitchFamily="34" charset="-120"/>
              </a:rPr>
              <a:t>제공사</a:t>
            </a:r>
            <a:endParaRPr lang="en-US" sz="1200" dirty="0"/>
          </a:p>
        </p:txBody>
      </p:sp>
      <p:sp>
        <p:nvSpPr>
          <p:cNvPr id="27" name="Shape 25"/>
          <p:cNvSpPr/>
          <p:nvPr/>
        </p:nvSpPr>
        <p:spPr>
          <a:xfrm>
            <a:off x="812800" y="4433590"/>
            <a:ext cx="5130800" cy="527149"/>
          </a:xfrm>
          <a:prstGeom prst="roundRect">
            <a:avLst>
              <a:gd name="adj" fmla="val 12046"/>
            </a:avLst>
          </a:prstGeom>
          <a:solidFill>
            <a:srgbClr val="DCE1EA"/>
          </a:solidFill>
          <a:ln/>
        </p:spPr>
      </p:sp>
      <p:sp>
        <p:nvSpPr>
          <p:cNvPr id="28" name="Text 26"/>
          <p:cNvSpPr/>
          <p:nvPr/>
        </p:nvSpPr>
        <p:spPr>
          <a:xfrm>
            <a:off x="965200" y="4572695"/>
            <a:ext cx="1511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366"/>
                </a:solidFill>
                <a:latin typeface="Noto Sans KR" pitchFamily="34" charset="0"/>
                <a:ea typeface="Noto Sans KR" pitchFamily="34" charset="-122"/>
                <a:cs typeface="Noto Sans KR" pitchFamily="34" charset="-120"/>
              </a:rPr>
              <a:t>인프라</a:t>
            </a:r>
            <a:endParaRPr lang="en-US" sz="1400" dirty="0"/>
          </a:p>
        </p:txBody>
      </p:sp>
      <p:sp>
        <p:nvSpPr>
          <p:cNvPr id="29" name="Text 27"/>
          <p:cNvSpPr/>
          <p:nvPr/>
        </p:nvSpPr>
        <p:spPr>
          <a:xfrm>
            <a:off x="2527300" y="4590455"/>
            <a:ext cx="28238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서버, GPU, 네트워크</a:t>
            </a:r>
            <a:endParaRPr lang="en-US" sz="1200" dirty="0"/>
          </a:p>
        </p:txBody>
      </p:sp>
      <p:sp>
        <p:nvSpPr>
          <p:cNvPr id="30" name="Text 28"/>
          <p:cNvSpPr/>
          <p:nvPr/>
        </p:nvSpPr>
        <p:spPr>
          <a:xfrm>
            <a:off x="5370513" y="4590455"/>
            <a:ext cx="50482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366"/>
                </a:solidFill>
                <a:latin typeface="Noto Sans KR" pitchFamily="34" charset="0"/>
                <a:ea typeface="Noto Sans KR" pitchFamily="34" charset="-122"/>
                <a:cs typeface="Noto Sans KR" pitchFamily="34" charset="-120"/>
              </a:rPr>
              <a:t>제공사</a:t>
            </a:r>
            <a:endParaRPr lang="en-US" sz="1200" dirty="0"/>
          </a:p>
        </p:txBody>
      </p:sp>
      <p:sp>
        <p:nvSpPr>
          <p:cNvPr id="31" name="Shape 29"/>
          <p:cNvSpPr/>
          <p:nvPr/>
        </p:nvSpPr>
        <p:spPr>
          <a:xfrm>
            <a:off x="815975" y="5065514"/>
            <a:ext cx="5124450" cy="900311"/>
          </a:xfrm>
          <a:prstGeom prst="roundRect">
            <a:avLst>
              <a:gd name="adj" fmla="val 8111"/>
            </a:avLst>
          </a:prstGeom>
          <a:solidFill>
            <a:srgbClr val="FFFFFF"/>
          </a:solidFill>
          <a:ln w="6350">
            <a:solidFill>
              <a:srgbClr val="DCE1EA"/>
            </a:solidFill>
            <a:prstDash val="solid"/>
          </a:ln>
        </p:spPr>
      </p:sp>
      <p:sp>
        <p:nvSpPr>
          <p:cNvPr id="32" name="Text 30"/>
          <p:cNvSpPr/>
          <p:nvPr/>
        </p:nvSpPr>
        <p:spPr>
          <a:xfrm>
            <a:off x="958850" y="5170289"/>
            <a:ext cx="62230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예시</a:t>
            </a:r>
            <a:endParaRPr lang="en-US" sz="1200" dirty="0"/>
          </a:p>
        </p:txBody>
      </p:sp>
      <p:sp>
        <p:nvSpPr>
          <p:cNvPr id="33" name="Text 31"/>
          <p:cNvSpPr/>
          <p:nvPr/>
        </p:nvSpPr>
        <p:spPr>
          <a:xfrm>
            <a:off x="1619250" y="5170289"/>
            <a:ext cx="430364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320"/>
                </a:solidFill>
                <a:latin typeface="Noto Sans KR" pitchFamily="34" charset="0"/>
                <a:ea typeface="Noto Sans KR" pitchFamily="34" charset="-122"/>
                <a:cs typeface="Noto Sans KR" pitchFamily="34" charset="-120"/>
              </a:rPr>
              <a:t>ChatGPT Enterprise, Claude, Microsoft 365 Copilot, Figma, Adobe Firefly</a:t>
            </a:r>
            <a:endParaRPr lang="en-US" sz="1200" dirty="0"/>
          </a:p>
        </p:txBody>
      </p:sp>
      <p:sp>
        <p:nvSpPr>
          <p:cNvPr id="34" name="Text 32"/>
          <p:cNvSpPr/>
          <p:nvPr/>
        </p:nvSpPr>
        <p:spPr>
          <a:xfrm>
            <a:off x="958850" y="5647730"/>
            <a:ext cx="622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보안</a:t>
            </a:r>
            <a:endParaRPr lang="en-US" sz="1200" dirty="0"/>
          </a:p>
        </p:txBody>
      </p:sp>
      <p:sp>
        <p:nvSpPr>
          <p:cNvPr id="35" name="Text 33"/>
          <p:cNvSpPr/>
          <p:nvPr/>
        </p:nvSpPr>
        <p:spPr>
          <a:xfrm>
            <a:off x="1619250" y="5647730"/>
            <a:ext cx="43036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320"/>
                </a:solidFill>
                <a:latin typeface="Noto Sans KR" pitchFamily="34" charset="0"/>
                <a:ea typeface="Noto Sans KR" pitchFamily="34" charset="-122"/>
                <a:cs typeface="Noto Sans KR" pitchFamily="34" charset="-120"/>
              </a:rPr>
              <a:t>설정만 바꿀 수 있음. 필터링·로그는 </a:t>
            </a:r>
            <a:r>
              <a:rPr lang="en-US" sz="1200" b="1" dirty="0">
                <a:solidFill>
                  <a:srgbClr val="C8102E"/>
                </a:solidFill>
                <a:latin typeface="Noto Sans KR" pitchFamily="34" charset="0"/>
                <a:ea typeface="Noto Sans KR" pitchFamily="34" charset="-122"/>
                <a:cs typeface="Noto Sans KR" pitchFamily="34" charset="-120"/>
              </a:rPr>
              <a:t>제공사가 기능을 줘야 가능</a:t>
            </a:r>
            <a:endParaRPr lang="en-US" sz="1200" dirty="0"/>
          </a:p>
        </p:txBody>
      </p:sp>
      <p:sp>
        <p:nvSpPr>
          <p:cNvPr id="36" name="Shape 34"/>
          <p:cNvSpPr/>
          <p:nvPr/>
        </p:nvSpPr>
        <p:spPr>
          <a:xfrm>
            <a:off x="6248400" y="1186755"/>
            <a:ext cx="5130800" cy="0"/>
          </a:xfrm>
          <a:prstGeom prst="line">
            <a:avLst/>
          </a:prstGeom>
          <a:noFill/>
          <a:ln w="31750">
            <a:solidFill>
              <a:srgbClr val="1428A0"/>
            </a:solidFill>
            <a:prstDash val="solid"/>
          </a:ln>
        </p:spPr>
      </p:sp>
      <p:sp>
        <p:nvSpPr>
          <p:cNvPr id="37" name="Text 35"/>
          <p:cNvSpPr/>
          <p:nvPr/>
        </p:nvSpPr>
        <p:spPr>
          <a:xfrm>
            <a:off x="6248400" y="1278830"/>
            <a:ext cx="779661"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8A0"/>
                </a:solidFill>
                <a:latin typeface="Noto Sans KR" pitchFamily="34" charset="0"/>
                <a:ea typeface="Noto Sans KR" pitchFamily="34" charset="-122"/>
                <a:cs typeface="Noto Sans KR" pitchFamily="34" charset="-120"/>
              </a:rPr>
              <a:t>PaaS</a:t>
            </a:r>
            <a:endParaRPr lang="en-US" sz="2200" dirty="0"/>
          </a:p>
        </p:txBody>
      </p:sp>
      <p:sp>
        <p:nvSpPr>
          <p:cNvPr id="38" name="Text 36"/>
          <p:cNvSpPr/>
          <p:nvPr/>
        </p:nvSpPr>
        <p:spPr>
          <a:xfrm>
            <a:off x="7028061" y="1418530"/>
            <a:ext cx="17801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Platform as a Service</a:t>
            </a:r>
            <a:endParaRPr lang="en-US" sz="1200" dirty="0"/>
          </a:p>
        </p:txBody>
      </p:sp>
      <p:sp>
        <p:nvSpPr>
          <p:cNvPr id="39" name="Text 37"/>
          <p:cNvSpPr/>
          <p:nvPr/>
        </p:nvSpPr>
        <p:spPr>
          <a:xfrm>
            <a:off x="6248400" y="1771551"/>
            <a:ext cx="528472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E1320"/>
                </a:solidFill>
                <a:latin typeface="Noto Sans KR" pitchFamily="34" charset="0"/>
                <a:ea typeface="Noto Sans KR" pitchFamily="34" charset="-122"/>
                <a:cs typeface="Noto Sans KR" pitchFamily="34" charset="-120"/>
              </a:rPr>
              <a:t>제공사의 모델·플랫폼 위에 우리 서비스를 직접 개발</a:t>
            </a:r>
            <a:endParaRPr lang="en-US" sz="1400" dirty="0"/>
          </a:p>
        </p:txBody>
      </p:sp>
      <p:sp>
        <p:nvSpPr>
          <p:cNvPr id="40" name="Shape 38"/>
          <p:cNvSpPr/>
          <p:nvPr/>
        </p:nvSpPr>
        <p:spPr>
          <a:xfrm>
            <a:off x="6248400" y="2121991"/>
            <a:ext cx="5130800" cy="527050"/>
          </a:xfrm>
          <a:prstGeom prst="roundRect">
            <a:avLst>
              <a:gd name="adj" fmla="val 12048"/>
            </a:avLst>
          </a:prstGeom>
          <a:solidFill>
            <a:srgbClr val="1428A0"/>
          </a:solidFill>
          <a:ln/>
        </p:spPr>
      </p:sp>
      <p:sp>
        <p:nvSpPr>
          <p:cNvPr id="41" name="Text 39"/>
          <p:cNvSpPr/>
          <p:nvPr/>
        </p:nvSpPr>
        <p:spPr>
          <a:xfrm>
            <a:off x="6400800" y="2261096"/>
            <a:ext cx="1511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Noto Sans KR" pitchFamily="34" charset="0"/>
                <a:ea typeface="Noto Sans KR" pitchFamily="34" charset="-122"/>
                <a:cs typeface="Noto Sans KR" pitchFamily="34" charset="-120"/>
              </a:rPr>
              <a:t>사용자·계정 설정</a:t>
            </a:r>
            <a:endParaRPr lang="en-US" sz="1400" dirty="0"/>
          </a:p>
        </p:txBody>
      </p:sp>
      <p:sp>
        <p:nvSpPr>
          <p:cNvPr id="42" name="Text 40"/>
          <p:cNvSpPr/>
          <p:nvPr/>
        </p:nvSpPr>
        <p:spPr>
          <a:xfrm>
            <a:off x="7962900" y="2278856"/>
            <a:ext cx="29682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F5"/>
                </a:solidFill>
                <a:latin typeface="Noto Sans KR" pitchFamily="34" charset="0"/>
                <a:ea typeface="Noto Sans KR" pitchFamily="34" charset="-122"/>
                <a:cs typeface="Noto Sans KR" pitchFamily="34" charset="-120"/>
              </a:rPr>
              <a:t>권한, SSO, 관리자 옵션</a:t>
            </a:r>
            <a:endParaRPr lang="en-US" sz="1200" dirty="0"/>
          </a:p>
        </p:txBody>
      </p:sp>
      <p:sp>
        <p:nvSpPr>
          <p:cNvPr id="43" name="Text 41"/>
          <p:cNvSpPr/>
          <p:nvPr/>
        </p:nvSpPr>
        <p:spPr>
          <a:xfrm>
            <a:off x="10946309" y="2278856"/>
            <a:ext cx="33659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회사</a:t>
            </a:r>
            <a:endParaRPr lang="en-US" sz="1200" dirty="0"/>
          </a:p>
        </p:txBody>
      </p:sp>
      <p:sp>
        <p:nvSpPr>
          <p:cNvPr id="44" name="Shape 42"/>
          <p:cNvSpPr/>
          <p:nvPr/>
        </p:nvSpPr>
        <p:spPr>
          <a:xfrm>
            <a:off x="6248400" y="2699841"/>
            <a:ext cx="5130800" cy="527149"/>
          </a:xfrm>
          <a:prstGeom prst="roundRect">
            <a:avLst>
              <a:gd name="adj" fmla="val 12046"/>
            </a:avLst>
          </a:prstGeom>
          <a:solidFill>
            <a:srgbClr val="1428A0"/>
          </a:solidFill>
          <a:ln/>
        </p:spPr>
      </p:sp>
      <p:sp>
        <p:nvSpPr>
          <p:cNvPr id="45" name="Text 43"/>
          <p:cNvSpPr/>
          <p:nvPr/>
        </p:nvSpPr>
        <p:spPr>
          <a:xfrm>
            <a:off x="6400800" y="2838946"/>
            <a:ext cx="1511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Noto Sans KR" pitchFamily="34" charset="0"/>
                <a:ea typeface="Noto Sans KR" pitchFamily="34" charset="-122"/>
                <a:cs typeface="Noto Sans KR" pitchFamily="34" charset="-120"/>
              </a:rPr>
              <a:t>애플리케이션</a:t>
            </a:r>
            <a:endParaRPr lang="en-US" sz="1400" dirty="0"/>
          </a:p>
        </p:txBody>
      </p:sp>
      <p:sp>
        <p:nvSpPr>
          <p:cNvPr id="46" name="Text 44"/>
          <p:cNvSpPr/>
          <p:nvPr/>
        </p:nvSpPr>
        <p:spPr>
          <a:xfrm>
            <a:off x="7962900" y="2856706"/>
            <a:ext cx="29682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F5"/>
                </a:solidFill>
                <a:latin typeface="Noto Sans KR" pitchFamily="34" charset="0"/>
                <a:ea typeface="Noto Sans KR" pitchFamily="34" charset="-122"/>
                <a:cs typeface="Noto Sans KR" pitchFamily="34" charset="-120"/>
              </a:rPr>
              <a:t>챗봇 화면·기능</a:t>
            </a:r>
            <a:endParaRPr lang="en-US" sz="1200" dirty="0"/>
          </a:p>
        </p:txBody>
      </p:sp>
      <p:sp>
        <p:nvSpPr>
          <p:cNvPr id="47" name="Text 45"/>
          <p:cNvSpPr/>
          <p:nvPr/>
        </p:nvSpPr>
        <p:spPr>
          <a:xfrm>
            <a:off x="10946309" y="2856706"/>
            <a:ext cx="33659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회사</a:t>
            </a:r>
            <a:endParaRPr lang="en-US" sz="1200" dirty="0"/>
          </a:p>
        </p:txBody>
      </p:sp>
      <p:sp>
        <p:nvSpPr>
          <p:cNvPr id="48" name="Shape 46"/>
          <p:cNvSpPr/>
          <p:nvPr/>
        </p:nvSpPr>
        <p:spPr>
          <a:xfrm>
            <a:off x="6248400" y="3277791"/>
            <a:ext cx="5130800" cy="527050"/>
          </a:xfrm>
          <a:prstGeom prst="roundRect">
            <a:avLst>
              <a:gd name="adj" fmla="val 12048"/>
            </a:avLst>
          </a:prstGeom>
          <a:solidFill>
            <a:srgbClr val="1428A0"/>
          </a:solidFill>
          <a:ln/>
        </p:spPr>
      </p:sp>
      <p:sp>
        <p:nvSpPr>
          <p:cNvPr id="49" name="Text 47"/>
          <p:cNvSpPr/>
          <p:nvPr/>
        </p:nvSpPr>
        <p:spPr>
          <a:xfrm>
            <a:off x="6400800" y="3416895"/>
            <a:ext cx="1511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Noto Sans KR" pitchFamily="34" charset="0"/>
                <a:ea typeface="Noto Sans KR" pitchFamily="34" charset="-122"/>
                <a:cs typeface="Noto Sans KR" pitchFamily="34" charset="-120"/>
              </a:rPr>
              <a:t>데이터 처리</a:t>
            </a:r>
            <a:endParaRPr lang="en-US" sz="1400" dirty="0"/>
          </a:p>
        </p:txBody>
      </p:sp>
      <p:sp>
        <p:nvSpPr>
          <p:cNvPr id="50" name="Text 48"/>
          <p:cNvSpPr/>
          <p:nvPr/>
        </p:nvSpPr>
        <p:spPr>
          <a:xfrm>
            <a:off x="7962900" y="3434655"/>
            <a:ext cx="29682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F5"/>
                </a:solidFill>
                <a:latin typeface="Noto Sans KR" pitchFamily="34" charset="0"/>
                <a:ea typeface="Noto Sans KR" pitchFamily="34" charset="-122"/>
                <a:cs typeface="Noto Sans KR" pitchFamily="34" charset="-120"/>
              </a:rPr>
              <a:t>프롬프트, RAG, 로그</a:t>
            </a:r>
            <a:endParaRPr lang="en-US" sz="1200" dirty="0"/>
          </a:p>
        </p:txBody>
      </p:sp>
      <p:sp>
        <p:nvSpPr>
          <p:cNvPr id="51" name="Text 49"/>
          <p:cNvSpPr/>
          <p:nvPr/>
        </p:nvSpPr>
        <p:spPr>
          <a:xfrm>
            <a:off x="10946309" y="3434655"/>
            <a:ext cx="33659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회사</a:t>
            </a:r>
            <a:endParaRPr lang="en-US" sz="1200" dirty="0"/>
          </a:p>
        </p:txBody>
      </p:sp>
      <p:sp>
        <p:nvSpPr>
          <p:cNvPr id="52" name="Shape 50"/>
          <p:cNvSpPr/>
          <p:nvPr/>
        </p:nvSpPr>
        <p:spPr>
          <a:xfrm>
            <a:off x="6248400" y="3855641"/>
            <a:ext cx="5130800" cy="527149"/>
          </a:xfrm>
          <a:prstGeom prst="roundRect">
            <a:avLst>
              <a:gd name="adj" fmla="val 12046"/>
            </a:avLst>
          </a:prstGeom>
          <a:solidFill>
            <a:srgbClr val="DCE1EA"/>
          </a:solidFill>
          <a:ln/>
        </p:spPr>
      </p:sp>
      <p:sp>
        <p:nvSpPr>
          <p:cNvPr id="53" name="Text 51"/>
          <p:cNvSpPr/>
          <p:nvPr/>
        </p:nvSpPr>
        <p:spPr>
          <a:xfrm>
            <a:off x="6400800" y="3994745"/>
            <a:ext cx="1511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366"/>
                </a:solidFill>
                <a:latin typeface="Noto Sans KR" pitchFamily="34" charset="0"/>
                <a:ea typeface="Noto Sans KR" pitchFamily="34" charset="-122"/>
                <a:cs typeface="Noto Sans KR" pitchFamily="34" charset="-120"/>
              </a:rPr>
              <a:t>AI 모델</a:t>
            </a:r>
            <a:endParaRPr lang="en-US" sz="1400" dirty="0"/>
          </a:p>
        </p:txBody>
      </p:sp>
      <p:sp>
        <p:nvSpPr>
          <p:cNvPr id="54" name="Text 52"/>
          <p:cNvSpPr/>
          <p:nvPr/>
        </p:nvSpPr>
        <p:spPr>
          <a:xfrm>
            <a:off x="7962900" y="4012505"/>
            <a:ext cx="28238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LLM</a:t>
            </a:r>
            <a:endParaRPr lang="en-US" sz="1200" dirty="0"/>
          </a:p>
        </p:txBody>
      </p:sp>
      <p:sp>
        <p:nvSpPr>
          <p:cNvPr id="55" name="Text 53"/>
          <p:cNvSpPr/>
          <p:nvPr/>
        </p:nvSpPr>
        <p:spPr>
          <a:xfrm>
            <a:off x="10806113" y="4012505"/>
            <a:ext cx="50482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366"/>
                </a:solidFill>
                <a:latin typeface="Noto Sans KR" pitchFamily="34" charset="0"/>
                <a:ea typeface="Noto Sans KR" pitchFamily="34" charset="-122"/>
                <a:cs typeface="Noto Sans KR" pitchFamily="34" charset="-120"/>
              </a:rPr>
              <a:t>제공사</a:t>
            </a:r>
            <a:endParaRPr lang="en-US" sz="1200" dirty="0"/>
          </a:p>
        </p:txBody>
      </p:sp>
      <p:sp>
        <p:nvSpPr>
          <p:cNvPr id="56" name="Shape 54"/>
          <p:cNvSpPr/>
          <p:nvPr/>
        </p:nvSpPr>
        <p:spPr>
          <a:xfrm>
            <a:off x="6248400" y="4433590"/>
            <a:ext cx="5130800" cy="527149"/>
          </a:xfrm>
          <a:prstGeom prst="roundRect">
            <a:avLst>
              <a:gd name="adj" fmla="val 12046"/>
            </a:avLst>
          </a:prstGeom>
          <a:solidFill>
            <a:srgbClr val="DCE1EA"/>
          </a:solidFill>
          <a:ln/>
        </p:spPr>
      </p:sp>
      <p:sp>
        <p:nvSpPr>
          <p:cNvPr id="57" name="Text 55"/>
          <p:cNvSpPr/>
          <p:nvPr/>
        </p:nvSpPr>
        <p:spPr>
          <a:xfrm>
            <a:off x="6400800" y="4572695"/>
            <a:ext cx="1511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366"/>
                </a:solidFill>
                <a:latin typeface="Noto Sans KR" pitchFamily="34" charset="0"/>
                <a:ea typeface="Noto Sans KR" pitchFamily="34" charset="-122"/>
                <a:cs typeface="Noto Sans KR" pitchFamily="34" charset="-120"/>
              </a:rPr>
              <a:t>인프라</a:t>
            </a:r>
            <a:endParaRPr lang="en-US" sz="1400" dirty="0"/>
          </a:p>
        </p:txBody>
      </p:sp>
      <p:sp>
        <p:nvSpPr>
          <p:cNvPr id="58" name="Text 56"/>
          <p:cNvSpPr/>
          <p:nvPr/>
        </p:nvSpPr>
        <p:spPr>
          <a:xfrm>
            <a:off x="7962900" y="4590455"/>
            <a:ext cx="28238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서버, GPU, 네트워크</a:t>
            </a:r>
            <a:endParaRPr lang="en-US" sz="1200" dirty="0"/>
          </a:p>
        </p:txBody>
      </p:sp>
      <p:sp>
        <p:nvSpPr>
          <p:cNvPr id="59" name="Text 57"/>
          <p:cNvSpPr/>
          <p:nvPr/>
        </p:nvSpPr>
        <p:spPr>
          <a:xfrm>
            <a:off x="10806113" y="4590455"/>
            <a:ext cx="50482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366"/>
                </a:solidFill>
                <a:latin typeface="Noto Sans KR" pitchFamily="34" charset="0"/>
                <a:ea typeface="Noto Sans KR" pitchFamily="34" charset="-122"/>
                <a:cs typeface="Noto Sans KR" pitchFamily="34" charset="-120"/>
              </a:rPr>
              <a:t>제공사</a:t>
            </a:r>
            <a:endParaRPr lang="en-US" sz="1200" dirty="0"/>
          </a:p>
        </p:txBody>
      </p:sp>
      <p:sp>
        <p:nvSpPr>
          <p:cNvPr id="60" name="Shape 58"/>
          <p:cNvSpPr/>
          <p:nvPr/>
        </p:nvSpPr>
        <p:spPr>
          <a:xfrm>
            <a:off x="6251575" y="5065514"/>
            <a:ext cx="5124450" cy="900311"/>
          </a:xfrm>
          <a:prstGeom prst="roundRect">
            <a:avLst>
              <a:gd name="adj" fmla="val 8111"/>
            </a:avLst>
          </a:prstGeom>
          <a:solidFill>
            <a:srgbClr val="FFFFFF"/>
          </a:solidFill>
          <a:ln w="6350">
            <a:solidFill>
              <a:srgbClr val="DCE1EA"/>
            </a:solidFill>
            <a:prstDash val="solid"/>
          </a:ln>
        </p:spPr>
      </p:sp>
      <p:sp>
        <p:nvSpPr>
          <p:cNvPr id="61" name="Text 59"/>
          <p:cNvSpPr/>
          <p:nvPr/>
        </p:nvSpPr>
        <p:spPr>
          <a:xfrm>
            <a:off x="6394450" y="5170289"/>
            <a:ext cx="62230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예시</a:t>
            </a:r>
            <a:endParaRPr lang="en-US" sz="1200" dirty="0"/>
          </a:p>
        </p:txBody>
      </p:sp>
      <p:sp>
        <p:nvSpPr>
          <p:cNvPr id="62" name="Text 60"/>
          <p:cNvSpPr/>
          <p:nvPr/>
        </p:nvSpPr>
        <p:spPr>
          <a:xfrm>
            <a:off x="7054850" y="5170289"/>
            <a:ext cx="430364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320"/>
                </a:solidFill>
                <a:latin typeface="Noto Sans KR" pitchFamily="34" charset="0"/>
                <a:ea typeface="Noto Sans KR" pitchFamily="34" charset="-122"/>
                <a:cs typeface="Noto Sans KR" pitchFamily="34" charset="-120"/>
              </a:rPr>
              <a:t>Amazon Bedrock, Microsoft Foundry, Google Cloud 위에서 만든 사내 챗봇</a:t>
            </a:r>
            <a:endParaRPr lang="en-US" sz="1200" dirty="0"/>
          </a:p>
        </p:txBody>
      </p:sp>
      <p:sp>
        <p:nvSpPr>
          <p:cNvPr id="63" name="Text 61"/>
          <p:cNvSpPr/>
          <p:nvPr/>
        </p:nvSpPr>
        <p:spPr>
          <a:xfrm>
            <a:off x="6394450" y="5647730"/>
            <a:ext cx="622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보안</a:t>
            </a:r>
            <a:endParaRPr lang="en-US" sz="1200" dirty="0"/>
          </a:p>
        </p:txBody>
      </p:sp>
      <p:sp>
        <p:nvSpPr>
          <p:cNvPr id="64" name="Text 62"/>
          <p:cNvSpPr/>
          <p:nvPr/>
        </p:nvSpPr>
        <p:spPr>
          <a:xfrm>
            <a:off x="7054850" y="5647730"/>
            <a:ext cx="43036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320"/>
                </a:solidFill>
                <a:latin typeface="Noto Sans KR" pitchFamily="34" charset="0"/>
                <a:ea typeface="Noto Sans KR" pitchFamily="34" charset="-122"/>
                <a:cs typeface="Noto Sans KR" pitchFamily="34" charset="-120"/>
              </a:rPr>
              <a:t>필터링·로그를 </a:t>
            </a:r>
            <a:r>
              <a:rPr lang="en-US" sz="1200" b="1" dirty="0">
                <a:solidFill>
                  <a:srgbClr val="1428A0"/>
                </a:solidFill>
                <a:latin typeface="Noto Sans KR" pitchFamily="34" charset="0"/>
                <a:ea typeface="Noto Sans KR" pitchFamily="34" charset="-122"/>
                <a:cs typeface="Noto Sans KR" pitchFamily="34" charset="-120"/>
              </a:rPr>
              <a:t>직접 구현 가능</a:t>
            </a:r>
            <a:r>
              <a:rPr lang="en-US" sz="1200" dirty="0">
                <a:solidFill>
                  <a:srgbClr val="0E1320"/>
                </a:solidFill>
                <a:latin typeface="Noto Sans KR" pitchFamily="34" charset="0"/>
                <a:ea typeface="Noto Sans KR" pitchFamily="34" charset="-122"/>
                <a:cs typeface="Noto Sans KR" pitchFamily="34" charset="-120"/>
              </a:rPr>
              <a:t>. 대신 구현 책임도 회사</a:t>
            </a:r>
            <a:endParaRPr lang="en-US" sz="1200" dirty="0"/>
          </a:p>
        </p:txBody>
      </p:sp>
      <p:sp>
        <p:nvSpPr>
          <p:cNvPr id="65" name="Text 63"/>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A"/>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0E1320"/>
                </a:solidFill>
                <a:latin typeface="Noto Sans KR" pitchFamily="34" charset="0"/>
                <a:ea typeface="Noto Sans KR" pitchFamily="34" charset="-122"/>
                <a:cs typeface="Noto Sans KR" pitchFamily="34" charset="-120"/>
              </a:rPr>
              <a:t>예시: Claude 앱(SaaS)과 Claude API(PaaS)</a:t>
            </a:r>
            <a:endParaRPr lang="en-US" sz="2800" dirty="0"/>
          </a:p>
        </p:txBody>
      </p:sp>
      <p:sp>
        <p:nvSpPr>
          <p:cNvPr id="3" name="Shape 1"/>
          <p:cNvSpPr/>
          <p:nvPr/>
        </p:nvSpPr>
        <p:spPr>
          <a:xfrm>
            <a:off x="815975" y="1174055"/>
            <a:ext cx="5175250" cy="4791770"/>
          </a:xfrm>
          <a:prstGeom prst="roundRect">
            <a:avLst>
              <a:gd name="adj" fmla="val 1789"/>
            </a:avLst>
          </a:prstGeom>
          <a:solidFill>
            <a:srgbClr val="FFFFFF"/>
          </a:solidFill>
          <a:ln w="6350">
            <a:solidFill>
              <a:srgbClr val="DCE1EA"/>
            </a:solidFill>
            <a:prstDash val="solid"/>
          </a:ln>
        </p:spPr>
      </p:sp>
      <p:sp>
        <p:nvSpPr>
          <p:cNvPr id="4" name="Text 2"/>
          <p:cNvSpPr/>
          <p:nvPr/>
        </p:nvSpPr>
        <p:spPr>
          <a:xfrm>
            <a:off x="971550" y="1305520"/>
            <a:ext cx="579041" cy="281880"/>
          </a:xfrm>
          <a:prstGeom prst="roundRect">
            <a:avLst>
              <a:gd name="adj" fmla="val 18022"/>
            </a:avLst>
          </a:prstGeom>
          <a:solidFill>
            <a:srgbClr val="1428A0"/>
          </a:solidFill>
          <a:ln/>
        </p:spPr>
        <p:txBody>
          <a:bodyPr wrap="none" lIns="0" tIns="0" rIns="0" bIns="0" rtlCol="0" anchor="ctr">
            <a:normAutofit/>
          </a:bodyPr>
          <a:lstStyle/>
          <a:p>
            <a:pPr algn="ctr" indent="0" marL="0">
              <a:lnSpc>
                <a:spcPts val="1820"/>
              </a:lnSpc>
              <a:buNone/>
            </a:pPr>
            <a:r>
              <a:rPr lang="en-US" sz="1300" b="1" dirty="0">
                <a:solidFill>
                  <a:srgbClr val="FFFFFF"/>
                </a:solidFill>
                <a:latin typeface="Noto Sans KR" pitchFamily="34" charset="0"/>
                <a:ea typeface="Noto Sans KR" pitchFamily="34" charset="-122"/>
                <a:cs typeface="Noto Sans KR" pitchFamily="34" charset="-120"/>
              </a:rPr>
              <a:t>SaaS</a:t>
            </a:r>
            <a:endParaRPr lang="en-US" sz="1300" dirty="0"/>
          </a:p>
        </p:txBody>
      </p:sp>
      <p:sp>
        <p:nvSpPr>
          <p:cNvPr id="5" name="Text 3"/>
          <p:cNvSpPr/>
          <p:nvPr/>
        </p:nvSpPr>
        <p:spPr>
          <a:xfrm>
            <a:off x="1639491" y="1304230"/>
            <a:ext cx="352401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E1320"/>
                </a:solidFill>
                <a:latin typeface="Noto Sans KR" pitchFamily="34" charset="0"/>
                <a:ea typeface="Noto Sans KR" pitchFamily="34" charset="-122"/>
                <a:cs typeface="Noto Sans KR" pitchFamily="34" charset="-120"/>
              </a:rPr>
              <a:t>Claude 데스크톱 앱을 그대로 사용</a:t>
            </a:r>
            <a:endParaRPr lang="en-US" sz="1600" dirty="0"/>
          </a:p>
        </p:txBody>
      </p:sp>
      <p:sp>
        <p:nvSpPr>
          <p:cNvPr id="6" name="Shape 4"/>
          <p:cNvSpPr/>
          <p:nvPr/>
        </p:nvSpPr>
        <p:spPr>
          <a:xfrm>
            <a:off x="971550" y="1677591"/>
            <a:ext cx="4864100" cy="3586559"/>
          </a:xfrm>
          <a:prstGeom prst="roundRect">
            <a:avLst>
              <a:gd name="adj" fmla="val 2125"/>
            </a:avLst>
          </a:prstGeom>
          <a:solidFill>
            <a:srgbClr val="E9EDF5"/>
          </a:solidFill>
          <a:ln/>
        </p:spPr>
      </p:sp>
      <p:pic>
        <p:nvPicPr>
          <p:cNvPr id="7" name="Image 0" descr="Claude 데스크톱 앱 대화 화면. 1: 질문과 답변 영역, 2: 모델 선택">    </p:cNvPr>
          <p:cNvPicPr>
            <a:picLocks noChangeAspect="1"/>
          </p:cNvPicPr>
          <p:nvPr/>
        </p:nvPicPr>
        <p:blipFill>
          <a:blip r:embed="rId1"/>
          <a:srcRect l="-1" r="-1" t="0" b="0"/>
          <a:stretch/>
        </p:blipFill>
        <p:spPr>
          <a:xfrm>
            <a:off x="971550" y="1805186"/>
            <a:ext cx="4864100" cy="3331369"/>
          </a:xfrm>
          <a:prstGeom prst="rect">
            <a:avLst/>
          </a:prstGeom>
        </p:spPr>
      </p:pic>
      <p:sp>
        <p:nvSpPr>
          <p:cNvPr id="8" name="Text 5"/>
          <p:cNvSpPr/>
          <p:nvPr/>
        </p:nvSpPr>
        <p:spPr>
          <a:xfrm>
            <a:off x="971550" y="5353050"/>
            <a:ext cx="215900" cy="215900"/>
          </a:xfrm>
          <a:custGeom>
            <a:avLst/>
            <a:gdLst/>
            <a:ahLst/>
            <a:cxnLst/>
            <a:rect l="l" t="t" r="r" b="b"/>
            <a:pathLst>
              <a:path w="215900" h="215900">
                <a:moveTo>
                  <a:pt x="25400" y="0"/>
                </a:moveTo>
                <a:lnTo>
                  <a:pt x="190500" y="0"/>
                </a:lnTo>
                <a:arcTo hR="25400" wR="25400" stAng="16200000" swAng="5400000"/>
                <a:lnTo>
                  <a:pt x="215900" y="190500"/>
                </a:lnTo>
                <a:arcTo hR="25400" wR="25400" stAng="0" swAng="5400000"/>
                <a:lnTo>
                  <a:pt x="25400" y="215900"/>
                </a:lnTo>
                <a:arcTo hR="25400" wR="25400" stAng="5400000" swAng="5400000"/>
                <a:lnTo>
                  <a:pt x="0" y="25400"/>
                </a:lnTo>
                <a:arcTo hR="25400" wR="25400" stAng="10800000" swAng="5400000"/>
                <a:close/>
              </a:path>
            </a:pathLst>
          </a:custGeom>
          <a:solidFill>
            <a:srgbClr val="E00000"/>
          </a:solid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1</a:t>
            </a:r>
            <a:endParaRPr lang="en-US" sz="1200" dirty="0"/>
          </a:p>
        </p:txBody>
      </p:sp>
      <p:sp>
        <p:nvSpPr>
          <p:cNvPr id="9" name="Text 6"/>
          <p:cNvSpPr/>
          <p:nvPr/>
        </p:nvSpPr>
        <p:spPr>
          <a:xfrm>
            <a:off x="1263650" y="5353050"/>
            <a:ext cx="4709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320"/>
                </a:solidFill>
                <a:latin typeface="Noto Sans KR" pitchFamily="34" charset="0"/>
                <a:ea typeface="Noto Sans KR" pitchFamily="34" charset="-122"/>
                <a:cs typeface="Noto Sans KR" pitchFamily="34" charset="-120"/>
              </a:rPr>
              <a:t>제공사 앱에서 바로 질문 · 질의·답변은 제공사 서버에 저장</a:t>
            </a:r>
            <a:endParaRPr lang="en-US" sz="1200" dirty="0"/>
          </a:p>
        </p:txBody>
      </p:sp>
      <p:sp>
        <p:nvSpPr>
          <p:cNvPr id="10" name="Text 7"/>
          <p:cNvSpPr/>
          <p:nvPr/>
        </p:nvSpPr>
        <p:spPr>
          <a:xfrm>
            <a:off x="971550" y="5619750"/>
            <a:ext cx="215900" cy="215900"/>
          </a:xfrm>
          <a:custGeom>
            <a:avLst/>
            <a:gdLst/>
            <a:ahLst/>
            <a:cxnLst/>
            <a:rect l="l" t="t" r="r" b="b"/>
            <a:pathLst>
              <a:path w="215900" h="215900">
                <a:moveTo>
                  <a:pt x="25400" y="0"/>
                </a:moveTo>
                <a:lnTo>
                  <a:pt x="190500" y="0"/>
                </a:lnTo>
                <a:arcTo hR="25400" wR="25400" stAng="16200000" swAng="5400000"/>
                <a:lnTo>
                  <a:pt x="215900" y="190500"/>
                </a:lnTo>
                <a:arcTo hR="25400" wR="25400" stAng="0" swAng="5400000"/>
                <a:lnTo>
                  <a:pt x="25400" y="215900"/>
                </a:lnTo>
                <a:arcTo hR="25400" wR="25400" stAng="5400000" swAng="5400000"/>
                <a:lnTo>
                  <a:pt x="0" y="25400"/>
                </a:lnTo>
                <a:arcTo hR="25400" wR="25400" stAng="10800000" swAng="5400000"/>
                <a:close/>
              </a:path>
            </a:pathLst>
          </a:custGeom>
          <a:solidFill>
            <a:srgbClr val="E00000"/>
          </a:solid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2</a:t>
            </a:r>
            <a:endParaRPr lang="en-US" sz="1200" dirty="0"/>
          </a:p>
        </p:txBody>
      </p:sp>
      <p:sp>
        <p:nvSpPr>
          <p:cNvPr id="11" name="Text 8"/>
          <p:cNvSpPr/>
          <p:nvPr/>
        </p:nvSpPr>
        <p:spPr>
          <a:xfrm>
            <a:off x="1263650" y="5619750"/>
            <a:ext cx="4709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320"/>
                </a:solidFill>
                <a:latin typeface="Noto Sans KR" pitchFamily="34" charset="0"/>
                <a:ea typeface="Noto Sans KR" pitchFamily="34" charset="-122"/>
                <a:cs typeface="Noto Sans KR" pitchFamily="34" charset="-120"/>
              </a:rPr>
              <a:t>화면·기능·모델은 제공사가 정함 · 회사는 관리자 설정만 가능</a:t>
            </a:r>
            <a:endParaRPr lang="en-US" sz="1200" dirty="0"/>
          </a:p>
        </p:txBody>
      </p:sp>
      <p:sp>
        <p:nvSpPr>
          <p:cNvPr id="12" name="Shape 9"/>
          <p:cNvSpPr/>
          <p:nvPr/>
        </p:nvSpPr>
        <p:spPr>
          <a:xfrm>
            <a:off x="6200775" y="1174055"/>
            <a:ext cx="5175250" cy="4791770"/>
          </a:xfrm>
          <a:prstGeom prst="roundRect">
            <a:avLst>
              <a:gd name="adj" fmla="val 1789"/>
            </a:avLst>
          </a:prstGeom>
          <a:solidFill>
            <a:srgbClr val="FFFFFF"/>
          </a:solidFill>
          <a:ln w="6350">
            <a:solidFill>
              <a:srgbClr val="DCE1EA"/>
            </a:solidFill>
            <a:prstDash val="solid"/>
          </a:ln>
        </p:spPr>
      </p:sp>
      <p:sp>
        <p:nvSpPr>
          <p:cNvPr id="13" name="Text 10"/>
          <p:cNvSpPr/>
          <p:nvPr/>
        </p:nvSpPr>
        <p:spPr>
          <a:xfrm>
            <a:off x="6356350" y="1305520"/>
            <a:ext cx="578445" cy="281880"/>
          </a:xfrm>
          <a:prstGeom prst="roundRect">
            <a:avLst>
              <a:gd name="adj" fmla="val 18022"/>
            </a:avLst>
          </a:prstGeom>
          <a:solidFill>
            <a:srgbClr val="1428A0"/>
          </a:solidFill>
          <a:ln/>
        </p:spPr>
        <p:txBody>
          <a:bodyPr wrap="none" lIns="0" tIns="0" rIns="0" bIns="0" rtlCol="0" anchor="ctr">
            <a:normAutofit/>
          </a:bodyPr>
          <a:lstStyle/>
          <a:p>
            <a:pPr algn="ctr" indent="0" marL="0">
              <a:lnSpc>
                <a:spcPts val="1820"/>
              </a:lnSpc>
              <a:buNone/>
            </a:pPr>
            <a:r>
              <a:rPr lang="en-US" sz="1300" b="1" dirty="0">
                <a:solidFill>
                  <a:srgbClr val="FFFFFF"/>
                </a:solidFill>
                <a:latin typeface="Noto Sans KR" pitchFamily="34" charset="0"/>
                <a:ea typeface="Noto Sans KR" pitchFamily="34" charset="-122"/>
                <a:cs typeface="Noto Sans KR" pitchFamily="34" charset="-120"/>
              </a:rPr>
              <a:t>PaaS</a:t>
            </a:r>
            <a:endParaRPr lang="en-US" sz="1300" dirty="0"/>
          </a:p>
        </p:txBody>
      </p:sp>
      <p:sp>
        <p:nvSpPr>
          <p:cNvPr id="14" name="Text 11"/>
          <p:cNvSpPr/>
          <p:nvPr/>
        </p:nvSpPr>
        <p:spPr>
          <a:xfrm>
            <a:off x="7023695" y="1304230"/>
            <a:ext cx="3530084"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E1320"/>
                </a:solidFill>
                <a:latin typeface="Noto Sans KR" pitchFamily="34" charset="0"/>
                <a:ea typeface="Noto Sans KR" pitchFamily="34" charset="-122"/>
                <a:cs typeface="Noto Sans KR" pitchFamily="34" charset="-120"/>
              </a:rPr>
              <a:t>Claude API로 사내 챗봇 직접 개발</a:t>
            </a:r>
            <a:endParaRPr lang="en-US" sz="1600" dirty="0"/>
          </a:p>
        </p:txBody>
      </p:sp>
      <p:sp>
        <p:nvSpPr>
          <p:cNvPr id="15" name="Shape 12"/>
          <p:cNvSpPr/>
          <p:nvPr/>
        </p:nvSpPr>
        <p:spPr>
          <a:xfrm>
            <a:off x="6356350" y="1677591"/>
            <a:ext cx="4864100" cy="3319859"/>
          </a:xfrm>
          <a:prstGeom prst="roundRect">
            <a:avLst>
              <a:gd name="adj" fmla="val 2295"/>
            </a:avLst>
          </a:prstGeom>
          <a:solidFill>
            <a:srgbClr val="E9EDF5"/>
          </a:solidFill>
          <a:ln/>
        </p:spPr>
      </p:sp>
      <p:pic>
        <p:nvPicPr>
          <p:cNvPr id="16" name="Image 1" descr="Claude API로 만든 사내 헬프데스크 웹페이지와 서버 코드 예시. 1: 회사 도메인, 2: 사내 DLP 마스킹 안내, 3: API 호출과 로그 저장 코드">    </p:cNvPr>
          <p:cNvPicPr>
            <a:picLocks noChangeAspect="1"/>
          </p:cNvPicPr>
          <p:nvPr/>
        </p:nvPicPr>
        <p:blipFill>
          <a:blip r:embed="rId2"/>
          <a:srcRect l="0" r="0" t="0" b="0"/>
          <a:stretch/>
        </p:blipFill>
        <p:spPr>
          <a:xfrm>
            <a:off x="6356350" y="1817489"/>
            <a:ext cx="4864100" cy="3040063"/>
          </a:xfrm>
          <a:prstGeom prst="rect">
            <a:avLst/>
          </a:prstGeom>
        </p:spPr>
      </p:pic>
      <p:sp>
        <p:nvSpPr>
          <p:cNvPr id="17" name="Text 13"/>
          <p:cNvSpPr/>
          <p:nvPr/>
        </p:nvSpPr>
        <p:spPr>
          <a:xfrm>
            <a:off x="6356350" y="5086350"/>
            <a:ext cx="215900" cy="215900"/>
          </a:xfrm>
          <a:custGeom>
            <a:avLst/>
            <a:gdLst/>
            <a:ahLst/>
            <a:cxnLst/>
            <a:rect l="l" t="t" r="r" b="b"/>
            <a:pathLst>
              <a:path w="215900" h="215900">
                <a:moveTo>
                  <a:pt x="25400" y="0"/>
                </a:moveTo>
                <a:lnTo>
                  <a:pt x="190500" y="0"/>
                </a:lnTo>
                <a:arcTo hR="25400" wR="25400" stAng="16200000" swAng="5400000"/>
                <a:lnTo>
                  <a:pt x="215900" y="190500"/>
                </a:lnTo>
                <a:arcTo hR="25400" wR="25400" stAng="0" swAng="5400000"/>
                <a:lnTo>
                  <a:pt x="25400" y="215900"/>
                </a:lnTo>
                <a:arcTo hR="25400" wR="25400" stAng="5400000" swAng="5400000"/>
                <a:lnTo>
                  <a:pt x="0" y="25400"/>
                </a:lnTo>
                <a:arcTo hR="25400" wR="25400" stAng="10800000" swAng="5400000"/>
                <a:close/>
              </a:path>
            </a:pathLst>
          </a:custGeom>
          <a:solidFill>
            <a:srgbClr val="E00000"/>
          </a:solid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1</a:t>
            </a:r>
            <a:endParaRPr lang="en-US" sz="1200" dirty="0"/>
          </a:p>
        </p:txBody>
      </p:sp>
      <p:sp>
        <p:nvSpPr>
          <p:cNvPr id="18" name="Text 14"/>
          <p:cNvSpPr/>
          <p:nvPr/>
        </p:nvSpPr>
        <p:spPr>
          <a:xfrm>
            <a:off x="6648450" y="5086350"/>
            <a:ext cx="4709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320"/>
                </a:solidFill>
                <a:latin typeface="Noto Sans KR" pitchFamily="34" charset="0"/>
                <a:ea typeface="Noto Sans KR" pitchFamily="34" charset="-122"/>
                <a:cs typeface="Noto Sans KR" pitchFamily="34" charset="-120"/>
              </a:rPr>
              <a:t>회사 도메인에 회사가 만든 챗봇 화면</a:t>
            </a:r>
            <a:endParaRPr lang="en-US" sz="1200" dirty="0"/>
          </a:p>
        </p:txBody>
      </p:sp>
      <p:sp>
        <p:nvSpPr>
          <p:cNvPr id="19" name="Text 15"/>
          <p:cNvSpPr/>
          <p:nvPr/>
        </p:nvSpPr>
        <p:spPr>
          <a:xfrm>
            <a:off x="6356350" y="5353050"/>
            <a:ext cx="215900" cy="215900"/>
          </a:xfrm>
          <a:custGeom>
            <a:avLst/>
            <a:gdLst/>
            <a:ahLst/>
            <a:cxnLst/>
            <a:rect l="l" t="t" r="r" b="b"/>
            <a:pathLst>
              <a:path w="215900" h="215900">
                <a:moveTo>
                  <a:pt x="25400" y="0"/>
                </a:moveTo>
                <a:lnTo>
                  <a:pt x="190500" y="0"/>
                </a:lnTo>
                <a:arcTo hR="25400" wR="25400" stAng="16200000" swAng="5400000"/>
                <a:lnTo>
                  <a:pt x="215900" y="190500"/>
                </a:lnTo>
                <a:arcTo hR="25400" wR="25400" stAng="0" swAng="5400000"/>
                <a:lnTo>
                  <a:pt x="25400" y="215900"/>
                </a:lnTo>
                <a:arcTo hR="25400" wR="25400" stAng="5400000" swAng="5400000"/>
                <a:lnTo>
                  <a:pt x="0" y="25400"/>
                </a:lnTo>
                <a:arcTo hR="25400" wR="25400" stAng="10800000" swAng="5400000"/>
                <a:close/>
              </a:path>
            </a:pathLst>
          </a:custGeom>
          <a:solidFill>
            <a:srgbClr val="E00000"/>
          </a:solid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2</a:t>
            </a:r>
            <a:endParaRPr lang="en-US" sz="1200" dirty="0"/>
          </a:p>
        </p:txBody>
      </p:sp>
      <p:sp>
        <p:nvSpPr>
          <p:cNvPr id="20" name="Text 16"/>
          <p:cNvSpPr/>
          <p:nvPr/>
        </p:nvSpPr>
        <p:spPr>
          <a:xfrm>
            <a:off x="6648450" y="5353050"/>
            <a:ext cx="4709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320"/>
                </a:solidFill>
                <a:latin typeface="Noto Sans KR" pitchFamily="34" charset="0"/>
                <a:ea typeface="Noto Sans KR" pitchFamily="34" charset="-122"/>
                <a:cs typeface="Noto Sans KR" pitchFamily="34" charset="-120"/>
              </a:rPr>
              <a:t>질의를 보내기 전에 사내 DLP로 개인정보를 가림</a:t>
            </a:r>
            <a:endParaRPr lang="en-US" sz="1200" dirty="0"/>
          </a:p>
        </p:txBody>
      </p:sp>
      <p:sp>
        <p:nvSpPr>
          <p:cNvPr id="21" name="Text 17"/>
          <p:cNvSpPr/>
          <p:nvPr/>
        </p:nvSpPr>
        <p:spPr>
          <a:xfrm>
            <a:off x="6356350" y="5619750"/>
            <a:ext cx="215900" cy="215900"/>
          </a:xfrm>
          <a:custGeom>
            <a:avLst/>
            <a:gdLst/>
            <a:ahLst/>
            <a:cxnLst/>
            <a:rect l="l" t="t" r="r" b="b"/>
            <a:pathLst>
              <a:path w="215900" h="215900">
                <a:moveTo>
                  <a:pt x="25400" y="0"/>
                </a:moveTo>
                <a:lnTo>
                  <a:pt x="190500" y="0"/>
                </a:lnTo>
                <a:arcTo hR="25400" wR="25400" stAng="16200000" swAng="5400000"/>
                <a:lnTo>
                  <a:pt x="215900" y="190500"/>
                </a:lnTo>
                <a:arcTo hR="25400" wR="25400" stAng="0" swAng="5400000"/>
                <a:lnTo>
                  <a:pt x="25400" y="215900"/>
                </a:lnTo>
                <a:arcTo hR="25400" wR="25400" stAng="5400000" swAng="5400000"/>
                <a:lnTo>
                  <a:pt x="0" y="25400"/>
                </a:lnTo>
                <a:arcTo hR="25400" wR="25400" stAng="10800000" swAng="5400000"/>
                <a:close/>
              </a:path>
            </a:pathLst>
          </a:custGeom>
          <a:solidFill>
            <a:srgbClr val="E00000"/>
          </a:solid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3</a:t>
            </a:r>
            <a:endParaRPr lang="en-US" sz="1200" dirty="0"/>
          </a:p>
        </p:txBody>
      </p:sp>
      <p:sp>
        <p:nvSpPr>
          <p:cNvPr id="22" name="Text 18"/>
          <p:cNvSpPr/>
          <p:nvPr/>
        </p:nvSpPr>
        <p:spPr>
          <a:xfrm>
            <a:off x="6648450" y="5619750"/>
            <a:ext cx="4709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320"/>
                </a:solidFill>
                <a:latin typeface="Noto Sans KR" pitchFamily="34" charset="0"/>
                <a:ea typeface="Noto Sans KR" pitchFamily="34" charset="-122"/>
                <a:cs typeface="Noto Sans KR" pitchFamily="34" charset="-120"/>
              </a:rPr>
              <a:t>사내 서버 코드가 Claude API를 호출하고 로그도 사내에 저장</a:t>
            </a:r>
            <a:endParaRPr lang="en-US" sz="1200" dirty="0"/>
          </a:p>
        </p:txBody>
      </p:sp>
      <p:sp>
        <p:nvSpPr>
          <p:cNvPr id="23" name="Text 19"/>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화면 출처: MacStories(Claude 데스크톱 앱) · 오른쪽은 설명용으로 만든 예시 화면</a:t>
            </a:r>
            <a:endParaRPr lang="en-US" sz="1200" dirty="0"/>
          </a:p>
        </p:txBody>
      </p:sp>
      <p:sp>
        <p:nvSpPr>
          <p:cNvPr id="24" name="Text 20"/>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A"/>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10847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0E1320"/>
                </a:solidFill>
                <a:latin typeface="Noto Sans KR" pitchFamily="34" charset="0"/>
                <a:ea typeface="Noto Sans KR" pitchFamily="34" charset="-122"/>
                <a:cs typeface="Noto Sans KR" pitchFamily="34" charset="-120"/>
              </a:rPr>
              <a:t>테넌트</a:t>
            </a:r>
            <a:endParaRPr lang="en-US" sz="2800" dirty="0"/>
          </a:p>
        </p:txBody>
      </p:sp>
      <p:sp>
        <p:nvSpPr>
          <p:cNvPr id="3" name="Text 1"/>
          <p:cNvSpPr/>
          <p:nvPr/>
        </p:nvSpPr>
        <p:spPr>
          <a:xfrm>
            <a:off x="1921272" y="768350"/>
            <a:ext cx="69056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577"/>
                </a:solidFill>
                <a:latin typeface="Noto Sans KR" pitchFamily="34" charset="0"/>
                <a:ea typeface="Noto Sans KR" pitchFamily="34" charset="-122"/>
                <a:cs typeface="Noto Sans KR" pitchFamily="34" charset="-120"/>
              </a:rPr>
              <a:t>Tenant</a:t>
            </a:r>
            <a:endParaRPr lang="en-US" sz="1400" dirty="0"/>
          </a:p>
        </p:txBody>
      </p:sp>
      <p:sp>
        <p:nvSpPr>
          <p:cNvPr id="4" name="Text 2"/>
          <p:cNvSpPr/>
          <p:nvPr/>
        </p:nvSpPr>
        <p:spPr>
          <a:xfrm>
            <a:off x="812800" y="109468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8A0"/>
                </a:solidFill>
                <a:latin typeface="Noto Sans KR" pitchFamily="34" charset="0"/>
                <a:ea typeface="Noto Sans KR" pitchFamily="34" charset="-122"/>
                <a:cs typeface="Noto Sans KR" pitchFamily="34" charset="-120"/>
              </a:rPr>
              <a:t>한 서비스를 여러 회사가 함께 쓸 때, 회사별로 나뉜 공간</a:t>
            </a:r>
            <a:endParaRPr lang="en-US" sz="1500" dirty="0"/>
          </a:p>
        </p:txBody>
      </p:sp>
      <p:sp>
        <p:nvSpPr>
          <p:cNvPr id="5" name="Shape 3"/>
          <p:cNvSpPr/>
          <p:nvPr/>
        </p:nvSpPr>
        <p:spPr>
          <a:xfrm>
            <a:off x="815975" y="1542355"/>
            <a:ext cx="6419850" cy="4423470"/>
          </a:xfrm>
          <a:prstGeom prst="roundRect">
            <a:avLst>
              <a:gd name="adj" fmla="val 2225"/>
            </a:avLst>
          </a:prstGeom>
          <a:solidFill>
            <a:srgbClr val="FFFFFF"/>
          </a:solidFill>
          <a:ln w="6350">
            <a:solidFill>
              <a:srgbClr val="DCE1EA"/>
            </a:solidFill>
            <a:prstDash val="solid"/>
          </a:ln>
        </p:spPr>
      </p:sp>
      <p:sp>
        <p:nvSpPr>
          <p:cNvPr id="6" name="Shape 4"/>
          <p:cNvSpPr/>
          <p:nvPr/>
        </p:nvSpPr>
        <p:spPr>
          <a:xfrm>
            <a:off x="1057275" y="2148284"/>
            <a:ext cx="5937250" cy="2688332"/>
          </a:xfrm>
          <a:prstGeom prst="roundRect">
            <a:avLst>
              <a:gd name="adj" fmla="val 3897"/>
            </a:avLst>
          </a:prstGeom>
          <a:noFill/>
          <a:ln w="19050">
            <a:solidFill>
              <a:srgbClr val="1428A0"/>
            </a:solidFill>
            <a:prstDash val="dash"/>
          </a:ln>
        </p:spPr>
      </p:sp>
      <p:sp>
        <p:nvSpPr>
          <p:cNvPr id="7" name="Text 5"/>
          <p:cNvSpPr/>
          <p:nvPr/>
        </p:nvSpPr>
        <p:spPr>
          <a:xfrm>
            <a:off x="1206500" y="2284809"/>
            <a:ext cx="580796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A0"/>
                </a:solidFill>
                <a:latin typeface="Noto Sans KR" pitchFamily="34" charset="0"/>
                <a:ea typeface="Noto Sans KR" pitchFamily="34" charset="-122"/>
                <a:cs typeface="Noto Sans KR" pitchFamily="34" charset="-120"/>
              </a:rPr>
              <a:t>AI 서비스 (멀티테넌트) · 같은 서버를 여러 회사가 함께 사용</a:t>
            </a:r>
            <a:endParaRPr lang="en-US" sz="1400" dirty="0"/>
          </a:p>
        </p:txBody>
      </p:sp>
      <p:sp>
        <p:nvSpPr>
          <p:cNvPr id="8" name="Shape 6"/>
          <p:cNvSpPr/>
          <p:nvPr/>
        </p:nvSpPr>
        <p:spPr>
          <a:xfrm>
            <a:off x="1212850" y="2628900"/>
            <a:ext cx="1714500" cy="2064841"/>
          </a:xfrm>
          <a:prstGeom prst="roundRect">
            <a:avLst>
              <a:gd name="adj" fmla="val 4815"/>
            </a:avLst>
          </a:prstGeom>
          <a:noFill/>
          <a:ln w="12700">
            <a:solidFill>
              <a:srgbClr val="1428A0"/>
            </a:solidFill>
            <a:prstDash val="solid"/>
          </a:ln>
        </p:spPr>
      </p:sp>
      <p:sp>
        <p:nvSpPr>
          <p:cNvPr id="9" name="Text 7"/>
          <p:cNvSpPr/>
          <p:nvPr/>
        </p:nvSpPr>
        <p:spPr>
          <a:xfrm>
            <a:off x="1219200" y="2635250"/>
            <a:ext cx="1701800" cy="393700"/>
          </a:xfrm>
          <a:custGeom>
            <a:avLst/>
            <a:gdLst/>
            <a:ahLst/>
            <a:cxnLst/>
            <a:rect l="l" t="t" r="r" b="b"/>
            <a:pathLst>
              <a:path w="1701800" h="393700">
                <a:moveTo>
                  <a:pt x="0" y="76200"/>
                </a:moveTo>
                <a:arcTo hR="76200" wR="76200" stAng="10800000" swAng="5400000"/>
                <a:lnTo>
                  <a:pt x="1625600" y="0"/>
                </a:lnTo>
                <a:arcTo hR="76200" wR="76200" stAng="16200000" swAng="5400000"/>
                <a:lnTo>
                  <a:pt x="1701800" y="393700"/>
                </a:lnTo>
                <a:lnTo>
                  <a:pt x="0" y="393700"/>
                </a:lnTo>
                <a:close/>
              </a:path>
            </a:pathLst>
          </a:custGeom>
          <a:solidFill>
            <a:srgbClr val="1428A0"/>
          </a:solidFill>
          <a:ln/>
        </p:spPr>
        <p:txBody>
          <a:bodyPr wrap="square" lIns="0" tIns="63500" rIns="0" bIns="38100" rtlCol="0" anchor="t">
            <a:normAutofit/>
          </a:bodyPr>
          <a:lstStyle/>
          <a:p>
            <a:pPr algn="ctr" indent="0" marL="0">
              <a:lnSpc>
                <a:spcPts val="2100"/>
              </a:lnSpc>
              <a:buNone/>
            </a:pPr>
            <a:r>
              <a:rPr lang="en-US" sz="1500" b="1" dirty="0">
                <a:solidFill>
                  <a:srgbClr val="FFFFFF"/>
                </a:solidFill>
                <a:latin typeface="Noto Sans KR" pitchFamily="34" charset="0"/>
                <a:ea typeface="Noto Sans KR" pitchFamily="34" charset="-122"/>
                <a:cs typeface="Noto Sans KR" pitchFamily="34" charset="-120"/>
              </a:rPr>
              <a:t>삼성 테넌트</a:t>
            </a:r>
            <a:endParaRPr lang="en-US" sz="1500" dirty="0"/>
          </a:p>
        </p:txBody>
      </p:sp>
      <p:sp>
        <p:nvSpPr>
          <p:cNvPr id="10" name="Text 8"/>
          <p:cNvSpPr/>
          <p:nvPr/>
        </p:nvSpPr>
        <p:spPr>
          <a:xfrm>
            <a:off x="1314450" y="3098800"/>
            <a:ext cx="1511300" cy="446980"/>
          </a:xfrm>
          <a:prstGeom prst="roundRect">
            <a:avLst>
              <a:gd name="adj" fmla="val 15627"/>
            </a:avLst>
          </a:prstGeom>
          <a:solidFill>
            <a:srgbClr val="FFFFFF"/>
          </a:solidFill>
          <a:ln w="12700">
            <a:solidFill>
              <a:srgbClr val="9AA6BD"/>
            </a:solidFill>
            <a:prstDash val="solid"/>
          </a:ln>
        </p:spPr>
        <p:txBody>
          <a:bodyPr wrap="square" lIns="62092" tIns="74792" rIns="62092" bIns="74792" rtlCol="0" anchor="ctr">
            <a:normAutofit/>
          </a:bodyPr>
          <a:lstStyle/>
          <a:p>
            <a:pPr algn="ctr" indent="0" marL="0">
              <a:lnSpc>
                <a:spcPts val="1820"/>
              </a:lnSpc>
              <a:buNone/>
            </a:pPr>
            <a:r>
              <a:rPr lang="en-US" sz="1400" b="1" dirty="0">
                <a:solidFill>
                  <a:srgbClr val="0E1320"/>
                </a:solidFill>
                <a:latin typeface="Noto Sans KR" pitchFamily="34" charset="0"/>
                <a:ea typeface="Noto Sans KR" pitchFamily="34" charset="-122"/>
                <a:cs typeface="Noto Sans KR" pitchFamily="34" charset="-120"/>
              </a:rPr>
              <a:t>계정·SSO</a:t>
            </a:r>
            <a:endParaRPr lang="en-US" sz="1400" dirty="0"/>
          </a:p>
        </p:txBody>
      </p:sp>
      <p:sp>
        <p:nvSpPr>
          <p:cNvPr id="11" name="Text 9"/>
          <p:cNvSpPr/>
          <p:nvPr/>
        </p:nvSpPr>
        <p:spPr>
          <a:xfrm>
            <a:off x="1314450" y="3621980"/>
            <a:ext cx="1511300" cy="446980"/>
          </a:xfrm>
          <a:prstGeom prst="roundRect">
            <a:avLst>
              <a:gd name="adj" fmla="val 15627"/>
            </a:avLst>
          </a:prstGeom>
          <a:solidFill>
            <a:srgbClr val="FFFFFF"/>
          </a:solidFill>
          <a:ln w="12700">
            <a:solidFill>
              <a:srgbClr val="9AA6BD"/>
            </a:solidFill>
            <a:prstDash val="solid"/>
          </a:ln>
        </p:spPr>
        <p:txBody>
          <a:bodyPr wrap="square" lIns="62092" tIns="74792" rIns="62092" bIns="74792" rtlCol="0" anchor="ctr">
            <a:normAutofit/>
          </a:bodyPr>
          <a:lstStyle/>
          <a:p>
            <a:pPr algn="ctr" indent="0" marL="0">
              <a:lnSpc>
                <a:spcPts val="1820"/>
              </a:lnSpc>
              <a:buNone/>
            </a:pPr>
            <a:r>
              <a:rPr lang="en-US" sz="1400" b="1" dirty="0">
                <a:solidFill>
                  <a:srgbClr val="0E1320"/>
                </a:solidFill>
                <a:latin typeface="Noto Sans KR" pitchFamily="34" charset="0"/>
                <a:ea typeface="Noto Sans KR" pitchFamily="34" charset="-122"/>
                <a:cs typeface="Noto Sans KR" pitchFamily="34" charset="-120"/>
              </a:rPr>
              <a:t>대화 이력</a:t>
            </a:r>
            <a:endParaRPr lang="en-US" sz="1400" dirty="0"/>
          </a:p>
        </p:txBody>
      </p:sp>
      <p:sp>
        <p:nvSpPr>
          <p:cNvPr id="12" name="Text 10"/>
          <p:cNvSpPr/>
          <p:nvPr/>
        </p:nvSpPr>
        <p:spPr>
          <a:xfrm>
            <a:off x="1314450" y="4145161"/>
            <a:ext cx="1511300" cy="446980"/>
          </a:xfrm>
          <a:prstGeom prst="roundRect">
            <a:avLst>
              <a:gd name="adj" fmla="val 15627"/>
            </a:avLst>
          </a:prstGeom>
          <a:solidFill>
            <a:srgbClr val="FFFFFF"/>
          </a:solidFill>
          <a:ln w="12700">
            <a:solidFill>
              <a:srgbClr val="9AA6BD"/>
            </a:solidFill>
            <a:prstDash val="solid"/>
          </a:ln>
        </p:spPr>
        <p:txBody>
          <a:bodyPr wrap="square" lIns="62092" tIns="74792" rIns="62092" bIns="74792" rtlCol="0" anchor="ctr">
            <a:normAutofit/>
          </a:bodyPr>
          <a:lstStyle/>
          <a:p>
            <a:pPr algn="ctr" indent="0" marL="0">
              <a:lnSpc>
                <a:spcPts val="1820"/>
              </a:lnSpc>
              <a:buNone/>
            </a:pPr>
            <a:r>
              <a:rPr lang="en-US" sz="1400" b="1" dirty="0">
                <a:solidFill>
                  <a:srgbClr val="0E1320"/>
                </a:solidFill>
                <a:latin typeface="Noto Sans KR" pitchFamily="34" charset="0"/>
                <a:ea typeface="Noto Sans KR" pitchFamily="34" charset="-122"/>
                <a:cs typeface="Noto Sans KR" pitchFamily="34" charset="-120"/>
              </a:rPr>
              <a:t>관리자 설정</a:t>
            </a:r>
            <a:endParaRPr lang="en-US" sz="1400" dirty="0"/>
          </a:p>
        </p:txBody>
      </p:sp>
      <p:sp>
        <p:nvSpPr>
          <p:cNvPr id="13" name="Shape 11"/>
          <p:cNvSpPr/>
          <p:nvPr/>
        </p:nvSpPr>
        <p:spPr>
          <a:xfrm>
            <a:off x="3048000" y="2622550"/>
            <a:ext cx="0" cy="2077541"/>
          </a:xfrm>
          <a:prstGeom prst="line">
            <a:avLst/>
          </a:prstGeom>
          <a:noFill/>
          <a:ln w="25400">
            <a:solidFill>
              <a:srgbClr val="0E1320"/>
            </a:solidFill>
            <a:prstDash val="solid"/>
          </a:ln>
        </p:spPr>
      </p:sp>
      <p:sp>
        <p:nvSpPr>
          <p:cNvPr id="14" name="Shape 12"/>
          <p:cNvSpPr/>
          <p:nvPr/>
        </p:nvSpPr>
        <p:spPr>
          <a:xfrm>
            <a:off x="3168650" y="2628900"/>
            <a:ext cx="1714500" cy="2064841"/>
          </a:xfrm>
          <a:prstGeom prst="roundRect">
            <a:avLst>
              <a:gd name="adj" fmla="val 4815"/>
            </a:avLst>
          </a:prstGeom>
          <a:noFill/>
          <a:ln w="12700">
            <a:solidFill>
              <a:srgbClr val="DCE1EA"/>
            </a:solidFill>
            <a:prstDash val="solid"/>
          </a:ln>
        </p:spPr>
      </p:sp>
      <p:sp>
        <p:nvSpPr>
          <p:cNvPr id="15" name="Text 13"/>
          <p:cNvSpPr/>
          <p:nvPr/>
        </p:nvSpPr>
        <p:spPr>
          <a:xfrm>
            <a:off x="3175000" y="2635250"/>
            <a:ext cx="1701800" cy="393700"/>
          </a:xfrm>
          <a:custGeom>
            <a:avLst/>
            <a:gdLst/>
            <a:ahLst/>
            <a:cxnLst/>
            <a:rect l="l" t="t" r="r" b="b"/>
            <a:pathLst>
              <a:path w="1701800" h="393700">
                <a:moveTo>
                  <a:pt x="0" y="76200"/>
                </a:moveTo>
                <a:arcTo hR="76200" wR="76200" stAng="10800000" swAng="5400000"/>
                <a:lnTo>
                  <a:pt x="1625600" y="0"/>
                </a:lnTo>
                <a:arcTo hR="76200" wR="76200" stAng="16200000" swAng="5400000"/>
                <a:lnTo>
                  <a:pt x="1701800" y="393700"/>
                </a:lnTo>
                <a:lnTo>
                  <a:pt x="0" y="393700"/>
                </a:lnTo>
                <a:close/>
              </a:path>
            </a:pathLst>
          </a:custGeom>
          <a:solidFill>
            <a:srgbClr val="DCE1EA"/>
          </a:solidFill>
          <a:ln/>
        </p:spPr>
        <p:txBody>
          <a:bodyPr wrap="square" lIns="0" tIns="63500" rIns="0" bIns="38100" rtlCol="0" anchor="t">
            <a:normAutofit/>
          </a:bodyPr>
          <a:lstStyle/>
          <a:p>
            <a:pPr algn="ctr" indent="0" marL="0">
              <a:lnSpc>
                <a:spcPts val="2100"/>
              </a:lnSpc>
              <a:buNone/>
            </a:pPr>
            <a:r>
              <a:rPr lang="en-US" sz="1500" b="1" dirty="0">
                <a:solidFill>
                  <a:srgbClr val="4A5366"/>
                </a:solidFill>
                <a:latin typeface="Noto Sans KR" pitchFamily="34" charset="0"/>
                <a:ea typeface="Noto Sans KR" pitchFamily="34" charset="-122"/>
                <a:cs typeface="Noto Sans KR" pitchFamily="34" charset="-120"/>
              </a:rPr>
              <a:t>A사 테넌트</a:t>
            </a:r>
            <a:endParaRPr lang="en-US" sz="1500" dirty="0"/>
          </a:p>
        </p:txBody>
      </p:sp>
      <p:sp>
        <p:nvSpPr>
          <p:cNvPr id="16" name="Text 14"/>
          <p:cNvSpPr/>
          <p:nvPr/>
        </p:nvSpPr>
        <p:spPr>
          <a:xfrm>
            <a:off x="3270250" y="3098800"/>
            <a:ext cx="1511300" cy="446980"/>
          </a:xfrm>
          <a:prstGeom prst="roundRect">
            <a:avLst>
              <a:gd name="adj" fmla="val 15627"/>
            </a:avLst>
          </a:prstGeom>
          <a:solidFill>
            <a:srgbClr val="EDEFF3"/>
          </a:solidFill>
          <a:ln w="12700">
            <a:solidFill>
              <a:srgbClr val="DCE1EA"/>
            </a:solidFill>
            <a:prstDash val="solid"/>
          </a:ln>
        </p:spPr>
        <p:txBody>
          <a:bodyPr wrap="square" lIns="62092" tIns="74792" rIns="62092" bIns="74792" rtlCol="0" anchor="ctr">
            <a:normAutofit/>
          </a:bodyPr>
          <a:lstStyle/>
          <a:p>
            <a:pPr algn="ctr" indent="0" marL="0">
              <a:lnSpc>
                <a:spcPts val="1820"/>
              </a:lnSpc>
              <a:buNone/>
            </a:pPr>
            <a:r>
              <a:rPr lang="en-US" sz="1400" b="1" dirty="0">
                <a:solidFill>
                  <a:srgbClr val="4A5366"/>
                </a:solidFill>
                <a:latin typeface="Noto Sans KR" pitchFamily="34" charset="0"/>
                <a:ea typeface="Noto Sans KR" pitchFamily="34" charset="-122"/>
                <a:cs typeface="Noto Sans KR" pitchFamily="34" charset="-120"/>
              </a:rPr>
              <a:t>계정·SSO</a:t>
            </a:r>
            <a:endParaRPr lang="en-US" sz="1400" dirty="0"/>
          </a:p>
        </p:txBody>
      </p:sp>
      <p:sp>
        <p:nvSpPr>
          <p:cNvPr id="17" name="Text 15"/>
          <p:cNvSpPr/>
          <p:nvPr/>
        </p:nvSpPr>
        <p:spPr>
          <a:xfrm>
            <a:off x="3270250" y="3621980"/>
            <a:ext cx="1511300" cy="446980"/>
          </a:xfrm>
          <a:prstGeom prst="roundRect">
            <a:avLst>
              <a:gd name="adj" fmla="val 15627"/>
            </a:avLst>
          </a:prstGeom>
          <a:solidFill>
            <a:srgbClr val="EDEFF3"/>
          </a:solidFill>
          <a:ln w="12700">
            <a:solidFill>
              <a:srgbClr val="DCE1EA"/>
            </a:solidFill>
            <a:prstDash val="solid"/>
          </a:ln>
        </p:spPr>
        <p:txBody>
          <a:bodyPr wrap="square" lIns="62092" tIns="74792" rIns="62092" bIns="74792" rtlCol="0" anchor="ctr">
            <a:normAutofit/>
          </a:bodyPr>
          <a:lstStyle/>
          <a:p>
            <a:pPr algn="ctr" indent="0" marL="0">
              <a:lnSpc>
                <a:spcPts val="1820"/>
              </a:lnSpc>
              <a:buNone/>
            </a:pPr>
            <a:r>
              <a:rPr lang="en-US" sz="1400" b="1" dirty="0">
                <a:solidFill>
                  <a:srgbClr val="4A5366"/>
                </a:solidFill>
                <a:latin typeface="Noto Sans KR" pitchFamily="34" charset="0"/>
                <a:ea typeface="Noto Sans KR" pitchFamily="34" charset="-122"/>
                <a:cs typeface="Noto Sans KR" pitchFamily="34" charset="-120"/>
              </a:rPr>
              <a:t>대화 이력</a:t>
            </a:r>
            <a:endParaRPr lang="en-US" sz="1400" dirty="0"/>
          </a:p>
        </p:txBody>
      </p:sp>
      <p:sp>
        <p:nvSpPr>
          <p:cNvPr id="18" name="Text 16"/>
          <p:cNvSpPr/>
          <p:nvPr/>
        </p:nvSpPr>
        <p:spPr>
          <a:xfrm>
            <a:off x="3270250" y="4145161"/>
            <a:ext cx="1511300" cy="446980"/>
          </a:xfrm>
          <a:prstGeom prst="roundRect">
            <a:avLst>
              <a:gd name="adj" fmla="val 15627"/>
            </a:avLst>
          </a:prstGeom>
          <a:solidFill>
            <a:srgbClr val="EDEFF3"/>
          </a:solidFill>
          <a:ln w="12700">
            <a:solidFill>
              <a:srgbClr val="DCE1EA"/>
            </a:solidFill>
            <a:prstDash val="solid"/>
          </a:ln>
        </p:spPr>
        <p:txBody>
          <a:bodyPr wrap="square" lIns="62092" tIns="74792" rIns="62092" bIns="74792" rtlCol="0" anchor="ctr">
            <a:normAutofit/>
          </a:bodyPr>
          <a:lstStyle/>
          <a:p>
            <a:pPr algn="ctr" indent="0" marL="0">
              <a:lnSpc>
                <a:spcPts val="1820"/>
              </a:lnSpc>
              <a:buNone/>
            </a:pPr>
            <a:r>
              <a:rPr lang="en-US" sz="1400" b="1" dirty="0">
                <a:solidFill>
                  <a:srgbClr val="4A5366"/>
                </a:solidFill>
                <a:latin typeface="Noto Sans KR" pitchFamily="34" charset="0"/>
                <a:ea typeface="Noto Sans KR" pitchFamily="34" charset="-122"/>
                <a:cs typeface="Noto Sans KR" pitchFamily="34" charset="-120"/>
              </a:rPr>
              <a:t>관리자 설정</a:t>
            </a:r>
            <a:endParaRPr lang="en-US" sz="1400" dirty="0"/>
          </a:p>
        </p:txBody>
      </p:sp>
      <p:sp>
        <p:nvSpPr>
          <p:cNvPr id="19" name="Shape 17"/>
          <p:cNvSpPr/>
          <p:nvPr/>
        </p:nvSpPr>
        <p:spPr>
          <a:xfrm>
            <a:off x="5003800" y="2622550"/>
            <a:ext cx="0" cy="2077541"/>
          </a:xfrm>
          <a:prstGeom prst="line">
            <a:avLst/>
          </a:prstGeom>
          <a:noFill/>
          <a:ln w="25400">
            <a:solidFill>
              <a:srgbClr val="0E1320"/>
            </a:solidFill>
            <a:prstDash val="solid"/>
          </a:ln>
        </p:spPr>
      </p:sp>
      <p:sp>
        <p:nvSpPr>
          <p:cNvPr id="20" name="Shape 18"/>
          <p:cNvSpPr/>
          <p:nvPr/>
        </p:nvSpPr>
        <p:spPr>
          <a:xfrm>
            <a:off x="5124450" y="2628900"/>
            <a:ext cx="1714500" cy="2064841"/>
          </a:xfrm>
          <a:prstGeom prst="roundRect">
            <a:avLst>
              <a:gd name="adj" fmla="val 4815"/>
            </a:avLst>
          </a:prstGeom>
          <a:noFill/>
          <a:ln w="12700">
            <a:solidFill>
              <a:srgbClr val="DCE1EA"/>
            </a:solidFill>
            <a:prstDash val="solid"/>
          </a:ln>
        </p:spPr>
      </p:sp>
      <p:sp>
        <p:nvSpPr>
          <p:cNvPr id="21" name="Text 19"/>
          <p:cNvSpPr/>
          <p:nvPr/>
        </p:nvSpPr>
        <p:spPr>
          <a:xfrm>
            <a:off x="5130800" y="2635250"/>
            <a:ext cx="1701800" cy="393700"/>
          </a:xfrm>
          <a:custGeom>
            <a:avLst/>
            <a:gdLst/>
            <a:ahLst/>
            <a:cxnLst/>
            <a:rect l="l" t="t" r="r" b="b"/>
            <a:pathLst>
              <a:path w="1701800" h="393700">
                <a:moveTo>
                  <a:pt x="0" y="76200"/>
                </a:moveTo>
                <a:arcTo hR="76200" wR="76200" stAng="10800000" swAng="5400000"/>
                <a:lnTo>
                  <a:pt x="1625600" y="0"/>
                </a:lnTo>
                <a:arcTo hR="76200" wR="76200" stAng="16200000" swAng="5400000"/>
                <a:lnTo>
                  <a:pt x="1701800" y="393700"/>
                </a:lnTo>
                <a:lnTo>
                  <a:pt x="0" y="393700"/>
                </a:lnTo>
                <a:close/>
              </a:path>
            </a:pathLst>
          </a:custGeom>
          <a:solidFill>
            <a:srgbClr val="DCE1EA"/>
          </a:solidFill>
          <a:ln/>
        </p:spPr>
        <p:txBody>
          <a:bodyPr wrap="square" lIns="0" tIns="63500" rIns="0" bIns="38100" rtlCol="0" anchor="t">
            <a:normAutofit/>
          </a:bodyPr>
          <a:lstStyle/>
          <a:p>
            <a:pPr algn="ctr" indent="0" marL="0">
              <a:lnSpc>
                <a:spcPts val="2100"/>
              </a:lnSpc>
              <a:buNone/>
            </a:pPr>
            <a:r>
              <a:rPr lang="en-US" sz="1500" b="1" dirty="0">
                <a:solidFill>
                  <a:srgbClr val="4A5366"/>
                </a:solidFill>
                <a:latin typeface="Noto Sans KR" pitchFamily="34" charset="0"/>
                <a:ea typeface="Noto Sans KR" pitchFamily="34" charset="-122"/>
                <a:cs typeface="Noto Sans KR" pitchFamily="34" charset="-120"/>
              </a:rPr>
              <a:t>B사 테넌트</a:t>
            </a:r>
            <a:endParaRPr lang="en-US" sz="1500" dirty="0"/>
          </a:p>
        </p:txBody>
      </p:sp>
      <p:sp>
        <p:nvSpPr>
          <p:cNvPr id="22" name="Text 20"/>
          <p:cNvSpPr/>
          <p:nvPr/>
        </p:nvSpPr>
        <p:spPr>
          <a:xfrm>
            <a:off x="5226050" y="3098800"/>
            <a:ext cx="1511300" cy="446980"/>
          </a:xfrm>
          <a:prstGeom prst="roundRect">
            <a:avLst>
              <a:gd name="adj" fmla="val 15627"/>
            </a:avLst>
          </a:prstGeom>
          <a:solidFill>
            <a:srgbClr val="EDEFF3"/>
          </a:solidFill>
          <a:ln w="12700">
            <a:solidFill>
              <a:srgbClr val="DCE1EA"/>
            </a:solidFill>
            <a:prstDash val="solid"/>
          </a:ln>
        </p:spPr>
        <p:txBody>
          <a:bodyPr wrap="square" lIns="62092" tIns="74792" rIns="62092" bIns="74792" rtlCol="0" anchor="ctr">
            <a:normAutofit/>
          </a:bodyPr>
          <a:lstStyle/>
          <a:p>
            <a:pPr algn="ctr" indent="0" marL="0">
              <a:lnSpc>
                <a:spcPts val="1820"/>
              </a:lnSpc>
              <a:buNone/>
            </a:pPr>
            <a:r>
              <a:rPr lang="en-US" sz="1400" b="1" dirty="0">
                <a:solidFill>
                  <a:srgbClr val="4A5366"/>
                </a:solidFill>
                <a:latin typeface="Noto Sans KR" pitchFamily="34" charset="0"/>
                <a:ea typeface="Noto Sans KR" pitchFamily="34" charset="-122"/>
                <a:cs typeface="Noto Sans KR" pitchFamily="34" charset="-120"/>
              </a:rPr>
              <a:t>계정·SSO</a:t>
            </a:r>
            <a:endParaRPr lang="en-US" sz="1400" dirty="0"/>
          </a:p>
        </p:txBody>
      </p:sp>
      <p:sp>
        <p:nvSpPr>
          <p:cNvPr id="23" name="Text 21"/>
          <p:cNvSpPr/>
          <p:nvPr/>
        </p:nvSpPr>
        <p:spPr>
          <a:xfrm>
            <a:off x="5226050" y="3621980"/>
            <a:ext cx="1511300" cy="446980"/>
          </a:xfrm>
          <a:prstGeom prst="roundRect">
            <a:avLst>
              <a:gd name="adj" fmla="val 15627"/>
            </a:avLst>
          </a:prstGeom>
          <a:solidFill>
            <a:srgbClr val="EDEFF3"/>
          </a:solidFill>
          <a:ln w="12700">
            <a:solidFill>
              <a:srgbClr val="DCE1EA"/>
            </a:solidFill>
            <a:prstDash val="solid"/>
          </a:ln>
        </p:spPr>
        <p:txBody>
          <a:bodyPr wrap="square" lIns="62092" tIns="74792" rIns="62092" bIns="74792" rtlCol="0" anchor="ctr">
            <a:normAutofit/>
          </a:bodyPr>
          <a:lstStyle/>
          <a:p>
            <a:pPr algn="ctr" indent="0" marL="0">
              <a:lnSpc>
                <a:spcPts val="1820"/>
              </a:lnSpc>
              <a:buNone/>
            </a:pPr>
            <a:r>
              <a:rPr lang="en-US" sz="1400" b="1" dirty="0">
                <a:solidFill>
                  <a:srgbClr val="4A5366"/>
                </a:solidFill>
                <a:latin typeface="Noto Sans KR" pitchFamily="34" charset="0"/>
                <a:ea typeface="Noto Sans KR" pitchFamily="34" charset="-122"/>
                <a:cs typeface="Noto Sans KR" pitchFamily="34" charset="-120"/>
              </a:rPr>
              <a:t>대화 이력</a:t>
            </a:r>
            <a:endParaRPr lang="en-US" sz="1400" dirty="0"/>
          </a:p>
        </p:txBody>
      </p:sp>
      <p:sp>
        <p:nvSpPr>
          <p:cNvPr id="24" name="Text 22"/>
          <p:cNvSpPr/>
          <p:nvPr/>
        </p:nvSpPr>
        <p:spPr>
          <a:xfrm>
            <a:off x="5226050" y="4145161"/>
            <a:ext cx="1511300" cy="446980"/>
          </a:xfrm>
          <a:prstGeom prst="roundRect">
            <a:avLst>
              <a:gd name="adj" fmla="val 15627"/>
            </a:avLst>
          </a:prstGeom>
          <a:solidFill>
            <a:srgbClr val="EDEFF3"/>
          </a:solidFill>
          <a:ln w="12700">
            <a:solidFill>
              <a:srgbClr val="DCE1EA"/>
            </a:solidFill>
            <a:prstDash val="solid"/>
          </a:ln>
        </p:spPr>
        <p:txBody>
          <a:bodyPr wrap="square" lIns="62092" tIns="74792" rIns="62092" bIns="74792" rtlCol="0" anchor="ctr">
            <a:normAutofit/>
          </a:bodyPr>
          <a:lstStyle/>
          <a:p>
            <a:pPr algn="ctr" indent="0" marL="0">
              <a:lnSpc>
                <a:spcPts val="1820"/>
              </a:lnSpc>
              <a:buNone/>
            </a:pPr>
            <a:r>
              <a:rPr lang="en-US" sz="1400" b="1" dirty="0">
                <a:solidFill>
                  <a:srgbClr val="4A5366"/>
                </a:solidFill>
                <a:latin typeface="Noto Sans KR" pitchFamily="34" charset="0"/>
                <a:ea typeface="Noto Sans KR" pitchFamily="34" charset="-122"/>
                <a:cs typeface="Noto Sans KR" pitchFamily="34" charset="-120"/>
              </a:rPr>
              <a:t>관리자 설정</a:t>
            </a:r>
            <a:endParaRPr lang="en-US" sz="1400" dirty="0"/>
          </a:p>
        </p:txBody>
      </p:sp>
      <p:sp>
        <p:nvSpPr>
          <p:cNvPr id="25" name="Shape 23"/>
          <p:cNvSpPr/>
          <p:nvPr/>
        </p:nvSpPr>
        <p:spPr>
          <a:xfrm>
            <a:off x="1047750" y="4960441"/>
            <a:ext cx="5956300" cy="408880"/>
          </a:xfrm>
          <a:prstGeom prst="roundRect">
            <a:avLst>
              <a:gd name="adj" fmla="val 18636"/>
            </a:avLst>
          </a:prstGeom>
          <a:solidFill>
            <a:srgbClr val="FCE8EA"/>
          </a:solidFill>
          <a:ln/>
        </p:spPr>
      </p:sp>
      <p:sp>
        <p:nvSpPr>
          <p:cNvPr id="26" name="Text 24"/>
          <p:cNvSpPr/>
          <p:nvPr/>
        </p:nvSpPr>
        <p:spPr>
          <a:xfrm>
            <a:off x="1174750" y="5049341"/>
            <a:ext cx="103782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8102E"/>
                </a:solidFill>
                <a:latin typeface="Noto Sans KR" pitchFamily="34" charset="0"/>
                <a:ea typeface="Noto Sans KR" pitchFamily="34" charset="-122"/>
                <a:cs typeface="Noto Sans KR" pitchFamily="34" charset="-120"/>
              </a:rPr>
              <a:t>격리가 깨지면</a:t>
            </a:r>
            <a:endParaRPr lang="en-US" sz="1300" dirty="0"/>
          </a:p>
        </p:txBody>
      </p:sp>
      <p:sp>
        <p:nvSpPr>
          <p:cNvPr id="27" name="Text 25"/>
          <p:cNvSpPr/>
          <p:nvPr/>
        </p:nvSpPr>
        <p:spPr>
          <a:xfrm>
            <a:off x="2212578" y="5049341"/>
            <a:ext cx="406729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E1320"/>
                </a:solidFill>
                <a:latin typeface="Noto Sans KR" pitchFamily="34" charset="0"/>
                <a:ea typeface="Noto Sans KR" pitchFamily="34" charset="-122"/>
                <a:cs typeface="Noto Sans KR" pitchFamily="34" charset="-120"/>
              </a:rPr>
              <a:t>다른 회사가 우리 대화 이력·설정에 접근할 수 있음</a:t>
            </a:r>
            <a:endParaRPr lang="en-US" sz="1300" dirty="0"/>
          </a:p>
        </p:txBody>
      </p:sp>
      <p:sp>
        <p:nvSpPr>
          <p:cNvPr id="28" name="Shape 26"/>
          <p:cNvSpPr/>
          <p:nvPr/>
        </p:nvSpPr>
        <p:spPr>
          <a:xfrm>
            <a:off x="7445375" y="1542355"/>
            <a:ext cx="3930650" cy="4423470"/>
          </a:xfrm>
          <a:prstGeom prst="roundRect">
            <a:avLst>
              <a:gd name="adj" fmla="val 2504"/>
            </a:avLst>
          </a:prstGeom>
          <a:solidFill>
            <a:srgbClr val="FFFFFF"/>
          </a:solidFill>
          <a:ln w="6350">
            <a:solidFill>
              <a:srgbClr val="DCE1EA"/>
            </a:solidFill>
            <a:prstDash val="solid"/>
          </a:ln>
        </p:spPr>
      </p:sp>
      <p:sp>
        <p:nvSpPr>
          <p:cNvPr id="29" name="Text 27"/>
          <p:cNvSpPr/>
          <p:nvPr/>
        </p:nvSpPr>
        <p:spPr>
          <a:xfrm>
            <a:off x="7651750" y="1723330"/>
            <a:ext cx="362343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E1320"/>
                </a:solidFill>
                <a:latin typeface="Noto Sans KR" pitchFamily="34" charset="0"/>
                <a:ea typeface="Noto Sans KR" pitchFamily="34" charset="-122"/>
                <a:cs typeface="Noto Sans KR" pitchFamily="34" charset="-120"/>
              </a:rPr>
              <a:t>AI 서비스 도입 시 확인</a:t>
            </a:r>
            <a:endParaRPr lang="en-US" sz="1500" dirty="0"/>
          </a:p>
        </p:txBody>
      </p:sp>
      <p:sp>
        <p:nvSpPr>
          <p:cNvPr id="30" name="Text 28"/>
          <p:cNvSpPr/>
          <p:nvPr/>
        </p:nvSpPr>
        <p:spPr>
          <a:xfrm>
            <a:off x="7651750" y="2117030"/>
            <a:ext cx="228600" cy="228600"/>
          </a:xfrm>
          <a:custGeom>
            <a:avLst/>
            <a:gdLst/>
            <a:ahLst/>
            <a:cxnLst/>
            <a:rect l="l" t="t" r="r" b="b"/>
            <a:pathLst>
              <a:path w="228600" h="228600">
                <a:moveTo>
                  <a:pt x="114300" y="0"/>
                </a:moveTo>
                <a:lnTo>
                  <a:pt x="114300" y="0"/>
                </a:lnTo>
                <a:arcTo hR="114300" wR="114300" stAng="16200000" swAng="5400000"/>
                <a:lnTo>
                  <a:pt x="228600" y="114300"/>
                </a:lnTo>
                <a:arcTo hR="114300" wR="114300" stAng="0" swAng="5400000"/>
                <a:lnTo>
                  <a:pt x="114300" y="228600"/>
                </a:lnTo>
                <a:arcTo hR="114300" wR="114300" stAng="5400000" swAng="5400000"/>
                <a:lnTo>
                  <a:pt x="0" y="114300"/>
                </a:lnTo>
                <a:arcTo hR="114300" wR="114300" stAng="10800000" swAng="5400000"/>
                <a:close/>
              </a:path>
            </a:pathLst>
          </a:custGeom>
          <a:solidFill>
            <a:srgbClr val="1428A0"/>
          </a:solid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1</a:t>
            </a:r>
            <a:endParaRPr lang="en-US" sz="1200" dirty="0"/>
          </a:p>
        </p:txBody>
      </p:sp>
      <p:sp>
        <p:nvSpPr>
          <p:cNvPr id="31" name="Text 29"/>
          <p:cNvSpPr/>
          <p:nvPr/>
        </p:nvSpPr>
        <p:spPr>
          <a:xfrm>
            <a:off x="7969250" y="2117030"/>
            <a:ext cx="329641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E1320"/>
                </a:solidFill>
                <a:latin typeface="Noto Sans KR" pitchFamily="34" charset="0"/>
                <a:ea typeface="Noto Sans KR" pitchFamily="34" charset="-122"/>
                <a:cs typeface="Noto Sans KR" pitchFamily="34" charset="-120"/>
              </a:rPr>
              <a:t>우리 데이터·대화 이력이 다른 고객사와 분리되는가</a:t>
            </a:r>
            <a:endParaRPr lang="en-US" sz="1400" dirty="0"/>
          </a:p>
        </p:txBody>
      </p:sp>
      <p:sp>
        <p:nvSpPr>
          <p:cNvPr id="32" name="Text 30"/>
          <p:cNvSpPr/>
          <p:nvPr/>
        </p:nvSpPr>
        <p:spPr>
          <a:xfrm>
            <a:off x="7651750" y="2741712"/>
            <a:ext cx="228600" cy="228600"/>
          </a:xfrm>
          <a:custGeom>
            <a:avLst/>
            <a:gdLst/>
            <a:ahLst/>
            <a:cxnLst/>
            <a:rect l="l" t="t" r="r" b="b"/>
            <a:pathLst>
              <a:path w="228600" h="228600">
                <a:moveTo>
                  <a:pt x="114300" y="0"/>
                </a:moveTo>
                <a:lnTo>
                  <a:pt x="114300" y="0"/>
                </a:lnTo>
                <a:arcTo hR="114300" wR="114300" stAng="16200000" swAng="5400000"/>
                <a:lnTo>
                  <a:pt x="228600" y="114300"/>
                </a:lnTo>
                <a:arcTo hR="114300" wR="114300" stAng="0" swAng="5400000"/>
                <a:lnTo>
                  <a:pt x="114300" y="228600"/>
                </a:lnTo>
                <a:arcTo hR="114300" wR="114300" stAng="5400000" swAng="5400000"/>
                <a:lnTo>
                  <a:pt x="0" y="114300"/>
                </a:lnTo>
                <a:arcTo hR="114300" wR="114300" stAng="10800000" swAng="5400000"/>
                <a:close/>
              </a:path>
            </a:pathLst>
          </a:custGeom>
          <a:solidFill>
            <a:srgbClr val="1428A0"/>
          </a:solid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2</a:t>
            </a:r>
            <a:endParaRPr lang="en-US" sz="1200" dirty="0"/>
          </a:p>
        </p:txBody>
      </p:sp>
      <p:sp>
        <p:nvSpPr>
          <p:cNvPr id="33" name="Text 31"/>
          <p:cNvSpPr/>
          <p:nvPr/>
        </p:nvSpPr>
        <p:spPr>
          <a:xfrm>
            <a:off x="7969250" y="2741712"/>
            <a:ext cx="329641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E1320"/>
                </a:solidFill>
                <a:latin typeface="Noto Sans KR" pitchFamily="34" charset="0"/>
                <a:ea typeface="Noto Sans KR" pitchFamily="34" charset="-122"/>
                <a:cs typeface="Noto Sans KR" pitchFamily="34" charset="-120"/>
              </a:rPr>
              <a:t>SSO·관리자 권한이 우리 테넌트에만 적용되는가</a:t>
            </a:r>
            <a:endParaRPr lang="en-US" sz="1400" dirty="0"/>
          </a:p>
        </p:txBody>
      </p:sp>
      <p:sp>
        <p:nvSpPr>
          <p:cNvPr id="34" name="Text 32"/>
          <p:cNvSpPr/>
          <p:nvPr/>
        </p:nvSpPr>
        <p:spPr>
          <a:xfrm>
            <a:off x="7651750" y="3366393"/>
            <a:ext cx="228600" cy="228600"/>
          </a:xfrm>
          <a:custGeom>
            <a:avLst/>
            <a:gdLst/>
            <a:ahLst/>
            <a:cxnLst/>
            <a:rect l="l" t="t" r="r" b="b"/>
            <a:pathLst>
              <a:path w="228600" h="228600">
                <a:moveTo>
                  <a:pt x="114300" y="0"/>
                </a:moveTo>
                <a:lnTo>
                  <a:pt x="114300" y="0"/>
                </a:lnTo>
                <a:arcTo hR="114300" wR="114300" stAng="16200000" swAng="5400000"/>
                <a:lnTo>
                  <a:pt x="228600" y="114300"/>
                </a:lnTo>
                <a:arcTo hR="114300" wR="114300" stAng="0" swAng="5400000"/>
                <a:lnTo>
                  <a:pt x="114300" y="228600"/>
                </a:lnTo>
                <a:arcTo hR="114300" wR="114300" stAng="5400000" swAng="5400000"/>
                <a:lnTo>
                  <a:pt x="0" y="114300"/>
                </a:lnTo>
                <a:arcTo hR="114300" wR="114300" stAng="10800000" swAng="5400000"/>
                <a:close/>
              </a:path>
            </a:pathLst>
          </a:custGeom>
          <a:solidFill>
            <a:srgbClr val="1428A0"/>
          </a:solid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3</a:t>
            </a:r>
            <a:endParaRPr lang="en-US" sz="1200" dirty="0"/>
          </a:p>
        </p:txBody>
      </p:sp>
      <p:sp>
        <p:nvSpPr>
          <p:cNvPr id="35" name="Text 33"/>
          <p:cNvSpPr/>
          <p:nvPr/>
        </p:nvSpPr>
        <p:spPr>
          <a:xfrm>
            <a:off x="7969250" y="3366393"/>
            <a:ext cx="329641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E1320"/>
                </a:solidFill>
                <a:latin typeface="Noto Sans KR" pitchFamily="34" charset="0"/>
                <a:ea typeface="Noto Sans KR" pitchFamily="34" charset="-122"/>
                <a:cs typeface="Noto Sans KR" pitchFamily="34" charset="-120"/>
              </a:rPr>
              <a:t>직원이 개인 계정(다른 테넌트)으로 쓰는 것을 막을 수 있는가</a:t>
            </a:r>
            <a:endParaRPr lang="en-US" sz="1400" dirty="0"/>
          </a:p>
        </p:txBody>
      </p:sp>
      <p:sp>
        <p:nvSpPr>
          <p:cNvPr id="36" name="Text 34"/>
          <p:cNvSpPr/>
          <p:nvPr/>
        </p:nvSpPr>
        <p:spPr>
          <a:xfrm>
            <a:off x="7651750" y="5495330"/>
            <a:ext cx="1757958" cy="289520"/>
          </a:xfrm>
          <a:prstGeom prst="roundRect">
            <a:avLst>
              <a:gd name="adj" fmla="val 17546"/>
            </a:avLst>
          </a:prstGeom>
          <a:solidFill>
            <a:srgbClr val="EEF1FB"/>
          </a:solidFill>
          <a:ln/>
        </p:spPr>
        <p:txBody>
          <a:bodyPr wrap="none" lIns="0" tIns="0" rIns="0" bIns="0" rtlCol="0" anchor="ctr">
            <a:normAutofit/>
          </a:bodyPr>
          <a:lstStyle/>
          <a:p>
            <a:pPr algn="ctr"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점검 항목 01 데이터 격리</a:t>
            </a:r>
            <a:endParaRPr lang="en-US" sz="1200" dirty="0"/>
          </a:p>
        </p:txBody>
      </p:sp>
      <p:sp>
        <p:nvSpPr>
          <p:cNvPr id="37" name="Text 35"/>
          <p:cNvSpPr/>
          <p:nvPr/>
        </p:nvSpPr>
        <p:spPr>
          <a:xfrm>
            <a:off x="9473208" y="5495330"/>
            <a:ext cx="1673324" cy="289520"/>
          </a:xfrm>
          <a:prstGeom prst="roundRect">
            <a:avLst>
              <a:gd name="adj" fmla="val 17546"/>
            </a:avLst>
          </a:prstGeom>
          <a:solidFill>
            <a:srgbClr val="EEF1FB"/>
          </a:solidFill>
          <a:ln/>
        </p:spPr>
        <p:txBody>
          <a:bodyPr wrap="none" lIns="0" tIns="0" rIns="0" bIns="0" rtlCol="0" anchor="ctr">
            <a:normAutofit/>
          </a:bodyPr>
          <a:lstStyle/>
          <a:p>
            <a:pPr algn="ctr"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점검 항목 04 계정·인증</a:t>
            </a:r>
            <a:endParaRPr lang="en-US" sz="1200" dirty="0"/>
          </a:p>
        </p:txBody>
      </p:sp>
      <p:sp>
        <p:nvSpPr>
          <p:cNvPr id="38" name="Text 36"/>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A"/>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896243"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0E1320"/>
                </a:solidFill>
                <a:latin typeface="Noto Sans KR" pitchFamily="34" charset="0"/>
                <a:ea typeface="Noto Sans KR" pitchFamily="34" charset="-122"/>
                <a:cs typeface="Noto Sans KR" pitchFamily="34" charset="-120"/>
              </a:rPr>
              <a:t>KMS</a:t>
            </a:r>
            <a:endParaRPr lang="en-US" sz="2800" dirty="0"/>
          </a:p>
        </p:txBody>
      </p:sp>
      <p:sp>
        <p:nvSpPr>
          <p:cNvPr id="3" name="Text 1"/>
          <p:cNvSpPr/>
          <p:nvPr/>
        </p:nvSpPr>
        <p:spPr>
          <a:xfrm>
            <a:off x="1709043" y="768350"/>
            <a:ext cx="249078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577"/>
                </a:solidFill>
                <a:latin typeface="Noto Sans KR" pitchFamily="34" charset="0"/>
                <a:ea typeface="Noto Sans KR" pitchFamily="34" charset="-122"/>
                <a:cs typeface="Noto Sans KR" pitchFamily="34" charset="-120"/>
              </a:rPr>
              <a:t>Key Management Service</a:t>
            </a:r>
            <a:endParaRPr lang="en-US" sz="1400" dirty="0"/>
          </a:p>
        </p:txBody>
      </p:sp>
      <p:sp>
        <p:nvSpPr>
          <p:cNvPr id="4" name="Text 2"/>
          <p:cNvSpPr/>
          <p:nvPr/>
        </p:nvSpPr>
        <p:spPr>
          <a:xfrm>
            <a:off x="812800" y="109468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8A0"/>
                </a:solidFill>
                <a:latin typeface="Noto Sans KR" pitchFamily="34" charset="0"/>
                <a:ea typeface="Noto Sans KR" pitchFamily="34" charset="-122"/>
                <a:cs typeface="Noto Sans KR" pitchFamily="34" charset="-120"/>
              </a:rPr>
              <a:t>데이터를 암호화하는 키를 만들고 보관·교체·폐기하는 서비스</a:t>
            </a:r>
            <a:endParaRPr lang="en-US" sz="1500" dirty="0"/>
          </a:p>
        </p:txBody>
      </p:sp>
      <p:sp>
        <p:nvSpPr>
          <p:cNvPr id="5" name="Shape 3"/>
          <p:cNvSpPr/>
          <p:nvPr/>
        </p:nvSpPr>
        <p:spPr>
          <a:xfrm>
            <a:off x="815975" y="1542355"/>
            <a:ext cx="10560050" cy="4423470"/>
          </a:xfrm>
          <a:prstGeom prst="roundRect">
            <a:avLst>
              <a:gd name="adj" fmla="val 2225"/>
            </a:avLst>
          </a:prstGeom>
          <a:solidFill>
            <a:srgbClr val="FFFFFF"/>
          </a:solidFill>
          <a:ln w="6350">
            <a:solidFill>
              <a:srgbClr val="DCE1EA"/>
            </a:solidFill>
            <a:prstDash val="solid"/>
          </a:ln>
        </p:spPr>
      </p:sp>
      <p:sp>
        <p:nvSpPr>
          <p:cNvPr id="6" name="Shape 4"/>
          <p:cNvSpPr/>
          <p:nvPr/>
        </p:nvSpPr>
        <p:spPr>
          <a:xfrm>
            <a:off x="971550" y="1697930"/>
            <a:ext cx="6059884" cy="1170484"/>
          </a:xfrm>
          <a:prstGeom prst="roundRect">
            <a:avLst>
              <a:gd name="adj" fmla="val 6510"/>
            </a:avLst>
          </a:prstGeom>
          <a:solidFill>
            <a:srgbClr val="E9EDF5"/>
          </a:solidFill>
          <a:ln/>
        </p:spPr>
      </p:sp>
      <p:pic>
        <p:nvPicPr>
          <p:cNvPr id="7" name="Image 0" descr="AWS KMS 키 생성 화면: 키 출처(Key Material Origin)를 External로 선택">    </p:cNvPr>
          <p:cNvPicPr>
            <a:picLocks noChangeAspect="1"/>
          </p:cNvPicPr>
          <p:nvPr/>
        </p:nvPicPr>
        <p:blipFill>
          <a:blip r:embed="rId1"/>
          <a:srcRect l="-4" r="-4" t="0" b="0"/>
          <a:stretch/>
        </p:blipFill>
        <p:spPr>
          <a:xfrm>
            <a:off x="971550" y="1787525"/>
            <a:ext cx="6059884" cy="991195"/>
          </a:xfrm>
          <a:prstGeom prst="rect">
            <a:avLst/>
          </a:prstGeom>
        </p:spPr>
      </p:pic>
      <p:sp>
        <p:nvSpPr>
          <p:cNvPr id="8" name="Shape 5"/>
          <p:cNvSpPr/>
          <p:nvPr/>
        </p:nvSpPr>
        <p:spPr>
          <a:xfrm>
            <a:off x="971550" y="2944614"/>
            <a:ext cx="6059884" cy="2865636"/>
          </a:xfrm>
          <a:prstGeom prst="roundRect">
            <a:avLst>
              <a:gd name="adj" fmla="val 2659"/>
            </a:avLst>
          </a:prstGeom>
          <a:solidFill>
            <a:srgbClr val="E9EDF5"/>
          </a:solidFill>
          <a:ln/>
        </p:spPr>
      </p:sp>
      <p:pic>
        <p:nvPicPr>
          <p:cNvPr id="9" name="Image 1" descr="AWS KMS 키 가져오기 화면: 암호화된 키 자료와 가져오기 토큰 업로드, 키 만료 시각 지정">    </p:cNvPr>
          <p:cNvPicPr>
            <a:picLocks noChangeAspect="1"/>
          </p:cNvPicPr>
          <p:nvPr/>
        </p:nvPicPr>
        <p:blipFill>
          <a:blip r:embed="rId2"/>
          <a:srcRect l="0" r="0" t="0" b="0"/>
          <a:stretch/>
        </p:blipFill>
        <p:spPr>
          <a:xfrm>
            <a:off x="971550" y="3197126"/>
            <a:ext cx="6059884" cy="2360513"/>
          </a:xfrm>
          <a:prstGeom prst="rect">
            <a:avLst/>
          </a:prstGeom>
        </p:spPr>
      </p:pic>
      <p:sp>
        <p:nvSpPr>
          <p:cNvPr id="10" name="Text 6"/>
          <p:cNvSpPr/>
          <p:nvPr/>
        </p:nvSpPr>
        <p:spPr>
          <a:xfrm>
            <a:off x="7260034" y="2737148"/>
            <a:ext cx="279400" cy="279400"/>
          </a:xfrm>
          <a:custGeom>
            <a:avLst/>
            <a:gdLst/>
            <a:ahLst/>
            <a:cxnLst/>
            <a:rect l="l" t="t" r="r" b="b"/>
            <a:pathLst>
              <a:path w="279400" h="279400">
                <a:moveTo>
                  <a:pt x="38100" y="0"/>
                </a:moveTo>
                <a:lnTo>
                  <a:pt x="241300" y="0"/>
                </a:lnTo>
                <a:arcTo hR="38100" wR="38100" stAng="16200000" swAng="5400000"/>
                <a:lnTo>
                  <a:pt x="279400" y="241300"/>
                </a:lnTo>
                <a:arcTo hR="38100" wR="38100" stAng="0" swAng="5400000"/>
                <a:lnTo>
                  <a:pt x="38100" y="279400"/>
                </a:lnTo>
                <a:arcTo hR="38100" wR="38100" stAng="5400000" swAng="5400000"/>
                <a:lnTo>
                  <a:pt x="0" y="38100"/>
                </a:lnTo>
                <a:arcTo hR="38100" wR="38100" stAng="10800000" swAng="5400000"/>
                <a:close/>
              </a:path>
            </a:pathLst>
          </a:custGeom>
          <a:solidFill>
            <a:srgbClr val="E00000"/>
          </a:solidFill>
          <a:ln/>
        </p:spPr>
        <p:txBody>
          <a:bodyPr wrap="square" lIns="0" tIns="0" rIns="0" bIns="0" rtlCol="0" anchor="t">
            <a:normAutofit/>
          </a:bodyPr>
          <a:lstStyle/>
          <a:p>
            <a:pPr algn="l" indent="0" marL="0">
              <a:lnSpc>
                <a:spcPts val="1960"/>
              </a:lnSpc>
              <a:buNone/>
            </a:pPr>
            <a:r>
              <a:rPr lang="en-US" sz="1400" b="1" dirty="0">
                <a:solidFill>
                  <a:srgbClr val="FFFFFF"/>
                </a:solidFill>
                <a:latin typeface="Noto Sans KR" pitchFamily="34" charset="0"/>
                <a:ea typeface="Noto Sans KR" pitchFamily="34" charset="-122"/>
                <a:cs typeface="Noto Sans KR" pitchFamily="34" charset="-120"/>
              </a:rPr>
              <a:t>1</a:t>
            </a:r>
            <a:endParaRPr lang="en-US" sz="1400" dirty="0"/>
          </a:p>
        </p:txBody>
      </p:sp>
      <p:sp>
        <p:nvSpPr>
          <p:cNvPr id="11" name="Text 7"/>
          <p:cNvSpPr/>
          <p:nvPr/>
        </p:nvSpPr>
        <p:spPr>
          <a:xfrm>
            <a:off x="7641034" y="2737148"/>
            <a:ext cx="3634474" cy="559395"/>
          </a:xfrm>
          <a:prstGeom prst="rect">
            <a:avLst/>
          </a:prstGeom>
          <a:noFill/>
          <a:ln/>
        </p:spPr>
        <p:txBody>
          <a:bodyPr wrap="square" lIns="0" tIns="0" rIns="0" bIns="0" rtlCol="0" anchor="t">
            <a:normAutofit/>
          </a:bodyPr>
          <a:lstStyle/>
          <a:p>
            <a:pPr algn="l" indent="0" marL="0">
              <a:lnSpc>
                <a:spcPts val="2103"/>
              </a:lnSpc>
              <a:buNone/>
            </a:pPr>
            <a:r>
              <a:rPr lang="en-US" sz="1450" dirty="0">
                <a:solidFill>
                  <a:srgbClr val="0E1320"/>
                </a:solidFill>
                <a:latin typeface="Noto Sans KR" pitchFamily="34" charset="0"/>
                <a:ea typeface="Noto Sans KR" pitchFamily="34" charset="-122"/>
                <a:cs typeface="Noto Sans KR" pitchFamily="34" charset="-120"/>
              </a:rPr>
              <a:t>키 출처를 External로 선택: 회사가 가진 키를 KMS로 가져옴</a:t>
            </a:r>
            <a:endParaRPr lang="en-US" sz="1450" dirty="0"/>
          </a:p>
        </p:txBody>
      </p:sp>
      <p:sp>
        <p:nvSpPr>
          <p:cNvPr id="12" name="Text 8"/>
          <p:cNvSpPr/>
          <p:nvPr/>
        </p:nvSpPr>
        <p:spPr>
          <a:xfrm>
            <a:off x="7260034" y="3487043"/>
            <a:ext cx="279400" cy="279400"/>
          </a:xfrm>
          <a:custGeom>
            <a:avLst/>
            <a:gdLst/>
            <a:ahLst/>
            <a:cxnLst/>
            <a:rect l="l" t="t" r="r" b="b"/>
            <a:pathLst>
              <a:path w="279400" h="279400">
                <a:moveTo>
                  <a:pt x="38100" y="0"/>
                </a:moveTo>
                <a:lnTo>
                  <a:pt x="241300" y="0"/>
                </a:lnTo>
                <a:arcTo hR="38100" wR="38100" stAng="16200000" swAng="5400000"/>
                <a:lnTo>
                  <a:pt x="279400" y="241300"/>
                </a:lnTo>
                <a:arcTo hR="38100" wR="38100" stAng="0" swAng="5400000"/>
                <a:lnTo>
                  <a:pt x="38100" y="279400"/>
                </a:lnTo>
                <a:arcTo hR="38100" wR="38100" stAng="5400000" swAng="5400000"/>
                <a:lnTo>
                  <a:pt x="0" y="38100"/>
                </a:lnTo>
                <a:arcTo hR="38100" wR="38100" stAng="10800000" swAng="5400000"/>
                <a:close/>
              </a:path>
            </a:pathLst>
          </a:custGeom>
          <a:solidFill>
            <a:srgbClr val="E00000"/>
          </a:solidFill>
          <a:ln/>
        </p:spPr>
        <p:txBody>
          <a:bodyPr wrap="square" lIns="0" tIns="0" rIns="0" bIns="0" rtlCol="0" anchor="t">
            <a:normAutofit/>
          </a:bodyPr>
          <a:lstStyle/>
          <a:p>
            <a:pPr algn="l" indent="0" marL="0">
              <a:lnSpc>
                <a:spcPts val="1960"/>
              </a:lnSpc>
              <a:buNone/>
            </a:pPr>
            <a:r>
              <a:rPr lang="en-US" sz="1400" b="1" dirty="0">
                <a:solidFill>
                  <a:srgbClr val="FFFFFF"/>
                </a:solidFill>
                <a:latin typeface="Noto Sans KR" pitchFamily="34" charset="0"/>
                <a:ea typeface="Noto Sans KR" pitchFamily="34" charset="-122"/>
                <a:cs typeface="Noto Sans KR" pitchFamily="34" charset="-120"/>
              </a:rPr>
              <a:t>2</a:t>
            </a:r>
            <a:endParaRPr lang="en-US" sz="1400" dirty="0"/>
          </a:p>
        </p:txBody>
      </p:sp>
      <p:sp>
        <p:nvSpPr>
          <p:cNvPr id="13" name="Text 9"/>
          <p:cNvSpPr/>
          <p:nvPr/>
        </p:nvSpPr>
        <p:spPr>
          <a:xfrm>
            <a:off x="7641034" y="3487043"/>
            <a:ext cx="3634474" cy="559395"/>
          </a:xfrm>
          <a:prstGeom prst="rect">
            <a:avLst/>
          </a:prstGeom>
          <a:noFill/>
          <a:ln/>
        </p:spPr>
        <p:txBody>
          <a:bodyPr wrap="square" lIns="0" tIns="0" rIns="0" bIns="0" rtlCol="0" anchor="t">
            <a:normAutofit/>
          </a:bodyPr>
          <a:lstStyle/>
          <a:p>
            <a:pPr algn="l" indent="0" marL="0">
              <a:lnSpc>
                <a:spcPts val="2103"/>
              </a:lnSpc>
              <a:buNone/>
            </a:pPr>
            <a:r>
              <a:rPr lang="en-US" sz="1450" b="1" dirty="0">
                <a:solidFill>
                  <a:srgbClr val="0E1320"/>
                </a:solidFill>
                <a:latin typeface="Noto Sans KR" pitchFamily="34" charset="0"/>
                <a:ea typeface="Noto Sans KR" pitchFamily="34" charset="-122"/>
                <a:cs typeface="Noto Sans KR" pitchFamily="34" charset="-120"/>
              </a:rPr>
              <a:t>AWS 공개키로 감싼 회사 키</a:t>
            </a:r>
            <a:r>
              <a:rPr lang="en-US" sz="1450" dirty="0">
                <a:solidFill>
                  <a:srgbClr val="0E1320"/>
                </a:solidFill>
                <a:latin typeface="Noto Sans KR" pitchFamily="34" charset="0"/>
                <a:ea typeface="Noto Sans KR" pitchFamily="34" charset="-122"/>
                <a:cs typeface="Noto Sans KR" pitchFamily="34" charset="-120"/>
              </a:rPr>
              <a:t> + </a:t>
            </a:r>
            <a:r>
              <a:rPr lang="en-US" sz="1450" b="1" dirty="0">
                <a:solidFill>
                  <a:srgbClr val="0E1320"/>
                </a:solidFill>
                <a:latin typeface="Noto Sans KR" pitchFamily="34" charset="0"/>
                <a:ea typeface="Noto Sans KR" pitchFamily="34" charset="-122"/>
                <a:cs typeface="Noto Sans KR" pitchFamily="34" charset="-120"/>
              </a:rPr>
              <a:t>가져오기 토큰</a:t>
            </a:r>
            <a:r>
              <a:rPr lang="en-US" sz="1450" dirty="0">
                <a:solidFill>
                  <a:srgbClr val="0E1320"/>
                </a:solidFill>
                <a:latin typeface="Noto Sans KR" pitchFamily="34" charset="0"/>
                <a:ea typeface="Noto Sans KR" pitchFamily="34" charset="-122"/>
                <a:cs typeface="Noto Sans KR" pitchFamily="34" charset="-120"/>
              </a:rPr>
              <a:t>(AWS가 발급한 짝 확인증) 업로드</a:t>
            </a:r>
            <a:endParaRPr lang="en-US" sz="1450" dirty="0"/>
          </a:p>
        </p:txBody>
      </p:sp>
      <p:sp>
        <p:nvSpPr>
          <p:cNvPr id="14" name="Text 10"/>
          <p:cNvSpPr/>
          <p:nvPr/>
        </p:nvSpPr>
        <p:spPr>
          <a:xfrm>
            <a:off x="7260034" y="4236938"/>
            <a:ext cx="279400" cy="279400"/>
          </a:xfrm>
          <a:custGeom>
            <a:avLst/>
            <a:gdLst/>
            <a:ahLst/>
            <a:cxnLst/>
            <a:rect l="l" t="t" r="r" b="b"/>
            <a:pathLst>
              <a:path w="279400" h="279400">
                <a:moveTo>
                  <a:pt x="38100" y="0"/>
                </a:moveTo>
                <a:lnTo>
                  <a:pt x="241300" y="0"/>
                </a:lnTo>
                <a:arcTo hR="38100" wR="38100" stAng="16200000" swAng="5400000"/>
                <a:lnTo>
                  <a:pt x="279400" y="241300"/>
                </a:lnTo>
                <a:arcTo hR="38100" wR="38100" stAng="0" swAng="5400000"/>
                <a:lnTo>
                  <a:pt x="38100" y="279400"/>
                </a:lnTo>
                <a:arcTo hR="38100" wR="38100" stAng="5400000" swAng="5400000"/>
                <a:lnTo>
                  <a:pt x="0" y="38100"/>
                </a:lnTo>
                <a:arcTo hR="38100" wR="38100" stAng="10800000" swAng="5400000"/>
                <a:close/>
              </a:path>
            </a:pathLst>
          </a:custGeom>
          <a:solidFill>
            <a:srgbClr val="E00000"/>
          </a:solidFill>
          <a:ln/>
        </p:spPr>
        <p:txBody>
          <a:bodyPr wrap="square" lIns="0" tIns="0" rIns="0" bIns="0" rtlCol="0" anchor="t">
            <a:normAutofit/>
          </a:bodyPr>
          <a:lstStyle/>
          <a:p>
            <a:pPr algn="l" indent="0" marL="0">
              <a:lnSpc>
                <a:spcPts val="1960"/>
              </a:lnSpc>
              <a:buNone/>
            </a:pPr>
            <a:r>
              <a:rPr lang="en-US" sz="1400" b="1" dirty="0">
                <a:solidFill>
                  <a:srgbClr val="FFFFFF"/>
                </a:solidFill>
                <a:latin typeface="Noto Sans KR" pitchFamily="34" charset="0"/>
                <a:ea typeface="Noto Sans KR" pitchFamily="34" charset="-122"/>
                <a:cs typeface="Noto Sans KR" pitchFamily="34" charset="-120"/>
              </a:rPr>
              <a:t>3</a:t>
            </a:r>
            <a:endParaRPr lang="en-US" sz="1400" dirty="0"/>
          </a:p>
        </p:txBody>
      </p:sp>
      <p:sp>
        <p:nvSpPr>
          <p:cNvPr id="15" name="Text 11"/>
          <p:cNvSpPr/>
          <p:nvPr/>
        </p:nvSpPr>
        <p:spPr>
          <a:xfrm>
            <a:off x="7641034" y="4236938"/>
            <a:ext cx="3634474" cy="559395"/>
          </a:xfrm>
          <a:prstGeom prst="rect">
            <a:avLst/>
          </a:prstGeom>
          <a:noFill/>
          <a:ln/>
        </p:spPr>
        <p:txBody>
          <a:bodyPr wrap="square" lIns="0" tIns="0" rIns="0" bIns="0" rtlCol="0" anchor="t">
            <a:normAutofit/>
          </a:bodyPr>
          <a:lstStyle/>
          <a:p>
            <a:pPr algn="l" indent="0" marL="0">
              <a:lnSpc>
                <a:spcPts val="2103"/>
              </a:lnSpc>
              <a:buNone/>
            </a:pPr>
            <a:r>
              <a:rPr lang="en-US" sz="1450" dirty="0">
                <a:solidFill>
                  <a:srgbClr val="0E1320"/>
                </a:solidFill>
                <a:latin typeface="Noto Sans KR" pitchFamily="34" charset="0"/>
                <a:ea typeface="Noto Sans KR" pitchFamily="34" charset="-122"/>
                <a:cs typeface="Noto Sans KR" pitchFamily="34" charset="-120"/>
              </a:rPr>
              <a:t>만료 시각 지정: 그 시각에 키가 삭제되고, 그 키로 잠근 데이터는 못 읽음</a:t>
            </a:r>
            <a:endParaRPr lang="en-US" sz="1450" dirty="0"/>
          </a:p>
        </p:txBody>
      </p:sp>
      <p:sp>
        <p:nvSpPr>
          <p:cNvPr id="16" name="Text 12"/>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화면 출처: AWS 블로그 「Bring Your Own Keys with AWS KMS」(AWS KMS 콘솔)</a:t>
            </a:r>
            <a:endParaRPr lang="en-US" sz="1200" dirty="0"/>
          </a:p>
        </p:txBody>
      </p:sp>
      <p:sp>
        <p:nvSpPr>
          <p:cNvPr id="17" name="Text 13"/>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A"/>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823714"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0E1320"/>
                </a:solidFill>
                <a:latin typeface="Noto Sans KR" pitchFamily="34" charset="0"/>
                <a:ea typeface="Noto Sans KR" pitchFamily="34" charset="-122"/>
                <a:cs typeface="Noto Sans KR" pitchFamily="34" charset="-120"/>
              </a:rPr>
              <a:t>DLP</a:t>
            </a:r>
            <a:endParaRPr lang="en-US" sz="2800" dirty="0"/>
          </a:p>
        </p:txBody>
      </p:sp>
      <p:sp>
        <p:nvSpPr>
          <p:cNvPr id="3" name="Text 1"/>
          <p:cNvSpPr/>
          <p:nvPr/>
        </p:nvSpPr>
        <p:spPr>
          <a:xfrm>
            <a:off x="1636514" y="768350"/>
            <a:ext cx="2084189"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577"/>
                </a:solidFill>
                <a:latin typeface="Noto Sans KR" pitchFamily="34" charset="0"/>
                <a:ea typeface="Noto Sans KR" pitchFamily="34" charset="-122"/>
                <a:cs typeface="Noto Sans KR" pitchFamily="34" charset="-120"/>
              </a:rPr>
              <a:t>Data Loss Prevention</a:t>
            </a:r>
            <a:endParaRPr lang="en-US" sz="1400" dirty="0"/>
          </a:p>
        </p:txBody>
      </p:sp>
      <p:sp>
        <p:nvSpPr>
          <p:cNvPr id="4" name="Text 2"/>
          <p:cNvSpPr/>
          <p:nvPr/>
        </p:nvSpPr>
        <p:spPr>
          <a:xfrm>
            <a:off x="812800" y="109468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8A0"/>
                </a:solidFill>
                <a:latin typeface="Noto Sans KR" pitchFamily="34" charset="0"/>
                <a:ea typeface="Noto Sans KR" pitchFamily="34" charset="-122"/>
                <a:cs typeface="Noto Sans KR" pitchFamily="34" charset="-120"/>
              </a:rPr>
              <a:t>기밀·개인정보가 회사 밖으로 나가는 것을 찾아내 막는 솔루션</a:t>
            </a:r>
            <a:endParaRPr lang="en-US" sz="1500" dirty="0"/>
          </a:p>
        </p:txBody>
      </p:sp>
      <p:sp>
        <p:nvSpPr>
          <p:cNvPr id="5" name="Shape 3"/>
          <p:cNvSpPr/>
          <p:nvPr/>
        </p:nvSpPr>
        <p:spPr>
          <a:xfrm>
            <a:off x="815975" y="1542355"/>
            <a:ext cx="6800850" cy="4423470"/>
          </a:xfrm>
          <a:prstGeom prst="roundRect">
            <a:avLst>
              <a:gd name="adj" fmla="val 2225"/>
            </a:avLst>
          </a:prstGeom>
          <a:solidFill>
            <a:srgbClr val="FFFFFF"/>
          </a:solidFill>
          <a:ln w="6350">
            <a:solidFill>
              <a:srgbClr val="DCE1EA"/>
            </a:solidFill>
            <a:prstDash val="solid"/>
          </a:ln>
        </p:spPr>
      </p:sp>
      <p:sp>
        <p:nvSpPr>
          <p:cNvPr id="6" name="Text 4"/>
          <p:cNvSpPr/>
          <p:nvPr/>
        </p:nvSpPr>
        <p:spPr>
          <a:xfrm>
            <a:off x="1003300" y="1704280"/>
            <a:ext cx="1358900" cy="327620"/>
          </a:xfrm>
          <a:prstGeom prst="roundRect">
            <a:avLst>
              <a:gd name="adj" fmla="val 17444"/>
            </a:avLst>
          </a:prstGeom>
          <a:solidFill>
            <a:srgbClr val="FFFFFF"/>
          </a:solidFill>
          <a:ln w="12700">
            <a:solidFill>
              <a:srgbClr val="9AA6BD"/>
            </a:solidFill>
            <a:prstDash val="solid"/>
          </a:ln>
        </p:spPr>
        <p:txBody>
          <a:bodyPr wrap="none" lIns="27711" tIns="27711" rIns="27711" bIns="27711" rtlCol="0" anchor="ctr">
            <a:normAutofit/>
          </a:bodyPr>
          <a:lstStyle/>
          <a:p>
            <a:pPr algn="ctr" indent="0" marL="0">
              <a:lnSpc>
                <a:spcPts val="1680"/>
              </a:lnSpc>
              <a:buNone/>
            </a:pPr>
            <a:r>
              <a:rPr lang="en-US" sz="1200" b="1" dirty="0">
                <a:solidFill>
                  <a:srgbClr val="0E1320"/>
                </a:solidFill>
                <a:latin typeface="Noto Sans KR" pitchFamily="34" charset="0"/>
                <a:ea typeface="Noto Sans KR" pitchFamily="34" charset="-122"/>
                <a:cs typeface="Noto Sans KR" pitchFamily="34" charset="-120"/>
              </a:rPr>
              <a:t>사용자 질의·파일</a:t>
            </a:r>
            <a:endParaRPr lang="en-US" sz="1200" dirty="0"/>
          </a:p>
        </p:txBody>
      </p:sp>
      <p:sp>
        <p:nvSpPr>
          <p:cNvPr id="7" name="Text 5"/>
          <p:cNvSpPr/>
          <p:nvPr/>
        </p:nvSpPr>
        <p:spPr>
          <a:xfrm>
            <a:off x="2432050" y="1734741"/>
            <a:ext cx="241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8A0"/>
                </a:solidFill>
                <a:latin typeface="Noto Sans KR" pitchFamily="34" charset="0"/>
                <a:ea typeface="Noto Sans KR" pitchFamily="34" charset="-122"/>
                <a:cs typeface="Noto Sans KR" pitchFamily="34" charset="-120"/>
              </a:rPr>
              <a:t>→</a:t>
            </a:r>
            <a:endParaRPr lang="en-US" sz="1500" dirty="0"/>
          </a:p>
        </p:txBody>
      </p:sp>
      <p:sp>
        <p:nvSpPr>
          <p:cNvPr id="8" name="Text 6"/>
          <p:cNvSpPr/>
          <p:nvPr/>
        </p:nvSpPr>
        <p:spPr>
          <a:xfrm>
            <a:off x="2692400" y="1704280"/>
            <a:ext cx="1358900" cy="327620"/>
          </a:xfrm>
          <a:prstGeom prst="roundRect">
            <a:avLst>
              <a:gd name="adj" fmla="val 17444"/>
            </a:avLst>
          </a:prstGeom>
          <a:solidFill>
            <a:srgbClr val="FFFFFF"/>
          </a:solidFill>
          <a:ln w="12700">
            <a:solidFill>
              <a:srgbClr val="9AA6BD"/>
            </a:solidFill>
            <a:prstDash val="solid"/>
          </a:ln>
        </p:spPr>
        <p:txBody>
          <a:bodyPr wrap="none" lIns="27711" tIns="27711" rIns="0" bIns="27711" rtlCol="0" anchor="ctr">
            <a:normAutofit/>
          </a:bodyPr>
          <a:lstStyle/>
          <a:p>
            <a:pPr algn="l" indent="0" marL="0">
              <a:lnSpc>
                <a:spcPts val="1680"/>
              </a:lnSpc>
              <a:buNone/>
            </a:pPr>
            <a:r>
              <a:rPr lang="en-US" sz="1200" b="1" dirty="0">
                <a:solidFill>
                  <a:srgbClr val="0E1320"/>
                </a:solidFill>
                <a:latin typeface="Noto Sans KR" pitchFamily="34" charset="0"/>
                <a:ea typeface="Noto Sans KR" pitchFamily="34" charset="-122"/>
                <a:cs typeface="Noto Sans KR" pitchFamily="34" charset="-120"/>
              </a:rPr>
              <a:t>프록시 · TLS 복호화</a:t>
            </a:r>
            <a:endParaRPr lang="en-US" sz="1200" dirty="0"/>
          </a:p>
        </p:txBody>
      </p:sp>
      <p:sp>
        <p:nvSpPr>
          <p:cNvPr id="9" name="Text 7"/>
          <p:cNvSpPr/>
          <p:nvPr/>
        </p:nvSpPr>
        <p:spPr>
          <a:xfrm>
            <a:off x="4121150" y="1734741"/>
            <a:ext cx="241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8A0"/>
                </a:solidFill>
                <a:latin typeface="Noto Sans KR" pitchFamily="34" charset="0"/>
                <a:ea typeface="Noto Sans KR" pitchFamily="34" charset="-122"/>
                <a:cs typeface="Noto Sans KR" pitchFamily="34" charset="-120"/>
              </a:rPr>
              <a:t>→</a:t>
            </a:r>
            <a:endParaRPr lang="en-US" sz="1500" dirty="0"/>
          </a:p>
        </p:txBody>
      </p:sp>
      <p:sp>
        <p:nvSpPr>
          <p:cNvPr id="10" name="Text 8"/>
          <p:cNvSpPr/>
          <p:nvPr/>
        </p:nvSpPr>
        <p:spPr>
          <a:xfrm>
            <a:off x="4381500" y="1704280"/>
            <a:ext cx="1358900" cy="327620"/>
          </a:xfrm>
          <a:prstGeom prst="roundRect">
            <a:avLst>
              <a:gd name="adj" fmla="val 17444"/>
            </a:avLst>
          </a:prstGeom>
          <a:solidFill>
            <a:srgbClr val="1428A0"/>
          </a:solidFill>
          <a:ln w="12700">
            <a:solidFill>
              <a:srgbClr val="1428A0"/>
            </a:solidFill>
            <a:prstDash val="solid"/>
          </a:ln>
        </p:spPr>
        <p:txBody>
          <a:bodyPr wrap="none" lIns="27711" tIns="27711" rIns="27711" bIns="27711" rtlCol="0" anchor="ctr">
            <a:normAutofit/>
          </a:bodyPr>
          <a:lstStyle/>
          <a:p>
            <a:pPr algn="ctr"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DLP 검사</a:t>
            </a:r>
            <a:endParaRPr lang="en-US" sz="1200" dirty="0"/>
          </a:p>
        </p:txBody>
      </p:sp>
      <p:sp>
        <p:nvSpPr>
          <p:cNvPr id="11" name="Text 9"/>
          <p:cNvSpPr/>
          <p:nvPr/>
        </p:nvSpPr>
        <p:spPr>
          <a:xfrm>
            <a:off x="5810250" y="1734741"/>
            <a:ext cx="241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8A0"/>
                </a:solidFill>
                <a:latin typeface="Noto Sans KR" pitchFamily="34" charset="0"/>
                <a:ea typeface="Noto Sans KR" pitchFamily="34" charset="-122"/>
                <a:cs typeface="Noto Sans KR" pitchFamily="34" charset="-120"/>
              </a:rPr>
              <a:t>→</a:t>
            </a:r>
            <a:endParaRPr lang="en-US" sz="1500" dirty="0"/>
          </a:p>
        </p:txBody>
      </p:sp>
      <p:sp>
        <p:nvSpPr>
          <p:cNvPr id="12" name="Text 10"/>
          <p:cNvSpPr/>
          <p:nvPr/>
        </p:nvSpPr>
        <p:spPr>
          <a:xfrm>
            <a:off x="6070600" y="1704280"/>
            <a:ext cx="1358900" cy="327620"/>
          </a:xfrm>
          <a:prstGeom prst="roundRect">
            <a:avLst>
              <a:gd name="adj" fmla="val 17444"/>
            </a:avLst>
          </a:prstGeom>
          <a:solidFill>
            <a:srgbClr val="FFFFFF"/>
          </a:solidFill>
          <a:ln w="12700">
            <a:solidFill>
              <a:srgbClr val="9AA6BD"/>
            </a:solidFill>
            <a:prstDash val="solid"/>
          </a:ln>
        </p:spPr>
        <p:txBody>
          <a:bodyPr wrap="none" lIns="27711" tIns="27711" rIns="27711" bIns="27711" rtlCol="0" anchor="ctr">
            <a:normAutofit/>
          </a:bodyPr>
          <a:lstStyle/>
          <a:p>
            <a:pPr algn="ctr" indent="0" marL="0">
              <a:lnSpc>
                <a:spcPts val="1680"/>
              </a:lnSpc>
              <a:buNone/>
            </a:pPr>
            <a:r>
              <a:rPr lang="en-US" sz="1200" b="1" dirty="0">
                <a:solidFill>
                  <a:srgbClr val="0E1320"/>
                </a:solidFill>
                <a:latin typeface="Noto Sans KR" pitchFamily="34" charset="0"/>
                <a:ea typeface="Noto Sans KR" pitchFamily="34" charset="-122"/>
                <a:cs typeface="Noto Sans KR" pitchFamily="34" charset="-120"/>
              </a:rPr>
              <a:t>AI 서비스</a:t>
            </a:r>
            <a:endParaRPr lang="en-US" sz="1200" dirty="0"/>
          </a:p>
        </p:txBody>
      </p:sp>
      <p:sp>
        <p:nvSpPr>
          <p:cNvPr id="13" name="Text 11"/>
          <p:cNvSpPr/>
          <p:nvPr/>
        </p:nvSpPr>
        <p:spPr>
          <a:xfrm>
            <a:off x="996950" y="2139851"/>
            <a:ext cx="663206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예: Microsoft Purview DLP</a:t>
            </a:r>
            <a:endParaRPr lang="en-US" sz="1200" dirty="0"/>
          </a:p>
        </p:txBody>
      </p:sp>
      <p:sp>
        <p:nvSpPr>
          <p:cNvPr id="14" name="Shape 12"/>
          <p:cNvSpPr/>
          <p:nvPr/>
        </p:nvSpPr>
        <p:spPr>
          <a:xfrm>
            <a:off x="996950" y="2403971"/>
            <a:ext cx="6438900" cy="2822079"/>
          </a:xfrm>
          <a:prstGeom prst="roundRect">
            <a:avLst>
              <a:gd name="adj" fmla="val 2700"/>
            </a:avLst>
          </a:prstGeom>
          <a:solidFill>
            <a:srgbClr val="E9EDF5"/>
          </a:solidFill>
          <a:ln/>
        </p:spPr>
      </p:sp>
      <p:pic>
        <p:nvPicPr>
          <p:cNvPr id="15" name="Image 0" descr="Microsoft Purview DLP가 ChatGPT에 보호된 콘텐츠를 붙여넣는 것을 차단한 화면">    </p:cNvPr>
          <p:cNvPicPr>
            <a:picLocks noChangeAspect="1"/>
          </p:cNvPicPr>
          <p:nvPr/>
        </p:nvPicPr>
        <p:blipFill>
          <a:blip r:embed="rId1"/>
          <a:srcRect l="0" r="0" t="0" b="0"/>
          <a:stretch/>
        </p:blipFill>
        <p:spPr>
          <a:xfrm>
            <a:off x="996950" y="2329160"/>
            <a:ext cx="6438900" cy="2971800"/>
          </a:xfrm>
          <a:prstGeom prst="rect">
            <a:avLst/>
          </a:prstGeom>
        </p:spPr>
      </p:pic>
      <p:sp>
        <p:nvSpPr>
          <p:cNvPr id="16" name="Text 13"/>
          <p:cNvSpPr/>
          <p:nvPr/>
        </p:nvSpPr>
        <p:spPr>
          <a:xfrm>
            <a:off x="996950" y="5327650"/>
            <a:ext cx="215900" cy="215900"/>
          </a:xfrm>
          <a:custGeom>
            <a:avLst/>
            <a:gdLst/>
            <a:ahLst/>
            <a:cxnLst/>
            <a:rect l="l" t="t" r="r" b="b"/>
            <a:pathLst>
              <a:path w="215900" h="215900">
                <a:moveTo>
                  <a:pt x="25400" y="0"/>
                </a:moveTo>
                <a:lnTo>
                  <a:pt x="190500" y="0"/>
                </a:lnTo>
                <a:arcTo hR="25400" wR="25400" stAng="16200000" swAng="5400000"/>
                <a:lnTo>
                  <a:pt x="215900" y="190500"/>
                </a:lnTo>
                <a:arcTo hR="25400" wR="25400" stAng="0" swAng="5400000"/>
                <a:lnTo>
                  <a:pt x="25400" y="215900"/>
                </a:lnTo>
                <a:arcTo hR="25400" wR="25400" stAng="5400000" swAng="5400000"/>
                <a:lnTo>
                  <a:pt x="0" y="25400"/>
                </a:lnTo>
                <a:arcTo hR="25400" wR="25400" stAng="10800000" swAng="5400000"/>
                <a:close/>
              </a:path>
            </a:pathLst>
          </a:custGeom>
          <a:solidFill>
            <a:srgbClr val="E00000"/>
          </a:solid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1</a:t>
            </a:r>
            <a:endParaRPr lang="en-US" sz="1200" dirty="0"/>
          </a:p>
        </p:txBody>
      </p:sp>
      <p:sp>
        <p:nvSpPr>
          <p:cNvPr id="17" name="Text 14"/>
          <p:cNvSpPr/>
          <p:nvPr/>
        </p:nvSpPr>
        <p:spPr>
          <a:xfrm>
            <a:off x="1289050" y="5327650"/>
            <a:ext cx="63312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320"/>
                </a:solidFill>
                <a:latin typeface="Noto Sans KR" pitchFamily="34" charset="0"/>
                <a:ea typeface="Noto Sans KR" pitchFamily="34" charset="-122"/>
                <a:cs typeface="Noto Sans KR" pitchFamily="34" charset="-120"/>
              </a:rPr>
              <a:t>직원이 사내 문서 내용을 ChatGPT 입력창에 붙여넣기 시도</a:t>
            </a:r>
            <a:endParaRPr lang="en-US" sz="1200" dirty="0"/>
          </a:p>
        </p:txBody>
      </p:sp>
      <p:sp>
        <p:nvSpPr>
          <p:cNvPr id="18" name="Text 15"/>
          <p:cNvSpPr/>
          <p:nvPr/>
        </p:nvSpPr>
        <p:spPr>
          <a:xfrm>
            <a:off x="996950" y="5594350"/>
            <a:ext cx="215900" cy="215900"/>
          </a:xfrm>
          <a:custGeom>
            <a:avLst/>
            <a:gdLst/>
            <a:ahLst/>
            <a:cxnLst/>
            <a:rect l="l" t="t" r="r" b="b"/>
            <a:pathLst>
              <a:path w="215900" h="215900">
                <a:moveTo>
                  <a:pt x="25400" y="0"/>
                </a:moveTo>
                <a:lnTo>
                  <a:pt x="190500" y="0"/>
                </a:lnTo>
                <a:arcTo hR="25400" wR="25400" stAng="16200000" swAng="5400000"/>
                <a:lnTo>
                  <a:pt x="215900" y="190500"/>
                </a:lnTo>
                <a:arcTo hR="25400" wR="25400" stAng="0" swAng="5400000"/>
                <a:lnTo>
                  <a:pt x="25400" y="215900"/>
                </a:lnTo>
                <a:arcTo hR="25400" wR="25400" stAng="5400000" swAng="5400000"/>
                <a:lnTo>
                  <a:pt x="0" y="25400"/>
                </a:lnTo>
                <a:arcTo hR="25400" wR="25400" stAng="10800000" swAng="5400000"/>
                <a:close/>
              </a:path>
            </a:pathLst>
          </a:custGeom>
          <a:solidFill>
            <a:srgbClr val="E00000"/>
          </a:solid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2</a:t>
            </a:r>
            <a:endParaRPr lang="en-US" sz="1200" dirty="0"/>
          </a:p>
        </p:txBody>
      </p:sp>
      <p:sp>
        <p:nvSpPr>
          <p:cNvPr id="19" name="Text 16"/>
          <p:cNvSpPr/>
          <p:nvPr/>
        </p:nvSpPr>
        <p:spPr>
          <a:xfrm>
            <a:off x="1289050" y="5594350"/>
            <a:ext cx="63312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320"/>
                </a:solidFill>
                <a:latin typeface="Noto Sans KR" pitchFamily="34" charset="0"/>
                <a:ea typeface="Noto Sans KR" pitchFamily="34" charset="-122"/>
                <a:cs typeface="Noto Sans KR" pitchFamily="34" charset="-120"/>
              </a:rPr>
              <a:t>DLP가 보호된(기밀) 콘텐츠로 판단해 붙여넣기를 차단하고 안내</a:t>
            </a:r>
            <a:endParaRPr lang="en-US" sz="1200" dirty="0"/>
          </a:p>
        </p:txBody>
      </p:sp>
      <p:sp>
        <p:nvSpPr>
          <p:cNvPr id="20" name="Shape 17"/>
          <p:cNvSpPr/>
          <p:nvPr/>
        </p:nvSpPr>
        <p:spPr>
          <a:xfrm>
            <a:off x="7826375" y="1542355"/>
            <a:ext cx="3549650" cy="4423470"/>
          </a:xfrm>
          <a:prstGeom prst="roundRect">
            <a:avLst>
              <a:gd name="adj" fmla="val 2773"/>
            </a:avLst>
          </a:prstGeom>
          <a:solidFill>
            <a:srgbClr val="FFFFFF"/>
          </a:solidFill>
          <a:ln w="6350">
            <a:solidFill>
              <a:srgbClr val="DCE1EA"/>
            </a:solidFill>
            <a:prstDash val="solid"/>
          </a:ln>
        </p:spPr>
      </p:sp>
      <p:sp>
        <p:nvSpPr>
          <p:cNvPr id="21" name="Text 18"/>
          <p:cNvSpPr/>
          <p:nvPr/>
        </p:nvSpPr>
        <p:spPr>
          <a:xfrm>
            <a:off x="8032750" y="1723330"/>
            <a:ext cx="323100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E1320"/>
                </a:solidFill>
                <a:latin typeface="Noto Sans KR" pitchFamily="34" charset="0"/>
                <a:ea typeface="Noto Sans KR" pitchFamily="34" charset="-122"/>
                <a:cs typeface="Noto Sans KR" pitchFamily="34" charset="-120"/>
              </a:rPr>
              <a:t>AI 서비스 도입 시 확인</a:t>
            </a:r>
            <a:endParaRPr lang="en-US" sz="1500" dirty="0"/>
          </a:p>
        </p:txBody>
      </p:sp>
      <p:sp>
        <p:nvSpPr>
          <p:cNvPr id="22" name="Text 19"/>
          <p:cNvSpPr/>
          <p:nvPr/>
        </p:nvSpPr>
        <p:spPr>
          <a:xfrm>
            <a:off x="8032750" y="2117030"/>
            <a:ext cx="228600" cy="228600"/>
          </a:xfrm>
          <a:custGeom>
            <a:avLst/>
            <a:gdLst/>
            <a:ahLst/>
            <a:cxnLst/>
            <a:rect l="l" t="t" r="r" b="b"/>
            <a:pathLst>
              <a:path w="228600" h="228600">
                <a:moveTo>
                  <a:pt x="114300" y="0"/>
                </a:moveTo>
                <a:lnTo>
                  <a:pt x="114300" y="0"/>
                </a:lnTo>
                <a:arcTo hR="114300" wR="114300" stAng="16200000" swAng="5400000"/>
                <a:lnTo>
                  <a:pt x="228600" y="114300"/>
                </a:lnTo>
                <a:arcTo hR="114300" wR="114300" stAng="0" swAng="5400000"/>
                <a:lnTo>
                  <a:pt x="114300" y="228600"/>
                </a:lnTo>
                <a:arcTo hR="114300" wR="114300" stAng="5400000" swAng="5400000"/>
                <a:lnTo>
                  <a:pt x="0" y="114300"/>
                </a:lnTo>
                <a:arcTo hR="114300" wR="114300" stAng="10800000" swAng="5400000"/>
                <a:close/>
              </a:path>
            </a:pathLst>
          </a:custGeom>
          <a:solidFill>
            <a:srgbClr val="1428A0"/>
          </a:solid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1</a:t>
            </a:r>
            <a:endParaRPr lang="en-US" sz="1200" dirty="0"/>
          </a:p>
        </p:txBody>
      </p:sp>
      <p:sp>
        <p:nvSpPr>
          <p:cNvPr id="23" name="Text 20"/>
          <p:cNvSpPr/>
          <p:nvPr/>
        </p:nvSpPr>
        <p:spPr>
          <a:xfrm>
            <a:off x="8350250" y="2117030"/>
            <a:ext cx="290398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E1320"/>
                </a:solidFill>
                <a:latin typeface="Noto Sans KR" pitchFamily="34" charset="0"/>
                <a:ea typeface="Noto Sans KR" pitchFamily="34" charset="-122"/>
                <a:cs typeface="Noto Sans KR" pitchFamily="34" charset="-120"/>
              </a:rPr>
              <a:t>AI 질의·업로드 파일을 DLP가 검사할 수 있는가 (TLS 복호화 필요)</a:t>
            </a:r>
            <a:endParaRPr lang="en-US" sz="1400" dirty="0"/>
          </a:p>
        </p:txBody>
      </p:sp>
      <p:sp>
        <p:nvSpPr>
          <p:cNvPr id="24" name="Text 21"/>
          <p:cNvSpPr/>
          <p:nvPr/>
        </p:nvSpPr>
        <p:spPr>
          <a:xfrm>
            <a:off x="8032750" y="2741712"/>
            <a:ext cx="228600" cy="228600"/>
          </a:xfrm>
          <a:custGeom>
            <a:avLst/>
            <a:gdLst/>
            <a:ahLst/>
            <a:cxnLst/>
            <a:rect l="l" t="t" r="r" b="b"/>
            <a:pathLst>
              <a:path w="228600" h="228600">
                <a:moveTo>
                  <a:pt x="114300" y="0"/>
                </a:moveTo>
                <a:lnTo>
                  <a:pt x="114300" y="0"/>
                </a:lnTo>
                <a:arcTo hR="114300" wR="114300" stAng="16200000" swAng="5400000"/>
                <a:lnTo>
                  <a:pt x="228600" y="114300"/>
                </a:lnTo>
                <a:arcTo hR="114300" wR="114300" stAng="0" swAng="5400000"/>
                <a:lnTo>
                  <a:pt x="114300" y="228600"/>
                </a:lnTo>
                <a:arcTo hR="114300" wR="114300" stAng="5400000" swAng="5400000"/>
                <a:lnTo>
                  <a:pt x="0" y="114300"/>
                </a:lnTo>
                <a:arcTo hR="114300" wR="114300" stAng="10800000" swAng="5400000"/>
                <a:close/>
              </a:path>
            </a:pathLst>
          </a:custGeom>
          <a:solidFill>
            <a:srgbClr val="1428A0"/>
          </a:solid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2</a:t>
            </a:r>
            <a:endParaRPr lang="en-US" sz="1200" dirty="0"/>
          </a:p>
        </p:txBody>
      </p:sp>
      <p:sp>
        <p:nvSpPr>
          <p:cNvPr id="25" name="Text 22"/>
          <p:cNvSpPr/>
          <p:nvPr/>
        </p:nvSpPr>
        <p:spPr>
          <a:xfrm>
            <a:off x="8350250" y="2741712"/>
            <a:ext cx="290398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E1320"/>
                </a:solidFill>
                <a:latin typeface="Noto Sans KR" pitchFamily="34" charset="0"/>
                <a:ea typeface="Noto Sans KR" pitchFamily="34" charset="-122"/>
                <a:cs typeface="Noto Sans KR" pitchFamily="34" charset="-120"/>
              </a:rPr>
              <a:t>기밀이 탐지되면 차단·마스킹이 되는가</a:t>
            </a:r>
            <a:endParaRPr lang="en-US" sz="1400" dirty="0"/>
          </a:p>
        </p:txBody>
      </p:sp>
      <p:sp>
        <p:nvSpPr>
          <p:cNvPr id="26" name="Text 23"/>
          <p:cNvSpPr/>
          <p:nvPr/>
        </p:nvSpPr>
        <p:spPr>
          <a:xfrm>
            <a:off x="8032750" y="3366393"/>
            <a:ext cx="228600" cy="228600"/>
          </a:xfrm>
          <a:custGeom>
            <a:avLst/>
            <a:gdLst/>
            <a:ahLst/>
            <a:cxnLst/>
            <a:rect l="l" t="t" r="r" b="b"/>
            <a:pathLst>
              <a:path w="228600" h="228600">
                <a:moveTo>
                  <a:pt x="114300" y="0"/>
                </a:moveTo>
                <a:lnTo>
                  <a:pt x="114300" y="0"/>
                </a:lnTo>
                <a:arcTo hR="114300" wR="114300" stAng="16200000" swAng="5400000"/>
                <a:lnTo>
                  <a:pt x="228600" y="114300"/>
                </a:lnTo>
                <a:arcTo hR="114300" wR="114300" stAng="0" swAng="5400000"/>
                <a:lnTo>
                  <a:pt x="114300" y="228600"/>
                </a:lnTo>
                <a:arcTo hR="114300" wR="114300" stAng="5400000" swAng="5400000"/>
                <a:lnTo>
                  <a:pt x="0" y="114300"/>
                </a:lnTo>
                <a:arcTo hR="114300" wR="114300" stAng="10800000" swAng="5400000"/>
                <a:close/>
              </a:path>
            </a:pathLst>
          </a:custGeom>
          <a:solidFill>
            <a:srgbClr val="1428A0"/>
          </a:solid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3</a:t>
            </a:r>
            <a:endParaRPr lang="en-US" sz="1200" dirty="0"/>
          </a:p>
        </p:txBody>
      </p:sp>
      <p:sp>
        <p:nvSpPr>
          <p:cNvPr id="27" name="Text 24"/>
          <p:cNvSpPr/>
          <p:nvPr/>
        </p:nvSpPr>
        <p:spPr>
          <a:xfrm>
            <a:off x="8350250" y="3366393"/>
            <a:ext cx="290398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E1320"/>
                </a:solidFill>
                <a:latin typeface="Noto Sans KR" pitchFamily="34" charset="0"/>
                <a:ea typeface="Noto Sans KR" pitchFamily="34" charset="-122"/>
                <a:cs typeface="Noto Sans KR" pitchFamily="34" charset="-120"/>
              </a:rPr>
              <a:t>탐지 결과가 로그로 남아 사후 추적이 되는가</a:t>
            </a:r>
            <a:endParaRPr lang="en-US" sz="1400" dirty="0"/>
          </a:p>
        </p:txBody>
      </p:sp>
      <p:sp>
        <p:nvSpPr>
          <p:cNvPr id="28" name="Text 25"/>
          <p:cNvSpPr/>
          <p:nvPr/>
        </p:nvSpPr>
        <p:spPr>
          <a:xfrm>
            <a:off x="8032750" y="5142309"/>
            <a:ext cx="1898154" cy="289520"/>
          </a:xfrm>
          <a:prstGeom prst="roundRect">
            <a:avLst>
              <a:gd name="adj" fmla="val 17546"/>
            </a:avLst>
          </a:prstGeom>
          <a:solidFill>
            <a:srgbClr val="EEF1FB"/>
          </a:solidFill>
          <a:ln/>
        </p:spPr>
        <p:txBody>
          <a:bodyPr wrap="none" lIns="0" tIns="0" rIns="0" bIns="0" rtlCol="0" anchor="ctr">
            <a:normAutofit/>
          </a:bodyPr>
          <a:lstStyle/>
          <a:p>
            <a:pPr algn="ctr"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점검 항목 02 데이터 필터링</a:t>
            </a:r>
            <a:endParaRPr lang="en-US" sz="1200" dirty="0"/>
          </a:p>
        </p:txBody>
      </p:sp>
      <p:sp>
        <p:nvSpPr>
          <p:cNvPr id="29" name="Text 26"/>
          <p:cNvSpPr/>
          <p:nvPr/>
        </p:nvSpPr>
        <p:spPr>
          <a:xfrm>
            <a:off x="8032750" y="5495330"/>
            <a:ext cx="1953716" cy="289520"/>
          </a:xfrm>
          <a:prstGeom prst="roundRect">
            <a:avLst>
              <a:gd name="adj" fmla="val 17546"/>
            </a:avLst>
          </a:prstGeom>
          <a:solidFill>
            <a:srgbClr val="EEF1FB"/>
          </a:solidFill>
          <a:ln/>
        </p:spPr>
        <p:txBody>
          <a:bodyPr wrap="none" lIns="0" tIns="0" rIns="0" bIns="0" rtlCol="0" anchor="ctr">
            <a:normAutofit/>
          </a:bodyPr>
          <a:lstStyle/>
          <a:p>
            <a:pPr algn="ctr"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점검 항목 10 모니터링·로그</a:t>
            </a:r>
            <a:endParaRPr lang="en-US" sz="1200" dirty="0"/>
          </a:p>
        </p:txBody>
      </p:sp>
      <p:sp>
        <p:nvSpPr>
          <p:cNvPr id="30" name="Text 27"/>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화면 출처: Practical 365 (Microsoft Purview DLP)</a:t>
            </a:r>
            <a:endParaRPr lang="en-US" sz="1200" dirty="0"/>
          </a:p>
        </p:txBody>
      </p:sp>
      <p:sp>
        <p:nvSpPr>
          <p:cNvPr id="31" name="Text 28"/>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812800" y="609600"/>
            <a:ext cx="10883392" cy="234652"/>
          </a:xfrm>
          <a:prstGeom prst="rect">
            <a:avLst/>
          </a:prstGeom>
          <a:noFill/>
          <a:ln/>
        </p:spPr>
        <p:txBody>
          <a:bodyPr wrap="square" lIns="0" tIns="0" rIns="0" bIns="0" rtlCol="0" anchor="t">
            <a:normAutofit/>
          </a:bodyPr>
          <a:lstStyle/>
          <a:p>
            <a:pPr algn="l" indent="0" marL="0">
              <a:lnSpc>
                <a:spcPts val="1675"/>
              </a:lnSpc>
              <a:buNone/>
            </a:pPr>
            <a:r>
              <a:rPr lang="en-US" sz="1196" b="1" spc="100" kern="0" dirty="0">
                <a:solidFill>
                  <a:srgbClr val="1428A0"/>
                </a:solidFill>
                <a:latin typeface="Noto Sans KR" pitchFamily="34" charset="0"/>
                <a:ea typeface="Noto Sans KR" pitchFamily="34" charset="-122"/>
                <a:cs typeface="Noto Sans KR" pitchFamily="34" charset="-120"/>
              </a:rPr>
              <a:t>02 · 점검 항목</a:t>
            </a:r>
            <a:endParaRPr lang="en-US" sz="1196" dirty="0"/>
          </a:p>
        </p:txBody>
      </p:sp>
      <p:pic>
        <p:nvPicPr>
          <p:cNvPr id="3" name="Image 0" descr="preencoded.png">    </p:cNvPr>
          <p:cNvPicPr>
            <a:picLocks noChangeAspect="1"/>
          </p:cNvPicPr>
          <p:nvPr/>
        </p:nvPicPr>
        <p:blipFill>
          <a:blip r:embed="rId1"/>
          <a:srcRect l="0" r="0" t="0" b="0"/>
          <a:stretch/>
        </p:blipFill>
        <p:spPr>
          <a:xfrm>
            <a:off x="812800" y="924123"/>
            <a:ext cx="342900" cy="342900"/>
          </a:xfrm>
          <a:prstGeom prst="rect">
            <a:avLst/>
          </a:prstGeom>
        </p:spPr>
      </p:pic>
      <p:sp>
        <p:nvSpPr>
          <p:cNvPr id="4" name="Text 1"/>
          <p:cNvSpPr/>
          <p:nvPr>
            <p:ph type="title"/>
          </p:nvPr>
        </p:nvSpPr>
        <p:spPr>
          <a:xfrm>
            <a:off x="1270000" y="891183"/>
            <a:ext cx="3837980"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0E1320"/>
                </a:solidFill>
                <a:latin typeface="Noto Sans KR" pitchFamily="34" charset="0"/>
                <a:ea typeface="Noto Sans KR" pitchFamily="34" charset="-122"/>
                <a:cs typeface="Noto Sans KR" pitchFamily="34" charset="-120"/>
              </a:rPr>
              <a:t>보안대책 12가지 분류</a:t>
            </a:r>
            <a:endParaRPr lang="en-US" sz="2800" dirty="0"/>
          </a:p>
        </p:txBody>
      </p:sp>
      <p:sp>
        <p:nvSpPr>
          <p:cNvPr id="5" name="Shape 2"/>
          <p:cNvSpPr/>
          <p:nvPr/>
        </p:nvSpPr>
        <p:spPr>
          <a:xfrm>
            <a:off x="812800" y="1435894"/>
            <a:ext cx="1333500" cy="0"/>
          </a:xfrm>
          <a:prstGeom prst="line">
            <a:avLst/>
          </a:prstGeom>
          <a:noFill/>
          <a:ln w="25400">
            <a:solidFill>
              <a:srgbClr val="1428A0"/>
            </a:solidFill>
            <a:prstDash val="solid"/>
          </a:ln>
        </p:spPr>
      </p:sp>
      <p:sp>
        <p:nvSpPr>
          <p:cNvPr id="6" name="Text 3"/>
          <p:cNvSpPr/>
          <p:nvPr/>
        </p:nvSpPr>
        <p:spPr>
          <a:xfrm>
            <a:off x="812800" y="1653679"/>
            <a:ext cx="13843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8A0"/>
                </a:solidFill>
                <a:latin typeface="Noto Sans KR" pitchFamily="34" charset="0"/>
                <a:ea typeface="Noto Sans KR" pitchFamily="34" charset="-122"/>
                <a:cs typeface="Noto Sans KR" pitchFamily="34" charset="-120"/>
              </a:rPr>
              <a:t>데이터 보호</a:t>
            </a:r>
            <a:endParaRPr lang="en-US" sz="1400" dirty="0"/>
          </a:p>
        </p:txBody>
      </p:sp>
      <p:sp>
        <p:nvSpPr>
          <p:cNvPr id="7" name="Text 4"/>
          <p:cNvSpPr/>
          <p:nvPr/>
        </p:nvSpPr>
        <p:spPr>
          <a:xfrm>
            <a:off x="812800" y="1901329"/>
            <a:ext cx="138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무엇이 새는가</a:t>
            </a:r>
            <a:endParaRPr lang="en-US" sz="1200" dirty="0"/>
          </a:p>
        </p:txBody>
      </p:sp>
      <p:sp>
        <p:nvSpPr>
          <p:cNvPr id="8" name="Shape 5"/>
          <p:cNvSpPr/>
          <p:nvPr/>
        </p:nvSpPr>
        <p:spPr>
          <a:xfrm>
            <a:off x="2276475" y="1426369"/>
            <a:ext cx="2171700" cy="826691"/>
          </a:xfrm>
          <a:prstGeom prst="roundRect">
            <a:avLst>
              <a:gd name="adj" fmla="val 8833"/>
            </a:avLst>
          </a:prstGeom>
          <a:solidFill>
            <a:srgbClr val="FFFFFF"/>
          </a:solidFill>
          <a:ln w="6350">
            <a:solidFill>
              <a:srgbClr val="DCE1EA"/>
            </a:solidFill>
            <a:prstDash val="solid"/>
          </a:ln>
        </p:spPr>
      </p:sp>
      <p:sp>
        <p:nvSpPr>
          <p:cNvPr id="9" name="Text 6"/>
          <p:cNvSpPr/>
          <p:nvPr/>
        </p:nvSpPr>
        <p:spPr>
          <a:xfrm>
            <a:off x="2419350" y="1505744"/>
            <a:ext cx="279400" cy="25112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01</a:t>
            </a:r>
            <a:endParaRPr lang="en-US" sz="1300" dirty="0"/>
          </a:p>
        </p:txBody>
      </p:sp>
      <p:sp>
        <p:nvSpPr>
          <p:cNvPr id="10" name="Text 7"/>
          <p:cNvSpPr/>
          <p:nvPr/>
        </p:nvSpPr>
        <p:spPr>
          <a:xfrm>
            <a:off x="2711450" y="1505744"/>
            <a:ext cx="1644650" cy="251123"/>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데이터 격리</a:t>
            </a:r>
            <a:endParaRPr lang="en-US" sz="1300" dirty="0"/>
          </a:p>
        </p:txBody>
      </p:sp>
      <p:sp>
        <p:nvSpPr>
          <p:cNvPr id="11" name="Text 8"/>
          <p:cNvSpPr/>
          <p:nvPr/>
        </p:nvSpPr>
        <p:spPr>
          <a:xfrm>
            <a:off x="2419350" y="1756866"/>
            <a:ext cx="1942529" cy="442218"/>
          </a:xfrm>
          <a:prstGeom prst="rect">
            <a:avLst/>
          </a:prstGeom>
          <a:noFill/>
          <a:ln/>
        </p:spPr>
        <p:txBody>
          <a:bodyPr wrap="square" lIns="0" tIns="0" rIns="0" bIns="0" rtlCol="0" anchor="t">
            <a:normAutofit/>
          </a:bodyPr>
          <a:lstStyle/>
          <a:p>
            <a:pPr algn="l" indent="0" marL="0">
              <a:lnSpc>
                <a:spcPts val="1659"/>
              </a:lnSpc>
              <a:buNone/>
            </a:pPr>
            <a:r>
              <a:rPr lang="en-US" sz="1185" b="1" dirty="0">
                <a:solidFill>
                  <a:srgbClr val="C8102E"/>
                </a:solidFill>
                <a:latin typeface="Noto Sans KR" pitchFamily="34" charset="0"/>
                <a:ea typeface="Noto Sans KR" pitchFamily="34" charset="-122"/>
                <a:cs typeface="Noto Sans KR" pitchFamily="34" charset="-120"/>
              </a:rPr>
              <a:t>학습 미사용 계약</a:t>
            </a:r>
            <a:r>
              <a:rPr lang="en-US" sz="1185" dirty="0">
                <a:solidFill>
                  <a:srgbClr val="4A5366"/>
                </a:solidFill>
                <a:latin typeface="Noto Sans KR" pitchFamily="34" charset="0"/>
                <a:ea typeface="Noto Sans KR" pitchFamily="34" charset="-122"/>
                <a:cs typeface="Noto Sans KR" pitchFamily="34" charset="-120"/>
              </a:rPr>
              <a:t>, 멀티테넌트 분리</a:t>
            </a:r>
            <a:endParaRPr lang="en-US" sz="1185" dirty="0"/>
          </a:p>
        </p:txBody>
      </p:sp>
      <p:sp>
        <p:nvSpPr>
          <p:cNvPr id="12" name="Shape 9"/>
          <p:cNvSpPr/>
          <p:nvPr/>
        </p:nvSpPr>
        <p:spPr>
          <a:xfrm>
            <a:off x="4581525" y="1426369"/>
            <a:ext cx="2171700" cy="826691"/>
          </a:xfrm>
          <a:prstGeom prst="roundRect">
            <a:avLst>
              <a:gd name="adj" fmla="val 8833"/>
            </a:avLst>
          </a:prstGeom>
          <a:solidFill>
            <a:srgbClr val="FFFFFF"/>
          </a:solidFill>
          <a:ln w="6350">
            <a:solidFill>
              <a:srgbClr val="DCE1EA"/>
            </a:solidFill>
            <a:prstDash val="solid"/>
          </a:ln>
        </p:spPr>
      </p:sp>
      <p:sp>
        <p:nvSpPr>
          <p:cNvPr id="13" name="Text 10"/>
          <p:cNvSpPr/>
          <p:nvPr/>
        </p:nvSpPr>
        <p:spPr>
          <a:xfrm>
            <a:off x="4724400" y="1505744"/>
            <a:ext cx="279400" cy="25112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02</a:t>
            </a:r>
            <a:endParaRPr lang="en-US" sz="1300" dirty="0"/>
          </a:p>
        </p:txBody>
      </p:sp>
      <p:sp>
        <p:nvSpPr>
          <p:cNvPr id="14" name="Text 11"/>
          <p:cNvSpPr/>
          <p:nvPr/>
        </p:nvSpPr>
        <p:spPr>
          <a:xfrm>
            <a:off x="5016500" y="1505744"/>
            <a:ext cx="1644650" cy="251123"/>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데이터 필터링</a:t>
            </a:r>
            <a:endParaRPr lang="en-US" sz="1300" dirty="0"/>
          </a:p>
        </p:txBody>
      </p:sp>
      <p:sp>
        <p:nvSpPr>
          <p:cNvPr id="15" name="Text 12"/>
          <p:cNvSpPr/>
          <p:nvPr/>
        </p:nvSpPr>
        <p:spPr>
          <a:xfrm>
            <a:off x="4724400" y="1756866"/>
            <a:ext cx="1942529" cy="442218"/>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4A5366"/>
                </a:solidFill>
                <a:latin typeface="Noto Sans KR" pitchFamily="34" charset="0"/>
                <a:ea typeface="Noto Sans KR" pitchFamily="34" charset="-122"/>
                <a:cs typeface="Noto Sans KR" pitchFamily="34" charset="-120"/>
              </a:rPr>
              <a:t>질의·응답·검색 데이터 민감정보 차단, 무분별한 수집 금지</a:t>
            </a:r>
            <a:endParaRPr lang="en-US" sz="1185" dirty="0"/>
          </a:p>
        </p:txBody>
      </p:sp>
      <p:sp>
        <p:nvSpPr>
          <p:cNvPr id="16" name="Shape 13"/>
          <p:cNvSpPr/>
          <p:nvPr/>
        </p:nvSpPr>
        <p:spPr>
          <a:xfrm>
            <a:off x="6886575" y="1426369"/>
            <a:ext cx="2171700" cy="826691"/>
          </a:xfrm>
          <a:prstGeom prst="roundRect">
            <a:avLst>
              <a:gd name="adj" fmla="val 8833"/>
            </a:avLst>
          </a:prstGeom>
          <a:solidFill>
            <a:srgbClr val="FFFFFF"/>
          </a:solidFill>
          <a:ln w="6350">
            <a:solidFill>
              <a:srgbClr val="DCE1EA"/>
            </a:solidFill>
            <a:prstDash val="solid"/>
          </a:ln>
        </p:spPr>
      </p:sp>
      <p:sp>
        <p:nvSpPr>
          <p:cNvPr id="17" name="Text 14"/>
          <p:cNvSpPr/>
          <p:nvPr/>
        </p:nvSpPr>
        <p:spPr>
          <a:xfrm>
            <a:off x="7029450" y="1505744"/>
            <a:ext cx="279400" cy="25112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03</a:t>
            </a:r>
            <a:endParaRPr lang="en-US" sz="1300" dirty="0"/>
          </a:p>
        </p:txBody>
      </p:sp>
      <p:sp>
        <p:nvSpPr>
          <p:cNvPr id="18" name="Text 15"/>
          <p:cNvSpPr/>
          <p:nvPr/>
        </p:nvSpPr>
        <p:spPr>
          <a:xfrm>
            <a:off x="7321550" y="1505744"/>
            <a:ext cx="1644650" cy="251123"/>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암호화·보관</a:t>
            </a:r>
            <a:endParaRPr lang="en-US" sz="1300" dirty="0"/>
          </a:p>
        </p:txBody>
      </p:sp>
      <p:sp>
        <p:nvSpPr>
          <p:cNvPr id="19" name="Text 16"/>
          <p:cNvSpPr/>
          <p:nvPr/>
        </p:nvSpPr>
        <p:spPr>
          <a:xfrm>
            <a:off x="7029450" y="1756866"/>
            <a:ext cx="1942529" cy="442218"/>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4A5366"/>
                </a:solidFill>
                <a:latin typeface="Noto Sans KR" pitchFamily="34" charset="0"/>
                <a:ea typeface="Noto Sans KR" pitchFamily="34" charset="-122"/>
                <a:cs typeface="Noto Sans KR" pitchFamily="34" charset="-120"/>
              </a:rPr>
              <a:t>저장·전송·모델 암호화, 필요 데이터만 보관</a:t>
            </a:r>
            <a:endParaRPr lang="en-US" sz="1185" dirty="0"/>
          </a:p>
        </p:txBody>
      </p:sp>
      <p:sp>
        <p:nvSpPr>
          <p:cNvPr id="20" name="Shape 17"/>
          <p:cNvSpPr/>
          <p:nvPr/>
        </p:nvSpPr>
        <p:spPr>
          <a:xfrm>
            <a:off x="812800" y="2332434"/>
            <a:ext cx="1333500" cy="0"/>
          </a:xfrm>
          <a:prstGeom prst="line">
            <a:avLst/>
          </a:prstGeom>
          <a:noFill/>
          <a:ln w="25400">
            <a:solidFill>
              <a:srgbClr val="1428A0"/>
            </a:solidFill>
            <a:prstDash val="solid"/>
          </a:ln>
        </p:spPr>
      </p:sp>
      <p:sp>
        <p:nvSpPr>
          <p:cNvPr id="21" name="Text 18"/>
          <p:cNvSpPr/>
          <p:nvPr/>
        </p:nvSpPr>
        <p:spPr>
          <a:xfrm>
            <a:off x="812800" y="2550120"/>
            <a:ext cx="13843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8A0"/>
                </a:solidFill>
                <a:latin typeface="Noto Sans KR" pitchFamily="34" charset="0"/>
                <a:ea typeface="Noto Sans KR" pitchFamily="34" charset="-122"/>
                <a:cs typeface="Noto Sans KR" pitchFamily="34" charset="-120"/>
              </a:rPr>
              <a:t>계정·접근 통제</a:t>
            </a:r>
            <a:endParaRPr lang="en-US" sz="1400" dirty="0"/>
          </a:p>
        </p:txBody>
      </p:sp>
      <p:sp>
        <p:nvSpPr>
          <p:cNvPr id="22" name="Text 19"/>
          <p:cNvSpPr/>
          <p:nvPr/>
        </p:nvSpPr>
        <p:spPr>
          <a:xfrm>
            <a:off x="812800" y="2797770"/>
            <a:ext cx="138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누가 들어오는가</a:t>
            </a:r>
            <a:endParaRPr lang="en-US" sz="1200" dirty="0"/>
          </a:p>
        </p:txBody>
      </p:sp>
      <p:sp>
        <p:nvSpPr>
          <p:cNvPr id="23" name="Shape 20"/>
          <p:cNvSpPr/>
          <p:nvPr/>
        </p:nvSpPr>
        <p:spPr>
          <a:xfrm>
            <a:off x="2276475" y="2322909"/>
            <a:ext cx="2171700" cy="826591"/>
          </a:xfrm>
          <a:prstGeom prst="roundRect">
            <a:avLst>
              <a:gd name="adj" fmla="val 8834"/>
            </a:avLst>
          </a:prstGeom>
          <a:solidFill>
            <a:srgbClr val="FFFFFF"/>
          </a:solidFill>
          <a:ln w="6350">
            <a:solidFill>
              <a:srgbClr val="DCE1EA"/>
            </a:solidFill>
            <a:prstDash val="solid"/>
          </a:ln>
        </p:spPr>
      </p:sp>
      <p:sp>
        <p:nvSpPr>
          <p:cNvPr id="24" name="Text 21"/>
          <p:cNvSpPr/>
          <p:nvPr/>
        </p:nvSpPr>
        <p:spPr>
          <a:xfrm>
            <a:off x="2419350" y="2402284"/>
            <a:ext cx="279400" cy="25112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04</a:t>
            </a:r>
            <a:endParaRPr lang="en-US" sz="1300" dirty="0"/>
          </a:p>
        </p:txBody>
      </p:sp>
      <p:sp>
        <p:nvSpPr>
          <p:cNvPr id="25" name="Text 22"/>
          <p:cNvSpPr/>
          <p:nvPr/>
        </p:nvSpPr>
        <p:spPr>
          <a:xfrm>
            <a:off x="2711450" y="2402284"/>
            <a:ext cx="1644650" cy="251123"/>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계정·인증</a:t>
            </a:r>
            <a:endParaRPr lang="en-US" sz="1300" dirty="0"/>
          </a:p>
        </p:txBody>
      </p:sp>
      <p:sp>
        <p:nvSpPr>
          <p:cNvPr id="26" name="Text 23"/>
          <p:cNvSpPr/>
          <p:nvPr/>
        </p:nvSpPr>
        <p:spPr>
          <a:xfrm>
            <a:off x="2419350" y="2653407"/>
            <a:ext cx="1942529" cy="442119"/>
          </a:xfrm>
          <a:prstGeom prst="rect">
            <a:avLst/>
          </a:prstGeom>
          <a:noFill/>
          <a:ln/>
        </p:spPr>
        <p:txBody>
          <a:bodyPr wrap="square" lIns="0" tIns="0" rIns="0" bIns="0" rtlCol="0" anchor="t">
            <a:normAutofit/>
          </a:bodyPr>
          <a:lstStyle/>
          <a:p>
            <a:pPr algn="l" indent="0" marL="0">
              <a:lnSpc>
                <a:spcPts val="1659"/>
              </a:lnSpc>
              <a:buNone/>
            </a:pPr>
            <a:r>
              <a:rPr lang="en-US" sz="1185" b="1" dirty="0">
                <a:solidFill>
                  <a:srgbClr val="C8102E"/>
                </a:solidFill>
                <a:latin typeface="Noto Sans KR" pitchFamily="34" charset="0"/>
                <a:ea typeface="Noto Sans KR" pitchFamily="34" charset="-122"/>
                <a:cs typeface="Noto Sans KR" pitchFamily="34" charset="-120"/>
              </a:rPr>
              <a:t>MFA, 사외접속·개인계정 차단</a:t>
            </a:r>
            <a:r>
              <a:rPr lang="en-US" sz="1185" dirty="0">
                <a:solidFill>
                  <a:srgbClr val="4A5366"/>
                </a:solidFill>
                <a:latin typeface="Noto Sans KR" pitchFamily="34" charset="0"/>
                <a:ea typeface="Noto Sans KR" pitchFamily="34" charset="-122"/>
                <a:cs typeface="Noto Sans KR" pitchFamily="34" charset="-120"/>
              </a:rPr>
              <a:t>, 인사 연동</a:t>
            </a:r>
            <a:endParaRPr lang="en-US" sz="1185" dirty="0"/>
          </a:p>
        </p:txBody>
      </p:sp>
      <p:sp>
        <p:nvSpPr>
          <p:cNvPr id="27" name="Shape 24"/>
          <p:cNvSpPr/>
          <p:nvPr/>
        </p:nvSpPr>
        <p:spPr>
          <a:xfrm>
            <a:off x="4581525" y="2322909"/>
            <a:ext cx="2171700" cy="826591"/>
          </a:xfrm>
          <a:prstGeom prst="roundRect">
            <a:avLst>
              <a:gd name="adj" fmla="val 8834"/>
            </a:avLst>
          </a:prstGeom>
          <a:solidFill>
            <a:srgbClr val="FFFFFF"/>
          </a:solidFill>
          <a:ln w="6350">
            <a:solidFill>
              <a:srgbClr val="DCE1EA"/>
            </a:solidFill>
            <a:prstDash val="solid"/>
          </a:ln>
        </p:spPr>
      </p:sp>
      <p:sp>
        <p:nvSpPr>
          <p:cNvPr id="28" name="Text 25"/>
          <p:cNvSpPr/>
          <p:nvPr/>
        </p:nvSpPr>
        <p:spPr>
          <a:xfrm>
            <a:off x="4724400" y="2402284"/>
            <a:ext cx="279400" cy="25112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05</a:t>
            </a:r>
            <a:endParaRPr lang="en-US" sz="1300" dirty="0"/>
          </a:p>
        </p:txBody>
      </p:sp>
      <p:sp>
        <p:nvSpPr>
          <p:cNvPr id="29" name="Text 26"/>
          <p:cNvSpPr/>
          <p:nvPr/>
        </p:nvSpPr>
        <p:spPr>
          <a:xfrm>
            <a:off x="5016500" y="2402284"/>
            <a:ext cx="1644650" cy="251123"/>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권한·인가</a:t>
            </a:r>
            <a:endParaRPr lang="en-US" sz="1300" dirty="0"/>
          </a:p>
        </p:txBody>
      </p:sp>
      <p:sp>
        <p:nvSpPr>
          <p:cNvPr id="30" name="Text 27"/>
          <p:cNvSpPr/>
          <p:nvPr/>
        </p:nvSpPr>
        <p:spPr>
          <a:xfrm>
            <a:off x="4724400" y="2653407"/>
            <a:ext cx="1942529" cy="442119"/>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4A5366"/>
                </a:solidFill>
                <a:latin typeface="Noto Sans KR" pitchFamily="34" charset="0"/>
                <a:ea typeface="Noto Sans KR" pitchFamily="34" charset="-122"/>
                <a:cs typeface="Noto Sans KR" pitchFamily="34" charset="-120"/>
              </a:rPr>
              <a:t>사람·에이전트·MCP 모두 의도한 권한만</a:t>
            </a:r>
            <a:endParaRPr lang="en-US" sz="1185" dirty="0"/>
          </a:p>
        </p:txBody>
      </p:sp>
      <p:sp>
        <p:nvSpPr>
          <p:cNvPr id="31" name="Shape 28"/>
          <p:cNvSpPr/>
          <p:nvPr/>
        </p:nvSpPr>
        <p:spPr>
          <a:xfrm>
            <a:off x="812800" y="3228876"/>
            <a:ext cx="1333500" cy="0"/>
          </a:xfrm>
          <a:prstGeom prst="line">
            <a:avLst/>
          </a:prstGeom>
          <a:noFill/>
          <a:ln w="25400">
            <a:solidFill>
              <a:srgbClr val="1428A0"/>
            </a:solidFill>
            <a:prstDash val="solid"/>
          </a:ln>
        </p:spPr>
      </p:sp>
      <p:sp>
        <p:nvSpPr>
          <p:cNvPr id="32" name="Text 29"/>
          <p:cNvSpPr/>
          <p:nvPr/>
        </p:nvSpPr>
        <p:spPr>
          <a:xfrm>
            <a:off x="812800" y="3446562"/>
            <a:ext cx="13843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8A0"/>
                </a:solidFill>
                <a:latin typeface="Noto Sans KR" pitchFamily="34" charset="0"/>
                <a:ea typeface="Noto Sans KR" pitchFamily="34" charset="-122"/>
                <a:cs typeface="Noto Sans KR" pitchFamily="34" charset="-120"/>
              </a:rPr>
              <a:t>에이전트 실행</a:t>
            </a:r>
            <a:endParaRPr lang="en-US" sz="1400" dirty="0"/>
          </a:p>
        </p:txBody>
      </p:sp>
      <p:sp>
        <p:nvSpPr>
          <p:cNvPr id="33" name="Text 30"/>
          <p:cNvSpPr/>
          <p:nvPr/>
        </p:nvSpPr>
        <p:spPr>
          <a:xfrm>
            <a:off x="812800" y="3694212"/>
            <a:ext cx="138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무엇을 실행하는가</a:t>
            </a:r>
            <a:endParaRPr lang="en-US" sz="1200" dirty="0"/>
          </a:p>
        </p:txBody>
      </p:sp>
      <p:sp>
        <p:nvSpPr>
          <p:cNvPr id="34" name="Shape 31"/>
          <p:cNvSpPr/>
          <p:nvPr/>
        </p:nvSpPr>
        <p:spPr>
          <a:xfrm>
            <a:off x="2276475" y="3219351"/>
            <a:ext cx="2171700" cy="826591"/>
          </a:xfrm>
          <a:prstGeom prst="roundRect">
            <a:avLst>
              <a:gd name="adj" fmla="val 8834"/>
            </a:avLst>
          </a:prstGeom>
          <a:solidFill>
            <a:srgbClr val="FFFFFF"/>
          </a:solidFill>
          <a:ln w="6350">
            <a:solidFill>
              <a:srgbClr val="DCE1EA"/>
            </a:solidFill>
            <a:prstDash val="solid"/>
          </a:ln>
        </p:spPr>
      </p:sp>
      <p:sp>
        <p:nvSpPr>
          <p:cNvPr id="35" name="Text 32"/>
          <p:cNvSpPr/>
          <p:nvPr/>
        </p:nvSpPr>
        <p:spPr>
          <a:xfrm>
            <a:off x="2419350" y="3298726"/>
            <a:ext cx="279400" cy="25112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06</a:t>
            </a:r>
            <a:endParaRPr lang="en-US" sz="1300" dirty="0"/>
          </a:p>
        </p:txBody>
      </p:sp>
      <p:sp>
        <p:nvSpPr>
          <p:cNvPr id="36" name="Text 33"/>
          <p:cNvSpPr/>
          <p:nvPr/>
        </p:nvSpPr>
        <p:spPr>
          <a:xfrm>
            <a:off x="2711450" y="3298726"/>
            <a:ext cx="1644650" cy="251123"/>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안전한 모델</a:t>
            </a:r>
            <a:endParaRPr lang="en-US" sz="1300" dirty="0"/>
          </a:p>
        </p:txBody>
      </p:sp>
      <p:sp>
        <p:nvSpPr>
          <p:cNvPr id="37" name="Text 34"/>
          <p:cNvSpPr/>
          <p:nvPr/>
        </p:nvSpPr>
        <p:spPr>
          <a:xfrm>
            <a:off x="2419350" y="3549848"/>
            <a:ext cx="1942529" cy="442119"/>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4A5366"/>
                </a:solidFill>
                <a:latin typeface="Noto Sans KR" pitchFamily="34" charset="0"/>
                <a:ea typeface="Noto Sans KR" pitchFamily="34" charset="-122"/>
                <a:cs typeface="Noto Sans KR" pitchFamily="34" charset="-120"/>
              </a:rPr>
              <a:t>프롬프트 인젝션 대응, 레드팀 운영</a:t>
            </a:r>
            <a:endParaRPr lang="en-US" sz="1185" dirty="0"/>
          </a:p>
        </p:txBody>
      </p:sp>
      <p:sp>
        <p:nvSpPr>
          <p:cNvPr id="38" name="Shape 35"/>
          <p:cNvSpPr/>
          <p:nvPr/>
        </p:nvSpPr>
        <p:spPr>
          <a:xfrm>
            <a:off x="4581525" y="3219351"/>
            <a:ext cx="2171700" cy="826591"/>
          </a:xfrm>
          <a:prstGeom prst="roundRect">
            <a:avLst>
              <a:gd name="adj" fmla="val 8834"/>
            </a:avLst>
          </a:prstGeom>
          <a:solidFill>
            <a:srgbClr val="FFFFFF"/>
          </a:solidFill>
          <a:ln w="6350">
            <a:solidFill>
              <a:srgbClr val="DCE1EA"/>
            </a:solidFill>
            <a:prstDash val="solid"/>
          </a:ln>
        </p:spPr>
      </p:sp>
      <p:sp>
        <p:nvSpPr>
          <p:cNvPr id="39" name="Text 36"/>
          <p:cNvSpPr/>
          <p:nvPr/>
        </p:nvSpPr>
        <p:spPr>
          <a:xfrm>
            <a:off x="4724400" y="3298726"/>
            <a:ext cx="279400" cy="25112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07</a:t>
            </a:r>
            <a:endParaRPr lang="en-US" sz="1300" dirty="0"/>
          </a:p>
        </p:txBody>
      </p:sp>
      <p:sp>
        <p:nvSpPr>
          <p:cNvPr id="40" name="Text 37"/>
          <p:cNvSpPr/>
          <p:nvPr/>
        </p:nvSpPr>
        <p:spPr>
          <a:xfrm>
            <a:off x="5016500" y="3298726"/>
            <a:ext cx="1644650" cy="251123"/>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도구 검수</a:t>
            </a:r>
            <a:endParaRPr lang="en-US" sz="1300" dirty="0"/>
          </a:p>
        </p:txBody>
      </p:sp>
      <p:sp>
        <p:nvSpPr>
          <p:cNvPr id="41" name="Text 38"/>
          <p:cNvSpPr/>
          <p:nvPr/>
        </p:nvSpPr>
        <p:spPr>
          <a:xfrm>
            <a:off x="4724400" y="3549848"/>
            <a:ext cx="1942529" cy="442119"/>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4A5366"/>
                </a:solidFill>
                <a:latin typeface="Noto Sans KR" pitchFamily="34" charset="0"/>
                <a:ea typeface="Noto Sans KR" pitchFamily="34" charset="-122"/>
                <a:cs typeface="Noto Sans KR" pitchFamily="34" charset="-120"/>
              </a:rPr>
              <a:t>관리자 검사를 통과한 MCP·스킬만 사용</a:t>
            </a:r>
            <a:endParaRPr lang="en-US" sz="1185" dirty="0"/>
          </a:p>
        </p:txBody>
      </p:sp>
      <p:sp>
        <p:nvSpPr>
          <p:cNvPr id="42" name="Shape 39"/>
          <p:cNvSpPr/>
          <p:nvPr/>
        </p:nvSpPr>
        <p:spPr>
          <a:xfrm>
            <a:off x="6886575" y="3219351"/>
            <a:ext cx="2171700" cy="826591"/>
          </a:xfrm>
          <a:prstGeom prst="roundRect">
            <a:avLst>
              <a:gd name="adj" fmla="val 8834"/>
            </a:avLst>
          </a:prstGeom>
          <a:solidFill>
            <a:srgbClr val="FFFFFF"/>
          </a:solidFill>
          <a:ln w="6350">
            <a:solidFill>
              <a:srgbClr val="DCE1EA"/>
            </a:solidFill>
            <a:prstDash val="solid"/>
          </a:ln>
        </p:spPr>
      </p:sp>
      <p:sp>
        <p:nvSpPr>
          <p:cNvPr id="43" name="Text 40"/>
          <p:cNvSpPr/>
          <p:nvPr/>
        </p:nvSpPr>
        <p:spPr>
          <a:xfrm>
            <a:off x="7029450" y="3298726"/>
            <a:ext cx="2794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08</a:t>
            </a:r>
            <a:endParaRPr lang="en-US" sz="1300" dirty="0"/>
          </a:p>
        </p:txBody>
      </p:sp>
      <p:sp>
        <p:nvSpPr>
          <p:cNvPr id="44" name="Text 41"/>
          <p:cNvSpPr/>
          <p:nvPr/>
        </p:nvSpPr>
        <p:spPr>
          <a:xfrm>
            <a:off x="7321550" y="3298726"/>
            <a:ext cx="1644650" cy="25648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사람 승인(HITL)</a:t>
            </a:r>
            <a:endParaRPr lang="en-US" sz="1300" dirty="0"/>
          </a:p>
        </p:txBody>
      </p:sp>
      <p:sp>
        <p:nvSpPr>
          <p:cNvPr id="45" name="Text 42"/>
          <p:cNvSpPr/>
          <p:nvPr/>
        </p:nvSpPr>
        <p:spPr>
          <a:xfrm>
            <a:off x="7029450" y="3555206"/>
            <a:ext cx="19425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6"/>
                </a:solidFill>
                <a:latin typeface="Noto Sans KR" pitchFamily="34" charset="0"/>
                <a:ea typeface="Noto Sans KR" pitchFamily="34" charset="-122"/>
                <a:cs typeface="Noto Sans KR" pitchFamily="34" charset="-120"/>
              </a:rPr>
              <a:t>고위험 작업은 실행 전 승인</a:t>
            </a:r>
            <a:endParaRPr lang="en-US" sz="1200" dirty="0"/>
          </a:p>
        </p:txBody>
      </p:sp>
      <p:sp>
        <p:nvSpPr>
          <p:cNvPr id="46" name="Shape 43"/>
          <p:cNvSpPr/>
          <p:nvPr/>
        </p:nvSpPr>
        <p:spPr>
          <a:xfrm>
            <a:off x="9191625" y="3219351"/>
            <a:ext cx="2171700" cy="826591"/>
          </a:xfrm>
          <a:prstGeom prst="roundRect">
            <a:avLst>
              <a:gd name="adj" fmla="val 8834"/>
            </a:avLst>
          </a:prstGeom>
          <a:solidFill>
            <a:srgbClr val="FFFFFF"/>
          </a:solidFill>
          <a:ln w="6350">
            <a:solidFill>
              <a:srgbClr val="DCE1EA"/>
            </a:solidFill>
            <a:prstDash val="solid"/>
          </a:ln>
        </p:spPr>
      </p:sp>
      <p:sp>
        <p:nvSpPr>
          <p:cNvPr id="47" name="Text 44"/>
          <p:cNvSpPr/>
          <p:nvPr/>
        </p:nvSpPr>
        <p:spPr>
          <a:xfrm>
            <a:off x="9334500" y="3298726"/>
            <a:ext cx="279400" cy="25112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09</a:t>
            </a:r>
            <a:endParaRPr lang="en-US" sz="1300" dirty="0"/>
          </a:p>
        </p:txBody>
      </p:sp>
      <p:sp>
        <p:nvSpPr>
          <p:cNvPr id="48" name="Text 45"/>
          <p:cNvSpPr/>
          <p:nvPr/>
        </p:nvSpPr>
        <p:spPr>
          <a:xfrm>
            <a:off x="9626600" y="3298726"/>
            <a:ext cx="1644650" cy="251123"/>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샌드박스</a:t>
            </a:r>
            <a:endParaRPr lang="en-US" sz="1300" dirty="0"/>
          </a:p>
        </p:txBody>
      </p:sp>
      <p:sp>
        <p:nvSpPr>
          <p:cNvPr id="49" name="Text 46"/>
          <p:cNvSpPr/>
          <p:nvPr/>
        </p:nvSpPr>
        <p:spPr>
          <a:xfrm>
            <a:off x="9334500" y="3549848"/>
            <a:ext cx="1942529" cy="442119"/>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4A5366"/>
                </a:solidFill>
                <a:latin typeface="Noto Sans KR" pitchFamily="34" charset="0"/>
                <a:ea typeface="Noto Sans KR" pitchFamily="34" charset="-122"/>
                <a:cs typeface="Noto Sans KR" pitchFamily="34" charset="-120"/>
              </a:rPr>
              <a:t>실행 환경 격리로 신뢰경계 확보</a:t>
            </a:r>
            <a:endParaRPr lang="en-US" sz="1185" dirty="0"/>
          </a:p>
        </p:txBody>
      </p:sp>
      <p:sp>
        <p:nvSpPr>
          <p:cNvPr id="50" name="Shape 47"/>
          <p:cNvSpPr/>
          <p:nvPr/>
        </p:nvSpPr>
        <p:spPr>
          <a:xfrm>
            <a:off x="812800" y="4125317"/>
            <a:ext cx="1333500" cy="0"/>
          </a:xfrm>
          <a:prstGeom prst="line">
            <a:avLst/>
          </a:prstGeom>
          <a:noFill/>
          <a:ln w="25400">
            <a:solidFill>
              <a:srgbClr val="1428A0"/>
            </a:solidFill>
            <a:prstDash val="solid"/>
          </a:ln>
        </p:spPr>
      </p:sp>
      <p:sp>
        <p:nvSpPr>
          <p:cNvPr id="51" name="Text 48"/>
          <p:cNvSpPr/>
          <p:nvPr/>
        </p:nvSpPr>
        <p:spPr>
          <a:xfrm>
            <a:off x="812800" y="4343003"/>
            <a:ext cx="13843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8A0"/>
                </a:solidFill>
                <a:latin typeface="Noto Sans KR" pitchFamily="34" charset="0"/>
                <a:ea typeface="Noto Sans KR" pitchFamily="34" charset="-122"/>
                <a:cs typeface="Noto Sans KR" pitchFamily="34" charset="-120"/>
              </a:rPr>
              <a:t>운영·공급자 신뢰</a:t>
            </a:r>
            <a:endParaRPr lang="en-US" sz="1400" dirty="0"/>
          </a:p>
        </p:txBody>
      </p:sp>
      <p:sp>
        <p:nvSpPr>
          <p:cNvPr id="52" name="Text 49"/>
          <p:cNvSpPr/>
          <p:nvPr/>
        </p:nvSpPr>
        <p:spPr>
          <a:xfrm>
            <a:off x="812800" y="4590653"/>
            <a:ext cx="138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추적·책임</a:t>
            </a:r>
            <a:endParaRPr lang="en-US" sz="1200" dirty="0"/>
          </a:p>
        </p:txBody>
      </p:sp>
      <p:sp>
        <p:nvSpPr>
          <p:cNvPr id="53" name="Shape 50"/>
          <p:cNvSpPr/>
          <p:nvPr/>
        </p:nvSpPr>
        <p:spPr>
          <a:xfrm>
            <a:off x="2276475" y="4115792"/>
            <a:ext cx="2171700" cy="826591"/>
          </a:xfrm>
          <a:prstGeom prst="roundRect">
            <a:avLst>
              <a:gd name="adj" fmla="val 8834"/>
            </a:avLst>
          </a:prstGeom>
          <a:solidFill>
            <a:srgbClr val="FFFFFF"/>
          </a:solidFill>
          <a:ln w="6350">
            <a:solidFill>
              <a:srgbClr val="DCE1EA"/>
            </a:solidFill>
            <a:prstDash val="solid"/>
          </a:ln>
        </p:spPr>
      </p:sp>
      <p:sp>
        <p:nvSpPr>
          <p:cNvPr id="54" name="Text 51"/>
          <p:cNvSpPr/>
          <p:nvPr/>
        </p:nvSpPr>
        <p:spPr>
          <a:xfrm>
            <a:off x="2419350" y="4195167"/>
            <a:ext cx="279400" cy="25112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10</a:t>
            </a:r>
            <a:endParaRPr lang="en-US" sz="1300" dirty="0"/>
          </a:p>
        </p:txBody>
      </p:sp>
      <p:sp>
        <p:nvSpPr>
          <p:cNvPr id="55" name="Text 52"/>
          <p:cNvSpPr/>
          <p:nvPr/>
        </p:nvSpPr>
        <p:spPr>
          <a:xfrm>
            <a:off x="2711450" y="4195167"/>
            <a:ext cx="1644650" cy="251123"/>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모니터링·로그</a:t>
            </a:r>
            <a:endParaRPr lang="en-US" sz="1300" dirty="0"/>
          </a:p>
        </p:txBody>
      </p:sp>
      <p:sp>
        <p:nvSpPr>
          <p:cNvPr id="56" name="Text 53"/>
          <p:cNvSpPr/>
          <p:nvPr/>
        </p:nvSpPr>
        <p:spPr>
          <a:xfrm>
            <a:off x="2419350" y="4446290"/>
            <a:ext cx="1942529" cy="442119"/>
          </a:xfrm>
          <a:prstGeom prst="rect">
            <a:avLst/>
          </a:prstGeom>
          <a:noFill/>
          <a:ln/>
        </p:spPr>
        <p:txBody>
          <a:bodyPr wrap="square" lIns="0" tIns="0" rIns="0" bIns="0" rtlCol="0" anchor="t">
            <a:normAutofit/>
          </a:bodyPr>
          <a:lstStyle/>
          <a:p>
            <a:pPr algn="l" indent="0" marL="0">
              <a:lnSpc>
                <a:spcPts val="1659"/>
              </a:lnSpc>
              <a:buNone/>
            </a:pPr>
            <a:r>
              <a:rPr lang="en-US" sz="1185" b="1" dirty="0">
                <a:solidFill>
                  <a:srgbClr val="C8102E"/>
                </a:solidFill>
                <a:latin typeface="Noto Sans KR" pitchFamily="34" charset="0"/>
                <a:ea typeface="Noto Sans KR" pitchFamily="34" charset="-122"/>
                <a:cs typeface="Noto Sans KR" pitchFamily="34" charset="-120"/>
              </a:rPr>
              <a:t>질의·응답·파일·툴 호출·로그인 추적</a:t>
            </a:r>
            <a:endParaRPr lang="en-US" sz="1185" dirty="0"/>
          </a:p>
        </p:txBody>
      </p:sp>
      <p:sp>
        <p:nvSpPr>
          <p:cNvPr id="57" name="Shape 54"/>
          <p:cNvSpPr/>
          <p:nvPr/>
        </p:nvSpPr>
        <p:spPr>
          <a:xfrm>
            <a:off x="4581525" y="4115792"/>
            <a:ext cx="2171700" cy="826591"/>
          </a:xfrm>
          <a:prstGeom prst="roundRect">
            <a:avLst>
              <a:gd name="adj" fmla="val 8834"/>
            </a:avLst>
          </a:prstGeom>
          <a:solidFill>
            <a:srgbClr val="FFFFFF"/>
          </a:solidFill>
          <a:ln w="6350">
            <a:solidFill>
              <a:srgbClr val="DCE1EA"/>
            </a:solidFill>
            <a:prstDash val="solid"/>
          </a:ln>
        </p:spPr>
      </p:sp>
      <p:sp>
        <p:nvSpPr>
          <p:cNvPr id="58" name="Text 55"/>
          <p:cNvSpPr/>
          <p:nvPr/>
        </p:nvSpPr>
        <p:spPr>
          <a:xfrm>
            <a:off x="4724400" y="4195167"/>
            <a:ext cx="279400" cy="25112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11</a:t>
            </a:r>
            <a:endParaRPr lang="en-US" sz="1300" dirty="0"/>
          </a:p>
        </p:txBody>
      </p:sp>
      <p:sp>
        <p:nvSpPr>
          <p:cNvPr id="59" name="Text 56"/>
          <p:cNvSpPr/>
          <p:nvPr/>
        </p:nvSpPr>
        <p:spPr>
          <a:xfrm>
            <a:off x="5016500" y="4195167"/>
            <a:ext cx="1644650" cy="251123"/>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공급자 신뢰성</a:t>
            </a:r>
            <a:endParaRPr lang="en-US" sz="1300" dirty="0"/>
          </a:p>
        </p:txBody>
      </p:sp>
      <p:sp>
        <p:nvSpPr>
          <p:cNvPr id="60" name="Text 57"/>
          <p:cNvSpPr/>
          <p:nvPr/>
        </p:nvSpPr>
        <p:spPr>
          <a:xfrm>
            <a:off x="4724400" y="4446290"/>
            <a:ext cx="1942529" cy="442119"/>
          </a:xfrm>
          <a:prstGeom prst="rect">
            <a:avLst/>
          </a:prstGeom>
          <a:noFill/>
          <a:ln/>
        </p:spPr>
        <p:txBody>
          <a:bodyPr wrap="square" lIns="0" tIns="0" rIns="0" bIns="0" rtlCol="0" anchor="t">
            <a:normAutofit/>
          </a:bodyPr>
          <a:lstStyle/>
          <a:p>
            <a:pPr algn="l" indent="0" marL="0">
              <a:lnSpc>
                <a:spcPts val="1659"/>
              </a:lnSpc>
              <a:buNone/>
            </a:pPr>
            <a:r>
              <a:rPr lang="en-US" sz="1185" b="1" dirty="0">
                <a:solidFill>
                  <a:srgbClr val="C8102E"/>
                </a:solidFill>
                <a:latin typeface="Noto Sans KR" pitchFamily="34" charset="0"/>
                <a:ea typeface="Noto Sans KR" pitchFamily="34" charset="-122"/>
                <a:cs typeface="Noto Sans KR" pitchFamily="34" charset="-120"/>
              </a:rPr>
              <a:t>SOC 2 인증</a:t>
            </a:r>
            <a:r>
              <a:rPr lang="en-US" sz="1185" dirty="0">
                <a:solidFill>
                  <a:srgbClr val="4A5366"/>
                </a:solidFill>
                <a:latin typeface="Noto Sans KR" pitchFamily="34" charset="0"/>
                <a:ea typeface="Noto Sans KR" pitchFamily="34" charset="-122"/>
                <a:cs typeface="Noto Sans KR" pitchFamily="34" charset="-120"/>
              </a:rPr>
              <a:t>, 해지 시 삭제, 사고 배상, 정부 요청 고지</a:t>
            </a:r>
            <a:endParaRPr lang="en-US" sz="1185" dirty="0"/>
          </a:p>
        </p:txBody>
      </p:sp>
      <p:sp>
        <p:nvSpPr>
          <p:cNvPr id="61" name="Shape 58"/>
          <p:cNvSpPr/>
          <p:nvPr/>
        </p:nvSpPr>
        <p:spPr>
          <a:xfrm>
            <a:off x="812800" y="5021759"/>
            <a:ext cx="1333500" cy="0"/>
          </a:xfrm>
          <a:prstGeom prst="line">
            <a:avLst/>
          </a:prstGeom>
          <a:noFill/>
          <a:ln w="25400">
            <a:solidFill>
              <a:srgbClr val="1428A0"/>
            </a:solidFill>
            <a:prstDash val="solid"/>
          </a:ln>
        </p:spPr>
      </p:sp>
      <p:sp>
        <p:nvSpPr>
          <p:cNvPr id="62" name="Text 59"/>
          <p:cNvSpPr/>
          <p:nvPr/>
        </p:nvSpPr>
        <p:spPr>
          <a:xfrm>
            <a:off x="812800" y="5239445"/>
            <a:ext cx="13843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8A0"/>
                </a:solidFill>
                <a:latin typeface="Noto Sans KR" pitchFamily="34" charset="0"/>
                <a:ea typeface="Noto Sans KR" pitchFamily="34" charset="-122"/>
                <a:cs typeface="Noto Sans KR" pitchFamily="34" charset="-120"/>
              </a:rPr>
              <a:t>거버넌스</a:t>
            </a:r>
            <a:endParaRPr lang="en-US" sz="1400" dirty="0"/>
          </a:p>
        </p:txBody>
      </p:sp>
      <p:sp>
        <p:nvSpPr>
          <p:cNvPr id="63" name="Text 60"/>
          <p:cNvSpPr/>
          <p:nvPr/>
        </p:nvSpPr>
        <p:spPr>
          <a:xfrm>
            <a:off x="812800" y="5487095"/>
            <a:ext cx="138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무엇을 쓰고 있는가</a:t>
            </a:r>
            <a:endParaRPr lang="en-US" sz="1200" dirty="0"/>
          </a:p>
        </p:txBody>
      </p:sp>
      <p:sp>
        <p:nvSpPr>
          <p:cNvPr id="64" name="Shape 61"/>
          <p:cNvSpPr/>
          <p:nvPr/>
        </p:nvSpPr>
        <p:spPr>
          <a:xfrm>
            <a:off x="2276475" y="5012234"/>
            <a:ext cx="2171700" cy="826591"/>
          </a:xfrm>
          <a:prstGeom prst="roundRect">
            <a:avLst>
              <a:gd name="adj" fmla="val 8834"/>
            </a:avLst>
          </a:prstGeom>
          <a:solidFill>
            <a:srgbClr val="FFFFFF"/>
          </a:solidFill>
          <a:ln w="6350">
            <a:solidFill>
              <a:srgbClr val="DCE1EA"/>
            </a:solidFill>
            <a:prstDash val="solid"/>
          </a:ln>
        </p:spPr>
      </p:sp>
      <p:sp>
        <p:nvSpPr>
          <p:cNvPr id="65" name="Text 62"/>
          <p:cNvSpPr/>
          <p:nvPr/>
        </p:nvSpPr>
        <p:spPr>
          <a:xfrm>
            <a:off x="2419350" y="5091609"/>
            <a:ext cx="279400" cy="25112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12</a:t>
            </a:r>
            <a:endParaRPr lang="en-US" sz="1300" dirty="0"/>
          </a:p>
        </p:txBody>
      </p:sp>
      <p:sp>
        <p:nvSpPr>
          <p:cNvPr id="66" name="Text 63"/>
          <p:cNvSpPr/>
          <p:nvPr/>
        </p:nvSpPr>
        <p:spPr>
          <a:xfrm>
            <a:off x="2711450" y="5091609"/>
            <a:ext cx="1644650" cy="251123"/>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AI 현황 관리</a:t>
            </a:r>
            <a:endParaRPr lang="en-US" sz="1300" dirty="0"/>
          </a:p>
        </p:txBody>
      </p:sp>
      <p:sp>
        <p:nvSpPr>
          <p:cNvPr id="67" name="Text 64"/>
          <p:cNvSpPr/>
          <p:nvPr/>
        </p:nvSpPr>
        <p:spPr>
          <a:xfrm>
            <a:off x="2419350" y="5342731"/>
            <a:ext cx="1942529" cy="442119"/>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4A5366"/>
                </a:solidFill>
                <a:latin typeface="Noto Sans KR" pitchFamily="34" charset="0"/>
                <a:ea typeface="Noto Sans KR" pitchFamily="34" charset="-122"/>
                <a:cs typeface="Noto Sans KR" pitchFamily="34" charset="-120"/>
              </a:rPr>
              <a:t>Shadow AI 탐지, AI·Agent 사용 현황 관리</a:t>
            </a:r>
            <a:endParaRPr lang="en-US" sz="1185" dirty="0"/>
          </a:p>
        </p:txBody>
      </p:sp>
      <p:sp>
        <p:nvSpPr>
          <p:cNvPr id="68" name="Text 65"/>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812800" y="609600"/>
            <a:ext cx="3333750" cy="23465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428A0"/>
                </a:solidFill>
                <a:latin typeface="Noto Sans KR" pitchFamily="34" charset="0"/>
                <a:ea typeface="Noto Sans KR" pitchFamily="34" charset="-122"/>
                <a:cs typeface="Noto Sans KR" pitchFamily="34" charset="-120"/>
              </a:rPr>
              <a:t>02 · 점검 항목 — 보안 체크리스트 매핑</a:t>
            </a:r>
            <a:endParaRPr lang="en-US" sz="1200" dirty="0"/>
          </a:p>
        </p:txBody>
      </p:sp>
      <p:sp>
        <p:nvSpPr>
          <p:cNvPr id="3" name="Text 1"/>
          <p:cNvSpPr/>
          <p:nvPr/>
        </p:nvSpPr>
        <p:spPr>
          <a:xfrm>
            <a:off x="8221901" y="609600"/>
            <a:ext cx="3157299" cy="234652"/>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숫자</a:t>
            </a:r>
            <a:r>
              <a:rPr lang="en-US" sz="1200" dirty="0">
                <a:solidFill>
                  <a:srgbClr val="4A5366"/>
                </a:solidFill>
                <a:latin typeface="Noto Sans KR" pitchFamily="34" charset="0"/>
                <a:ea typeface="Noto Sans KR" pitchFamily="34" charset="-122"/>
                <a:cs typeface="Noto Sans KR" pitchFamily="34" charset="-120"/>
              </a:rPr>
              <a:t> = 매핑된 체크리스트 수 · </a:t>
            </a:r>
            <a:r>
              <a:rPr lang="en-US" sz="1200" b="1" dirty="0">
                <a:solidFill>
                  <a:srgbClr val="C8102E"/>
                </a:solidFill>
                <a:latin typeface="Noto Sans KR" pitchFamily="34" charset="0"/>
                <a:ea typeface="Noto Sans KR" pitchFamily="34" charset="-122"/>
                <a:cs typeface="Noto Sans KR" pitchFamily="34" charset="-120"/>
              </a:rPr>
              <a:t>빨강</a:t>
            </a:r>
            <a:r>
              <a:rPr lang="en-US" sz="1200" dirty="0">
                <a:solidFill>
                  <a:srgbClr val="4A5366"/>
                </a:solidFill>
                <a:latin typeface="Noto Sans KR" pitchFamily="34" charset="0"/>
                <a:ea typeface="Noto Sans KR" pitchFamily="34" charset="-122"/>
                <a:cs typeface="Noto Sans KR" pitchFamily="34" charset="-120"/>
              </a:rPr>
              <a:t> = 필수</a:t>
            </a:r>
            <a:endParaRPr lang="en-US" sz="1200" dirty="0"/>
          </a:p>
        </p:txBody>
      </p:sp>
      <p:sp>
        <p:nvSpPr>
          <p:cNvPr id="4" name="Text 2"/>
          <p:cNvSpPr/>
          <p:nvPr>
            <p:ph type="title"/>
          </p:nvPr>
        </p:nvSpPr>
        <p:spPr>
          <a:xfrm>
            <a:off x="812800" y="895052"/>
            <a:ext cx="10883392" cy="426442"/>
          </a:xfrm>
          <a:prstGeom prst="rect">
            <a:avLst/>
          </a:prstGeom>
          <a:noFill/>
          <a:ln/>
        </p:spPr>
        <p:txBody>
          <a:bodyPr wrap="square" lIns="0" tIns="0" rIns="0" bIns="0" rtlCol="0" anchor="t">
            <a:normAutofit/>
          </a:bodyPr>
          <a:lstStyle/>
          <a:p>
            <a:pPr algn="l" indent="0" marL="0">
              <a:lnSpc>
                <a:spcPts val="3170"/>
              </a:lnSpc>
              <a:buNone/>
            </a:pPr>
            <a:r>
              <a:rPr lang="en-US" sz="2756" b="1" i="0" dirty="0">
                <a:solidFill>
                  <a:srgbClr val="0E1320"/>
                </a:solidFill>
                <a:latin typeface="Noto Sans KR" pitchFamily="34" charset="0"/>
                <a:ea typeface="Noto Sans KR" pitchFamily="34" charset="-122"/>
                <a:cs typeface="Noto Sans KR" pitchFamily="34" charset="-120"/>
              </a:rPr>
              <a:t>점검 항목별 보안 체크리스트 69개</a:t>
            </a:r>
            <a:endParaRPr lang="en-US" sz="2756" dirty="0"/>
          </a:p>
        </p:txBody>
      </p:sp>
      <p:sp>
        <p:nvSpPr>
          <p:cNvPr id="5" name="Shape 3"/>
          <p:cNvSpPr/>
          <p:nvPr/>
        </p:nvSpPr>
        <p:spPr>
          <a:xfrm>
            <a:off x="812800" y="1435795"/>
            <a:ext cx="1333500" cy="0"/>
          </a:xfrm>
          <a:prstGeom prst="line">
            <a:avLst/>
          </a:prstGeom>
          <a:noFill/>
          <a:ln w="25400">
            <a:solidFill>
              <a:srgbClr val="1428A0"/>
            </a:solidFill>
            <a:prstDash val="solid"/>
          </a:ln>
        </p:spPr>
      </p:sp>
      <p:sp>
        <p:nvSpPr>
          <p:cNvPr id="6" name="Text 4"/>
          <p:cNvSpPr/>
          <p:nvPr/>
        </p:nvSpPr>
        <p:spPr>
          <a:xfrm>
            <a:off x="812800" y="1653580"/>
            <a:ext cx="13843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8A0"/>
                </a:solidFill>
                <a:latin typeface="Noto Sans KR" pitchFamily="34" charset="0"/>
                <a:ea typeface="Noto Sans KR" pitchFamily="34" charset="-122"/>
                <a:cs typeface="Noto Sans KR" pitchFamily="34" charset="-120"/>
              </a:rPr>
              <a:t>데이터 보호</a:t>
            </a:r>
            <a:endParaRPr lang="en-US" sz="1400" dirty="0"/>
          </a:p>
        </p:txBody>
      </p:sp>
      <p:sp>
        <p:nvSpPr>
          <p:cNvPr id="7" name="Text 5"/>
          <p:cNvSpPr/>
          <p:nvPr/>
        </p:nvSpPr>
        <p:spPr>
          <a:xfrm>
            <a:off x="812800" y="1901230"/>
            <a:ext cx="138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무엇이 새는가</a:t>
            </a:r>
            <a:endParaRPr lang="en-US" sz="1200" dirty="0"/>
          </a:p>
        </p:txBody>
      </p:sp>
      <p:sp>
        <p:nvSpPr>
          <p:cNvPr id="8" name="Shape 6"/>
          <p:cNvSpPr/>
          <p:nvPr/>
        </p:nvSpPr>
        <p:spPr>
          <a:xfrm>
            <a:off x="2276475" y="1426270"/>
            <a:ext cx="2171700" cy="826691"/>
          </a:xfrm>
          <a:prstGeom prst="roundRect">
            <a:avLst>
              <a:gd name="adj" fmla="val 8833"/>
            </a:avLst>
          </a:prstGeom>
          <a:solidFill>
            <a:srgbClr val="FFFFFF"/>
          </a:solidFill>
          <a:ln w="6350">
            <a:solidFill>
              <a:srgbClr val="DCE1EA"/>
            </a:solidFill>
            <a:prstDash val="solid"/>
          </a:ln>
        </p:spPr>
      </p:sp>
      <p:sp>
        <p:nvSpPr>
          <p:cNvPr id="9" name="Text 7"/>
          <p:cNvSpPr/>
          <p:nvPr/>
        </p:nvSpPr>
        <p:spPr>
          <a:xfrm>
            <a:off x="2419350" y="1505645"/>
            <a:ext cx="279400" cy="25112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01</a:t>
            </a:r>
            <a:endParaRPr lang="en-US" sz="1300" dirty="0"/>
          </a:p>
        </p:txBody>
      </p:sp>
      <p:sp>
        <p:nvSpPr>
          <p:cNvPr id="10" name="Text 8"/>
          <p:cNvSpPr/>
          <p:nvPr/>
        </p:nvSpPr>
        <p:spPr>
          <a:xfrm>
            <a:off x="2711450" y="1505645"/>
            <a:ext cx="1331813" cy="251123"/>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데이터 격리</a:t>
            </a:r>
            <a:endParaRPr lang="en-US" sz="1300" dirty="0"/>
          </a:p>
        </p:txBody>
      </p:sp>
      <p:sp>
        <p:nvSpPr>
          <p:cNvPr id="11" name="Text 9"/>
          <p:cNvSpPr/>
          <p:nvPr/>
        </p:nvSpPr>
        <p:spPr>
          <a:xfrm>
            <a:off x="4055963" y="1505645"/>
            <a:ext cx="300137" cy="251123"/>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3개</a:t>
            </a:r>
            <a:endParaRPr lang="en-US" sz="1300" dirty="0"/>
          </a:p>
        </p:txBody>
      </p:sp>
      <p:sp>
        <p:nvSpPr>
          <p:cNvPr id="12" name="Text 10"/>
          <p:cNvSpPr/>
          <p:nvPr/>
        </p:nvSpPr>
        <p:spPr>
          <a:xfrm>
            <a:off x="2419350" y="1756767"/>
            <a:ext cx="1942529" cy="442218"/>
          </a:xfrm>
          <a:prstGeom prst="rect">
            <a:avLst/>
          </a:prstGeom>
          <a:noFill/>
          <a:ln/>
        </p:spPr>
        <p:txBody>
          <a:bodyPr wrap="square" lIns="0" tIns="0" rIns="0" bIns="0" rtlCol="0" anchor="t">
            <a:normAutofit/>
          </a:bodyPr>
          <a:lstStyle/>
          <a:p>
            <a:pPr algn="l" indent="0" marL="0">
              <a:lnSpc>
                <a:spcPts val="1659"/>
              </a:lnSpc>
              <a:buNone/>
            </a:pPr>
            <a:r>
              <a:rPr lang="en-US" sz="1185" b="1" dirty="0">
                <a:solidFill>
                  <a:srgbClr val="C8102E"/>
                </a:solidFill>
                <a:latin typeface="Noto Sans KR" pitchFamily="34" charset="0"/>
                <a:ea typeface="Noto Sans KR" pitchFamily="34" charset="-122"/>
                <a:cs typeface="Noto Sans KR" pitchFamily="34" charset="-120"/>
              </a:rPr>
              <a:t>학습 미사용 계약</a:t>
            </a:r>
            <a:r>
              <a:rPr lang="en-US" sz="1185" dirty="0">
                <a:solidFill>
                  <a:srgbClr val="4A5366"/>
                </a:solidFill>
                <a:latin typeface="Noto Sans KR" pitchFamily="34" charset="0"/>
                <a:ea typeface="Noto Sans KR" pitchFamily="34" charset="-122"/>
                <a:cs typeface="Noto Sans KR" pitchFamily="34" charset="-120"/>
              </a:rPr>
              <a:t>, 멀티테넌트 분리</a:t>
            </a:r>
            <a:endParaRPr lang="en-US" sz="1185" dirty="0"/>
          </a:p>
        </p:txBody>
      </p:sp>
      <p:sp>
        <p:nvSpPr>
          <p:cNvPr id="13" name="Shape 11"/>
          <p:cNvSpPr/>
          <p:nvPr/>
        </p:nvSpPr>
        <p:spPr>
          <a:xfrm>
            <a:off x="4581525" y="1426270"/>
            <a:ext cx="2171700" cy="826691"/>
          </a:xfrm>
          <a:prstGeom prst="roundRect">
            <a:avLst>
              <a:gd name="adj" fmla="val 8833"/>
            </a:avLst>
          </a:prstGeom>
          <a:solidFill>
            <a:srgbClr val="FFFFFF"/>
          </a:solidFill>
          <a:ln w="6350">
            <a:solidFill>
              <a:srgbClr val="DCE1EA"/>
            </a:solidFill>
            <a:prstDash val="solid"/>
          </a:ln>
        </p:spPr>
      </p:sp>
      <p:sp>
        <p:nvSpPr>
          <p:cNvPr id="14" name="Text 12"/>
          <p:cNvSpPr/>
          <p:nvPr/>
        </p:nvSpPr>
        <p:spPr>
          <a:xfrm>
            <a:off x="4724400" y="1505645"/>
            <a:ext cx="279400" cy="25112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02</a:t>
            </a:r>
            <a:endParaRPr lang="en-US" sz="1300" dirty="0"/>
          </a:p>
        </p:txBody>
      </p:sp>
      <p:sp>
        <p:nvSpPr>
          <p:cNvPr id="15" name="Text 13"/>
          <p:cNvSpPr/>
          <p:nvPr/>
        </p:nvSpPr>
        <p:spPr>
          <a:xfrm>
            <a:off x="5016500" y="1505645"/>
            <a:ext cx="1331813" cy="251123"/>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데이터 필터링</a:t>
            </a:r>
            <a:endParaRPr lang="en-US" sz="1300" dirty="0"/>
          </a:p>
        </p:txBody>
      </p:sp>
      <p:sp>
        <p:nvSpPr>
          <p:cNvPr id="16" name="Text 14"/>
          <p:cNvSpPr/>
          <p:nvPr/>
        </p:nvSpPr>
        <p:spPr>
          <a:xfrm>
            <a:off x="6361013" y="1505645"/>
            <a:ext cx="300137" cy="251123"/>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5개</a:t>
            </a:r>
            <a:endParaRPr lang="en-US" sz="1300" dirty="0"/>
          </a:p>
        </p:txBody>
      </p:sp>
      <p:sp>
        <p:nvSpPr>
          <p:cNvPr id="17" name="Text 15"/>
          <p:cNvSpPr/>
          <p:nvPr/>
        </p:nvSpPr>
        <p:spPr>
          <a:xfrm>
            <a:off x="4724400" y="1756767"/>
            <a:ext cx="1942529" cy="442218"/>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4A5366"/>
                </a:solidFill>
                <a:latin typeface="Noto Sans KR" pitchFamily="34" charset="0"/>
                <a:ea typeface="Noto Sans KR" pitchFamily="34" charset="-122"/>
                <a:cs typeface="Noto Sans KR" pitchFamily="34" charset="-120"/>
              </a:rPr>
              <a:t>질의·응답·검색 데이터 민감정보 차단, 무분별한 수집 금지</a:t>
            </a:r>
            <a:endParaRPr lang="en-US" sz="1185" dirty="0"/>
          </a:p>
        </p:txBody>
      </p:sp>
      <p:sp>
        <p:nvSpPr>
          <p:cNvPr id="18" name="Shape 16"/>
          <p:cNvSpPr/>
          <p:nvPr/>
        </p:nvSpPr>
        <p:spPr>
          <a:xfrm>
            <a:off x="6886575" y="1426270"/>
            <a:ext cx="2171700" cy="826691"/>
          </a:xfrm>
          <a:prstGeom prst="roundRect">
            <a:avLst>
              <a:gd name="adj" fmla="val 8833"/>
            </a:avLst>
          </a:prstGeom>
          <a:solidFill>
            <a:srgbClr val="FFFFFF"/>
          </a:solidFill>
          <a:ln w="6350">
            <a:solidFill>
              <a:srgbClr val="DCE1EA"/>
            </a:solidFill>
            <a:prstDash val="solid"/>
          </a:ln>
        </p:spPr>
      </p:sp>
      <p:sp>
        <p:nvSpPr>
          <p:cNvPr id="19" name="Text 17"/>
          <p:cNvSpPr/>
          <p:nvPr/>
        </p:nvSpPr>
        <p:spPr>
          <a:xfrm>
            <a:off x="7029450" y="1505645"/>
            <a:ext cx="279400" cy="25112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03</a:t>
            </a:r>
            <a:endParaRPr lang="en-US" sz="1300" dirty="0"/>
          </a:p>
        </p:txBody>
      </p:sp>
      <p:sp>
        <p:nvSpPr>
          <p:cNvPr id="20" name="Text 18"/>
          <p:cNvSpPr/>
          <p:nvPr/>
        </p:nvSpPr>
        <p:spPr>
          <a:xfrm>
            <a:off x="7321550" y="1505645"/>
            <a:ext cx="1331813" cy="251123"/>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암호화·보관</a:t>
            </a:r>
            <a:endParaRPr lang="en-US" sz="1300" dirty="0"/>
          </a:p>
        </p:txBody>
      </p:sp>
      <p:sp>
        <p:nvSpPr>
          <p:cNvPr id="21" name="Text 19"/>
          <p:cNvSpPr/>
          <p:nvPr/>
        </p:nvSpPr>
        <p:spPr>
          <a:xfrm>
            <a:off x="8666063" y="1505645"/>
            <a:ext cx="300137" cy="251123"/>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9개</a:t>
            </a:r>
            <a:endParaRPr lang="en-US" sz="1300" dirty="0"/>
          </a:p>
        </p:txBody>
      </p:sp>
      <p:sp>
        <p:nvSpPr>
          <p:cNvPr id="22" name="Text 20"/>
          <p:cNvSpPr/>
          <p:nvPr/>
        </p:nvSpPr>
        <p:spPr>
          <a:xfrm>
            <a:off x="7029450" y="1756767"/>
            <a:ext cx="1942529" cy="442218"/>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4A5366"/>
                </a:solidFill>
                <a:latin typeface="Noto Sans KR" pitchFamily="34" charset="0"/>
                <a:ea typeface="Noto Sans KR" pitchFamily="34" charset="-122"/>
                <a:cs typeface="Noto Sans KR" pitchFamily="34" charset="-120"/>
              </a:rPr>
              <a:t>저장·전송·모델 암호화, 필요 데이터만 보관</a:t>
            </a:r>
            <a:endParaRPr lang="en-US" sz="1185" dirty="0"/>
          </a:p>
        </p:txBody>
      </p:sp>
      <p:sp>
        <p:nvSpPr>
          <p:cNvPr id="23" name="Shape 21"/>
          <p:cNvSpPr/>
          <p:nvPr/>
        </p:nvSpPr>
        <p:spPr>
          <a:xfrm>
            <a:off x="812800" y="2332335"/>
            <a:ext cx="1333500" cy="0"/>
          </a:xfrm>
          <a:prstGeom prst="line">
            <a:avLst/>
          </a:prstGeom>
          <a:noFill/>
          <a:ln w="25400">
            <a:solidFill>
              <a:srgbClr val="1428A0"/>
            </a:solidFill>
            <a:prstDash val="solid"/>
          </a:ln>
        </p:spPr>
      </p:sp>
      <p:sp>
        <p:nvSpPr>
          <p:cNvPr id="24" name="Text 22"/>
          <p:cNvSpPr/>
          <p:nvPr/>
        </p:nvSpPr>
        <p:spPr>
          <a:xfrm>
            <a:off x="812800" y="2550021"/>
            <a:ext cx="13843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8A0"/>
                </a:solidFill>
                <a:latin typeface="Noto Sans KR" pitchFamily="34" charset="0"/>
                <a:ea typeface="Noto Sans KR" pitchFamily="34" charset="-122"/>
                <a:cs typeface="Noto Sans KR" pitchFamily="34" charset="-120"/>
              </a:rPr>
              <a:t>계정·접근 통제</a:t>
            </a:r>
            <a:endParaRPr lang="en-US" sz="1400" dirty="0"/>
          </a:p>
        </p:txBody>
      </p:sp>
      <p:sp>
        <p:nvSpPr>
          <p:cNvPr id="25" name="Text 23"/>
          <p:cNvSpPr/>
          <p:nvPr/>
        </p:nvSpPr>
        <p:spPr>
          <a:xfrm>
            <a:off x="812800" y="2797671"/>
            <a:ext cx="138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누가 들어오는가</a:t>
            </a:r>
            <a:endParaRPr lang="en-US" sz="1200" dirty="0"/>
          </a:p>
        </p:txBody>
      </p:sp>
      <p:sp>
        <p:nvSpPr>
          <p:cNvPr id="26" name="Shape 24"/>
          <p:cNvSpPr/>
          <p:nvPr/>
        </p:nvSpPr>
        <p:spPr>
          <a:xfrm>
            <a:off x="2276475" y="2322810"/>
            <a:ext cx="2171700" cy="826591"/>
          </a:xfrm>
          <a:prstGeom prst="roundRect">
            <a:avLst>
              <a:gd name="adj" fmla="val 8834"/>
            </a:avLst>
          </a:prstGeom>
          <a:solidFill>
            <a:srgbClr val="FFFFFF"/>
          </a:solidFill>
          <a:ln w="6350">
            <a:solidFill>
              <a:srgbClr val="DCE1EA"/>
            </a:solidFill>
            <a:prstDash val="solid"/>
          </a:ln>
        </p:spPr>
      </p:sp>
      <p:sp>
        <p:nvSpPr>
          <p:cNvPr id="27" name="Text 25"/>
          <p:cNvSpPr/>
          <p:nvPr/>
        </p:nvSpPr>
        <p:spPr>
          <a:xfrm>
            <a:off x="2419350" y="2402185"/>
            <a:ext cx="279400" cy="25112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04</a:t>
            </a:r>
            <a:endParaRPr lang="en-US" sz="1300" dirty="0"/>
          </a:p>
        </p:txBody>
      </p:sp>
      <p:sp>
        <p:nvSpPr>
          <p:cNvPr id="28" name="Text 26"/>
          <p:cNvSpPr/>
          <p:nvPr/>
        </p:nvSpPr>
        <p:spPr>
          <a:xfrm>
            <a:off x="2711450" y="2402185"/>
            <a:ext cx="1331813" cy="251123"/>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계정·인증</a:t>
            </a:r>
            <a:endParaRPr lang="en-US" sz="1300" dirty="0"/>
          </a:p>
        </p:txBody>
      </p:sp>
      <p:sp>
        <p:nvSpPr>
          <p:cNvPr id="29" name="Text 27"/>
          <p:cNvSpPr/>
          <p:nvPr/>
        </p:nvSpPr>
        <p:spPr>
          <a:xfrm>
            <a:off x="4055963" y="2402185"/>
            <a:ext cx="300137" cy="251123"/>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6개</a:t>
            </a:r>
            <a:endParaRPr lang="en-US" sz="1300" dirty="0"/>
          </a:p>
        </p:txBody>
      </p:sp>
      <p:sp>
        <p:nvSpPr>
          <p:cNvPr id="30" name="Text 28"/>
          <p:cNvSpPr/>
          <p:nvPr/>
        </p:nvSpPr>
        <p:spPr>
          <a:xfrm>
            <a:off x="2419350" y="2653308"/>
            <a:ext cx="1942529" cy="442119"/>
          </a:xfrm>
          <a:prstGeom prst="rect">
            <a:avLst/>
          </a:prstGeom>
          <a:noFill/>
          <a:ln/>
        </p:spPr>
        <p:txBody>
          <a:bodyPr wrap="square" lIns="0" tIns="0" rIns="0" bIns="0" rtlCol="0" anchor="t">
            <a:normAutofit/>
          </a:bodyPr>
          <a:lstStyle/>
          <a:p>
            <a:pPr algn="l" indent="0" marL="0">
              <a:lnSpc>
                <a:spcPts val="1659"/>
              </a:lnSpc>
              <a:buNone/>
            </a:pPr>
            <a:r>
              <a:rPr lang="en-US" sz="1185" b="1" dirty="0">
                <a:solidFill>
                  <a:srgbClr val="C8102E"/>
                </a:solidFill>
                <a:latin typeface="Noto Sans KR" pitchFamily="34" charset="0"/>
                <a:ea typeface="Noto Sans KR" pitchFamily="34" charset="-122"/>
                <a:cs typeface="Noto Sans KR" pitchFamily="34" charset="-120"/>
              </a:rPr>
              <a:t>MFA, 사외접속·개인계정 차단</a:t>
            </a:r>
            <a:r>
              <a:rPr lang="en-US" sz="1185" dirty="0">
                <a:solidFill>
                  <a:srgbClr val="4A5366"/>
                </a:solidFill>
                <a:latin typeface="Noto Sans KR" pitchFamily="34" charset="0"/>
                <a:ea typeface="Noto Sans KR" pitchFamily="34" charset="-122"/>
                <a:cs typeface="Noto Sans KR" pitchFamily="34" charset="-120"/>
              </a:rPr>
              <a:t>, 인사 연동</a:t>
            </a:r>
            <a:endParaRPr lang="en-US" sz="1185" dirty="0"/>
          </a:p>
        </p:txBody>
      </p:sp>
      <p:sp>
        <p:nvSpPr>
          <p:cNvPr id="31" name="Shape 29"/>
          <p:cNvSpPr/>
          <p:nvPr/>
        </p:nvSpPr>
        <p:spPr>
          <a:xfrm>
            <a:off x="4581525" y="2322810"/>
            <a:ext cx="2171700" cy="826591"/>
          </a:xfrm>
          <a:prstGeom prst="roundRect">
            <a:avLst>
              <a:gd name="adj" fmla="val 8834"/>
            </a:avLst>
          </a:prstGeom>
          <a:solidFill>
            <a:srgbClr val="FFFFFF"/>
          </a:solidFill>
          <a:ln w="6350">
            <a:solidFill>
              <a:srgbClr val="DCE1EA"/>
            </a:solidFill>
            <a:prstDash val="solid"/>
          </a:ln>
        </p:spPr>
      </p:sp>
      <p:sp>
        <p:nvSpPr>
          <p:cNvPr id="32" name="Text 30"/>
          <p:cNvSpPr/>
          <p:nvPr/>
        </p:nvSpPr>
        <p:spPr>
          <a:xfrm>
            <a:off x="4724400" y="2402185"/>
            <a:ext cx="279400" cy="25112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05</a:t>
            </a:r>
            <a:endParaRPr lang="en-US" sz="1300" dirty="0"/>
          </a:p>
        </p:txBody>
      </p:sp>
      <p:sp>
        <p:nvSpPr>
          <p:cNvPr id="33" name="Text 31"/>
          <p:cNvSpPr/>
          <p:nvPr/>
        </p:nvSpPr>
        <p:spPr>
          <a:xfrm>
            <a:off x="5016500" y="2402185"/>
            <a:ext cx="1234380" cy="251123"/>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권한·인가</a:t>
            </a:r>
            <a:endParaRPr lang="en-US" sz="1300" dirty="0"/>
          </a:p>
        </p:txBody>
      </p:sp>
      <p:sp>
        <p:nvSpPr>
          <p:cNvPr id="34" name="Text 32"/>
          <p:cNvSpPr/>
          <p:nvPr/>
        </p:nvSpPr>
        <p:spPr>
          <a:xfrm>
            <a:off x="6263580" y="2402185"/>
            <a:ext cx="397570" cy="251123"/>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11개</a:t>
            </a:r>
            <a:endParaRPr lang="en-US" sz="1300" dirty="0"/>
          </a:p>
        </p:txBody>
      </p:sp>
      <p:sp>
        <p:nvSpPr>
          <p:cNvPr id="35" name="Text 33"/>
          <p:cNvSpPr/>
          <p:nvPr/>
        </p:nvSpPr>
        <p:spPr>
          <a:xfrm>
            <a:off x="4724400" y="2653308"/>
            <a:ext cx="1942529" cy="442119"/>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4A5366"/>
                </a:solidFill>
                <a:latin typeface="Noto Sans KR" pitchFamily="34" charset="0"/>
                <a:ea typeface="Noto Sans KR" pitchFamily="34" charset="-122"/>
                <a:cs typeface="Noto Sans KR" pitchFamily="34" charset="-120"/>
              </a:rPr>
              <a:t>사람·에이전트·MCP 모두 의도한 권한만</a:t>
            </a:r>
            <a:endParaRPr lang="en-US" sz="1185" dirty="0"/>
          </a:p>
        </p:txBody>
      </p:sp>
      <p:sp>
        <p:nvSpPr>
          <p:cNvPr id="36" name="Shape 34"/>
          <p:cNvSpPr/>
          <p:nvPr/>
        </p:nvSpPr>
        <p:spPr>
          <a:xfrm>
            <a:off x="812800" y="3228777"/>
            <a:ext cx="1333500" cy="0"/>
          </a:xfrm>
          <a:prstGeom prst="line">
            <a:avLst/>
          </a:prstGeom>
          <a:noFill/>
          <a:ln w="25400">
            <a:solidFill>
              <a:srgbClr val="1428A0"/>
            </a:solidFill>
            <a:prstDash val="solid"/>
          </a:ln>
        </p:spPr>
      </p:sp>
      <p:sp>
        <p:nvSpPr>
          <p:cNvPr id="37" name="Text 35"/>
          <p:cNvSpPr/>
          <p:nvPr/>
        </p:nvSpPr>
        <p:spPr>
          <a:xfrm>
            <a:off x="812800" y="3446562"/>
            <a:ext cx="13843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8A0"/>
                </a:solidFill>
                <a:latin typeface="Noto Sans KR" pitchFamily="34" charset="0"/>
                <a:ea typeface="Noto Sans KR" pitchFamily="34" charset="-122"/>
                <a:cs typeface="Noto Sans KR" pitchFamily="34" charset="-120"/>
              </a:rPr>
              <a:t>에이전트 실행</a:t>
            </a:r>
            <a:endParaRPr lang="en-US" sz="1400" dirty="0"/>
          </a:p>
        </p:txBody>
      </p:sp>
      <p:sp>
        <p:nvSpPr>
          <p:cNvPr id="38" name="Text 36"/>
          <p:cNvSpPr/>
          <p:nvPr/>
        </p:nvSpPr>
        <p:spPr>
          <a:xfrm>
            <a:off x="812800" y="3694212"/>
            <a:ext cx="138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무엇을 실행하는가</a:t>
            </a:r>
            <a:endParaRPr lang="en-US" sz="1200" dirty="0"/>
          </a:p>
        </p:txBody>
      </p:sp>
      <p:sp>
        <p:nvSpPr>
          <p:cNvPr id="39" name="Shape 37"/>
          <p:cNvSpPr/>
          <p:nvPr/>
        </p:nvSpPr>
        <p:spPr>
          <a:xfrm>
            <a:off x="2276475" y="3219252"/>
            <a:ext cx="2171700" cy="826691"/>
          </a:xfrm>
          <a:prstGeom prst="roundRect">
            <a:avLst>
              <a:gd name="adj" fmla="val 8833"/>
            </a:avLst>
          </a:prstGeom>
          <a:solidFill>
            <a:srgbClr val="FFFFFF"/>
          </a:solidFill>
          <a:ln w="6350">
            <a:solidFill>
              <a:srgbClr val="DCE1EA"/>
            </a:solidFill>
            <a:prstDash val="solid"/>
          </a:ln>
        </p:spPr>
      </p:sp>
      <p:sp>
        <p:nvSpPr>
          <p:cNvPr id="40" name="Text 38"/>
          <p:cNvSpPr/>
          <p:nvPr/>
        </p:nvSpPr>
        <p:spPr>
          <a:xfrm>
            <a:off x="2419350" y="3298627"/>
            <a:ext cx="279400" cy="25112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06</a:t>
            </a:r>
            <a:endParaRPr lang="en-US" sz="1300" dirty="0"/>
          </a:p>
        </p:txBody>
      </p:sp>
      <p:sp>
        <p:nvSpPr>
          <p:cNvPr id="41" name="Text 39"/>
          <p:cNvSpPr/>
          <p:nvPr/>
        </p:nvSpPr>
        <p:spPr>
          <a:xfrm>
            <a:off x="2711450" y="3298627"/>
            <a:ext cx="1331813" cy="251123"/>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안전한 모델</a:t>
            </a:r>
            <a:endParaRPr lang="en-US" sz="1300" dirty="0"/>
          </a:p>
        </p:txBody>
      </p:sp>
      <p:sp>
        <p:nvSpPr>
          <p:cNvPr id="42" name="Text 40"/>
          <p:cNvSpPr/>
          <p:nvPr/>
        </p:nvSpPr>
        <p:spPr>
          <a:xfrm>
            <a:off x="4055963" y="3298627"/>
            <a:ext cx="300137" cy="251123"/>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3개</a:t>
            </a:r>
            <a:endParaRPr lang="en-US" sz="1300" dirty="0"/>
          </a:p>
        </p:txBody>
      </p:sp>
      <p:sp>
        <p:nvSpPr>
          <p:cNvPr id="43" name="Text 41"/>
          <p:cNvSpPr/>
          <p:nvPr/>
        </p:nvSpPr>
        <p:spPr>
          <a:xfrm>
            <a:off x="2419350" y="3549749"/>
            <a:ext cx="1942529" cy="442218"/>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4A5366"/>
                </a:solidFill>
                <a:latin typeface="Noto Sans KR" pitchFamily="34" charset="0"/>
                <a:ea typeface="Noto Sans KR" pitchFamily="34" charset="-122"/>
                <a:cs typeface="Noto Sans KR" pitchFamily="34" charset="-120"/>
              </a:rPr>
              <a:t>프롬프트 인젝션 대응, 레드팀 운영</a:t>
            </a:r>
            <a:endParaRPr lang="en-US" sz="1185" dirty="0"/>
          </a:p>
        </p:txBody>
      </p:sp>
      <p:sp>
        <p:nvSpPr>
          <p:cNvPr id="44" name="Shape 42"/>
          <p:cNvSpPr/>
          <p:nvPr/>
        </p:nvSpPr>
        <p:spPr>
          <a:xfrm>
            <a:off x="4581525" y="3219252"/>
            <a:ext cx="2171700" cy="826691"/>
          </a:xfrm>
          <a:prstGeom prst="roundRect">
            <a:avLst>
              <a:gd name="adj" fmla="val 8833"/>
            </a:avLst>
          </a:prstGeom>
          <a:solidFill>
            <a:srgbClr val="FFFFFF"/>
          </a:solidFill>
          <a:ln w="6350">
            <a:solidFill>
              <a:srgbClr val="DCE1EA"/>
            </a:solidFill>
            <a:prstDash val="solid"/>
          </a:ln>
        </p:spPr>
      </p:sp>
      <p:sp>
        <p:nvSpPr>
          <p:cNvPr id="45" name="Text 43"/>
          <p:cNvSpPr/>
          <p:nvPr/>
        </p:nvSpPr>
        <p:spPr>
          <a:xfrm>
            <a:off x="4724400" y="3298627"/>
            <a:ext cx="279400" cy="25112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07</a:t>
            </a:r>
            <a:endParaRPr lang="en-US" sz="1300" dirty="0"/>
          </a:p>
        </p:txBody>
      </p:sp>
      <p:sp>
        <p:nvSpPr>
          <p:cNvPr id="46" name="Text 44"/>
          <p:cNvSpPr/>
          <p:nvPr/>
        </p:nvSpPr>
        <p:spPr>
          <a:xfrm>
            <a:off x="5016500" y="3298627"/>
            <a:ext cx="1234380" cy="251123"/>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도구 검수</a:t>
            </a:r>
            <a:endParaRPr lang="en-US" sz="1300" dirty="0"/>
          </a:p>
        </p:txBody>
      </p:sp>
      <p:sp>
        <p:nvSpPr>
          <p:cNvPr id="47" name="Text 45"/>
          <p:cNvSpPr/>
          <p:nvPr/>
        </p:nvSpPr>
        <p:spPr>
          <a:xfrm>
            <a:off x="6263580" y="3298627"/>
            <a:ext cx="397570" cy="251123"/>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11개</a:t>
            </a:r>
            <a:endParaRPr lang="en-US" sz="1300" dirty="0"/>
          </a:p>
        </p:txBody>
      </p:sp>
      <p:sp>
        <p:nvSpPr>
          <p:cNvPr id="48" name="Text 46"/>
          <p:cNvSpPr/>
          <p:nvPr/>
        </p:nvSpPr>
        <p:spPr>
          <a:xfrm>
            <a:off x="4724400" y="3549749"/>
            <a:ext cx="1942529" cy="442218"/>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4A5366"/>
                </a:solidFill>
                <a:latin typeface="Noto Sans KR" pitchFamily="34" charset="0"/>
                <a:ea typeface="Noto Sans KR" pitchFamily="34" charset="-122"/>
                <a:cs typeface="Noto Sans KR" pitchFamily="34" charset="-120"/>
              </a:rPr>
              <a:t>관리자 검사를 통과한 MCP·스킬만 사용</a:t>
            </a:r>
            <a:endParaRPr lang="en-US" sz="1185" dirty="0"/>
          </a:p>
        </p:txBody>
      </p:sp>
      <p:sp>
        <p:nvSpPr>
          <p:cNvPr id="49" name="Shape 47"/>
          <p:cNvSpPr/>
          <p:nvPr/>
        </p:nvSpPr>
        <p:spPr>
          <a:xfrm>
            <a:off x="6886575" y="3219252"/>
            <a:ext cx="2171700" cy="826691"/>
          </a:xfrm>
          <a:prstGeom prst="roundRect">
            <a:avLst>
              <a:gd name="adj" fmla="val 8833"/>
            </a:avLst>
          </a:prstGeom>
          <a:solidFill>
            <a:srgbClr val="FFFFFF"/>
          </a:solidFill>
          <a:ln w="6350">
            <a:solidFill>
              <a:srgbClr val="DCE1EA"/>
            </a:solidFill>
            <a:prstDash val="solid"/>
          </a:ln>
        </p:spPr>
      </p:sp>
      <p:sp>
        <p:nvSpPr>
          <p:cNvPr id="50" name="Text 48"/>
          <p:cNvSpPr/>
          <p:nvPr/>
        </p:nvSpPr>
        <p:spPr>
          <a:xfrm>
            <a:off x="7029450" y="3298627"/>
            <a:ext cx="2794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08</a:t>
            </a:r>
            <a:endParaRPr lang="en-US" sz="1300" dirty="0"/>
          </a:p>
        </p:txBody>
      </p:sp>
      <p:sp>
        <p:nvSpPr>
          <p:cNvPr id="51" name="Text 49"/>
          <p:cNvSpPr/>
          <p:nvPr/>
        </p:nvSpPr>
        <p:spPr>
          <a:xfrm>
            <a:off x="7321550" y="3298627"/>
            <a:ext cx="1331813" cy="25648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사람 승인(HITL)</a:t>
            </a:r>
            <a:endParaRPr lang="en-US" sz="1300" dirty="0"/>
          </a:p>
        </p:txBody>
      </p:sp>
      <p:sp>
        <p:nvSpPr>
          <p:cNvPr id="52" name="Text 50"/>
          <p:cNvSpPr/>
          <p:nvPr/>
        </p:nvSpPr>
        <p:spPr>
          <a:xfrm>
            <a:off x="8666063" y="3298627"/>
            <a:ext cx="300137" cy="256480"/>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3개</a:t>
            </a:r>
            <a:endParaRPr lang="en-US" sz="1300" dirty="0"/>
          </a:p>
        </p:txBody>
      </p:sp>
      <p:sp>
        <p:nvSpPr>
          <p:cNvPr id="53" name="Text 51"/>
          <p:cNvSpPr/>
          <p:nvPr/>
        </p:nvSpPr>
        <p:spPr>
          <a:xfrm>
            <a:off x="7029450" y="3555107"/>
            <a:ext cx="19425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6"/>
                </a:solidFill>
                <a:latin typeface="Noto Sans KR" pitchFamily="34" charset="0"/>
                <a:ea typeface="Noto Sans KR" pitchFamily="34" charset="-122"/>
                <a:cs typeface="Noto Sans KR" pitchFamily="34" charset="-120"/>
              </a:rPr>
              <a:t>고위험 작업은 실행 전 승인</a:t>
            </a:r>
            <a:endParaRPr lang="en-US" sz="1200" dirty="0"/>
          </a:p>
        </p:txBody>
      </p:sp>
      <p:sp>
        <p:nvSpPr>
          <p:cNvPr id="54" name="Shape 52"/>
          <p:cNvSpPr/>
          <p:nvPr/>
        </p:nvSpPr>
        <p:spPr>
          <a:xfrm>
            <a:off x="9191625" y="3219252"/>
            <a:ext cx="2171700" cy="826691"/>
          </a:xfrm>
          <a:prstGeom prst="roundRect">
            <a:avLst>
              <a:gd name="adj" fmla="val 8833"/>
            </a:avLst>
          </a:prstGeom>
          <a:solidFill>
            <a:srgbClr val="FFFFFF"/>
          </a:solidFill>
          <a:ln w="6350">
            <a:solidFill>
              <a:srgbClr val="DCE1EA"/>
            </a:solidFill>
            <a:prstDash val="solid"/>
          </a:ln>
        </p:spPr>
      </p:sp>
      <p:sp>
        <p:nvSpPr>
          <p:cNvPr id="55" name="Text 53"/>
          <p:cNvSpPr/>
          <p:nvPr/>
        </p:nvSpPr>
        <p:spPr>
          <a:xfrm>
            <a:off x="9334500" y="3298627"/>
            <a:ext cx="279400" cy="25112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09</a:t>
            </a:r>
            <a:endParaRPr lang="en-US" sz="1300" dirty="0"/>
          </a:p>
        </p:txBody>
      </p:sp>
      <p:sp>
        <p:nvSpPr>
          <p:cNvPr id="56" name="Text 54"/>
          <p:cNvSpPr/>
          <p:nvPr/>
        </p:nvSpPr>
        <p:spPr>
          <a:xfrm>
            <a:off x="9626600" y="3298627"/>
            <a:ext cx="1331813" cy="251123"/>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샌드박스</a:t>
            </a:r>
            <a:endParaRPr lang="en-US" sz="1300" dirty="0"/>
          </a:p>
        </p:txBody>
      </p:sp>
      <p:sp>
        <p:nvSpPr>
          <p:cNvPr id="57" name="Text 55"/>
          <p:cNvSpPr/>
          <p:nvPr/>
        </p:nvSpPr>
        <p:spPr>
          <a:xfrm>
            <a:off x="10971113" y="3298627"/>
            <a:ext cx="300137" cy="251123"/>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3개</a:t>
            </a:r>
            <a:endParaRPr lang="en-US" sz="1300" dirty="0"/>
          </a:p>
        </p:txBody>
      </p:sp>
      <p:sp>
        <p:nvSpPr>
          <p:cNvPr id="58" name="Text 56"/>
          <p:cNvSpPr/>
          <p:nvPr/>
        </p:nvSpPr>
        <p:spPr>
          <a:xfrm>
            <a:off x="9334500" y="3549749"/>
            <a:ext cx="1942529" cy="442218"/>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4A5366"/>
                </a:solidFill>
                <a:latin typeface="Noto Sans KR" pitchFamily="34" charset="0"/>
                <a:ea typeface="Noto Sans KR" pitchFamily="34" charset="-122"/>
                <a:cs typeface="Noto Sans KR" pitchFamily="34" charset="-120"/>
              </a:rPr>
              <a:t>실행 환경 격리로 신뢰경계 확보</a:t>
            </a:r>
            <a:endParaRPr lang="en-US" sz="1185" dirty="0"/>
          </a:p>
        </p:txBody>
      </p:sp>
      <p:sp>
        <p:nvSpPr>
          <p:cNvPr id="59" name="Shape 57"/>
          <p:cNvSpPr/>
          <p:nvPr/>
        </p:nvSpPr>
        <p:spPr>
          <a:xfrm>
            <a:off x="812800" y="4125317"/>
            <a:ext cx="1333500" cy="0"/>
          </a:xfrm>
          <a:prstGeom prst="line">
            <a:avLst/>
          </a:prstGeom>
          <a:noFill/>
          <a:ln w="25400">
            <a:solidFill>
              <a:srgbClr val="1428A0"/>
            </a:solidFill>
            <a:prstDash val="solid"/>
          </a:ln>
        </p:spPr>
      </p:sp>
      <p:sp>
        <p:nvSpPr>
          <p:cNvPr id="60" name="Text 58"/>
          <p:cNvSpPr/>
          <p:nvPr/>
        </p:nvSpPr>
        <p:spPr>
          <a:xfrm>
            <a:off x="812800" y="4343003"/>
            <a:ext cx="13843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8A0"/>
                </a:solidFill>
                <a:latin typeface="Noto Sans KR" pitchFamily="34" charset="0"/>
                <a:ea typeface="Noto Sans KR" pitchFamily="34" charset="-122"/>
                <a:cs typeface="Noto Sans KR" pitchFamily="34" charset="-120"/>
              </a:rPr>
              <a:t>운영·공급자 신뢰</a:t>
            </a:r>
            <a:endParaRPr lang="en-US" sz="1400" dirty="0"/>
          </a:p>
        </p:txBody>
      </p:sp>
      <p:sp>
        <p:nvSpPr>
          <p:cNvPr id="61" name="Text 59"/>
          <p:cNvSpPr/>
          <p:nvPr/>
        </p:nvSpPr>
        <p:spPr>
          <a:xfrm>
            <a:off x="812800" y="4590653"/>
            <a:ext cx="138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추적·책임</a:t>
            </a:r>
            <a:endParaRPr lang="en-US" sz="1200" dirty="0"/>
          </a:p>
        </p:txBody>
      </p:sp>
      <p:sp>
        <p:nvSpPr>
          <p:cNvPr id="62" name="Shape 60"/>
          <p:cNvSpPr/>
          <p:nvPr/>
        </p:nvSpPr>
        <p:spPr>
          <a:xfrm>
            <a:off x="2276475" y="4115792"/>
            <a:ext cx="2171700" cy="826591"/>
          </a:xfrm>
          <a:prstGeom prst="roundRect">
            <a:avLst>
              <a:gd name="adj" fmla="val 8834"/>
            </a:avLst>
          </a:prstGeom>
          <a:solidFill>
            <a:srgbClr val="FFFFFF"/>
          </a:solidFill>
          <a:ln w="6350">
            <a:solidFill>
              <a:srgbClr val="DCE1EA"/>
            </a:solidFill>
            <a:prstDash val="solid"/>
          </a:ln>
        </p:spPr>
      </p:sp>
      <p:sp>
        <p:nvSpPr>
          <p:cNvPr id="63" name="Text 61"/>
          <p:cNvSpPr/>
          <p:nvPr/>
        </p:nvSpPr>
        <p:spPr>
          <a:xfrm>
            <a:off x="2419350" y="4195167"/>
            <a:ext cx="279400" cy="25112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10</a:t>
            </a:r>
            <a:endParaRPr lang="en-US" sz="1300" dirty="0"/>
          </a:p>
        </p:txBody>
      </p:sp>
      <p:sp>
        <p:nvSpPr>
          <p:cNvPr id="64" name="Text 62"/>
          <p:cNvSpPr/>
          <p:nvPr/>
        </p:nvSpPr>
        <p:spPr>
          <a:xfrm>
            <a:off x="2711450" y="4195167"/>
            <a:ext cx="1331813" cy="251123"/>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모니터링·로그</a:t>
            </a:r>
            <a:endParaRPr lang="en-US" sz="1300" dirty="0"/>
          </a:p>
        </p:txBody>
      </p:sp>
      <p:sp>
        <p:nvSpPr>
          <p:cNvPr id="65" name="Text 63"/>
          <p:cNvSpPr/>
          <p:nvPr/>
        </p:nvSpPr>
        <p:spPr>
          <a:xfrm>
            <a:off x="4055963" y="4195167"/>
            <a:ext cx="300137" cy="251123"/>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6개</a:t>
            </a:r>
            <a:endParaRPr lang="en-US" sz="1300" dirty="0"/>
          </a:p>
        </p:txBody>
      </p:sp>
      <p:sp>
        <p:nvSpPr>
          <p:cNvPr id="66" name="Text 64"/>
          <p:cNvSpPr/>
          <p:nvPr/>
        </p:nvSpPr>
        <p:spPr>
          <a:xfrm>
            <a:off x="2419350" y="4446290"/>
            <a:ext cx="1942529" cy="442119"/>
          </a:xfrm>
          <a:prstGeom prst="rect">
            <a:avLst/>
          </a:prstGeom>
          <a:noFill/>
          <a:ln/>
        </p:spPr>
        <p:txBody>
          <a:bodyPr wrap="square" lIns="0" tIns="0" rIns="0" bIns="0" rtlCol="0" anchor="t">
            <a:normAutofit/>
          </a:bodyPr>
          <a:lstStyle/>
          <a:p>
            <a:pPr algn="l" indent="0" marL="0">
              <a:lnSpc>
                <a:spcPts val="1659"/>
              </a:lnSpc>
              <a:buNone/>
            </a:pPr>
            <a:r>
              <a:rPr lang="en-US" sz="1185" b="1" dirty="0">
                <a:solidFill>
                  <a:srgbClr val="C8102E"/>
                </a:solidFill>
                <a:latin typeface="Noto Sans KR" pitchFamily="34" charset="0"/>
                <a:ea typeface="Noto Sans KR" pitchFamily="34" charset="-122"/>
                <a:cs typeface="Noto Sans KR" pitchFamily="34" charset="-120"/>
              </a:rPr>
              <a:t>질의·응답·파일·툴 호출·로그인 추적</a:t>
            </a:r>
            <a:endParaRPr lang="en-US" sz="1185" dirty="0"/>
          </a:p>
        </p:txBody>
      </p:sp>
      <p:sp>
        <p:nvSpPr>
          <p:cNvPr id="67" name="Shape 65"/>
          <p:cNvSpPr/>
          <p:nvPr/>
        </p:nvSpPr>
        <p:spPr>
          <a:xfrm>
            <a:off x="4581525" y="4115792"/>
            <a:ext cx="2171700" cy="826591"/>
          </a:xfrm>
          <a:prstGeom prst="roundRect">
            <a:avLst>
              <a:gd name="adj" fmla="val 8834"/>
            </a:avLst>
          </a:prstGeom>
          <a:solidFill>
            <a:srgbClr val="FFFFFF"/>
          </a:solidFill>
          <a:ln w="6350">
            <a:solidFill>
              <a:srgbClr val="DCE1EA"/>
            </a:solidFill>
            <a:prstDash val="solid"/>
          </a:ln>
        </p:spPr>
      </p:sp>
      <p:sp>
        <p:nvSpPr>
          <p:cNvPr id="68" name="Text 66"/>
          <p:cNvSpPr/>
          <p:nvPr/>
        </p:nvSpPr>
        <p:spPr>
          <a:xfrm>
            <a:off x="4724400" y="4195167"/>
            <a:ext cx="279400" cy="25112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11</a:t>
            </a:r>
            <a:endParaRPr lang="en-US" sz="1300" dirty="0"/>
          </a:p>
        </p:txBody>
      </p:sp>
      <p:sp>
        <p:nvSpPr>
          <p:cNvPr id="69" name="Text 67"/>
          <p:cNvSpPr/>
          <p:nvPr/>
        </p:nvSpPr>
        <p:spPr>
          <a:xfrm>
            <a:off x="5016500" y="4195167"/>
            <a:ext cx="1331813" cy="251123"/>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공급자 신뢰성</a:t>
            </a:r>
            <a:endParaRPr lang="en-US" sz="1300" dirty="0"/>
          </a:p>
        </p:txBody>
      </p:sp>
      <p:sp>
        <p:nvSpPr>
          <p:cNvPr id="70" name="Text 68"/>
          <p:cNvSpPr/>
          <p:nvPr/>
        </p:nvSpPr>
        <p:spPr>
          <a:xfrm>
            <a:off x="6361013" y="4195167"/>
            <a:ext cx="300137" cy="251123"/>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7개</a:t>
            </a:r>
            <a:endParaRPr lang="en-US" sz="1300" dirty="0"/>
          </a:p>
        </p:txBody>
      </p:sp>
      <p:sp>
        <p:nvSpPr>
          <p:cNvPr id="71" name="Text 69"/>
          <p:cNvSpPr/>
          <p:nvPr/>
        </p:nvSpPr>
        <p:spPr>
          <a:xfrm>
            <a:off x="4724400" y="4446290"/>
            <a:ext cx="1942529" cy="442119"/>
          </a:xfrm>
          <a:prstGeom prst="rect">
            <a:avLst/>
          </a:prstGeom>
          <a:noFill/>
          <a:ln/>
        </p:spPr>
        <p:txBody>
          <a:bodyPr wrap="square" lIns="0" tIns="0" rIns="0" bIns="0" rtlCol="0" anchor="t">
            <a:normAutofit/>
          </a:bodyPr>
          <a:lstStyle/>
          <a:p>
            <a:pPr algn="l" indent="0" marL="0">
              <a:lnSpc>
                <a:spcPts val="1659"/>
              </a:lnSpc>
              <a:buNone/>
            </a:pPr>
            <a:r>
              <a:rPr lang="en-US" sz="1185" b="1" dirty="0">
                <a:solidFill>
                  <a:srgbClr val="C8102E"/>
                </a:solidFill>
                <a:latin typeface="Noto Sans KR" pitchFamily="34" charset="0"/>
                <a:ea typeface="Noto Sans KR" pitchFamily="34" charset="-122"/>
                <a:cs typeface="Noto Sans KR" pitchFamily="34" charset="-120"/>
              </a:rPr>
              <a:t>SOC 2 인증</a:t>
            </a:r>
            <a:r>
              <a:rPr lang="en-US" sz="1185" dirty="0">
                <a:solidFill>
                  <a:srgbClr val="4A5366"/>
                </a:solidFill>
                <a:latin typeface="Noto Sans KR" pitchFamily="34" charset="0"/>
                <a:ea typeface="Noto Sans KR" pitchFamily="34" charset="-122"/>
                <a:cs typeface="Noto Sans KR" pitchFamily="34" charset="-120"/>
              </a:rPr>
              <a:t>, 해지 시 삭제, 사고 배상</a:t>
            </a:r>
            <a:endParaRPr lang="en-US" sz="1185" dirty="0"/>
          </a:p>
        </p:txBody>
      </p:sp>
      <p:sp>
        <p:nvSpPr>
          <p:cNvPr id="72" name="Shape 70"/>
          <p:cNvSpPr/>
          <p:nvPr/>
        </p:nvSpPr>
        <p:spPr>
          <a:xfrm>
            <a:off x="812800" y="5021759"/>
            <a:ext cx="1333500" cy="0"/>
          </a:xfrm>
          <a:prstGeom prst="line">
            <a:avLst/>
          </a:prstGeom>
          <a:noFill/>
          <a:ln w="25400">
            <a:solidFill>
              <a:srgbClr val="1428A0"/>
            </a:solidFill>
            <a:prstDash val="solid"/>
          </a:ln>
        </p:spPr>
      </p:sp>
      <p:sp>
        <p:nvSpPr>
          <p:cNvPr id="73" name="Text 71"/>
          <p:cNvSpPr/>
          <p:nvPr/>
        </p:nvSpPr>
        <p:spPr>
          <a:xfrm>
            <a:off x="812800" y="5239445"/>
            <a:ext cx="13843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8A0"/>
                </a:solidFill>
                <a:latin typeface="Noto Sans KR" pitchFamily="34" charset="0"/>
                <a:ea typeface="Noto Sans KR" pitchFamily="34" charset="-122"/>
                <a:cs typeface="Noto Sans KR" pitchFamily="34" charset="-120"/>
              </a:rPr>
              <a:t>거버넌스</a:t>
            </a:r>
            <a:endParaRPr lang="en-US" sz="1400" dirty="0"/>
          </a:p>
        </p:txBody>
      </p:sp>
      <p:sp>
        <p:nvSpPr>
          <p:cNvPr id="74" name="Text 72"/>
          <p:cNvSpPr/>
          <p:nvPr/>
        </p:nvSpPr>
        <p:spPr>
          <a:xfrm>
            <a:off x="812800" y="5487095"/>
            <a:ext cx="138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무엇을 쓰고 있는가</a:t>
            </a:r>
            <a:endParaRPr lang="en-US" sz="1200" dirty="0"/>
          </a:p>
        </p:txBody>
      </p:sp>
      <p:sp>
        <p:nvSpPr>
          <p:cNvPr id="75" name="Shape 73"/>
          <p:cNvSpPr/>
          <p:nvPr/>
        </p:nvSpPr>
        <p:spPr>
          <a:xfrm>
            <a:off x="2276475" y="5012234"/>
            <a:ext cx="2171700" cy="826591"/>
          </a:xfrm>
          <a:prstGeom prst="roundRect">
            <a:avLst>
              <a:gd name="adj" fmla="val 8834"/>
            </a:avLst>
          </a:prstGeom>
          <a:solidFill>
            <a:srgbClr val="FFFFFF"/>
          </a:solidFill>
          <a:ln w="6350">
            <a:solidFill>
              <a:srgbClr val="DCE1EA"/>
            </a:solidFill>
            <a:prstDash val="solid"/>
          </a:ln>
        </p:spPr>
      </p:sp>
      <p:sp>
        <p:nvSpPr>
          <p:cNvPr id="76" name="Text 74"/>
          <p:cNvSpPr/>
          <p:nvPr/>
        </p:nvSpPr>
        <p:spPr>
          <a:xfrm>
            <a:off x="2419350" y="5091609"/>
            <a:ext cx="279400" cy="251123"/>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12</a:t>
            </a:r>
            <a:endParaRPr lang="en-US" sz="1300" dirty="0"/>
          </a:p>
        </p:txBody>
      </p:sp>
      <p:sp>
        <p:nvSpPr>
          <p:cNvPr id="77" name="Text 75"/>
          <p:cNvSpPr/>
          <p:nvPr/>
        </p:nvSpPr>
        <p:spPr>
          <a:xfrm>
            <a:off x="2711450" y="5091609"/>
            <a:ext cx="1331813" cy="251123"/>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AI 현황 관리</a:t>
            </a:r>
            <a:endParaRPr lang="en-US" sz="1300" dirty="0"/>
          </a:p>
        </p:txBody>
      </p:sp>
      <p:sp>
        <p:nvSpPr>
          <p:cNvPr id="78" name="Text 76"/>
          <p:cNvSpPr/>
          <p:nvPr/>
        </p:nvSpPr>
        <p:spPr>
          <a:xfrm>
            <a:off x="4055963" y="5091609"/>
            <a:ext cx="300137" cy="251123"/>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2개</a:t>
            </a:r>
            <a:endParaRPr lang="en-US" sz="1300" dirty="0"/>
          </a:p>
        </p:txBody>
      </p:sp>
      <p:sp>
        <p:nvSpPr>
          <p:cNvPr id="79" name="Text 77"/>
          <p:cNvSpPr/>
          <p:nvPr/>
        </p:nvSpPr>
        <p:spPr>
          <a:xfrm>
            <a:off x="2419350" y="5342731"/>
            <a:ext cx="1942529" cy="442119"/>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4A5366"/>
                </a:solidFill>
                <a:latin typeface="Noto Sans KR" pitchFamily="34" charset="0"/>
                <a:ea typeface="Noto Sans KR" pitchFamily="34" charset="-122"/>
                <a:cs typeface="Noto Sans KR" pitchFamily="34" charset="-120"/>
              </a:rPr>
              <a:t>Shadow AI 탐지, AI·Agent 사용 현황 관리</a:t>
            </a:r>
            <a:endParaRPr lang="en-US" sz="1185" dirty="0"/>
          </a:p>
        </p:txBody>
      </p:sp>
      <p:sp>
        <p:nvSpPr>
          <p:cNvPr id="80" name="Text 78"/>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보안 체크리스트: 생성형AI 34 · MCP 15 · Agent 20 = 69개</a:t>
            </a:r>
            <a:endParaRPr lang="en-US" sz="1200" dirty="0"/>
          </a:p>
        </p:txBody>
      </p:sp>
      <p:sp>
        <p:nvSpPr>
          <p:cNvPr id="81" name="Text 79"/>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457200" y="279400"/>
            <a:ext cx="3772233" cy="22096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1428A0"/>
                </a:solidFill>
                <a:latin typeface="Noto Sans KR" pitchFamily="34" charset="0"/>
                <a:ea typeface="Noto Sans KR" pitchFamily="34" charset="-122"/>
                <a:cs typeface="Noto Sans KR" pitchFamily="34" charset="-120"/>
              </a:rPr>
              <a:t>참고 자료 · Reference</a:t>
            </a:r>
            <a:endParaRPr lang="en-US" sz="1100" dirty="0"/>
          </a:p>
        </p:txBody>
      </p:sp>
      <p:sp>
        <p:nvSpPr>
          <p:cNvPr id="3" name="Text 1"/>
          <p:cNvSpPr/>
          <p:nvPr>
            <p:ph type="title"/>
          </p:nvPr>
        </p:nvSpPr>
        <p:spPr>
          <a:xfrm>
            <a:off x="457200" y="500360"/>
            <a:ext cx="4394835" cy="346670"/>
          </a:xfrm>
          <a:prstGeom prst="rect">
            <a:avLst/>
          </a:prstGeom>
          <a:noFill/>
          <a:ln/>
        </p:spPr>
        <p:txBody>
          <a:bodyPr wrap="square" lIns="0" tIns="0" rIns="0" bIns="0" rtlCol="0" anchor="t">
            <a:normAutofit/>
          </a:bodyPr>
          <a:lstStyle/>
          <a:p>
            <a:pPr algn="l" indent="0" marL="0">
              <a:lnSpc>
                <a:spcPts val="2530"/>
              </a:lnSpc>
              <a:buNone/>
            </a:pPr>
            <a:r>
              <a:rPr lang="en-US" sz="2300" b="1" i="0" dirty="0">
                <a:solidFill>
                  <a:srgbClr val="0E1320"/>
                </a:solidFill>
                <a:latin typeface="Noto Sans KR" pitchFamily="34" charset="0"/>
                <a:ea typeface="Noto Sans KR" pitchFamily="34" charset="-122"/>
                <a:cs typeface="Noto Sans KR" pitchFamily="34" charset="-120"/>
              </a:rPr>
              <a:t>근거가 된 5개 보안 프레임워크</a:t>
            </a:r>
            <a:endParaRPr lang="en-US" sz="2300" dirty="0"/>
          </a:p>
        </p:txBody>
      </p:sp>
      <p:sp>
        <p:nvSpPr>
          <p:cNvPr id="4" name="Text 2"/>
          <p:cNvSpPr/>
          <p:nvPr/>
        </p:nvSpPr>
        <p:spPr>
          <a:xfrm>
            <a:off x="8833986" y="387449"/>
            <a:ext cx="2900814" cy="434181"/>
          </a:xfrm>
          <a:prstGeom prst="rect">
            <a:avLst/>
          </a:prstGeom>
          <a:noFill/>
          <a:ln/>
        </p:spPr>
        <p:txBody>
          <a:bodyPr wrap="square" lIns="0" tIns="0" rIns="0" bIns="0" rtlCol="0" anchor="t">
            <a:normAutofit/>
          </a:bodyPr>
          <a:lstStyle/>
          <a:p>
            <a:pPr algn="r" indent="0" marL="0">
              <a:lnSpc>
                <a:spcPts val="1610"/>
              </a:lnSpc>
              <a:buNone/>
            </a:pPr>
            <a:r>
              <a:rPr lang="en-US" sz="1150" dirty="0">
                <a:solidFill>
                  <a:srgbClr val="1428A0"/>
                </a:solidFill>
                <a:latin typeface="Noto Sans KR" pitchFamily="34" charset="0"/>
                <a:ea typeface="Noto Sans KR" pitchFamily="34" charset="-122"/>
                <a:cs typeface="Noto Sans KR" pitchFamily="34" charset="-120"/>
              </a:rPr>
              <a:t>체크리스트·대응 방안을 구성할 때</a:t>
            </a:r>
            <a:endParaRPr lang="en-US" sz="1150" dirty="0"/>
          </a:p>
          <a:p>
            <a:pPr algn="r" indent="0" marL="0">
              <a:lnSpc>
                <a:spcPts val="1610"/>
              </a:lnSpc>
              <a:buNone/>
            </a:pPr>
            <a:r>
              <a:rPr lang="en-US" sz="1150" dirty="0">
                <a:solidFill>
                  <a:srgbClr val="1428A0"/>
                </a:solidFill>
                <a:latin typeface="Noto Sans KR" pitchFamily="34" charset="0"/>
                <a:ea typeface="Noto Sans KR" pitchFamily="34" charset="-122"/>
                <a:cs typeface="Noto Sans KR" pitchFamily="34" charset="-120"/>
              </a:rPr>
              <a:t>바탕으로 삼은 표준 · 리서치 · 클라우드 가이드</a:t>
            </a:r>
            <a:endParaRPr lang="en-US" sz="1150" dirty="0"/>
          </a:p>
        </p:txBody>
      </p:sp>
      <p:sp>
        <p:nvSpPr>
          <p:cNvPr id="5" name="Shape 3"/>
          <p:cNvSpPr/>
          <p:nvPr/>
        </p:nvSpPr>
        <p:spPr>
          <a:xfrm>
            <a:off x="460375" y="901005"/>
            <a:ext cx="2147491" cy="5623620"/>
          </a:xfrm>
          <a:prstGeom prst="roundRect">
            <a:avLst>
              <a:gd name="adj" fmla="val 4583"/>
            </a:avLst>
          </a:prstGeom>
          <a:solidFill>
            <a:srgbClr val="FFFFFF"/>
          </a:solidFill>
          <a:ln w="6350">
            <a:solidFill>
              <a:srgbClr val="DCE1EA"/>
            </a:solidFill>
            <a:prstDash val="solid"/>
          </a:ln>
          <a:effectLst>
            <a:outerShdw sx="100000" sy="100000" kx="0" ky="0" algn="bl" rotWithShape="0" blurRad="114300" dist="38100" dir="5400000">
              <a:srgbClr val="0E1320">
                <a:alpha val="6000"/>
              </a:srgbClr>
            </a:outerShdw>
          </a:effectLst>
        </p:spPr>
      </p:sp>
      <p:sp>
        <p:nvSpPr>
          <p:cNvPr id="6" name="Shape 4"/>
          <p:cNvSpPr/>
          <p:nvPr/>
        </p:nvSpPr>
        <p:spPr>
          <a:xfrm>
            <a:off x="463550" y="904180"/>
            <a:ext cx="2141141" cy="4764980"/>
          </a:xfrm>
          <a:custGeom>
            <a:avLst/>
            <a:gdLst/>
            <a:ahLst/>
            <a:cxnLst/>
            <a:rect l="l" t="t" r="r" b="b"/>
            <a:pathLst>
              <a:path w="2141141" h="4764980">
                <a:moveTo>
                  <a:pt x="0" y="95250"/>
                </a:moveTo>
                <a:arcTo hR="95250" wR="95250" stAng="10800000" swAng="5400000"/>
                <a:lnTo>
                  <a:pt x="2045891" y="0"/>
                </a:lnTo>
                <a:arcTo hR="95250" wR="95250" stAng="16200000" swAng="5400000"/>
                <a:lnTo>
                  <a:pt x="2141141" y="4764980"/>
                </a:lnTo>
                <a:lnTo>
                  <a:pt x="0" y="4764980"/>
                </a:lnTo>
                <a:close/>
              </a:path>
            </a:pathLst>
          </a:custGeom>
          <a:solidFill>
            <a:srgbClr val="E9EDF5"/>
          </a:solidFill>
          <a:ln/>
        </p:spPr>
      </p:sp>
      <p:pic>
        <p:nvPicPr>
          <p:cNvPr id="7" name="Image 0" descr="OWASP Top 10 for Agentic Applications 2026 표지">    </p:cNvPr>
          <p:cNvPicPr>
            <a:picLocks noChangeAspect="1"/>
          </p:cNvPicPr>
          <p:nvPr/>
        </p:nvPicPr>
        <p:blipFill>
          <a:blip r:embed="rId1"/>
          <a:srcRect l="0" r="0" t="0" b="0"/>
          <a:stretch/>
        </p:blipFill>
        <p:spPr>
          <a:xfrm>
            <a:off x="463550" y="1901230"/>
            <a:ext cx="2141141" cy="2770882"/>
          </a:xfrm>
          <a:prstGeom prst="rect">
            <a:avLst/>
          </a:prstGeom>
        </p:spPr>
      </p:pic>
      <p:sp>
        <p:nvSpPr>
          <p:cNvPr id="8" name="Shape 5"/>
          <p:cNvSpPr/>
          <p:nvPr/>
        </p:nvSpPr>
        <p:spPr>
          <a:xfrm>
            <a:off x="463550" y="5669161"/>
            <a:ext cx="2141141" cy="852289"/>
          </a:xfrm>
          <a:custGeom>
            <a:avLst/>
            <a:gdLst/>
            <a:ahLst/>
            <a:cxnLst/>
            <a:rect l="l" t="t" r="r" b="b"/>
            <a:pathLst>
              <a:path w="2141141" h="852289">
                <a:moveTo>
                  <a:pt x="0" y="0"/>
                </a:moveTo>
                <a:lnTo>
                  <a:pt x="2141141" y="0"/>
                </a:lnTo>
                <a:lnTo>
                  <a:pt x="2141141" y="6350"/>
                </a:lnTo>
                <a:lnTo>
                  <a:pt x="0" y="6350"/>
                </a:lnTo>
                <a:lnTo>
                  <a:pt x="0" y="0"/>
                </a:lnTo>
                <a:close/>
              </a:path>
            </a:pathLst>
          </a:custGeom>
          <a:solidFill>
            <a:srgbClr val="EDF0F5"/>
          </a:solidFill>
          <a:ln/>
        </p:spPr>
      </p:sp>
      <p:sp>
        <p:nvSpPr>
          <p:cNvPr id="9" name="Text 6"/>
          <p:cNvSpPr/>
          <p:nvPr/>
        </p:nvSpPr>
        <p:spPr>
          <a:xfrm>
            <a:off x="590550" y="5777111"/>
            <a:ext cx="1943755" cy="192980"/>
          </a:xfrm>
          <a:prstGeom prst="rect">
            <a:avLst/>
          </a:prstGeom>
          <a:noFill/>
          <a:ln/>
        </p:spPr>
        <p:txBody>
          <a:bodyPr wrap="square" lIns="0" tIns="0" rIns="0" bIns="0" rtlCol="0" anchor="t">
            <a:normAutofit/>
          </a:bodyPr>
          <a:lstStyle/>
          <a:p>
            <a:pPr algn="l" indent="0" marL="0">
              <a:lnSpc>
                <a:spcPts val="1320"/>
              </a:lnSpc>
              <a:buNone/>
            </a:pPr>
            <a:r>
              <a:rPr lang="en-US" sz="1100" b="1" dirty="0">
                <a:solidFill>
                  <a:srgbClr val="0E1320"/>
                </a:solidFill>
                <a:latin typeface="Noto Sans KR" pitchFamily="34" charset="0"/>
                <a:ea typeface="Noto Sans KR" pitchFamily="34" charset="-122"/>
                <a:cs typeface="Noto Sans KR" pitchFamily="34" charset="-120"/>
              </a:rPr>
              <a:t>OWASP Top 10</a:t>
            </a:r>
            <a:endParaRPr lang="en-US" sz="1100" dirty="0"/>
          </a:p>
        </p:txBody>
      </p:sp>
      <p:sp>
        <p:nvSpPr>
          <p:cNvPr id="10" name="Text 7"/>
          <p:cNvSpPr/>
          <p:nvPr/>
        </p:nvSpPr>
        <p:spPr>
          <a:xfrm>
            <a:off x="590550" y="5989141"/>
            <a:ext cx="1943755" cy="188218"/>
          </a:xfrm>
          <a:prstGeom prst="rect">
            <a:avLst/>
          </a:prstGeom>
          <a:noFill/>
          <a:ln/>
        </p:spPr>
        <p:txBody>
          <a:bodyPr wrap="square" lIns="0" tIns="0" rIns="0" bIns="0" rtlCol="0" anchor="t">
            <a:normAutofit/>
          </a:bodyPr>
          <a:lstStyle/>
          <a:p>
            <a:pPr algn="l" indent="0" marL="0">
              <a:lnSpc>
                <a:spcPts val="1283"/>
              </a:lnSpc>
              <a:buNone/>
            </a:pPr>
            <a:r>
              <a:rPr lang="en-US" sz="950" dirty="0">
                <a:solidFill>
                  <a:srgbClr val="4A5366"/>
                </a:solidFill>
                <a:latin typeface="Noto Sans KR" pitchFamily="34" charset="0"/>
                <a:ea typeface="Noto Sans KR" pitchFamily="34" charset="-122"/>
                <a:cs typeface="Noto Sans KR" pitchFamily="34" charset="-120"/>
              </a:rPr>
              <a:t>에이전트 앱 10대 위협 (M·A·S)</a:t>
            </a:r>
            <a:endParaRPr lang="en-US" sz="950" dirty="0"/>
          </a:p>
        </p:txBody>
      </p:sp>
      <p:sp>
        <p:nvSpPr>
          <p:cNvPr id="11" name="Text 8"/>
          <p:cNvSpPr/>
          <p:nvPr/>
        </p:nvSpPr>
        <p:spPr>
          <a:xfrm>
            <a:off x="590550" y="6196409"/>
            <a:ext cx="777478" cy="210741"/>
          </a:xfrm>
          <a:custGeom>
            <a:avLst/>
            <a:gdLst/>
            <a:ahLst/>
            <a:cxnLst/>
            <a:rect l="l" t="t" r="r" b="b"/>
            <a:pathLst>
              <a:path w="777478" h="210741">
                <a:moveTo>
                  <a:pt x="105370" y="0"/>
                </a:moveTo>
                <a:lnTo>
                  <a:pt x="672108" y="0"/>
                </a:lnTo>
                <a:arcTo hR="105370" wR="105370" stAng="16200000" swAng="5400000"/>
                <a:lnTo>
                  <a:pt x="777478" y="105370"/>
                </a:lnTo>
                <a:arcTo hR="105370" wR="105370" stAng="0" swAng="5400000"/>
                <a:lnTo>
                  <a:pt x="105370" y="210741"/>
                </a:lnTo>
                <a:arcTo hR="105370" wR="105370" stAng="5400000" swAng="5400000"/>
                <a:lnTo>
                  <a:pt x="0" y="105370"/>
                </a:lnTo>
                <a:arcTo hR="105370" wR="105370" stAng="10800000" swAng="5400000"/>
                <a:close/>
              </a:path>
            </a:pathLst>
          </a:custGeom>
          <a:solidFill>
            <a:srgbClr val="EEF1F5"/>
          </a:solidFill>
          <a:ln/>
        </p:spPr>
        <p:txBody>
          <a:bodyPr wrap="none" lIns="0" tIns="0" rIns="0" bIns="0" rtlCol="0" anchor="ctr">
            <a:normAutofit/>
          </a:bodyPr>
          <a:lstStyle/>
          <a:p>
            <a:pPr algn="ctr" indent="0" marL="0">
              <a:lnSpc>
                <a:spcPts val="1260"/>
              </a:lnSpc>
              <a:buNone/>
            </a:pPr>
            <a:r>
              <a:rPr lang="en-US" sz="900" b="1" dirty="0">
                <a:solidFill>
                  <a:srgbClr val="5B6577"/>
                </a:solidFill>
                <a:latin typeface="Noto Sans KR" pitchFamily="34" charset="0"/>
                <a:ea typeface="Noto Sans KR" pitchFamily="34" charset="-122"/>
                <a:cs typeface="Noto Sans KR" pitchFamily="34" charset="-120"/>
              </a:rPr>
              <a:t>표준 · 2026</a:t>
            </a:r>
            <a:endParaRPr lang="en-US" sz="900" dirty="0"/>
          </a:p>
        </p:txBody>
      </p:sp>
      <p:sp>
        <p:nvSpPr>
          <p:cNvPr id="12" name="Shape 9"/>
          <p:cNvSpPr/>
          <p:nvPr/>
        </p:nvSpPr>
        <p:spPr>
          <a:xfrm>
            <a:off x="2741216" y="901005"/>
            <a:ext cx="2147590" cy="5623620"/>
          </a:xfrm>
          <a:prstGeom prst="roundRect">
            <a:avLst>
              <a:gd name="adj" fmla="val 4583"/>
            </a:avLst>
          </a:prstGeom>
          <a:solidFill>
            <a:srgbClr val="FFFFFF"/>
          </a:solidFill>
          <a:ln w="6350">
            <a:solidFill>
              <a:srgbClr val="DCE1EA"/>
            </a:solidFill>
            <a:prstDash val="solid"/>
          </a:ln>
          <a:effectLst>
            <a:outerShdw sx="100000" sy="100000" kx="0" ky="0" algn="bl" rotWithShape="0" blurRad="114300" dist="38100" dir="5400000">
              <a:srgbClr val="0E1320">
                <a:alpha val="6000"/>
              </a:srgbClr>
            </a:outerShdw>
          </a:effectLst>
        </p:spPr>
      </p:sp>
      <p:sp>
        <p:nvSpPr>
          <p:cNvPr id="13" name="Shape 10"/>
          <p:cNvSpPr/>
          <p:nvPr/>
        </p:nvSpPr>
        <p:spPr>
          <a:xfrm>
            <a:off x="2744391" y="904180"/>
            <a:ext cx="2141240" cy="4764980"/>
          </a:xfrm>
          <a:custGeom>
            <a:avLst/>
            <a:gdLst/>
            <a:ahLst/>
            <a:cxnLst/>
            <a:rect l="l" t="t" r="r" b="b"/>
            <a:pathLst>
              <a:path w="2141240" h="4764980">
                <a:moveTo>
                  <a:pt x="0" y="95250"/>
                </a:moveTo>
                <a:arcTo hR="95250" wR="95250" stAng="10800000" swAng="5400000"/>
                <a:lnTo>
                  <a:pt x="2045990" y="0"/>
                </a:lnTo>
                <a:arcTo hR="95250" wR="95250" stAng="16200000" swAng="5400000"/>
                <a:lnTo>
                  <a:pt x="2141240" y="4764980"/>
                </a:lnTo>
                <a:lnTo>
                  <a:pt x="0" y="4764980"/>
                </a:lnTo>
                <a:close/>
              </a:path>
            </a:pathLst>
          </a:custGeom>
          <a:solidFill>
            <a:srgbClr val="47704C"/>
          </a:solidFill>
          <a:ln/>
        </p:spPr>
      </p:sp>
      <p:pic>
        <p:nvPicPr>
          <p:cNvPr id="14" name="Image 1" descr="Cloud Security Alliance CSA 로고">    </p:cNvPr>
          <p:cNvPicPr>
            <a:picLocks noChangeAspect="1"/>
          </p:cNvPicPr>
          <p:nvPr/>
        </p:nvPicPr>
        <p:blipFill>
          <a:blip r:embed="rId2"/>
          <a:srcRect l="0" r="0" t="0" b="0"/>
          <a:stretch/>
        </p:blipFill>
        <p:spPr>
          <a:xfrm>
            <a:off x="2744391" y="2216051"/>
            <a:ext cx="2141240" cy="2141240"/>
          </a:xfrm>
          <a:prstGeom prst="rect">
            <a:avLst/>
          </a:prstGeom>
        </p:spPr>
      </p:pic>
      <p:sp>
        <p:nvSpPr>
          <p:cNvPr id="15" name="Shape 11"/>
          <p:cNvSpPr/>
          <p:nvPr/>
        </p:nvSpPr>
        <p:spPr>
          <a:xfrm>
            <a:off x="2744391" y="5669161"/>
            <a:ext cx="2141240" cy="852289"/>
          </a:xfrm>
          <a:custGeom>
            <a:avLst/>
            <a:gdLst/>
            <a:ahLst/>
            <a:cxnLst/>
            <a:rect l="l" t="t" r="r" b="b"/>
            <a:pathLst>
              <a:path w="2141240" h="852289">
                <a:moveTo>
                  <a:pt x="0" y="0"/>
                </a:moveTo>
                <a:lnTo>
                  <a:pt x="2141240" y="0"/>
                </a:lnTo>
                <a:lnTo>
                  <a:pt x="2141240" y="6350"/>
                </a:lnTo>
                <a:lnTo>
                  <a:pt x="0" y="6350"/>
                </a:lnTo>
                <a:lnTo>
                  <a:pt x="0" y="0"/>
                </a:lnTo>
                <a:close/>
              </a:path>
            </a:pathLst>
          </a:custGeom>
          <a:solidFill>
            <a:srgbClr val="EDF0F5"/>
          </a:solidFill>
          <a:ln/>
        </p:spPr>
      </p:sp>
      <p:sp>
        <p:nvSpPr>
          <p:cNvPr id="16" name="Text 12"/>
          <p:cNvSpPr/>
          <p:nvPr/>
        </p:nvSpPr>
        <p:spPr>
          <a:xfrm>
            <a:off x="2871391" y="5777111"/>
            <a:ext cx="1943857" cy="192980"/>
          </a:xfrm>
          <a:prstGeom prst="rect">
            <a:avLst/>
          </a:prstGeom>
          <a:noFill/>
          <a:ln/>
        </p:spPr>
        <p:txBody>
          <a:bodyPr wrap="square" lIns="0" tIns="0" rIns="0" bIns="0" rtlCol="0" anchor="t">
            <a:normAutofit/>
          </a:bodyPr>
          <a:lstStyle/>
          <a:p>
            <a:pPr algn="l" indent="0" marL="0">
              <a:lnSpc>
                <a:spcPts val="1320"/>
              </a:lnSpc>
              <a:buNone/>
            </a:pPr>
            <a:r>
              <a:rPr lang="en-US" sz="1100" b="1" dirty="0">
                <a:solidFill>
                  <a:srgbClr val="0E1320"/>
                </a:solidFill>
                <a:latin typeface="Noto Sans KR" pitchFamily="34" charset="0"/>
                <a:ea typeface="Noto Sans KR" pitchFamily="34" charset="-122"/>
                <a:cs typeface="Noto Sans KR" pitchFamily="34" charset="-120"/>
              </a:rPr>
              <a:t>CSA MAESTRO</a:t>
            </a:r>
            <a:endParaRPr lang="en-US" sz="1100" dirty="0"/>
          </a:p>
        </p:txBody>
      </p:sp>
      <p:sp>
        <p:nvSpPr>
          <p:cNvPr id="17" name="Text 13"/>
          <p:cNvSpPr/>
          <p:nvPr/>
        </p:nvSpPr>
        <p:spPr>
          <a:xfrm>
            <a:off x="2871391" y="5989141"/>
            <a:ext cx="1943857" cy="188218"/>
          </a:xfrm>
          <a:prstGeom prst="rect">
            <a:avLst/>
          </a:prstGeom>
          <a:noFill/>
          <a:ln/>
        </p:spPr>
        <p:txBody>
          <a:bodyPr wrap="square" lIns="0" tIns="0" rIns="0" bIns="0" rtlCol="0" anchor="t">
            <a:normAutofit/>
          </a:bodyPr>
          <a:lstStyle/>
          <a:p>
            <a:pPr algn="l" indent="0" marL="0">
              <a:lnSpc>
                <a:spcPts val="1283"/>
              </a:lnSpc>
              <a:buNone/>
            </a:pPr>
            <a:r>
              <a:rPr lang="en-US" sz="950" dirty="0">
                <a:solidFill>
                  <a:srgbClr val="4A5366"/>
                </a:solidFill>
                <a:latin typeface="Noto Sans KR" pitchFamily="34" charset="0"/>
                <a:ea typeface="Noto Sans KR" pitchFamily="34" charset="-122"/>
                <a:cs typeface="Noto Sans KR" pitchFamily="34" charset="-120"/>
              </a:rPr>
              <a:t>에이전트 7계층 위협 모델링</a:t>
            </a:r>
            <a:endParaRPr lang="en-US" sz="950" dirty="0"/>
          </a:p>
        </p:txBody>
      </p:sp>
      <p:sp>
        <p:nvSpPr>
          <p:cNvPr id="18" name="Text 14"/>
          <p:cNvSpPr/>
          <p:nvPr/>
        </p:nvSpPr>
        <p:spPr>
          <a:xfrm>
            <a:off x="2871391" y="6196409"/>
            <a:ext cx="624384" cy="210741"/>
          </a:xfrm>
          <a:custGeom>
            <a:avLst/>
            <a:gdLst/>
            <a:ahLst/>
            <a:cxnLst/>
            <a:rect l="l" t="t" r="r" b="b"/>
            <a:pathLst>
              <a:path w="624384" h="210741">
                <a:moveTo>
                  <a:pt x="105370" y="0"/>
                </a:moveTo>
                <a:lnTo>
                  <a:pt x="519013" y="0"/>
                </a:lnTo>
                <a:arcTo hR="105370" wR="105370" stAng="16200000" swAng="5400000"/>
                <a:lnTo>
                  <a:pt x="624384" y="105370"/>
                </a:lnTo>
                <a:arcTo hR="105370" wR="105370" stAng="0" swAng="5400000"/>
                <a:lnTo>
                  <a:pt x="105370" y="210741"/>
                </a:lnTo>
                <a:arcTo hR="105370" wR="105370" stAng="5400000" swAng="5400000"/>
                <a:lnTo>
                  <a:pt x="0" y="105370"/>
                </a:lnTo>
                <a:arcTo hR="105370" wR="105370" stAng="10800000" swAng="5400000"/>
                <a:close/>
              </a:path>
            </a:pathLst>
          </a:custGeom>
          <a:solidFill>
            <a:srgbClr val="EEF1F5"/>
          </a:solidFill>
          <a:ln/>
        </p:spPr>
        <p:txBody>
          <a:bodyPr wrap="none" lIns="0" tIns="0" rIns="0" bIns="0" rtlCol="0" anchor="ctr">
            <a:normAutofit/>
          </a:bodyPr>
          <a:lstStyle/>
          <a:p>
            <a:pPr algn="ctr" indent="0" marL="0">
              <a:lnSpc>
                <a:spcPts val="1260"/>
              </a:lnSpc>
              <a:buNone/>
            </a:pPr>
            <a:r>
              <a:rPr lang="en-US" sz="900" b="1" dirty="0">
                <a:solidFill>
                  <a:srgbClr val="5B6577"/>
                </a:solidFill>
                <a:latin typeface="Noto Sans KR" pitchFamily="34" charset="0"/>
                <a:ea typeface="Noto Sans KR" pitchFamily="34" charset="-122"/>
                <a:cs typeface="Noto Sans KR" pitchFamily="34" charset="-120"/>
              </a:rPr>
              <a:t>위협 모델</a:t>
            </a:r>
            <a:endParaRPr lang="en-US" sz="900" dirty="0"/>
          </a:p>
        </p:txBody>
      </p:sp>
      <p:sp>
        <p:nvSpPr>
          <p:cNvPr id="19" name="Shape 15"/>
          <p:cNvSpPr/>
          <p:nvPr/>
        </p:nvSpPr>
        <p:spPr>
          <a:xfrm>
            <a:off x="5022155" y="901005"/>
            <a:ext cx="2147590" cy="5623620"/>
          </a:xfrm>
          <a:prstGeom prst="roundRect">
            <a:avLst>
              <a:gd name="adj" fmla="val 4583"/>
            </a:avLst>
          </a:prstGeom>
          <a:solidFill>
            <a:srgbClr val="FFFFFF"/>
          </a:solidFill>
          <a:ln w="6350">
            <a:solidFill>
              <a:srgbClr val="DCE1EA"/>
            </a:solidFill>
            <a:prstDash val="solid"/>
          </a:ln>
          <a:effectLst>
            <a:outerShdw sx="100000" sy="100000" kx="0" ky="0" algn="bl" rotWithShape="0" blurRad="114300" dist="38100" dir="5400000">
              <a:srgbClr val="0E1320">
                <a:alpha val="6000"/>
              </a:srgbClr>
            </a:outerShdw>
          </a:effectLst>
        </p:spPr>
      </p:sp>
      <p:sp>
        <p:nvSpPr>
          <p:cNvPr id="20" name="Shape 16"/>
          <p:cNvSpPr/>
          <p:nvPr/>
        </p:nvSpPr>
        <p:spPr>
          <a:xfrm>
            <a:off x="5025330" y="904180"/>
            <a:ext cx="2141240" cy="4764980"/>
          </a:xfrm>
          <a:custGeom>
            <a:avLst/>
            <a:gdLst/>
            <a:ahLst/>
            <a:cxnLst/>
            <a:rect l="l" t="t" r="r" b="b"/>
            <a:pathLst>
              <a:path w="2141240" h="4764980">
                <a:moveTo>
                  <a:pt x="0" y="95250"/>
                </a:moveTo>
                <a:arcTo hR="95250" wR="95250" stAng="10800000" swAng="5400000"/>
                <a:lnTo>
                  <a:pt x="2045990" y="0"/>
                </a:lnTo>
                <a:arcTo hR="95250" wR="95250" stAng="16200000" swAng="5400000"/>
                <a:lnTo>
                  <a:pt x="2141240" y="4764980"/>
                </a:lnTo>
                <a:lnTo>
                  <a:pt x="0" y="4764980"/>
                </a:lnTo>
                <a:close/>
              </a:path>
            </a:pathLst>
          </a:custGeom>
          <a:solidFill>
            <a:srgbClr val="F3FBF4"/>
          </a:solidFill>
          <a:ln/>
        </p:spPr>
      </p:sp>
      <p:pic>
        <p:nvPicPr>
          <p:cNvPr id="21" name="Image 2" descr="Forrester AEGIS: Agentic AI Guardrails for Information Security">    </p:cNvPr>
          <p:cNvPicPr>
            <a:picLocks noChangeAspect="1"/>
          </p:cNvPicPr>
          <p:nvPr/>
        </p:nvPicPr>
        <p:blipFill>
          <a:blip r:embed="rId3"/>
          <a:srcRect l="0" r="0" t="2" b="2"/>
          <a:stretch/>
        </p:blipFill>
        <p:spPr>
          <a:xfrm>
            <a:off x="5025330" y="2726630"/>
            <a:ext cx="2141240" cy="1120080"/>
          </a:xfrm>
          <a:prstGeom prst="rect">
            <a:avLst/>
          </a:prstGeom>
        </p:spPr>
      </p:pic>
      <p:sp>
        <p:nvSpPr>
          <p:cNvPr id="22" name="Shape 17"/>
          <p:cNvSpPr/>
          <p:nvPr/>
        </p:nvSpPr>
        <p:spPr>
          <a:xfrm>
            <a:off x="5025330" y="5669161"/>
            <a:ext cx="2141240" cy="852289"/>
          </a:xfrm>
          <a:custGeom>
            <a:avLst/>
            <a:gdLst/>
            <a:ahLst/>
            <a:cxnLst/>
            <a:rect l="l" t="t" r="r" b="b"/>
            <a:pathLst>
              <a:path w="2141240" h="852289">
                <a:moveTo>
                  <a:pt x="0" y="0"/>
                </a:moveTo>
                <a:lnTo>
                  <a:pt x="2141240" y="0"/>
                </a:lnTo>
                <a:lnTo>
                  <a:pt x="2141240" y="6350"/>
                </a:lnTo>
                <a:lnTo>
                  <a:pt x="0" y="6350"/>
                </a:lnTo>
                <a:lnTo>
                  <a:pt x="0" y="0"/>
                </a:lnTo>
                <a:close/>
              </a:path>
            </a:pathLst>
          </a:custGeom>
          <a:solidFill>
            <a:srgbClr val="EDF0F5"/>
          </a:solidFill>
          <a:ln/>
        </p:spPr>
      </p:sp>
      <p:sp>
        <p:nvSpPr>
          <p:cNvPr id="23" name="Text 18"/>
          <p:cNvSpPr/>
          <p:nvPr/>
        </p:nvSpPr>
        <p:spPr>
          <a:xfrm>
            <a:off x="5152330" y="5777111"/>
            <a:ext cx="1943857" cy="192980"/>
          </a:xfrm>
          <a:prstGeom prst="rect">
            <a:avLst/>
          </a:prstGeom>
          <a:noFill/>
          <a:ln/>
        </p:spPr>
        <p:txBody>
          <a:bodyPr wrap="square" lIns="0" tIns="0" rIns="0" bIns="0" rtlCol="0" anchor="t">
            <a:normAutofit/>
          </a:bodyPr>
          <a:lstStyle/>
          <a:p>
            <a:pPr algn="l" indent="0" marL="0">
              <a:lnSpc>
                <a:spcPts val="1320"/>
              </a:lnSpc>
              <a:buNone/>
            </a:pPr>
            <a:r>
              <a:rPr lang="en-US" sz="1100" b="1" dirty="0">
                <a:solidFill>
                  <a:srgbClr val="0E1320"/>
                </a:solidFill>
                <a:latin typeface="Noto Sans KR" pitchFamily="34" charset="0"/>
                <a:ea typeface="Noto Sans KR" pitchFamily="34" charset="-122"/>
                <a:cs typeface="Noto Sans KR" pitchFamily="34" charset="-120"/>
              </a:rPr>
              <a:t>Forrester AEGIS</a:t>
            </a:r>
            <a:endParaRPr lang="en-US" sz="1100" dirty="0"/>
          </a:p>
        </p:txBody>
      </p:sp>
      <p:sp>
        <p:nvSpPr>
          <p:cNvPr id="24" name="Text 19"/>
          <p:cNvSpPr/>
          <p:nvPr/>
        </p:nvSpPr>
        <p:spPr>
          <a:xfrm>
            <a:off x="5152330" y="5989141"/>
            <a:ext cx="1943857" cy="188218"/>
          </a:xfrm>
          <a:prstGeom prst="rect">
            <a:avLst/>
          </a:prstGeom>
          <a:noFill/>
          <a:ln/>
        </p:spPr>
        <p:txBody>
          <a:bodyPr wrap="square" lIns="0" tIns="0" rIns="0" bIns="0" rtlCol="0" anchor="t">
            <a:normAutofit/>
          </a:bodyPr>
          <a:lstStyle/>
          <a:p>
            <a:pPr algn="l" indent="0" marL="0">
              <a:lnSpc>
                <a:spcPts val="1283"/>
              </a:lnSpc>
              <a:buNone/>
            </a:pPr>
            <a:r>
              <a:rPr lang="en-US" sz="950" dirty="0">
                <a:solidFill>
                  <a:srgbClr val="4A5366"/>
                </a:solidFill>
                <a:latin typeface="Noto Sans KR" pitchFamily="34" charset="0"/>
                <a:ea typeface="Noto Sans KR" pitchFamily="34" charset="-122"/>
                <a:cs typeface="Noto Sans KR" pitchFamily="34" charset="-120"/>
              </a:rPr>
              <a:t>에이전트 보안 가드레일 체계</a:t>
            </a:r>
            <a:endParaRPr lang="en-US" sz="950" dirty="0"/>
          </a:p>
        </p:txBody>
      </p:sp>
      <p:sp>
        <p:nvSpPr>
          <p:cNvPr id="25" name="Text 20"/>
          <p:cNvSpPr/>
          <p:nvPr/>
        </p:nvSpPr>
        <p:spPr>
          <a:xfrm>
            <a:off x="5152330" y="6196409"/>
            <a:ext cx="493316" cy="210741"/>
          </a:xfrm>
          <a:custGeom>
            <a:avLst/>
            <a:gdLst/>
            <a:ahLst/>
            <a:cxnLst/>
            <a:rect l="l" t="t" r="r" b="b"/>
            <a:pathLst>
              <a:path w="493316" h="210741">
                <a:moveTo>
                  <a:pt x="105370" y="0"/>
                </a:moveTo>
                <a:lnTo>
                  <a:pt x="387945" y="0"/>
                </a:lnTo>
                <a:arcTo hR="105370" wR="105370" stAng="16200000" swAng="5400000"/>
                <a:lnTo>
                  <a:pt x="493316" y="105370"/>
                </a:lnTo>
                <a:arcTo hR="105370" wR="105370" stAng="0" swAng="5400000"/>
                <a:lnTo>
                  <a:pt x="105370" y="210741"/>
                </a:lnTo>
                <a:arcTo hR="105370" wR="105370" stAng="5400000" swAng="5400000"/>
                <a:lnTo>
                  <a:pt x="0" y="105370"/>
                </a:lnTo>
                <a:arcTo hR="105370" wR="105370" stAng="10800000" swAng="5400000"/>
                <a:close/>
              </a:path>
            </a:pathLst>
          </a:custGeom>
          <a:solidFill>
            <a:srgbClr val="EEF1F5"/>
          </a:solidFill>
          <a:ln/>
        </p:spPr>
        <p:txBody>
          <a:bodyPr wrap="none" lIns="0" tIns="0" rIns="0" bIns="0" rtlCol="0" anchor="ctr">
            <a:normAutofit/>
          </a:bodyPr>
          <a:lstStyle/>
          <a:p>
            <a:pPr algn="ctr" indent="0" marL="0">
              <a:lnSpc>
                <a:spcPts val="1260"/>
              </a:lnSpc>
              <a:buNone/>
            </a:pPr>
            <a:r>
              <a:rPr lang="en-US" sz="900" b="1" dirty="0">
                <a:solidFill>
                  <a:srgbClr val="5B6577"/>
                </a:solidFill>
                <a:latin typeface="Noto Sans KR" pitchFamily="34" charset="0"/>
                <a:ea typeface="Noto Sans KR" pitchFamily="34" charset="-122"/>
                <a:cs typeface="Noto Sans KR" pitchFamily="34" charset="-120"/>
              </a:rPr>
              <a:t>리서치</a:t>
            </a:r>
            <a:endParaRPr lang="en-US" sz="900" dirty="0"/>
          </a:p>
        </p:txBody>
      </p:sp>
      <p:sp>
        <p:nvSpPr>
          <p:cNvPr id="26" name="Shape 21"/>
          <p:cNvSpPr/>
          <p:nvPr/>
        </p:nvSpPr>
        <p:spPr>
          <a:xfrm>
            <a:off x="7303095" y="901005"/>
            <a:ext cx="2147590" cy="5623620"/>
          </a:xfrm>
          <a:prstGeom prst="roundRect">
            <a:avLst>
              <a:gd name="adj" fmla="val 4583"/>
            </a:avLst>
          </a:prstGeom>
          <a:solidFill>
            <a:srgbClr val="FFFFFF"/>
          </a:solidFill>
          <a:ln w="6350">
            <a:solidFill>
              <a:srgbClr val="DCE1EA"/>
            </a:solidFill>
            <a:prstDash val="solid"/>
          </a:ln>
          <a:effectLst>
            <a:outerShdw sx="100000" sy="100000" kx="0" ky="0" algn="bl" rotWithShape="0" blurRad="114300" dist="38100" dir="5400000">
              <a:srgbClr val="0E1320">
                <a:alpha val="6000"/>
              </a:srgbClr>
            </a:outerShdw>
          </a:effectLst>
        </p:spPr>
      </p:sp>
      <p:sp>
        <p:nvSpPr>
          <p:cNvPr id="27" name="Shape 22"/>
          <p:cNvSpPr/>
          <p:nvPr/>
        </p:nvSpPr>
        <p:spPr>
          <a:xfrm>
            <a:off x="7306270" y="904180"/>
            <a:ext cx="2141240" cy="4764980"/>
          </a:xfrm>
          <a:custGeom>
            <a:avLst/>
            <a:gdLst/>
            <a:ahLst/>
            <a:cxnLst/>
            <a:rect l="l" t="t" r="r" b="b"/>
            <a:pathLst>
              <a:path w="2141240" h="4764980">
                <a:moveTo>
                  <a:pt x="0" y="95250"/>
                </a:moveTo>
                <a:arcTo hR="95250" wR="95250" stAng="10800000" swAng="5400000"/>
                <a:lnTo>
                  <a:pt x="2045990" y="0"/>
                </a:lnTo>
                <a:arcTo hR="95250" wR="95250" stAng="16200000" swAng="5400000"/>
                <a:lnTo>
                  <a:pt x="2141240" y="4764980"/>
                </a:lnTo>
                <a:lnTo>
                  <a:pt x="0" y="4764980"/>
                </a:lnTo>
                <a:close/>
              </a:path>
            </a:pathLst>
          </a:custGeom>
          <a:solidFill>
            <a:srgbClr val="140D2F"/>
          </a:solidFill>
          <a:ln/>
        </p:spPr>
      </p:sp>
      <p:pic>
        <p:nvPicPr>
          <p:cNvPr id="28" name="Image 3" descr="AWS Agentic AI Security Scoping Matrix 그림">    </p:cNvPr>
          <p:cNvPicPr>
            <a:picLocks noChangeAspect="1"/>
          </p:cNvPicPr>
          <p:nvPr/>
        </p:nvPicPr>
        <p:blipFill>
          <a:blip r:embed="rId4"/>
          <a:srcRect l="-2" r="-2" t="0" b="0"/>
          <a:stretch/>
        </p:blipFill>
        <p:spPr>
          <a:xfrm>
            <a:off x="7306270" y="2691904"/>
            <a:ext cx="2141240" cy="1189534"/>
          </a:xfrm>
          <a:prstGeom prst="rect">
            <a:avLst/>
          </a:prstGeom>
        </p:spPr>
      </p:pic>
      <p:sp>
        <p:nvSpPr>
          <p:cNvPr id="29" name="Shape 23"/>
          <p:cNvSpPr/>
          <p:nvPr/>
        </p:nvSpPr>
        <p:spPr>
          <a:xfrm>
            <a:off x="7306270" y="5669161"/>
            <a:ext cx="2141240" cy="852289"/>
          </a:xfrm>
          <a:custGeom>
            <a:avLst/>
            <a:gdLst/>
            <a:ahLst/>
            <a:cxnLst/>
            <a:rect l="l" t="t" r="r" b="b"/>
            <a:pathLst>
              <a:path w="2141240" h="852289">
                <a:moveTo>
                  <a:pt x="0" y="0"/>
                </a:moveTo>
                <a:lnTo>
                  <a:pt x="2141240" y="0"/>
                </a:lnTo>
                <a:lnTo>
                  <a:pt x="2141240" y="6350"/>
                </a:lnTo>
                <a:lnTo>
                  <a:pt x="0" y="6350"/>
                </a:lnTo>
                <a:lnTo>
                  <a:pt x="0" y="0"/>
                </a:lnTo>
                <a:close/>
              </a:path>
            </a:pathLst>
          </a:custGeom>
          <a:solidFill>
            <a:srgbClr val="EDF0F5"/>
          </a:solidFill>
          <a:ln/>
        </p:spPr>
      </p:sp>
      <p:sp>
        <p:nvSpPr>
          <p:cNvPr id="30" name="Text 24"/>
          <p:cNvSpPr/>
          <p:nvPr/>
        </p:nvSpPr>
        <p:spPr>
          <a:xfrm>
            <a:off x="7433270" y="5777111"/>
            <a:ext cx="1943857" cy="192980"/>
          </a:xfrm>
          <a:prstGeom prst="rect">
            <a:avLst/>
          </a:prstGeom>
          <a:noFill/>
          <a:ln/>
        </p:spPr>
        <p:txBody>
          <a:bodyPr wrap="square" lIns="0" tIns="0" rIns="0" bIns="0" rtlCol="0" anchor="t">
            <a:normAutofit/>
          </a:bodyPr>
          <a:lstStyle/>
          <a:p>
            <a:pPr algn="l" indent="0" marL="0">
              <a:lnSpc>
                <a:spcPts val="1320"/>
              </a:lnSpc>
              <a:buNone/>
            </a:pPr>
            <a:r>
              <a:rPr lang="en-US" sz="1100" b="1" dirty="0">
                <a:solidFill>
                  <a:srgbClr val="0E1320"/>
                </a:solidFill>
                <a:latin typeface="Noto Sans KR" pitchFamily="34" charset="0"/>
                <a:ea typeface="Noto Sans KR" pitchFamily="34" charset="-122"/>
                <a:cs typeface="Noto Sans KR" pitchFamily="34" charset="-120"/>
              </a:rPr>
              <a:t>AWS Scoping Matrix</a:t>
            </a:r>
            <a:endParaRPr lang="en-US" sz="1100" dirty="0"/>
          </a:p>
        </p:txBody>
      </p:sp>
      <p:sp>
        <p:nvSpPr>
          <p:cNvPr id="31" name="Text 25"/>
          <p:cNvSpPr/>
          <p:nvPr/>
        </p:nvSpPr>
        <p:spPr>
          <a:xfrm>
            <a:off x="7433270" y="5989141"/>
            <a:ext cx="1943857" cy="188218"/>
          </a:xfrm>
          <a:prstGeom prst="rect">
            <a:avLst/>
          </a:prstGeom>
          <a:noFill/>
          <a:ln/>
        </p:spPr>
        <p:txBody>
          <a:bodyPr wrap="square" lIns="0" tIns="0" rIns="0" bIns="0" rtlCol="0" anchor="t">
            <a:normAutofit/>
          </a:bodyPr>
          <a:lstStyle/>
          <a:p>
            <a:pPr algn="l" indent="0" marL="0">
              <a:lnSpc>
                <a:spcPts val="1283"/>
              </a:lnSpc>
              <a:buNone/>
            </a:pPr>
            <a:r>
              <a:rPr lang="en-US" sz="950" dirty="0">
                <a:solidFill>
                  <a:srgbClr val="4A5366"/>
                </a:solidFill>
                <a:latin typeface="Noto Sans KR" pitchFamily="34" charset="0"/>
                <a:ea typeface="Noto Sans KR" pitchFamily="34" charset="-122"/>
                <a:cs typeface="Noto Sans KR" pitchFamily="34" charset="-120"/>
              </a:rPr>
              <a:t>도입 형태별 보안 범위 설정</a:t>
            </a:r>
            <a:endParaRPr lang="en-US" sz="950" dirty="0"/>
          </a:p>
        </p:txBody>
      </p:sp>
      <p:sp>
        <p:nvSpPr>
          <p:cNvPr id="32" name="Text 26"/>
          <p:cNvSpPr/>
          <p:nvPr/>
        </p:nvSpPr>
        <p:spPr>
          <a:xfrm>
            <a:off x="7433270" y="6196409"/>
            <a:ext cx="493316" cy="210741"/>
          </a:xfrm>
          <a:custGeom>
            <a:avLst/>
            <a:gdLst/>
            <a:ahLst/>
            <a:cxnLst/>
            <a:rect l="l" t="t" r="r" b="b"/>
            <a:pathLst>
              <a:path w="493316" h="210741">
                <a:moveTo>
                  <a:pt x="105370" y="0"/>
                </a:moveTo>
                <a:lnTo>
                  <a:pt x="387945" y="0"/>
                </a:lnTo>
                <a:arcTo hR="105370" wR="105370" stAng="16200000" swAng="5400000"/>
                <a:lnTo>
                  <a:pt x="493316" y="105370"/>
                </a:lnTo>
                <a:arcTo hR="105370" wR="105370" stAng="0" swAng="5400000"/>
                <a:lnTo>
                  <a:pt x="105370" y="210741"/>
                </a:lnTo>
                <a:arcTo hR="105370" wR="105370" stAng="5400000" swAng="5400000"/>
                <a:lnTo>
                  <a:pt x="0" y="105370"/>
                </a:lnTo>
                <a:arcTo hR="105370" wR="105370" stAng="10800000" swAng="5400000"/>
                <a:close/>
              </a:path>
            </a:pathLst>
          </a:custGeom>
          <a:solidFill>
            <a:srgbClr val="EEF1F5"/>
          </a:solidFill>
          <a:ln/>
        </p:spPr>
        <p:txBody>
          <a:bodyPr wrap="none" lIns="0" tIns="0" rIns="0" bIns="0" rtlCol="0" anchor="ctr">
            <a:normAutofit/>
          </a:bodyPr>
          <a:lstStyle/>
          <a:p>
            <a:pPr algn="ctr" indent="0" marL="0">
              <a:lnSpc>
                <a:spcPts val="1260"/>
              </a:lnSpc>
              <a:buNone/>
            </a:pPr>
            <a:r>
              <a:rPr lang="en-US" sz="900" b="1" dirty="0">
                <a:solidFill>
                  <a:srgbClr val="5B6577"/>
                </a:solidFill>
                <a:latin typeface="Noto Sans KR" pitchFamily="34" charset="0"/>
                <a:ea typeface="Noto Sans KR" pitchFamily="34" charset="-122"/>
                <a:cs typeface="Noto Sans KR" pitchFamily="34" charset="-120"/>
              </a:rPr>
              <a:t>가이드</a:t>
            </a:r>
            <a:endParaRPr lang="en-US" sz="900" dirty="0"/>
          </a:p>
        </p:txBody>
      </p:sp>
      <p:sp>
        <p:nvSpPr>
          <p:cNvPr id="33" name="Shape 27"/>
          <p:cNvSpPr/>
          <p:nvPr/>
        </p:nvSpPr>
        <p:spPr>
          <a:xfrm>
            <a:off x="9584035" y="901005"/>
            <a:ext cx="2147590" cy="5623620"/>
          </a:xfrm>
          <a:prstGeom prst="roundRect">
            <a:avLst>
              <a:gd name="adj" fmla="val 4583"/>
            </a:avLst>
          </a:prstGeom>
          <a:solidFill>
            <a:srgbClr val="FFFFFF"/>
          </a:solidFill>
          <a:ln w="6350">
            <a:solidFill>
              <a:srgbClr val="DCE1EA"/>
            </a:solidFill>
            <a:prstDash val="solid"/>
          </a:ln>
          <a:effectLst>
            <a:outerShdw sx="100000" sy="100000" kx="0" ky="0" algn="bl" rotWithShape="0" blurRad="114300" dist="38100" dir="5400000">
              <a:srgbClr val="0E1320">
                <a:alpha val="6000"/>
              </a:srgbClr>
            </a:outerShdw>
          </a:effectLst>
        </p:spPr>
      </p:sp>
      <p:sp>
        <p:nvSpPr>
          <p:cNvPr id="34" name="Shape 28"/>
          <p:cNvSpPr/>
          <p:nvPr/>
        </p:nvSpPr>
        <p:spPr>
          <a:xfrm>
            <a:off x="9587210" y="904180"/>
            <a:ext cx="2141240" cy="4764980"/>
          </a:xfrm>
          <a:custGeom>
            <a:avLst/>
            <a:gdLst/>
            <a:ahLst/>
            <a:cxnLst/>
            <a:rect l="l" t="t" r="r" b="b"/>
            <a:pathLst>
              <a:path w="2141240" h="4764980">
                <a:moveTo>
                  <a:pt x="0" y="95250"/>
                </a:moveTo>
                <a:arcTo hR="95250" wR="95250" stAng="10800000" swAng="5400000"/>
                <a:lnTo>
                  <a:pt x="2045990" y="0"/>
                </a:lnTo>
                <a:arcTo hR="95250" wR="95250" stAng="16200000" swAng="5400000"/>
                <a:lnTo>
                  <a:pt x="2141240" y="4764980"/>
                </a:lnTo>
                <a:lnTo>
                  <a:pt x="0" y="4764980"/>
                </a:lnTo>
                <a:close/>
              </a:path>
            </a:pathLst>
          </a:custGeom>
          <a:solidFill>
            <a:srgbClr val="192C55"/>
          </a:solidFill>
          <a:ln/>
        </p:spPr>
      </p:sp>
      <p:pic>
        <p:nvPicPr>
          <p:cNvPr id="35" name="Image 4" descr="Gartner 로고">    </p:cNvPr>
          <p:cNvPicPr>
            <a:picLocks noChangeAspect="1"/>
          </p:cNvPicPr>
          <p:nvPr/>
        </p:nvPicPr>
        <p:blipFill>
          <a:blip r:embed="rId5"/>
          <a:srcRect l="-3" r="-3" t="0" b="0"/>
          <a:stretch/>
        </p:blipFill>
        <p:spPr>
          <a:xfrm>
            <a:off x="9587210" y="2682577"/>
            <a:ext cx="2141240" cy="1208187"/>
          </a:xfrm>
          <a:prstGeom prst="rect">
            <a:avLst/>
          </a:prstGeom>
        </p:spPr>
      </p:pic>
      <p:sp>
        <p:nvSpPr>
          <p:cNvPr id="36" name="Shape 29"/>
          <p:cNvSpPr/>
          <p:nvPr/>
        </p:nvSpPr>
        <p:spPr>
          <a:xfrm>
            <a:off x="9587210" y="5669161"/>
            <a:ext cx="2141240" cy="852289"/>
          </a:xfrm>
          <a:custGeom>
            <a:avLst/>
            <a:gdLst/>
            <a:ahLst/>
            <a:cxnLst/>
            <a:rect l="l" t="t" r="r" b="b"/>
            <a:pathLst>
              <a:path w="2141240" h="852289">
                <a:moveTo>
                  <a:pt x="0" y="0"/>
                </a:moveTo>
                <a:lnTo>
                  <a:pt x="2141240" y="0"/>
                </a:lnTo>
                <a:lnTo>
                  <a:pt x="2141240" y="6350"/>
                </a:lnTo>
                <a:lnTo>
                  <a:pt x="0" y="6350"/>
                </a:lnTo>
                <a:lnTo>
                  <a:pt x="0" y="0"/>
                </a:lnTo>
                <a:close/>
              </a:path>
            </a:pathLst>
          </a:custGeom>
          <a:solidFill>
            <a:srgbClr val="EDF0F5"/>
          </a:solidFill>
          <a:ln/>
        </p:spPr>
      </p:sp>
      <p:sp>
        <p:nvSpPr>
          <p:cNvPr id="37" name="Text 30"/>
          <p:cNvSpPr/>
          <p:nvPr/>
        </p:nvSpPr>
        <p:spPr>
          <a:xfrm>
            <a:off x="9714210" y="5777111"/>
            <a:ext cx="1943857" cy="192980"/>
          </a:xfrm>
          <a:prstGeom prst="rect">
            <a:avLst/>
          </a:prstGeom>
          <a:noFill/>
          <a:ln/>
        </p:spPr>
        <p:txBody>
          <a:bodyPr wrap="square" lIns="0" tIns="0" rIns="0" bIns="0" rtlCol="0" anchor="t">
            <a:normAutofit/>
          </a:bodyPr>
          <a:lstStyle/>
          <a:p>
            <a:pPr algn="l" indent="0" marL="0">
              <a:lnSpc>
                <a:spcPts val="1320"/>
              </a:lnSpc>
              <a:buNone/>
            </a:pPr>
            <a:r>
              <a:rPr lang="en-US" sz="1100" b="1" dirty="0">
                <a:solidFill>
                  <a:srgbClr val="0E1320"/>
                </a:solidFill>
                <a:latin typeface="Noto Sans KR" pitchFamily="34" charset="0"/>
                <a:ea typeface="Noto Sans KR" pitchFamily="34" charset="-122"/>
                <a:cs typeface="Noto Sans KR" pitchFamily="34" charset="-120"/>
              </a:rPr>
              <a:t>Gartner Agentic AI</a:t>
            </a:r>
            <a:endParaRPr lang="en-US" sz="1100" dirty="0"/>
          </a:p>
        </p:txBody>
      </p:sp>
      <p:sp>
        <p:nvSpPr>
          <p:cNvPr id="38" name="Text 31"/>
          <p:cNvSpPr/>
          <p:nvPr/>
        </p:nvSpPr>
        <p:spPr>
          <a:xfrm>
            <a:off x="9714210" y="5989141"/>
            <a:ext cx="1943857" cy="188218"/>
          </a:xfrm>
          <a:prstGeom prst="rect">
            <a:avLst/>
          </a:prstGeom>
          <a:noFill/>
          <a:ln/>
        </p:spPr>
        <p:txBody>
          <a:bodyPr wrap="square" lIns="0" tIns="0" rIns="0" bIns="0" rtlCol="0" anchor="t">
            <a:normAutofit/>
          </a:bodyPr>
          <a:lstStyle/>
          <a:p>
            <a:pPr algn="l" indent="0" marL="0">
              <a:lnSpc>
                <a:spcPts val="1283"/>
              </a:lnSpc>
              <a:buNone/>
            </a:pPr>
            <a:r>
              <a:rPr lang="en-US" sz="950" dirty="0">
                <a:solidFill>
                  <a:srgbClr val="4A5366"/>
                </a:solidFill>
                <a:latin typeface="Noto Sans KR" pitchFamily="34" charset="0"/>
                <a:ea typeface="Noto Sans KR" pitchFamily="34" charset="-122"/>
                <a:cs typeface="Noto Sans KR" pitchFamily="34" charset="-120"/>
              </a:rPr>
              <a:t>기업 에이전트 AI 보안 전략</a:t>
            </a:r>
            <a:endParaRPr lang="en-US" sz="950" dirty="0"/>
          </a:p>
        </p:txBody>
      </p:sp>
      <p:sp>
        <p:nvSpPr>
          <p:cNvPr id="39" name="Text 32"/>
          <p:cNvSpPr/>
          <p:nvPr/>
        </p:nvSpPr>
        <p:spPr>
          <a:xfrm>
            <a:off x="9714210" y="6196409"/>
            <a:ext cx="493316" cy="210741"/>
          </a:xfrm>
          <a:custGeom>
            <a:avLst/>
            <a:gdLst/>
            <a:ahLst/>
            <a:cxnLst/>
            <a:rect l="l" t="t" r="r" b="b"/>
            <a:pathLst>
              <a:path w="493316" h="210741">
                <a:moveTo>
                  <a:pt x="105370" y="0"/>
                </a:moveTo>
                <a:lnTo>
                  <a:pt x="387945" y="0"/>
                </a:lnTo>
                <a:arcTo hR="105370" wR="105370" stAng="16200000" swAng="5400000"/>
                <a:lnTo>
                  <a:pt x="493316" y="105370"/>
                </a:lnTo>
                <a:arcTo hR="105370" wR="105370" stAng="0" swAng="5400000"/>
                <a:lnTo>
                  <a:pt x="105370" y="210741"/>
                </a:lnTo>
                <a:arcTo hR="105370" wR="105370" stAng="5400000" swAng="5400000"/>
                <a:lnTo>
                  <a:pt x="0" y="105370"/>
                </a:lnTo>
                <a:arcTo hR="105370" wR="105370" stAng="10800000" swAng="5400000"/>
                <a:close/>
              </a:path>
            </a:pathLst>
          </a:custGeom>
          <a:solidFill>
            <a:srgbClr val="EEF1F5"/>
          </a:solidFill>
          <a:ln/>
        </p:spPr>
        <p:txBody>
          <a:bodyPr wrap="none" lIns="0" tIns="0" rIns="0" bIns="0" rtlCol="0" anchor="ctr">
            <a:normAutofit/>
          </a:bodyPr>
          <a:lstStyle/>
          <a:p>
            <a:pPr algn="ctr" indent="0" marL="0">
              <a:lnSpc>
                <a:spcPts val="1260"/>
              </a:lnSpc>
              <a:buNone/>
            </a:pPr>
            <a:r>
              <a:rPr lang="en-US" sz="900" b="1" dirty="0">
                <a:solidFill>
                  <a:srgbClr val="5B6577"/>
                </a:solidFill>
                <a:latin typeface="Noto Sans KR" pitchFamily="34" charset="0"/>
                <a:ea typeface="Noto Sans KR" pitchFamily="34" charset="-122"/>
                <a:cs typeface="Noto Sans KR" pitchFamily="34" charset="-120"/>
              </a:rPr>
              <a:t>리서치</a:t>
            </a:r>
            <a:endParaRPr lang="en-US" sz="900" dirty="0"/>
          </a:p>
        </p:txBody>
      </p:sp>
      <p:sp>
        <p:nvSpPr>
          <p:cNvPr id="40" name="Text 33"/>
          <p:cNvSpPr/>
          <p:nvPr/>
        </p:nvSpPr>
        <p:spPr>
          <a:xfrm>
            <a:off x="11176000" y="64287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812800" y="566043"/>
            <a:ext cx="676441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428A0"/>
                </a:solidFill>
                <a:latin typeface="Noto Sans KR" pitchFamily="34" charset="0"/>
                <a:ea typeface="Noto Sans KR" pitchFamily="34" charset="-122"/>
                <a:cs typeface="Noto Sans KR" pitchFamily="34" charset="-120"/>
              </a:rPr>
              <a:t>02 · 점검 항목</a:t>
            </a:r>
            <a:endParaRPr lang="en-US" sz="1200" dirty="0"/>
          </a:p>
        </p:txBody>
      </p:sp>
      <p:sp>
        <p:nvSpPr>
          <p:cNvPr id="3" name="Text 1"/>
          <p:cNvSpPr/>
          <p:nvPr>
            <p:ph type="title"/>
          </p:nvPr>
        </p:nvSpPr>
        <p:spPr>
          <a:xfrm>
            <a:off x="812800" y="855563"/>
            <a:ext cx="6764410"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0E1320"/>
                </a:solidFill>
                <a:latin typeface="Noto Sans KR" pitchFamily="34" charset="0"/>
                <a:ea typeface="Noto Sans KR" pitchFamily="34" charset="-122"/>
                <a:cs typeface="Noto Sans KR" pitchFamily="34" charset="-120"/>
              </a:rPr>
              <a:t>보안대책 12가지 분류</a:t>
            </a:r>
            <a:endParaRPr lang="en-US" sz="2800" dirty="0"/>
          </a:p>
        </p:txBody>
      </p:sp>
      <p:sp>
        <p:nvSpPr>
          <p:cNvPr id="4" name="Text 2"/>
          <p:cNvSpPr/>
          <p:nvPr/>
        </p:nvSpPr>
        <p:spPr>
          <a:xfrm>
            <a:off x="7634188" y="1000323"/>
            <a:ext cx="79623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8102E"/>
                </a:solidFill>
                <a:latin typeface="Noto Sans KR" pitchFamily="34" charset="0"/>
                <a:ea typeface="Noto Sans KR" pitchFamily="34" charset="-122"/>
                <a:cs typeface="Noto Sans KR" pitchFamily="34" charset="-120"/>
              </a:rPr>
              <a:t>빨강 = 필수</a:t>
            </a:r>
            <a:endParaRPr lang="en-US" sz="1200" dirty="0"/>
          </a:p>
        </p:txBody>
      </p:sp>
      <p:sp>
        <p:nvSpPr>
          <p:cNvPr id="5" name="Text 3"/>
          <p:cNvSpPr/>
          <p:nvPr/>
        </p:nvSpPr>
        <p:spPr>
          <a:xfrm>
            <a:off x="8430419" y="1000323"/>
            <a:ext cx="1363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a:t>
            </a:r>
            <a:endParaRPr lang="en-US" sz="1200" dirty="0"/>
          </a:p>
        </p:txBody>
      </p:sp>
      <p:sp>
        <p:nvSpPr>
          <p:cNvPr id="6" name="Shape 4"/>
          <p:cNvSpPr/>
          <p:nvPr/>
        </p:nvSpPr>
        <p:spPr>
          <a:xfrm>
            <a:off x="8598495" y="1024434"/>
            <a:ext cx="165100" cy="165100"/>
          </a:xfrm>
          <a:prstGeom prst="roundRect">
            <a:avLst>
              <a:gd name="adj" fmla="val 19231"/>
            </a:avLst>
          </a:prstGeom>
          <a:solidFill>
            <a:srgbClr val="DDF1E3"/>
          </a:solidFill>
          <a:ln w="12700">
            <a:solidFill>
              <a:srgbClr val="2E8B57"/>
            </a:solidFill>
            <a:prstDash val="solid"/>
          </a:ln>
        </p:spPr>
      </p:sp>
      <p:sp>
        <p:nvSpPr>
          <p:cNvPr id="7" name="Text 5"/>
          <p:cNvSpPr/>
          <p:nvPr/>
        </p:nvSpPr>
        <p:spPr>
          <a:xfrm>
            <a:off x="8846145" y="1000323"/>
            <a:ext cx="303966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6B3A"/>
                </a:solidFill>
                <a:latin typeface="Noto Sans KR" pitchFamily="34" charset="0"/>
                <a:ea typeface="Noto Sans KR" pitchFamily="34" charset="-122"/>
                <a:cs typeface="Noto Sans KR" pitchFamily="34" charset="-120"/>
              </a:rPr>
              <a:t>KISA 가이드 비교: 가이드에만 있는 내용</a:t>
            </a:r>
            <a:endParaRPr lang="en-US" sz="1200" dirty="0"/>
          </a:p>
        </p:txBody>
      </p:sp>
      <p:sp>
        <p:nvSpPr>
          <p:cNvPr id="8" name="Shape 6"/>
          <p:cNvSpPr/>
          <p:nvPr/>
        </p:nvSpPr>
        <p:spPr>
          <a:xfrm>
            <a:off x="812800" y="1404144"/>
            <a:ext cx="1333500" cy="0"/>
          </a:xfrm>
          <a:prstGeom prst="line">
            <a:avLst/>
          </a:prstGeom>
          <a:noFill/>
          <a:ln w="25400">
            <a:solidFill>
              <a:srgbClr val="1428A0"/>
            </a:solidFill>
            <a:prstDash val="solid"/>
          </a:ln>
        </p:spPr>
      </p:sp>
      <p:sp>
        <p:nvSpPr>
          <p:cNvPr id="9" name="Text 7"/>
          <p:cNvSpPr/>
          <p:nvPr/>
        </p:nvSpPr>
        <p:spPr>
          <a:xfrm>
            <a:off x="812800" y="1707059"/>
            <a:ext cx="13843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8A0"/>
                </a:solidFill>
                <a:latin typeface="Noto Sans KR" pitchFamily="34" charset="0"/>
                <a:ea typeface="Noto Sans KR" pitchFamily="34" charset="-122"/>
                <a:cs typeface="Noto Sans KR" pitchFamily="34" charset="-120"/>
              </a:rPr>
              <a:t>데이터 보호</a:t>
            </a:r>
            <a:endParaRPr lang="en-US" sz="1400" dirty="0"/>
          </a:p>
        </p:txBody>
      </p:sp>
      <p:sp>
        <p:nvSpPr>
          <p:cNvPr id="10" name="Text 8"/>
          <p:cNvSpPr/>
          <p:nvPr/>
        </p:nvSpPr>
        <p:spPr>
          <a:xfrm>
            <a:off x="812800" y="1954709"/>
            <a:ext cx="138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무엇이 새는가</a:t>
            </a:r>
            <a:endParaRPr lang="en-US" sz="1200" dirty="0"/>
          </a:p>
        </p:txBody>
      </p:sp>
      <p:sp>
        <p:nvSpPr>
          <p:cNvPr id="11" name="Shape 9"/>
          <p:cNvSpPr/>
          <p:nvPr/>
        </p:nvSpPr>
        <p:spPr>
          <a:xfrm>
            <a:off x="2276475" y="1394619"/>
            <a:ext cx="2171700" cy="997049"/>
          </a:xfrm>
          <a:prstGeom prst="roundRect">
            <a:avLst>
              <a:gd name="adj" fmla="val 7324"/>
            </a:avLst>
          </a:prstGeom>
          <a:solidFill>
            <a:srgbClr val="FFFFFF"/>
          </a:solidFill>
          <a:ln w="6350">
            <a:solidFill>
              <a:srgbClr val="DCE1EA"/>
            </a:solidFill>
            <a:prstDash val="solid"/>
          </a:ln>
        </p:spPr>
      </p:sp>
      <p:sp>
        <p:nvSpPr>
          <p:cNvPr id="12" name="Text 10"/>
          <p:cNvSpPr/>
          <p:nvPr/>
        </p:nvSpPr>
        <p:spPr>
          <a:xfrm>
            <a:off x="2419350" y="1473994"/>
            <a:ext cx="2794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01</a:t>
            </a:r>
            <a:endParaRPr lang="en-US" sz="1300" dirty="0"/>
          </a:p>
        </p:txBody>
      </p:sp>
      <p:sp>
        <p:nvSpPr>
          <p:cNvPr id="13" name="Text 11"/>
          <p:cNvSpPr/>
          <p:nvPr/>
        </p:nvSpPr>
        <p:spPr>
          <a:xfrm>
            <a:off x="2711450" y="1473994"/>
            <a:ext cx="1644650" cy="25648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데이터 격리</a:t>
            </a:r>
            <a:endParaRPr lang="en-US" sz="1300" dirty="0"/>
          </a:p>
        </p:txBody>
      </p:sp>
      <p:sp>
        <p:nvSpPr>
          <p:cNvPr id="14" name="Text 12"/>
          <p:cNvSpPr/>
          <p:nvPr/>
        </p:nvSpPr>
        <p:spPr>
          <a:xfrm>
            <a:off x="2419350" y="1730474"/>
            <a:ext cx="1942529"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8102E"/>
                </a:solidFill>
                <a:latin typeface="Noto Sans KR" pitchFamily="34" charset="0"/>
                <a:ea typeface="Noto Sans KR" pitchFamily="34" charset="-122"/>
                <a:cs typeface="Noto Sans KR" pitchFamily="34" charset="-120"/>
              </a:rPr>
              <a:t>학습 미사용 계약</a:t>
            </a:r>
            <a:r>
              <a:rPr lang="en-US" sz="1200" dirty="0">
                <a:solidFill>
                  <a:srgbClr val="4A5366"/>
                </a:solidFill>
                <a:latin typeface="Noto Sans KR" pitchFamily="34" charset="0"/>
                <a:ea typeface="Noto Sans KR" pitchFamily="34" charset="-122"/>
                <a:cs typeface="Noto Sans KR" pitchFamily="34" charset="-120"/>
              </a:rPr>
              <a:t>, 멀티테넌트 분리</a:t>
            </a:r>
            <a:endParaRPr lang="en-US" sz="1200" dirty="0"/>
          </a:p>
        </p:txBody>
      </p:sp>
      <p:sp>
        <p:nvSpPr>
          <p:cNvPr id="15" name="Shape 13"/>
          <p:cNvSpPr/>
          <p:nvPr/>
        </p:nvSpPr>
        <p:spPr>
          <a:xfrm>
            <a:off x="4584700" y="1397794"/>
            <a:ext cx="2165350" cy="990699"/>
          </a:xfrm>
          <a:prstGeom prst="roundRect">
            <a:avLst>
              <a:gd name="adj" fmla="val 7051"/>
            </a:avLst>
          </a:prstGeom>
          <a:solidFill>
            <a:srgbClr val="FFFFFF"/>
          </a:solidFill>
          <a:ln w="12700">
            <a:solidFill>
              <a:srgbClr val="2E8B57"/>
            </a:solidFill>
            <a:prstDash val="solid"/>
          </a:ln>
        </p:spPr>
      </p:sp>
      <p:sp>
        <p:nvSpPr>
          <p:cNvPr id="16" name="Text 14"/>
          <p:cNvSpPr/>
          <p:nvPr/>
        </p:nvSpPr>
        <p:spPr>
          <a:xfrm>
            <a:off x="4730750" y="1480344"/>
            <a:ext cx="279400" cy="23772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02</a:t>
            </a:r>
            <a:endParaRPr lang="en-US" sz="1300" dirty="0"/>
          </a:p>
        </p:txBody>
      </p:sp>
      <p:sp>
        <p:nvSpPr>
          <p:cNvPr id="17" name="Text 15"/>
          <p:cNvSpPr/>
          <p:nvPr/>
        </p:nvSpPr>
        <p:spPr>
          <a:xfrm>
            <a:off x="5022850" y="1480344"/>
            <a:ext cx="1631950" cy="237728"/>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데이터 필터링</a:t>
            </a:r>
            <a:endParaRPr lang="en-US" sz="1300" dirty="0"/>
          </a:p>
        </p:txBody>
      </p:sp>
      <p:sp>
        <p:nvSpPr>
          <p:cNvPr id="18" name="Text 16"/>
          <p:cNvSpPr/>
          <p:nvPr/>
        </p:nvSpPr>
        <p:spPr>
          <a:xfrm>
            <a:off x="4730750" y="1718072"/>
            <a:ext cx="1929448" cy="613271"/>
          </a:xfrm>
          <a:prstGeom prst="rect">
            <a:avLst/>
          </a:prstGeom>
          <a:noFill/>
          <a:ln/>
        </p:spPr>
        <p:txBody>
          <a:bodyPr wrap="square" lIns="0" tIns="0" rIns="0" bIns="0" rtlCol="0" anchor="t">
            <a:normAutofit/>
          </a:bodyPr>
          <a:lstStyle/>
          <a:p>
            <a:pPr algn="l" indent="0" marL="0">
              <a:lnSpc>
                <a:spcPts val="1554"/>
              </a:lnSpc>
              <a:buNone/>
            </a:pPr>
            <a:r>
              <a:rPr lang="en-US" sz="1110" dirty="0">
                <a:solidFill>
                  <a:srgbClr val="4A5366"/>
                </a:solidFill>
                <a:latin typeface="Noto Sans KR" pitchFamily="34" charset="0"/>
                <a:ea typeface="Noto Sans KR" pitchFamily="34" charset="-122"/>
                <a:cs typeface="Noto Sans KR" pitchFamily="34" charset="-120"/>
              </a:rPr>
              <a:t>질의·응답·검색 데이터 민감정보 차단, 무분별한 수집 금지 </a:t>
            </a:r>
            <a:r>
              <a:rPr lang="en-US" sz="1110" b="1" dirty="0">
                <a:solidFill>
                  <a:srgbClr val="1E6B3A"/>
                </a:solidFill>
                <a:latin typeface="Noto Sans KR" pitchFamily="34" charset="0"/>
                <a:ea typeface="Noto Sans KR" pitchFamily="34" charset="-122"/>
                <a:cs typeface="Noto Sans KR" pitchFamily="34" charset="-120"/>
              </a:rPr>
              <a:t>＋출력 검증</a:t>
            </a:r>
            <a:endParaRPr lang="en-US" sz="1110" dirty="0"/>
          </a:p>
        </p:txBody>
      </p:sp>
      <p:sp>
        <p:nvSpPr>
          <p:cNvPr id="19" name="Shape 17"/>
          <p:cNvSpPr/>
          <p:nvPr/>
        </p:nvSpPr>
        <p:spPr>
          <a:xfrm>
            <a:off x="6889750" y="1397794"/>
            <a:ext cx="2165350" cy="990699"/>
          </a:xfrm>
          <a:prstGeom prst="roundRect">
            <a:avLst>
              <a:gd name="adj" fmla="val 7051"/>
            </a:avLst>
          </a:prstGeom>
          <a:solidFill>
            <a:srgbClr val="FFFFFF"/>
          </a:solidFill>
          <a:ln w="12700">
            <a:solidFill>
              <a:srgbClr val="2E8B57"/>
            </a:solidFill>
            <a:prstDash val="solid"/>
          </a:ln>
        </p:spPr>
      </p:sp>
      <p:sp>
        <p:nvSpPr>
          <p:cNvPr id="20" name="Text 18"/>
          <p:cNvSpPr/>
          <p:nvPr/>
        </p:nvSpPr>
        <p:spPr>
          <a:xfrm>
            <a:off x="7035800" y="1480344"/>
            <a:ext cx="2794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03</a:t>
            </a:r>
            <a:endParaRPr lang="en-US" sz="1300" dirty="0"/>
          </a:p>
        </p:txBody>
      </p:sp>
      <p:sp>
        <p:nvSpPr>
          <p:cNvPr id="21" name="Text 19"/>
          <p:cNvSpPr/>
          <p:nvPr/>
        </p:nvSpPr>
        <p:spPr>
          <a:xfrm>
            <a:off x="7327900" y="1480344"/>
            <a:ext cx="1631950" cy="25648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암호화·보관</a:t>
            </a:r>
            <a:endParaRPr lang="en-US" sz="1300" dirty="0"/>
          </a:p>
        </p:txBody>
      </p:sp>
      <p:sp>
        <p:nvSpPr>
          <p:cNvPr id="22" name="Text 20"/>
          <p:cNvSpPr/>
          <p:nvPr/>
        </p:nvSpPr>
        <p:spPr>
          <a:xfrm>
            <a:off x="7035800" y="1736824"/>
            <a:ext cx="19294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6"/>
                </a:solidFill>
                <a:latin typeface="Noto Sans KR" pitchFamily="34" charset="0"/>
                <a:ea typeface="Noto Sans KR" pitchFamily="34" charset="-122"/>
                <a:cs typeface="Noto Sans KR" pitchFamily="34" charset="-120"/>
              </a:rPr>
              <a:t>저장·전송·모델 암호화, 필요 데이터만 보관 </a:t>
            </a:r>
            <a:r>
              <a:rPr lang="en-US" sz="1200" b="1" dirty="0">
                <a:solidFill>
                  <a:srgbClr val="1E6B3A"/>
                </a:solidFill>
                <a:latin typeface="Noto Sans KR" pitchFamily="34" charset="0"/>
                <a:ea typeface="Noto Sans KR" pitchFamily="34" charset="-122"/>
                <a:cs typeface="Noto Sans KR" pitchFamily="34" charset="-120"/>
              </a:rPr>
              <a:t>＋메모리 삭제</a:t>
            </a:r>
            <a:endParaRPr lang="en-US" sz="1200" dirty="0"/>
          </a:p>
        </p:txBody>
      </p:sp>
      <p:sp>
        <p:nvSpPr>
          <p:cNvPr id="23" name="Shape 21"/>
          <p:cNvSpPr/>
          <p:nvPr/>
        </p:nvSpPr>
        <p:spPr>
          <a:xfrm>
            <a:off x="812800" y="2471043"/>
            <a:ext cx="1333500" cy="0"/>
          </a:xfrm>
          <a:prstGeom prst="line">
            <a:avLst/>
          </a:prstGeom>
          <a:noFill/>
          <a:ln w="25400">
            <a:solidFill>
              <a:srgbClr val="1428A0"/>
            </a:solidFill>
            <a:prstDash val="solid"/>
          </a:ln>
        </p:spPr>
      </p:sp>
      <p:sp>
        <p:nvSpPr>
          <p:cNvPr id="24" name="Text 22"/>
          <p:cNvSpPr/>
          <p:nvPr/>
        </p:nvSpPr>
        <p:spPr>
          <a:xfrm>
            <a:off x="812800" y="2668488"/>
            <a:ext cx="13843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8A0"/>
                </a:solidFill>
                <a:latin typeface="Noto Sans KR" pitchFamily="34" charset="0"/>
                <a:ea typeface="Noto Sans KR" pitchFamily="34" charset="-122"/>
                <a:cs typeface="Noto Sans KR" pitchFamily="34" charset="-120"/>
              </a:rPr>
              <a:t>계정·접근 통제</a:t>
            </a:r>
            <a:endParaRPr lang="en-US" sz="1400" dirty="0"/>
          </a:p>
        </p:txBody>
      </p:sp>
      <p:sp>
        <p:nvSpPr>
          <p:cNvPr id="25" name="Text 23"/>
          <p:cNvSpPr/>
          <p:nvPr/>
        </p:nvSpPr>
        <p:spPr>
          <a:xfrm>
            <a:off x="812800" y="2916138"/>
            <a:ext cx="138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누가 들어오는가</a:t>
            </a:r>
            <a:endParaRPr lang="en-US" sz="1200" dirty="0"/>
          </a:p>
        </p:txBody>
      </p:sp>
      <p:sp>
        <p:nvSpPr>
          <p:cNvPr id="26" name="Shape 24"/>
          <p:cNvSpPr/>
          <p:nvPr/>
        </p:nvSpPr>
        <p:spPr>
          <a:xfrm>
            <a:off x="2276475" y="2461518"/>
            <a:ext cx="2171700" cy="786011"/>
          </a:xfrm>
          <a:prstGeom prst="roundRect">
            <a:avLst>
              <a:gd name="adj" fmla="val 9291"/>
            </a:avLst>
          </a:prstGeom>
          <a:solidFill>
            <a:srgbClr val="FFFFFF"/>
          </a:solidFill>
          <a:ln w="6350">
            <a:solidFill>
              <a:srgbClr val="DCE1EA"/>
            </a:solidFill>
            <a:prstDash val="solid"/>
          </a:ln>
        </p:spPr>
      </p:sp>
      <p:sp>
        <p:nvSpPr>
          <p:cNvPr id="27" name="Text 25"/>
          <p:cNvSpPr/>
          <p:nvPr/>
        </p:nvSpPr>
        <p:spPr>
          <a:xfrm>
            <a:off x="2419350" y="2540893"/>
            <a:ext cx="279400" cy="23683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04</a:t>
            </a:r>
            <a:endParaRPr lang="en-US" sz="1300" dirty="0"/>
          </a:p>
        </p:txBody>
      </p:sp>
      <p:sp>
        <p:nvSpPr>
          <p:cNvPr id="28" name="Text 26"/>
          <p:cNvSpPr/>
          <p:nvPr/>
        </p:nvSpPr>
        <p:spPr>
          <a:xfrm>
            <a:off x="2711450" y="2540893"/>
            <a:ext cx="1644650" cy="23683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계정·인증</a:t>
            </a:r>
            <a:endParaRPr lang="en-US" sz="1300" dirty="0"/>
          </a:p>
        </p:txBody>
      </p:sp>
      <p:sp>
        <p:nvSpPr>
          <p:cNvPr id="29" name="Text 27"/>
          <p:cNvSpPr/>
          <p:nvPr/>
        </p:nvSpPr>
        <p:spPr>
          <a:xfrm>
            <a:off x="2419350" y="2777728"/>
            <a:ext cx="1942529" cy="415826"/>
          </a:xfrm>
          <a:prstGeom prst="rect">
            <a:avLst/>
          </a:prstGeom>
          <a:noFill/>
          <a:ln/>
        </p:spPr>
        <p:txBody>
          <a:bodyPr wrap="square" lIns="0" tIns="0" rIns="0" bIns="0" rtlCol="0" anchor="t">
            <a:normAutofit/>
          </a:bodyPr>
          <a:lstStyle/>
          <a:p>
            <a:pPr algn="l" indent="0" marL="0">
              <a:lnSpc>
                <a:spcPts val="1533"/>
              </a:lnSpc>
              <a:buNone/>
            </a:pPr>
            <a:r>
              <a:rPr lang="en-US" sz="1095" b="1" dirty="0">
                <a:solidFill>
                  <a:srgbClr val="C8102E"/>
                </a:solidFill>
                <a:latin typeface="Noto Sans KR" pitchFamily="34" charset="0"/>
                <a:ea typeface="Noto Sans KR" pitchFamily="34" charset="-122"/>
                <a:cs typeface="Noto Sans KR" pitchFamily="34" charset="-120"/>
              </a:rPr>
              <a:t>MFA, 사외접속·개인계정 차단</a:t>
            </a:r>
            <a:r>
              <a:rPr lang="en-US" sz="1095" dirty="0">
                <a:solidFill>
                  <a:srgbClr val="4A5366"/>
                </a:solidFill>
                <a:latin typeface="Noto Sans KR" pitchFamily="34" charset="0"/>
                <a:ea typeface="Noto Sans KR" pitchFamily="34" charset="-122"/>
                <a:cs typeface="Noto Sans KR" pitchFamily="34" charset="-120"/>
              </a:rPr>
              <a:t>, 인사 연동</a:t>
            </a:r>
            <a:endParaRPr lang="en-US" sz="1095" dirty="0"/>
          </a:p>
        </p:txBody>
      </p:sp>
      <p:sp>
        <p:nvSpPr>
          <p:cNvPr id="30" name="Shape 28"/>
          <p:cNvSpPr/>
          <p:nvPr/>
        </p:nvSpPr>
        <p:spPr>
          <a:xfrm>
            <a:off x="4581525" y="2461518"/>
            <a:ext cx="2171700" cy="786011"/>
          </a:xfrm>
          <a:prstGeom prst="roundRect">
            <a:avLst>
              <a:gd name="adj" fmla="val 9291"/>
            </a:avLst>
          </a:prstGeom>
          <a:solidFill>
            <a:srgbClr val="FFFFFF"/>
          </a:solidFill>
          <a:ln w="6350">
            <a:solidFill>
              <a:srgbClr val="DCE1EA"/>
            </a:solidFill>
            <a:prstDash val="solid"/>
          </a:ln>
        </p:spPr>
      </p:sp>
      <p:sp>
        <p:nvSpPr>
          <p:cNvPr id="31" name="Text 29"/>
          <p:cNvSpPr/>
          <p:nvPr/>
        </p:nvSpPr>
        <p:spPr>
          <a:xfrm>
            <a:off x="4724400" y="2540893"/>
            <a:ext cx="279400" cy="23683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05</a:t>
            </a:r>
            <a:endParaRPr lang="en-US" sz="1300" dirty="0"/>
          </a:p>
        </p:txBody>
      </p:sp>
      <p:sp>
        <p:nvSpPr>
          <p:cNvPr id="32" name="Text 30"/>
          <p:cNvSpPr/>
          <p:nvPr/>
        </p:nvSpPr>
        <p:spPr>
          <a:xfrm>
            <a:off x="5016500" y="2540893"/>
            <a:ext cx="1644650" cy="23683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권한·인가</a:t>
            </a:r>
            <a:endParaRPr lang="en-US" sz="1300" dirty="0"/>
          </a:p>
        </p:txBody>
      </p:sp>
      <p:sp>
        <p:nvSpPr>
          <p:cNvPr id="33" name="Text 31"/>
          <p:cNvSpPr/>
          <p:nvPr/>
        </p:nvSpPr>
        <p:spPr>
          <a:xfrm>
            <a:off x="4724400" y="2777728"/>
            <a:ext cx="1942529" cy="415826"/>
          </a:xfrm>
          <a:prstGeom prst="rect">
            <a:avLst/>
          </a:prstGeom>
          <a:noFill/>
          <a:ln/>
        </p:spPr>
        <p:txBody>
          <a:bodyPr wrap="square" lIns="0" tIns="0" rIns="0" bIns="0" rtlCol="0" anchor="t">
            <a:normAutofit/>
          </a:bodyPr>
          <a:lstStyle/>
          <a:p>
            <a:pPr algn="l" indent="0" marL="0">
              <a:lnSpc>
                <a:spcPts val="1533"/>
              </a:lnSpc>
              <a:buNone/>
            </a:pPr>
            <a:r>
              <a:rPr lang="en-US" sz="1095" dirty="0">
                <a:solidFill>
                  <a:srgbClr val="4A5366"/>
                </a:solidFill>
                <a:latin typeface="Noto Sans KR" pitchFamily="34" charset="0"/>
                <a:ea typeface="Noto Sans KR" pitchFamily="34" charset="-122"/>
                <a:cs typeface="Noto Sans KR" pitchFamily="34" charset="-120"/>
              </a:rPr>
              <a:t>사람·에이전트·MCP 모두 의도한 권한만</a:t>
            </a:r>
            <a:endParaRPr lang="en-US" sz="1095" dirty="0"/>
          </a:p>
        </p:txBody>
      </p:sp>
      <p:sp>
        <p:nvSpPr>
          <p:cNvPr id="34" name="Shape 32"/>
          <p:cNvSpPr/>
          <p:nvPr/>
        </p:nvSpPr>
        <p:spPr>
          <a:xfrm>
            <a:off x="812800" y="3326904"/>
            <a:ext cx="1333500" cy="0"/>
          </a:xfrm>
          <a:prstGeom prst="line">
            <a:avLst/>
          </a:prstGeom>
          <a:noFill/>
          <a:ln w="25400">
            <a:solidFill>
              <a:srgbClr val="1428A0"/>
            </a:solidFill>
            <a:prstDash val="solid"/>
          </a:ln>
        </p:spPr>
      </p:sp>
      <p:sp>
        <p:nvSpPr>
          <p:cNvPr id="35" name="Text 33"/>
          <p:cNvSpPr/>
          <p:nvPr/>
        </p:nvSpPr>
        <p:spPr>
          <a:xfrm>
            <a:off x="812800" y="3530203"/>
            <a:ext cx="13843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8A0"/>
                </a:solidFill>
                <a:latin typeface="Noto Sans KR" pitchFamily="34" charset="0"/>
                <a:ea typeface="Noto Sans KR" pitchFamily="34" charset="-122"/>
                <a:cs typeface="Noto Sans KR" pitchFamily="34" charset="-120"/>
              </a:rPr>
              <a:t>에이전트 실행</a:t>
            </a:r>
            <a:endParaRPr lang="en-US" sz="1400" dirty="0"/>
          </a:p>
        </p:txBody>
      </p:sp>
      <p:sp>
        <p:nvSpPr>
          <p:cNvPr id="36" name="Text 34"/>
          <p:cNvSpPr/>
          <p:nvPr/>
        </p:nvSpPr>
        <p:spPr>
          <a:xfrm>
            <a:off x="812800" y="3777853"/>
            <a:ext cx="138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무엇을 실행하는가</a:t>
            </a:r>
            <a:endParaRPr lang="en-US" sz="1200" dirty="0"/>
          </a:p>
        </p:txBody>
      </p:sp>
      <p:sp>
        <p:nvSpPr>
          <p:cNvPr id="37" name="Shape 35"/>
          <p:cNvSpPr/>
          <p:nvPr/>
        </p:nvSpPr>
        <p:spPr>
          <a:xfrm>
            <a:off x="2279650" y="3320554"/>
            <a:ext cx="2165350" cy="791468"/>
          </a:xfrm>
          <a:prstGeom prst="roundRect">
            <a:avLst>
              <a:gd name="adj" fmla="val 8825"/>
            </a:avLst>
          </a:prstGeom>
          <a:solidFill>
            <a:srgbClr val="FFFFFF"/>
          </a:solidFill>
          <a:ln w="12700">
            <a:solidFill>
              <a:srgbClr val="2E8B57"/>
            </a:solidFill>
            <a:prstDash val="solid"/>
          </a:ln>
        </p:spPr>
      </p:sp>
      <p:sp>
        <p:nvSpPr>
          <p:cNvPr id="38" name="Text 36"/>
          <p:cNvSpPr/>
          <p:nvPr/>
        </p:nvSpPr>
        <p:spPr>
          <a:xfrm>
            <a:off x="2425700" y="3403104"/>
            <a:ext cx="279400" cy="23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06</a:t>
            </a:r>
            <a:endParaRPr lang="en-US" sz="1300" dirty="0"/>
          </a:p>
        </p:txBody>
      </p:sp>
      <p:sp>
        <p:nvSpPr>
          <p:cNvPr id="39" name="Text 37"/>
          <p:cNvSpPr/>
          <p:nvPr/>
        </p:nvSpPr>
        <p:spPr>
          <a:xfrm>
            <a:off x="2717800" y="3403104"/>
            <a:ext cx="1631950" cy="236538"/>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안전한 모델</a:t>
            </a:r>
            <a:endParaRPr lang="en-US" sz="1300" dirty="0"/>
          </a:p>
        </p:txBody>
      </p:sp>
      <p:sp>
        <p:nvSpPr>
          <p:cNvPr id="40" name="Text 38"/>
          <p:cNvSpPr/>
          <p:nvPr/>
        </p:nvSpPr>
        <p:spPr>
          <a:xfrm>
            <a:off x="2425700" y="3639641"/>
            <a:ext cx="1929448" cy="415230"/>
          </a:xfrm>
          <a:prstGeom prst="rect">
            <a:avLst/>
          </a:prstGeom>
          <a:noFill/>
          <a:ln/>
        </p:spPr>
        <p:txBody>
          <a:bodyPr wrap="square" lIns="0" tIns="0" rIns="0" bIns="0" rtlCol="0" anchor="t">
            <a:normAutofit/>
          </a:bodyPr>
          <a:lstStyle/>
          <a:p>
            <a:pPr algn="l" indent="0" marL="0">
              <a:lnSpc>
                <a:spcPts val="1533"/>
              </a:lnSpc>
              <a:buNone/>
            </a:pPr>
            <a:r>
              <a:rPr lang="en-US" sz="1095" dirty="0">
                <a:solidFill>
                  <a:srgbClr val="4A5366"/>
                </a:solidFill>
                <a:latin typeface="Noto Sans KR" pitchFamily="34" charset="0"/>
                <a:ea typeface="Noto Sans KR" pitchFamily="34" charset="-122"/>
                <a:cs typeface="Noto Sans KR" pitchFamily="34" charset="-120"/>
              </a:rPr>
              <a:t>프롬프트 인젝션 대응, 레드팀 운영 </a:t>
            </a:r>
            <a:r>
              <a:rPr lang="en-US" sz="1095" b="1" dirty="0">
                <a:solidFill>
                  <a:srgbClr val="1E6B3A"/>
                </a:solidFill>
                <a:latin typeface="Noto Sans KR" pitchFamily="34" charset="0"/>
                <a:ea typeface="Noto Sans KR" pitchFamily="34" charset="-122"/>
                <a:cs typeface="Noto Sans KR" pitchFamily="34" charset="-120"/>
              </a:rPr>
              <a:t>＋간접 인젝션</a:t>
            </a:r>
            <a:endParaRPr lang="en-US" sz="1095" dirty="0"/>
          </a:p>
        </p:txBody>
      </p:sp>
      <p:sp>
        <p:nvSpPr>
          <p:cNvPr id="41" name="Shape 39"/>
          <p:cNvSpPr/>
          <p:nvPr/>
        </p:nvSpPr>
        <p:spPr>
          <a:xfrm>
            <a:off x="4581525" y="3317379"/>
            <a:ext cx="2171700" cy="797818"/>
          </a:xfrm>
          <a:prstGeom prst="roundRect">
            <a:avLst>
              <a:gd name="adj" fmla="val 9153"/>
            </a:avLst>
          </a:prstGeom>
          <a:solidFill>
            <a:srgbClr val="FFFFFF"/>
          </a:solidFill>
          <a:ln w="6350">
            <a:solidFill>
              <a:srgbClr val="DCE1EA"/>
            </a:solidFill>
            <a:prstDash val="solid"/>
          </a:ln>
        </p:spPr>
      </p:sp>
      <p:sp>
        <p:nvSpPr>
          <p:cNvPr id="42" name="Text 40"/>
          <p:cNvSpPr/>
          <p:nvPr/>
        </p:nvSpPr>
        <p:spPr>
          <a:xfrm>
            <a:off x="4724400" y="3396754"/>
            <a:ext cx="279400" cy="24100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07</a:t>
            </a:r>
            <a:endParaRPr lang="en-US" sz="1300" dirty="0"/>
          </a:p>
        </p:txBody>
      </p:sp>
      <p:sp>
        <p:nvSpPr>
          <p:cNvPr id="43" name="Text 41"/>
          <p:cNvSpPr/>
          <p:nvPr/>
        </p:nvSpPr>
        <p:spPr>
          <a:xfrm>
            <a:off x="5016500" y="3396754"/>
            <a:ext cx="1644650" cy="241002"/>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도구 검수</a:t>
            </a:r>
            <a:endParaRPr lang="en-US" sz="1300" dirty="0"/>
          </a:p>
        </p:txBody>
      </p:sp>
      <p:sp>
        <p:nvSpPr>
          <p:cNvPr id="44" name="Text 42"/>
          <p:cNvSpPr/>
          <p:nvPr/>
        </p:nvSpPr>
        <p:spPr>
          <a:xfrm>
            <a:off x="4724400" y="3637756"/>
            <a:ext cx="1942529" cy="423466"/>
          </a:xfrm>
          <a:prstGeom prst="rect">
            <a:avLst/>
          </a:prstGeom>
          <a:noFill/>
          <a:ln/>
        </p:spPr>
        <p:txBody>
          <a:bodyPr wrap="square" lIns="0" tIns="0" rIns="0" bIns="0" rtlCol="0" anchor="t">
            <a:normAutofit/>
          </a:bodyPr>
          <a:lstStyle/>
          <a:p>
            <a:pPr algn="l" indent="0" marL="0">
              <a:lnSpc>
                <a:spcPts val="1585"/>
              </a:lnSpc>
              <a:buNone/>
            </a:pPr>
            <a:r>
              <a:rPr lang="en-US" sz="1133" dirty="0">
                <a:solidFill>
                  <a:srgbClr val="4A5366"/>
                </a:solidFill>
                <a:latin typeface="Noto Sans KR" pitchFamily="34" charset="0"/>
                <a:ea typeface="Noto Sans KR" pitchFamily="34" charset="-122"/>
                <a:cs typeface="Noto Sans KR" pitchFamily="34" charset="-120"/>
              </a:rPr>
              <a:t>관리자 검사를 통과한 MCP·스킬만 사용</a:t>
            </a:r>
            <a:endParaRPr lang="en-US" sz="1133" dirty="0"/>
          </a:p>
        </p:txBody>
      </p:sp>
      <p:sp>
        <p:nvSpPr>
          <p:cNvPr id="45" name="Shape 43"/>
          <p:cNvSpPr/>
          <p:nvPr/>
        </p:nvSpPr>
        <p:spPr>
          <a:xfrm>
            <a:off x="6889750" y="3320554"/>
            <a:ext cx="2165350" cy="791468"/>
          </a:xfrm>
          <a:prstGeom prst="roundRect">
            <a:avLst>
              <a:gd name="adj" fmla="val 8825"/>
            </a:avLst>
          </a:prstGeom>
          <a:solidFill>
            <a:srgbClr val="FFFFFF"/>
          </a:solidFill>
          <a:ln w="12700">
            <a:solidFill>
              <a:srgbClr val="2E8B57"/>
            </a:solidFill>
            <a:prstDash val="solid"/>
          </a:ln>
        </p:spPr>
      </p:sp>
      <p:sp>
        <p:nvSpPr>
          <p:cNvPr id="46" name="Text 44"/>
          <p:cNvSpPr/>
          <p:nvPr/>
        </p:nvSpPr>
        <p:spPr>
          <a:xfrm>
            <a:off x="7035800" y="3403104"/>
            <a:ext cx="279400" cy="23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08</a:t>
            </a:r>
            <a:endParaRPr lang="en-US" sz="1300" dirty="0"/>
          </a:p>
        </p:txBody>
      </p:sp>
      <p:sp>
        <p:nvSpPr>
          <p:cNvPr id="47" name="Text 45"/>
          <p:cNvSpPr/>
          <p:nvPr/>
        </p:nvSpPr>
        <p:spPr>
          <a:xfrm>
            <a:off x="7327900" y="3403104"/>
            <a:ext cx="1631950" cy="236538"/>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사람 승인(HITL)</a:t>
            </a:r>
            <a:endParaRPr lang="en-US" sz="1300" dirty="0"/>
          </a:p>
        </p:txBody>
      </p:sp>
      <p:sp>
        <p:nvSpPr>
          <p:cNvPr id="48" name="Text 46"/>
          <p:cNvSpPr/>
          <p:nvPr/>
        </p:nvSpPr>
        <p:spPr>
          <a:xfrm>
            <a:off x="7035800" y="3639641"/>
            <a:ext cx="1929448" cy="415230"/>
          </a:xfrm>
          <a:prstGeom prst="rect">
            <a:avLst/>
          </a:prstGeom>
          <a:noFill/>
          <a:ln/>
        </p:spPr>
        <p:txBody>
          <a:bodyPr wrap="square" lIns="0" tIns="0" rIns="0" bIns="0" rtlCol="0" anchor="t">
            <a:normAutofit/>
          </a:bodyPr>
          <a:lstStyle/>
          <a:p>
            <a:pPr algn="l" indent="0" marL="0">
              <a:lnSpc>
                <a:spcPts val="1533"/>
              </a:lnSpc>
              <a:buNone/>
            </a:pPr>
            <a:r>
              <a:rPr lang="en-US" sz="1095" dirty="0">
                <a:solidFill>
                  <a:srgbClr val="4A5366"/>
                </a:solidFill>
                <a:latin typeface="Noto Sans KR" pitchFamily="34" charset="0"/>
                <a:ea typeface="Noto Sans KR" pitchFamily="34" charset="-122"/>
                <a:cs typeface="Noto Sans KR" pitchFamily="34" charset="-120"/>
              </a:rPr>
              <a:t>고위험 작업은 실행 전 승인 </a:t>
            </a:r>
            <a:r>
              <a:rPr lang="en-US" sz="1095" b="1" dirty="0">
                <a:solidFill>
                  <a:srgbClr val="1E6B3A"/>
                </a:solidFill>
                <a:latin typeface="Noto Sans KR" pitchFamily="34" charset="0"/>
                <a:ea typeface="Noto Sans KR" pitchFamily="34" charset="-122"/>
                <a:cs typeface="Noto Sans KR" pitchFamily="34" charset="-120"/>
              </a:rPr>
              <a:t>＋결과 검토</a:t>
            </a:r>
            <a:endParaRPr lang="en-US" sz="1095" dirty="0"/>
          </a:p>
        </p:txBody>
      </p:sp>
      <p:sp>
        <p:nvSpPr>
          <p:cNvPr id="49" name="Shape 47"/>
          <p:cNvSpPr/>
          <p:nvPr/>
        </p:nvSpPr>
        <p:spPr>
          <a:xfrm>
            <a:off x="9191625" y="3317379"/>
            <a:ext cx="2171700" cy="797818"/>
          </a:xfrm>
          <a:prstGeom prst="roundRect">
            <a:avLst>
              <a:gd name="adj" fmla="val 9153"/>
            </a:avLst>
          </a:prstGeom>
          <a:solidFill>
            <a:srgbClr val="FFFFFF"/>
          </a:solidFill>
          <a:ln w="6350">
            <a:solidFill>
              <a:srgbClr val="DCE1EA"/>
            </a:solidFill>
            <a:prstDash val="solid"/>
          </a:ln>
        </p:spPr>
      </p:sp>
      <p:sp>
        <p:nvSpPr>
          <p:cNvPr id="50" name="Text 48"/>
          <p:cNvSpPr/>
          <p:nvPr/>
        </p:nvSpPr>
        <p:spPr>
          <a:xfrm>
            <a:off x="9334500" y="3396754"/>
            <a:ext cx="279400" cy="24100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09</a:t>
            </a:r>
            <a:endParaRPr lang="en-US" sz="1300" dirty="0"/>
          </a:p>
        </p:txBody>
      </p:sp>
      <p:sp>
        <p:nvSpPr>
          <p:cNvPr id="51" name="Text 49"/>
          <p:cNvSpPr/>
          <p:nvPr/>
        </p:nvSpPr>
        <p:spPr>
          <a:xfrm>
            <a:off x="9626600" y="3396754"/>
            <a:ext cx="1644650" cy="241002"/>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샌드박스</a:t>
            </a:r>
            <a:endParaRPr lang="en-US" sz="1300" dirty="0"/>
          </a:p>
        </p:txBody>
      </p:sp>
      <p:sp>
        <p:nvSpPr>
          <p:cNvPr id="52" name="Text 50"/>
          <p:cNvSpPr/>
          <p:nvPr/>
        </p:nvSpPr>
        <p:spPr>
          <a:xfrm>
            <a:off x="9334500" y="3637756"/>
            <a:ext cx="2025650" cy="423466"/>
          </a:xfrm>
          <a:prstGeom prst="rect">
            <a:avLst/>
          </a:prstGeom>
          <a:noFill/>
          <a:ln/>
        </p:spPr>
        <p:txBody>
          <a:bodyPr wrap="square" lIns="0" tIns="0" rIns="0" bIns="0" rtlCol="0" anchor="t">
            <a:normAutofit/>
          </a:bodyPr>
          <a:lstStyle/>
          <a:p>
            <a:pPr algn="l" indent="0" marL="0">
              <a:lnSpc>
                <a:spcPts val="1617"/>
              </a:lnSpc>
              <a:buNone/>
            </a:pPr>
            <a:r>
              <a:rPr lang="en-US" sz="1155" dirty="0">
                <a:solidFill>
                  <a:srgbClr val="4A5366"/>
                </a:solidFill>
                <a:latin typeface="Noto Sans KR" pitchFamily="34" charset="0"/>
                <a:ea typeface="Noto Sans KR" pitchFamily="34" charset="-122"/>
                <a:cs typeface="Noto Sans KR" pitchFamily="34" charset="-120"/>
              </a:rPr>
              <a:t>실행 환경 격리로 신뢰경계 확보</a:t>
            </a:r>
            <a:endParaRPr lang="en-US" sz="1155" dirty="0"/>
          </a:p>
        </p:txBody>
      </p:sp>
      <p:sp>
        <p:nvSpPr>
          <p:cNvPr id="53" name="Shape 51"/>
          <p:cNvSpPr/>
          <p:nvPr/>
        </p:nvSpPr>
        <p:spPr>
          <a:xfrm>
            <a:off x="812800" y="4194572"/>
            <a:ext cx="1333500" cy="0"/>
          </a:xfrm>
          <a:prstGeom prst="line">
            <a:avLst/>
          </a:prstGeom>
          <a:noFill/>
          <a:ln w="25400">
            <a:solidFill>
              <a:srgbClr val="1428A0"/>
            </a:solidFill>
            <a:prstDash val="solid"/>
          </a:ln>
        </p:spPr>
      </p:sp>
      <p:sp>
        <p:nvSpPr>
          <p:cNvPr id="54" name="Text 52"/>
          <p:cNvSpPr/>
          <p:nvPr/>
        </p:nvSpPr>
        <p:spPr>
          <a:xfrm>
            <a:off x="812800" y="4397970"/>
            <a:ext cx="13843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8A0"/>
                </a:solidFill>
                <a:latin typeface="Noto Sans KR" pitchFamily="34" charset="0"/>
                <a:ea typeface="Noto Sans KR" pitchFamily="34" charset="-122"/>
                <a:cs typeface="Noto Sans KR" pitchFamily="34" charset="-120"/>
              </a:rPr>
              <a:t>운영·공급자 신뢰</a:t>
            </a:r>
            <a:endParaRPr lang="en-US" sz="1400" dirty="0"/>
          </a:p>
        </p:txBody>
      </p:sp>
      <p:sp>
        <p:nvSpPr>
          <p:cNvPr id="55" name="Text 53"/>
          <p:cNvSpPr/>
          <p:nvPr/>
        </p:nvSpPr>
        <p:spPr>
          <a:xfrm>
            <a:off x="812800" y="4645620"/>
            <a:ext cx="138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추적·책임</a:t>
            </a:r>
            <a:endParaRPr lang="en-US" sz="1200" dirty="0"/>
          </a:p>
        </p:txBody>
      </p:sp>
      <p:sp>
        <p:nvSpPr>
          <p:cNvPr id="56" name="Shape 54"/>
          <p:cNvSpPr/>
          <p:nvPr/>
        </p:nvSpPr>
        <p:spPr>
          <a:xfrm>
            <a:off x="2276475" y="4185047"/>
            <a:ext cx="2171700" cy="797917"/>
          </a:xfrm>
          <a:prstGeom prst="roundRect">
            <a:avLst>
              <a:gd name="adj" fmla="val 9152"/>
            </a:avLst>
          </a:prstGeom>
          <a:solidFill>
            <a:srgbClr val="FFFFFF"/>
          </a:solidFill>
          <a:ln w="6350">
            <a:solidFill>
              <a:srgbClr val="DCE1EA"/>
            </a:solidFill>
            <a:prstDash val="solid"/>
          </a:ln>
        </p:spPr>
      </p:sp>
      <p:sp>
        <p:nvSpPr>
          <p:cNvPr id="57" name="Text 55"/>
          <p:cNvSpPr/>
          <p:nvPr/>
        </p:nvSpPr>
        <p:spPr>
          <a:xfrm>
            <a:off x="2419350" y="4264422"/>
            <a:ext cx="279400" cy="24100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10</a:t>
            </a:r>
            <a:endParaRPr lang="en-US" sz="1300" dirty="0"/>
          </a:p>
        </p:txBody>
      </p:sp>
      <p:sp>
        <p:nvSpPr>
          <p:cNvPr id="58" name="Text 56"/>
          <p:cNvSpPr/>
          <p:nvPr/>
        </p:nvSpPr>
        <p:spPr>
          <a:xfrm>
            <a:off x="2711450" y="4264422"/>
            <a:ext cx="1644650" cy="241002"/>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모니터링·로그</a:t>
            </a:r>
            <a:endParaRPr lang="en-US" sz="1300" dirty="0"/>
          </a:p>
        </p:txBody>
      </p:sp>
      <p:sp>
        <p:nvSpPr>
          <p:cNvPr id="59" name="Text 57"/>
          <p:cNvSpPr/>
          <p:nvPr/>
        </p:nvSpPr>
        <p:spPr>
          <a:xfrm>
            <a:off x="2419350" y="4505424"/>
            <a:ext cx="1942529" cy="423565"/>
          </a:xfrm>
          <a:prstGeom prst="rect">
            <a:avLst/>
          </a:prstGeom>
          <a:noFill/>
          <a:ln/>
        </p:spPr>
        <p:txBody>
          <a:bodyPr wrap="square" lIns="0" tIns="0" rIns="0" bIns="0" rtlCol="0" anchor="t">
            <a:normAutofit/>
          </a:bodyPr>
          <a:lstStyle/>
          <a:p>
            <a:pPr algn="l" indent="0" marL="0">
              <a:lnSpc>
                <a:spcPts val="1585"/>
              </a:lnSpc>
              <a:buNone/>
            </a:pPr>
            <a:r>
              <a:rPr lang="en-US" sz="1133" b="1" dirty="0">
                <a:solidFill>
                  <a:srgbClr val="C8102E"/>
                </a:solidFill>
                <a:latin typeface="Noto Sans KR" pitchFamily="34" charset="0"/>
                <a:ea typeface="Noto Sans KR" pitchFamily="34" charset="-122"/>
                <a:cs typeface="Noto Sans KR" pitchFamily="34" charset="-120"/>
              </a:rPr>
              <a:t>질의·응답·파일·툴 호출·로그인 추적</a:t>
            </a:r>
            <a:endParaRPr lang="en-US" sz="1133" dirty="0"/>
          </a:p>
        </p:txBody>
      </p:sp>
      <p:sp>
        <p:nvSpPr>
          <p:cNvPr id="60" name="Shape 58"/>
          <p:cNvSpPr/>
          <p:nvPr/>
        </p:nvSpPr>
        <p:spPr>
          <a:xfrm>
            <a:off x="4581525" y="4185047"/>
            <a:ext cx="2171700" cy="797917"/>
          </a:xfrm>
          <a:prstGeom prst="roundRect">
            <a:avLst>
              <a:gd name="adj" fmla="val 9152"/>
            </a:avLst>
          </a:prstGeom>
          <a:solidFill>
            <a:srgbClr val="FFFFFF"/>
          </a:solidFill>
          <a:ln w="6350">
            <a:solidFill>
              <a:srgbClr val="DCE1EA"/>
            </a:solidFill>
            <a:prstDash val="solid"/>
          </a:ln>
        </p:spPr>
      </p:sp>
      <p:sp>
        <p:nvSpPr>
          <p:cNvPr id="61" name="Text 59"/>
          <p:cNvSpPr/>
          <p:nvPr/>
        </p:nvSpPr>
        <p:spPr>
          <a:xfrm>
            <a:off x="4724400" y="4264422"/>
            <a:ext cx="279400" cy="24100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11</a:t>
            </a:r>
            <a:endParaRPr lang="en-US" sz="1300" dirty="0"/>
          </a:p>
        </p:txBody>
      </p:sp>
      <p:sp>
        <p:nvSpPr>
          <p:cNvPr id="62" name="Text 60"/>
          <p:cNvSpPr/>
          <p:nvPr/>
        </p:nvSpPr>
        <p:spPr>
          <a:xfrm>
            <a:off x="5016500" y="4264422"/>
            <a:ext cx="1644650" cy="241002"/>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공급자 신뢰성</a:t>
            </a:r>
            <a:endParaRPr lang="en-US" sz="1300" dirty="0"/>
          </a:p>
        </p:txBody>
      </p:sp>
      <p:sp>
        <p:nvSpPr>
          <p:cNvPr id="63" name="Text 61"/>
          <p:cNvSpPr/>
          <p:nvPr/>
        </p:nvSpPr>
        <p:spPr>
          <a:xfrm>
            <a:off x="4724400" y="4505424"/>
            <a:ext cx="1942529" cy="423565"/>
          </a:xfrm>
          <a:prstGeom prst="rect">
            <a:avLst/>
          </a:prstGeom>
          <a:noFill/>
          <a:ln/>
        </p:spPr>
        <p:txBody>
          <a:bodyPr wrap="square" lIns="0" tIns="0" rIns="0" bIns="0" rtlCol="0" anchor="t">
            <a:normAutofit/>
          </a:bodyPr>
          <a:lstStyle/>
          <a:p>
            <a:pPr algn="l" indent="0" marL="0">
              <a:lnSpc>
                <a:spcPts val="1585"/>
              </a:lnSpc>
              <a:buNone/>
            </a:pPr>
            <a:r>
              <a:rPr lang="en-US" sz="1133" b="1" dirty="0">
                <a:solidFill>
                  <a:srgbClr val="C8102E"/>
                </a:solidFill>
                <a:latin typeface="Noto Sans KR" pitchFamily="34" charset="0"/>
                <a:ea typeface="Noto Sans KR" pitchFamily="34" charset="-122"/>
                <a:cs typeface="Noto Sans KR" pitchFamily="34" charset="-120"/>
              </a:rPr>
              <a:t>SOC 2 인증</a:t>
            </a:r>
            <a:r>
              <a:rPr lang="en-US" sz="1133" dirty="0">
                <a:solidFill>
                  <a:srgbClr val="4A5366"/>
                </a:solidFill>
                <a:latin typeface="Noto Sans KR" pitchFamily="34" charset="0"/>
                <a:ea typeface="Noto Sans KR" pitchFamily="34" charset="-122"/>
                <a:cs typeface="Noto Sans KR" pitchFamily="34" charset="-120"/>
              </a:rPr>
              <a:t>, 해지 시 삭제, 사고 배상, 정부 요청 고지</a:t>
            </a:r>
            <a:endParaRPr lang="en-US" sz="1133" dirty="0"/>
          </a:p>
        </p:txBody>
      </p:sp>
      <p:sp>
        <p:nvSpPr>
          <p:cNvPr id="64" name="Shape 62"/>
          <p:cNvSpPr/>
          <p:nvPr/>
        </p:nvSpPr>
        <p:spPr>
          <a:xfrm>
            <a:off x="6889750" y="4188222"/>
            <a:ext cx="2165350" cy="791567"/>
          </a:xfrm>
          <a:prstGeom prst="roundRect">
            <a:avLst>
              <a:gd name="adj" fmla="val 8824"/>
            </a:avLst>
          </a:prstGeom>
          <a:solidFill>
            <a:srgbClr val="DDF1E3"/>
          </a:solidFill>
          <a:ln w="12700">
            <a:solidFill>
              <a:srgbClr val="2E8B57"/>
            </a:solidFill>
            <a:prstDash val="solid"/>
          </a:ln>
        </p:spPr>
      </p:sp>
      <p:sp>
        <p:nvSpPr>
          <p:cNvPr id="65" name="Text 63"/>
          <p:cNvSpPr/>
          <p:nvPr/>
        </p:nvSpPr>
        <p:spPr>
          <a:xfrm>
            <a:off x="7035800" y="4270772"/>
            <a:ext cx="279400" cy="23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6B3A"/>
                </a:solidFill>
                <a:latin typeface="Noto Sans KR" pitchFamily="34" charset="0"/>
                <a:ea typeface="Noto Sans KR" pitchFamily="34" charset="-122"/>
                <a:cs typeface="Noto Sans KR" pitchFamily="34" charset="-120"/>
              </a:rPr>
              <a:t>＋</a:t>
            </a:r>
            <a:endParaRPr lang="en-US" sz="1300" dirty="0"/>
          </a:p>
        </p:txBody>
      </p:sp>
      <p:sp>
        <p:nvSpPr>
          <p:cNvPr id="66" name="Text 64"/>
          <p:cNvSpPr/>
          <p:nvPr/>
        </p:nvSpPr>
        <p:spPr>
          <a:xfrm>
            <a:off x="7327900" y="4270772"/>
            <a:ext cx="1631950" cy="236538"/>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E6B3A"/>
                </a:solidFill>
                <a:latin typeface="Noto Sans KR" pitchFamily="34" charset="0"/>
                <a:ea typeface="Noto Sans KR" pitchFamily="34" charset="-122"/>
                <a:cs typeface="Noto Sans KR" pitchFamily="34" charset="-120"/>
              </a:rPr>
              <a:t>사용량 제한</a:t>
            </a:r>
            <a:endParaRPr lang="en-US" sz="1300" dirty="0"/>
          </a:p>
        </p:txBody>
      </p:sp>
      <p:sp>
        <p:nvSpPr>
          <p:cNvPr id="67" name="Text 65"/>
          <p:cNvSpPr/>
          <p:nvPr/>
        </p:nvSpPr>
        <p:spPr>
          <a:xfrm>
            <a:off x="7035800" y="4507309"/>
            <a:ext cx="1929448" cy="415330"/>
          </a:xfrm>
          <a:prstGeom prst="rect">
            <a:avLst/>
          </a:prstGeom>
          <a:noFill/>
          <a:ln/>
        </p:spPr>
        <p:txBody>
          <a:bodyPr wrap="square" lIns="0" tIns="0" rIns="0" bIns="0" rtlCol="0" anchor="t">
            <a:normAutofit/>
          </a:bodyPr>
          <a:lstStyle/>
          <a:p>
            <a:pPr algn="l" indent="0" marL="0">
              <a:lnSpc>
                <a:spcPts val="1533"/>
              </a:lnSpc>
              <a:buNone/>
            </a:pPr>
            <a:r>
              <a:rPr lang="en-US" sz="1095" dirty="0">
                <a:solidFill>
                  <a:srgbClr val="0E1320"/>
                </a:solidFill>
                <a:latin typeface="Noto Sans KR" pitchFamily="34" charset="0"/>
                <a:ea typeface="Noto Sans KR" pitchFamily="34" charset="-122"/>
                <a:cs typeface="Noto Sans KR" pitchFamily="34" charset="-120"/>
              </a:rPr>
              <a:t>요청·토큰·비용 상한, 에이전트 반복 제한</a:t>
            </a:r>
            <a:endParaRPr lang="en-US" sz="1095" dirty="0"/>
          </a:p>
        </p:txBody>
      </p:sp>
      <p:sp>
        <p:nvSpPr>
          <p:cNvPr id="68" name="Shape 66"/>
          <p:cNvSpPr/>
          <p:nvPr/>
        </p:nvSpPr>
        <p:spPr>
          <a:xfrm>
            <a:off x="812800" y="5062339"/>
            <a:ext cx="1333500" cy="0"/>
          </a:xfrm>
          <a:prstGeom prst="line">
            <a:avLst/>
          </a:prstGeom>
          <a:noFill/>
          <a:ln w="25400">
            <a:solidFill>
              <a:srgbClr val="1428A0"/>
            </a:solidFill>
            <a:prstDash val="solid"/>
          </a:ln>
        </p:spPr>
      </p:sp>
      <p:sp>
        <p:nvSpPr>
          <p:cNvPr id="69" name="Text 67"/>
          <p:cNvSpPr/>
          <p:nvPr/>
        </p:nvSpPr>
        <p:spPr>
          <a:xfrm>
            <a:off x="812800" y="5259784"/>
            <a:ext cx="13843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8A0"/>
                </a:solidFill>
                <a:latin typeface="Noto Sans KR" pitchFamily="34" charset="0"/>
                <a:ea typeface="Noto Sans KR" pitchFamily="34" charset="-122"/>
                <a:cs typeface="Noto Sans KR" pitchFamily="34" charset="-120"/>
              </a:rPr>
              <a:t>거버넌스</a:t>
            </a:r>
            <a:endParaRPr lang="en-US" sz="1400" dirty="0"/>
          </a:p>
        </p:txBody>
      </p:sp>
      <p:sp>
        <p:nvSpPr>
          <p:cNvPr id="70" name="Text 68"/>
          <p:cNvSpPr/>
          <p:nvPr/>
        </p:nvSpPr>
        <p:spPr>
          <a:xfrm>
            <a:off x="812800" y="5507434"/>
            <a:ext cx="138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무엇을 쓰고 있는가</a:t>
            </a:r>
            <a:endParaRPr lang="en-US" sz="1200" dirty="0"/>
          </a:p>
        </p:txBody>
      </p:sp>
      <p:sp>
        <p:nvSpPr>
          <p:cNvPr id="71" name="Shape 69"/>
          <p:cNvSpPr/>
          <p:nvPr/>
        </p:nvSpPr>
        <p:spPr>
          <a:xfrm>
            <a:off x="2276475" y="5052814"/>
            <a:ext cx="2171700" cy="786011"/>
          </a:xfrm>
          <a:prstGeom prst="roundRect">
            <a:avLst>
              <a:gd name="adj" fmla="val 9291"/>
            </a:avLst>
          </a:prstGeom>
          <a:solidFill>
            <a:srgbClr val="FFFFFF"/>
          </a:solidFill>
          <a:ln w="6350">
            <a:solidFill>
              <a:srgbClr val="DCE1EA"/>
            </a:solidFill>
            <a:prstDash val="solid"/>
          </a:ln>
        </p:spPr>
      </p:sp>
      <p:sp>
        <p:nvSpPr>
          <p:cNvPr id="72" name="Text 70"/>
          <p:cNvSpPr/>
          <p:nvPr/>
        </p:nvSpPr>
        <p:spPr>
          <a:xfrm>
            <a:off x="2419350" y="5132189"/>
            <a:ext cx="279400" cy="23683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12</a:t>
            </a:r>
            <a:endParaRPr lang="en-US" sz="1300" dirty="0"/>
          </a:p>
        </p:txBody>
      </p:sp>
      <p:sp>
        <p:nvSpPr>
          <p:cNvPr id="73" name="Text 71"/>
          <p:cNvSpPr/>
          <p:nvPr/>
        </p:nvSpPr>
        <p:spPr>
          <a:xfrm>
            <a:off x="2711450" y="5132189"/>
            <a:ext cx="1644650" cy="23683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AI 현황 관리</a:t>
            </a:r>
            <a:endParaRPr lang="en-US" sz="1300" dirty="0"/>
          </a:p>
        </p:txBody>
      </p:sp>
      <p:sp>
        <p:nvSpPr>
          <p:cNvPr id="74" name="Text 72"/>
          <p:cNvSpPr/>
          <p:nvPr/>
        </p:nvSpPr>
        <p:spPr>
          <a:xfrm>
            <a:off x="2419350" y="5369024"/>
            <a:ext cx="1942529" cy="415826"/>
          </a:xfrm>
          <a:prstGeom prst="rect">
            <a:avLst/>
          </a:prstGeom>
          <a:noFill/>
          <a:ln/>
        </p:spPr>
        <p:txBody>
          <a:bodyPr wrap="square" lIns="0" tIns="0" rIns="0" bIns="0" rtlCol="0" anchor="t">
            <a:normAutofit/>
          </a:bodyPr>
          <a:lstStyle/>
          <a:p>
            <a:pPr algn="l" indent="0" marL="0">
              <a:lnSpc>
                <a:spcPts val="1533"/>
              </a:lnSpc>
              <a:buNone/>
            </a:pPr>
            <a:r>
              <a:rPr lang="en-US" sz="1095" dirty="0">
                <a:solidFill>
                  <a:srgbClr val="4A5366"/>
                </a:solidFill>
                <a:latin typeface="Noto Sans KR" pitchFamily="34" charset="0"/>
                <a:ea typeface="Noto Sans KR" pitchFamily="34" charset="-122"/>
                <a:cs typeface="Noto Sans KR" pitchFamily="34" charset="-120"/>
              </a:rPr>
              <a:t>Shadow AI 탐지, AI·Agent 사용 현황 관리</a:t>
            </a:r>
            <a:endParaRPr lang="en-US" sz="1095" dirty="0"/>
          </a:p>
        </p:txBody>
      </p:sp>
      <p:sp>
        <p:nvSpPr>
          <p:cNvPr id="75" name="Text 73"/>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8102E"/>
                </a:solidFill>
                <a:latin typeface="Noto Sans KR" pitchFamily="34" charset="0"/>
                <a:ea typeface="Noto Sans KR" pitchFamily="34" charset="-122"/>
                <a:cs typeface="Noto Sans KR" pitchFamily="34" charset="-120"/>
              </a:rPr>
              <a:t>사례 · 왜 도구(모델) 검수가 필요한가</a:t>
            </a:r>
            <a:endParaRPr lang="en-US" sz="1200" dirty="0"/>
          </a:p>
        </p:txBody>
      </p:sp>
      <p:sp>
        <p:nvSpPr>
          <p:cNvPr id="3" name="Text 1"/>
          <p:cNvSpPr/>
          <p:nvPr>
            <p:ph type="title"/>
          </p:nvPr>
        </p:nvSpPr>
        <p:spPr>
          <a:xfrm>
            <a:off x="812800" y="886420"/>
            <a:ext cx="1088339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0E1320"/>
                </a:solidFill>
                <a:latin typeface="Noto Sans KR" pitchFamily="34" charset="0"/>
                <a:ea typeface="Noto Sans KR" pitchFamily="34" charset="-122"/>
                <a:cs typeface="Noto Sans KR" pitchFamily="34" charset="-120"/>
              </a:rPr>
              <a:t>악성 모델: pickle에 숨은 코드 (Hugging Face)</a:t>
            </a:r>
            <a:endParaRPr lang="en-US" sz="2800" dirty="0"/>
          </a:p>
        </p:txBody>
      </p:sp>
      <p:sp>
        <p:nvSpPr>
          <p:cNvPr id="4" name="Text 2"/>
          <p:cNvSpPr/>
          <p:nvPr/>
        </p:nvSpPr>
        <p:spPr>
          <a:xfrm>
            <a:off x="819150" y="1454051"/>
            <a:ext cx="5702300" cy="2203450"/>
          </a:xfrm>
          <a:prstGeom prst="roundRect">
            <a:avLst>
              <a:gd name="adj" fmla="val 3746"/>
            </a:avLst>
          </a:prstGeom>
          <a:solidFill>
            <a:srgbClr val="0E1320"/>
          </a:solidFill>
          <a:ln w="12700">
            <a:solidFill>
              <a:srgbClr val="C8102E"/>
            </a:solidFill>
            <a:prstDash val="solid"/>
          </a:ln>
        </p:spPr>
        <p:txBody>
          <a:bodyPr wrap="square" lIns="121872" tIns="83772" rIns="0" bIns="83772" rtlCol="0" anchor="t">
            <a:normAutofit/>
          </a:bodyPr>
          <a:lstStyle/>
          <a:p>
            <a:pPr algn="l" indent="0" marL="0">
              <a:lnSpc>
                <a:spcPts val="1800"/>
              </a:lnSpc>
              <a:buNone/>
            </a:pPr>
            <a:r>
              <a:rPr lang="en-US" sz="1200" dirty="0">
                <a:solidFill>
                  <a:srgbClr val="8A93A6"/>
                </a:solidFill>
                <a:latin typeface="JetBrains Mono" pitchFamily="49" charset="0"/>
                <a:ea typeface="JetBrains Mono" pitchFamily="49" charset="-122"/>
                <a:cs typeface="JetBrains Mono" pitchFamily="49" charset="-120"/>
              </a:rPr>
              <a:t># model.pkl (PyTorch 기본 저장 형식 = pickle)</a:t>
            </a:r>
            <a:endParaRPr lang="en-US" sz="1200" dirty="0"/>
          </a:p>
          <a:p>
            <a:pPr algn="l" indent="0" marL="0">
              <a:lnSpc>
                <a:spcPts val="1800"/>
              </a:lnSpc>
              <a:buNone/>
            </a:pPr>
            <a:r>
              <a:rPr lang="en-US" sz="1200" dirty="0">
                <a:solidFill>
                  <a:srgbClr val="C792EA"/>
                </a:solidFill>
                <a:latin typeface="JetBrains Mono" pitchFamily="49" charset="0"/>
                <a:ea typeface="JetBrains Mono" pitchFamily="49" charset="-122"/>
                <a:cs typeface="JetBrains Mono" pitchFamily="49" charset="-120"/>
              </a:rPr>
              <a:t>class</a:t>
            </a:r>
            <a:r>
              <a:rPr lang="en-US" sz="1200" dirty="0">
                <a:solidFill>
                  <a:srgbClr val="E6EAF2"/>
                </a:solidFill>
                <a:latin typeface="JetBrains Mono" pitchFamily="49" charset="0"/>
                <a:ea typeface="JetBrains Mono" pitchFamily="49" charset="-122"/>
                <a:cs typeface="JetBrains Mono" pitchFamily="49" charset="-120"/>
              </a:rPr>
              <a:t> Model: </a:t>
            </a:r>
            <a:r>
              <a:rPr lang="en-US" sz="1200" dirty="0">
                <a:solidFill>
                  <a:srgbClr val="C792EA"/>
                </a:solidFill>
                <a:latin typeface="JetBrains Mono" pitchFamily="49" charset="0"/>
                <a:ea typeface="JetBrains Mono" pitchFamily="49" charset="-122"/>
                <a:cs typeface="JetBrains Mono" pitchFamily="49" charset="-120"/>
              </a:rPr>
              <a:t>def</a:t>
            </a:r>
            <a:r>
              <a:rPr lang="en-US" sz="1200" dirty="0">
                <a:solidFill>
                  <a:srgbClr val="E6EAF2"/>
                </a:solidFill>
                <a:latin typeface="JetBrains Mono" pitchFamily="49" charset="0"/>
                <a:ea typeface="JetBrains Mono" pitchFamily="49" charset="-122"/>
                <a:cs typeface="JetBrains Mono" pitchFamily="49" charset="-120"/>
              </a:rPr>
              <a:t> __reduce__(self): </a:t>
            </a:r>
            <a:r>
              <a:rPr lang="en-US" sz="1200" dirty="0">
                <a:solidFill>
                  <a:srgbClr val="8A93A6"/>
                </a:solidFill>
                <a:latin typeface="JetBrains Mono" pitchFamily="49" charset="0"/>
                <a:ea typeface="JetBrains Mono" pitchFamily="49" charset="-122"/>
                <a:cs typeface="JetBrains Mono" pitchFamily="49" charset="-120"/>
              </a:rPr>
              <a:t># ← pickle이 불러올 때 실행하는 특수 메서드</a:t>
            </a:r>
            <a:r>
              <a:rPr lang="en-US" sz="1200" dirty="0">
                <a:solidFill>
                  <a:srgbClr val="E6EAF2"/>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return</a:t>
            </a:r>
            <a:r>
              <a:rPr lang="en-US" sz="1200" dirty="0">
                <a:solidFill>
                  <a:srgbClr val="E6EAF2"/>
                </a:solidFill>
                <a:latin typeface="JetBrains Mono" pitchFamily="49" charset="0"/>
                <a:ea typeface="JetBrains Mono" pitchFamily="49" charset="-122"/>
                <a:cs typeface="JetBrains Mono" pitchFamily="49" charset="-120"/>
              </a:rPr>
              <a:t> (os.system, (</a:t>
            </a:r>
            <a:r>
              <a:rPr lang="en-US" sz="1200" b="1" dirty="0">
                <a:solidFill>
                  <a:srgbClr val="FF6B6B"/>
                </a:solidFill>
                <a:latin typeface="JetBrains Mono" pitchFamily="49" charset="0"/>
                <a:ea typeface="JetBrains Mono" pitchFamily="49" charset="-122"/>
                <a:cs typeface="JetBrains Mono" pitchFamily="49" charset="-120"/>
              </a:rPr>
              <a:t>"‹악성 명령›"</a:t>
            </a:r>
            <a:r>
              <a:rPr lang="en-US" sz="1200" dirty="0">
                <a:solidFill>
                  <a:srgbClr val="E6EAF2"/>
                </a:solidFill>
                <a:latin typeface="JetBrains Mono" pitchFamily="49" charset="0"/>
                <a:ea typeface="JetBrains Mono" pitchFamily="49" charset="-122"/>
                <a:cs typeface="JetBrains Mono" pitchFamily="49" charset="-120"/>
              </a:rPr>
              <a:t>,)) </a:t>
            </a:r>
            <a:r>
              <a:rPr lang="en-US" sz="1200" dirty="0">
                <a:solidFill>
                  <a:srgbClr val="8A93A6"/>
                </a:solidFill>
                <a:latin typeface="JetBrains Mono" pitchFamily="49" charset="0"/>
                <a:ea typeface="JetBrains Mono" pitchFamily="49" charset="-122"/>
                <a:cs typeface="JetBrains Mono" pitchFamily="49" charset="-120"/>
              </a:rPr>
              <a:t># 정상 모델 데이터처럼 보이지만</a:t>
            </a:r>
            <a:r>
              <a:rPr lang="en-US" sz="1200" dirty="0">
                <a:solidFill>
                  <a:srgbClr val="E6EAF2"/>
                </a:solidFill>
                <a:latin typeface="JetBrains Mono" pitchFamily="49" charset="0"/>
                <a:ea typeface="JetBrains Mono" pitchFamily="49" charset="-122"/>
                <a:cs typeface="JetBrains Mono" pitchFamily="49" charset="-120"/>
              </a:rPr>
              <a:t> </a:t>
            </a:r>
            <a:r>
              <a:rPr lang="en-US" sz="1200" dirty="0">
                <a:solidFill>
                  <a:srgbClr val="8A93A6"/>
                </a:solidFill>
                <a:latin typeface="JetBrains Mono" pitchFamily="49" charset="0"/>
                <a:ea typeface="JetBrains Mono" pitchFamily="49" charset="-122"/>
                <a:cs typeface="JetBrains Mono" pitchFamily="49" charset="-120"/>
              </a:rPr>
              <a:t># 이 한 줄이 로드 시 자동 실행됨</a:t>
            </a:r>
            <a:endParaRPr lang="en-US" sz="1200" dirty="0"/>
          </a:p>
        </p:txBody>
      </p:sp>
      <p:sp>
        <p:nvSpPr>
          <p:cNvPr id="5" name="Text 3"/>
          <p:cNvSpPr/>
          <p:nvPr/>
        </p:nvSpPr>
        <p:spPr>
          <a:xfrm>
            <a:off x="819150" y="3759101"/>
            <a:ext cx="5702300" cy="2203549"/>
          </a:xfrm>
          <a:prstGeom prst="roundRect">
            <a:avLst>
              <a:gd name="adj" fmla="val 3746"/>
            </a:avLst>
          </a:prstGeom>
          <a:solidFill>
            <a:srgbClr val="0E1320"/>
          </a:solidFill>
          <a:ln w="12700">
            <a:solidFill>
              <a:srgbClr val="9AA6BD"/>
            </a:solidFill>
            <a:prstDash val="solid"/>
          </a:ln>
        </p:spPr>
        <p:txBody>
          <a:bodyPr wrap="square" lIns="121872" tIns="83772" rIns="0" bIns="83772" rtlCol="0" anchor="t">
            <a:normAutofit/>
          </a:bodyPr>
          <a:lstStyle/>
          <a:p>
            <a:pPr algn="l" indent="0" marL="0">
              <a:lnSpc>
                <a:spcPts val="1800"/>
              </a:lnSpc>
              <a:buNone/>
            </a:pPr>
            <a:r>
              <a:rPr lang="en-US" sz="1200" dirty="0">
                <a:solidFill>
                  <a:srgbClr val="C792EA"/>
                </a:solidFill>
                <a:latin typeface="JetBrains Mono" pitchFamily="49" charset="0"/>
                <a:ea typeface="JetBrains Mono" pitchFamily="49" charset="-122"/>
                <a:cs typeface="JetBrains Mono" pitchFamily="49" charset="-120"/>
              </a:rPr>
              <a:t>import</a:t>
            </a:r>
            <a:r>
              <a:rPr lang="en-US" sz="1200" dirty="0">
                <a:solidFill>
                  <a:srgbClr val="E6EAF2"/>
                </a:solidFill>
                <a:latin typeface="JetBrains Mono" pitchFamily="49" charset="0"/>
                <a:ea typeface="JetBrains Mono" pitchFamily="49" charset="-122"/>
                <a:cs typeface="JetBrains Mono" pitchFamily="49" charset="-120"/>
              </a:rPr>
              <a:t> torch model = torch.load(</a:t>
            </a:r>
            <a:r>
              <a:rPr lang="en-US" sz="1200" dirty="0">
                <a:solidFill>
                  <a:srgbClr val="C3E88D"/>
                </a:solidFill>
                <a:latin typeface="JetBrains Mono" pitchFamily="49" charset="0"/>
                <a:ea typeface="JetBrains Mono" pitchFamily="49" charset="-122"/>
                <a:cs typeface="JetBrains Mono" pitchFamily="49" charset="-120"/>
              </a:rPr>
              <a:t>"model.pkl"</a:t>
            </a:r>
            <a:r>
              <a:rPr lang="en-US" sz="1200" dirty="0">
                <a:solidFill>
                  <a:srgbClr val="E6EAF2"/>
                </a:solidFill>
                <a:latin typeface="JetBrains Mono" pitchFamily="49" charset="0"/>
                <a:ea typeface="JetBrains Mono" pitchFamily="49" charset="-122"/>
                <a:cs typeface="JetBrains Mono" pitchFamily="49" charset="-120"/>
              </a:rPr>
              <a:t>) </a:t>
            </a:r>
            <a:r>
              <a:rPr lang="en-US" sz="1200" dirty="0">
                <a:solidFill>
                  <a:srgbClr val="8A93A6"/>
                </a:solidFill>
                <a:latin typeface="JetBrains Mono" pitchFamily="49" charset="0"/>
                <a:ea typeface="JetBrains Mono" pitchFamily="49" charset="-122"/>
                <a:cs typeface="JetBrains Mono" pitchFamily="49" charset="-120"/>
              </a:rPr>
              <a:t># ← 이 순간 __reduce__ 실행</a:t>
            </a:r>
            <a:r>
              <a:rPr lang="en-US" sz="1200" dirty="0">
                <a:solidFill>
                  <a:srgbClr val="E6EAF2"/>
                </a:solidFill>
                <a:latin typeface="JetBrains Mono" pitchFamily="49" charset="0"/>
                <a:ea typeface="JetBrains Mono" pitchFamily="49" charset="-122"/>
                <a:cs typeface="JetBrains Mono" pitchFamily="49" charset="-120"/>
              </a:rPr>
              <a:t> </a:t>
            </a:r>
            <a:r>
              <a:rPr lang="en-US" sz="1200" dirty="0">
                <a:solidFill>
                  <a:srgbClr val="8A93A6"/>
                </a:solidFill>
                <a:latin typeface="JetBrains Mono" pitchFamily="49" charset="0"/>
                <a:ea typeface="JetBrains Mono" pitchFamily="49" charset="-122"/>
                <a:cs typeface="JetBrains Mono" pitchFamily="49" charset="-120"/>
              </a:rPr>
              <a:t># = 악성 코드 실행 (RCE)</a:t>
            </a:r>
            <a:endParaRPr lang="en-US" sz="1200" dirty="0"/>
          </a:p>
        </p:txBody>
      </p:sp>
      <p:sp>
        <p:nvSpPr>
          <p:cNvPr id="6" name="Shape 4"/>
          <p:cNvSpPr/>
          <p:nvPr/>
        </p:nvSpPr>
        <p:spPr>
          <a:xfrm>
            <a:off x="6734175" y="1450876"/>
            <a:ext cx="4641850" cy="2890143"/>
          </a:xfrm>
          <a:prstGeom prst="roundRect">
            <a:avLst>
              <a:gd name="adj" fmla="val 3406"/>
            </a:avLst>
          </a:prstGeom>
          <a:solidFill>
            <a:srgbClr val="FFFFFF"/>
          </a:solidFill>
          <a:ln w="6350">
            <a:solidFill>
              <a:srgbClr val="DCE1EA"/>
            </a:solidFill>
            <a:prstDash val="solid"/>
          </a:ln>
        </p:spPr>
      </p:sp>
      <p:sp>
        <p:nvSpPr>
          <p:cNvPr id="7" name="Text 5"/>
          <p:cNvSpPr/>
          <p:nvPr/>
        </p:nvSpPr>
        <p:spPr>
          <a:xfrm>
            <a:off x="6889750" y="1568351"/>
            <a:ext cx="446062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A0"/>
                </a:solidFill>
                <a:latin typeface="Noto Sans KR" pitchFamily="34" charset="0"/>
                <a:ea typeface="Noto Sans KR" pitchFamily="34" charset="-122"/>
                <a:cs typeface="Noto Sans KR" pitchFamily="34" charset="-120"/>
              </a:rPr>
              <a:t>공격 흐름</a:t>
            </a:r>
            <a:endParaRPr lang="en-US" sz="1400" dirty="0"/>
          </a:p>
        </p:txBody>
      </p:sp>
      <p:sp>
        <p:nvSpPr>
          <p:cNvPr id="8" name="Text 6"/>
          <p:cNvSpPr/>
          <p:nvPr/>
        </p:nvSpPr>
        <p:spPr>
          <a:xfrm>
            <a:off x="6889750" y="2019697"/>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1428A0"/>
          </a:solid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1</a:t>
            </a:r>
            <a:endParaRPr lang="en-US" sz="1200" dirty="0"/>
          </a:p>
        </p:txBody>
      </p:sp>
      <p:sp>
        <p:nvSpPr>
          <p:cNvPr id="9" name="Shape 7"/>
          <p:cNvSpPr/>
          <p:nvPr/>
        </p:nvSpPr>
        <p:spPr>
          <a:xfrm>
            <a:off x="7235825" y="1871166"/>
            <a:ext cx="3981450" cy="551061"/>
          </a:xfrm>
          <a:prstGeom prst="roundRect">
            <a:avLst>
              <a:gd name="adj" fmla="val 10947"/>
            </a:avLst>
          </a:prstGeom>
          <a:solidFill>
            <a:srgbClr val="FFFFFF"/>
          </a:solidFill>
          <a:ln w="6350">
            <a:solidFill>
              <a:srgbClr val="DCE1EA"/>
            </a:solidFill>
            <a:prstDash val="solid"/>
          </a:ln>
        </p:spPr>
      </p:sp>
      <p:sp>
        <p:nvSpPr>
          <p:cNvPr id="10" name="Text 8"/>
          <p:cNvSpPr/>
          <p:nvPr/>
        </p:nvSpPr>
        <p:spPr>
          <a:xfrm>
            <a:off x="7353300" y="1931491"/>
            <a:ext cx="469602" cy="256480"/>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0E1320"/>
                </a:solidFill>
                <a:latin typeface="Noto Sans KR" pitchFamily="34" charset="0"/>
                <a:ea typeface="Noto Sans KR" pitchFamily="34" charset="-122"/>
                <a:cs typeface="Noto Sans KR" pitchFamily="34" charset="-120"/>
              </a:rPr>
              <a:t>공격자</a:t>
            </a:r>
            <a:endParaRPr lang="en-US" sz="1300" dirty="0"/>
          </a:p>
        </p:txBody>
      </p:sp>
      <p:sp>
        <p:nvSpPr>
          <p:cNvPr id="11" name="Text 9"/>
          <p:cNvSpPr/>
          <p:nvPr/>
        </p:nvSpPr>
        <p:spPr>
          <a:xfrm>
            <a:off x="7848302" y="1950541"/>
            <a:ext cx="3349043"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366"/>
                </a:solidFill>
                <a:latin typeface="Noto Sans KR" pitchFamily="34" charset="0"/>
                <a:ea typeface="Noto Sans KR" pitchFamily="34" charset="-122"/>
                <a:cs typeface="Noto Sans KR" pitchFamily="34" charset="-120"/>
              </a:rPr>
              <a:t>위장한 악성 모델(.pkl / .bin)을 Hugging Face에 업로드</a:t>
            </a:r>
            <a:endParaRPr lang="en-US" sz="1200" dirty="0"/>
          </a:p>
        </p:txBody>
      </p:sp>
      <p:sp>
        <p:nvSpPr>
          <p:cNvPr id="12" name="Text 10"/>
          <p:cNvSpPr/>
          <p:nvPr/>
        </p:nvSpPr>
        <p:spPr>
          <a:xfrm>
            <a:off x="6889750" y="2476202"/>
            <a:ext cx="4460621" cy="165100"/>
          </a:xfrm>
          <a:prstGeom prst="rect">
            <a:avLst/>
          </a:prstGeom>
          <a:noFill/>
          <a:ln/>
        </p:spPr>
        <p:txBody>
          <a:bodyPr wrap="square" lIns="0" tIns="0" rIns="0" bIns="0" rtlCol="0" anchor="t">
            <a:normAutofit/>
          </a:bodyPr>
          <a:lstStyle/>
          <a:p>
            <a:pPr algn="l" indent="0" marL="0">
              <a:lnSpc>
                <a:spcPts val="1100"/>
              </a:lnSpc>
              <a:buNone/>
            </a:pPr>
            <a:r>
              <a:rPr lang="en-US" sz="1100" b="1" dirty="0">
                <a:solidFill>
                  <a:srgbClr val="1428A0"/>
                </a:solidFill>
                <a:latin typeface="Noto Sans KR" pitchFamily="34" charset="0"/>
                <a:ea typeface="Noto Sans KR" pitchFamily="34" charset="-122"/>
                <a:cs typeface="Noto Sans KR" pitchFamily="34" charset="-120"/>
              </a:rPr>
              <a:t>↓</a:t>
            </a:r>
            <a:endParaRPr lang="en-US" sz="1100" dirty="0"/>
          </a:p>
        </p:txBody>
      </p:sp>
      <p:sp>
        <p:nvSpPr>
          <p:cNvPr id="13" name="Text 11"/>
          <p:cNvSpPr/>
          <p:nvPr/>
        </p:nvSpPr>
        <p:spPr>
          <a:xfrm>
            <a:off x="6889750" y="2718693"/>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1428A0"/>
          </a:solid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2</a:t>
            </a:r>
            <a:endParaRPr lang="en-US" sz="1200" dirty="0"/>
          </a:p>
        </p:txBody>
      </p:sp>
      <p:sp>
        <p:nvSpPr>
          <p:cNvPr id="14" name="Shape 12"/>
          <p:cNvSpPr/>
          <p:nvPr/>
        </p:nvSpPr>
        <p:spPr>
          <a:xfrm>
            <a:off x="7235825" y="2669877"/>
            <a:ext cx="3981450" cy="351730"/>
          </a:xfrm>
          <a:prstGeom prst="roundRect">
            <a:avLst>
              <a:gd name="adj" fmla="val 17151"/>
            </a:avLst>
          </a:prstGeom>
          <a:solidFill>
            <a:srgbClr val="FFFFFF"/>
          </a:solidFill>
          <a:ln w="6350">
            <a:solidFill>
              <a:srgbClr val="DCE1EA"/>
            </a:solidFill>
            <a:prstDash val="solid"/>
          </a:ln>
        </p:spPr>
      </p:sp>
      <p:sp>
        <p:nvSpPr>
          <p:cNvPr id="15" name="Text 13"/>
          <p:cNvSpPr/>
          <p:nvPr/>
        </p:nvSpPr>
        <p:spPr>
          <a:xfrm>
            <a:off x="7353300" y="2730202"/>
            <a:ext cx="506512" cy="256480"/>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0E1320"/>
                </a:solidFill>
                <a:latin typeface="Noto Sans KR" pitchFamily="34" charset="0"/>
                <a:ea typeface="Noto Sans KR" pitchFamily="34" charset="-122"/>
                <a:cs typeface="Noto Sans KR" pitchFamily="34" charset="-120"/>
              </a:rPr>
              <a:t>개발자</a:t>
            </a:r>
            <a:endParaRPr lang="en-US" sz="1300" dirty="0"/>
          </a:p>
        </p:txBody>
      </p:sp>
      <p:sp>
        <p:nvSpPr>
          <p:cNvPr id="16" name="Text 14"/>
          <p:cNvSpPr/>
          <p:nvPr/>
        </p:nvSpPr>
        <p:spPr>
          <a:xfrm>
            <a:off x="7885212" y="2749252"/>
            <a:ext cx="2182892"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366"/>
                </a:solidFill>
                <a:latin typeface="Noto Sans KR" pitchFamily="34" charset="0"/>
                <a:ea typeface="Noto Sans KR" pitchFamily="34" charset="-122"/>
                <a:cs typeface="Noto Sans KR" pitchFamily="34" charset="-120"/>
              </a:rPr>
              <a:t>유명 모델인 줄 알고 다운로드</a:t>
            </a:r>
            <a:endParaRPr lang="en-US" sz="1200" dirty="0"/>
          </a:p>
        </p:txBody>
      </p:sp>
      <p:sp>
        <p:nvSpPr>
          <p:cNvPr id="17" name="Text 15"/>
          <p:cNvSpPr/>
          <p:nvPr/>
        </p:nvSpPr>
        <p:spPr>
          <a:xfrm>
            <a:off x="6889750" y="3075583"/>
            <a:ext cx="4460621" cy="165100"/>
          </a:xfrm>
          <a:prstGeom prst="rect">
            <a:avLst/>
          </a:prstGeom>
          <a:noFill/>
          <a:ln/>
        </p:spPr>
        <p:txBody>
          <a:bodyPr wrap="square" lIns="0" tIns="0" rIns="0" bIns="0" rtlCol="0" anchor="t">
            <a:normAutofit/>
          </a:bodyPr>
          <a:lstStyle/>
          <a:p>
            <a:pPr algn="l" indent="0" marL="0">
              <a:lnSpc>
                <a:spcPts val="1100"/>
              </a:lnSpc>
              <a:buNone/>
            </a:pPr>
            <a:r>
              <a:rPr lang="en-US" sz="1100" b="1" dirty="0">
                <a:solidFill>
                  <a:srgbClr val="1428A0"/>
                </a:solidFill>
                <a:latin typeface="Noto Sans KR" pitchFamily="34" charset="0"/>
                <a:ea typeface="Noto Sans KR" pitchFamily="34" charset="-122"/>
                <a:cs typeface="Noto Sans KR" pitchFamily="34" charset="-120"/>
              </a:rPr>
              <a:t>↓</a:t>
            </a:r>
            <a:endParaRPr lang="en-US" sz="1100" dirty="0"/>
          </a:p>
        </p:txBody>
      </p:sp>
      <p:sp>
        <p:nvSpPr>
          <p:cNvPr id="18" name="Text 16"/>
          <p:cNvSpPr/>
          <p:nvPr/>
        </p:nvSpPr>
        <p:spPr>
          <a:xfrm>
            <a:off x="6889750" y="3318073"/>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1428A0"/>
          </a:solid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3</a:t>
            </a:r>
            <a:endParaRPr lang="en-US" sz="1200" dirty="0"/>
          </a:p>
        </p:txBody>
      </p:sp>
      <p:sp>
        <p:nvSpPr>
          <p:cNvPr id="19" name="Shape 17"/>
          <p:cNvSpPr/>
          <p:nvPr/>
        </p:nvSpPr>
        <p:spPr>
          <a:xfrm>
            <a:off x="7235825" y="3269258"/>
            <a:ext cx="3981450" cy="351730"/>
          </a:xfrm>
          <a:prstGeom prst="roundRect">
            <a:avLst>
              <a:gd name="adj" fmla="val 17151"/>
            </a:avLst>
          </a:prstGeom>
          <a:solidFill>
            <a:srgbClr val="FFFFFF"/>
          </a:solidFill>
          <a:ln w="6350">
            <a:solidFill>
              <a:srgbClr val="DCE1EA"/>
            </a:solidFill>
            <a:prstDash val="solid"/>
          </a:ln>
        </p:spPr>
      </p:sp>
      <p:sp>
        <p:nvSpPr>
          <p:cNvPr id="20" name="Text 18"/>
          <p:cNvSpPr/>
          <p:nvPr/>
        </p:nvSpPr>
        <p:spPr>
          <a:xfrm>
            <a:off x="7353300" y="3329583"/>
            <a:ext cx="891084" cy="256480"/>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0E1320"/>
                </a:solidFill>
                <a:latin typeface="Noto Sans KR" pitchFamily="34" charset="0"/>
                <a:ea typeface="Noto Sans KR" pitchFamily="34" charset="-122"/>
                <a:cs typeface="Noto Sans KR" pitchFamily="34" charset="-120"/>
              </a:rPr>
              <a:t>torch.load</a:t>
            </a:r>
            <a:endParaRPr lang="en-US" sz="1300" dirty="0"/>
          </a:p>
        </p:txBody>
      </p:sp>
      <p:sp>
        <p:nvSpPr>
          <p:cNvPr id="21" name="Text 19"/>
          <p:cNvSpPr/>
          <p:nvPr/>
        </p:nvSpPr>
        <p:spPr>
          <a:xfrm>
            <a:off x="8269784" y="3348633"/>
            <a:ext cx="2944316"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366"/>
                </a:solidFill>
                <a:latin typeface="Noto Sans KR" pitchFamily="34" charset="0"/>
                <a:ea typeface="Noto Sans KR" pitchFamily="34" charset="-122"/>
                <a:cs typeface="Noto Sans KR" pitchFamily="34" charset="-120"/>
              </a:rPr>
              <a:t>로드하는 순간 pickle이 숨은 코드를 실행</a:t>
            </a:r>
            <a:endParaRPr lang="en-US" sz="1200" dirty="0"/>
          </a:p>
        </p:txBody>
      </p:sp>
      <p:sp>
        <p:nvSpPr>
          <p:cNvPr id="22" name="Text 20"/>
          <p:cNvSpPr/>
          <p:nvPr/>
        </p:nvSpPr>
        <p:spPr>
          <a:xfrm>
            <a:off x="6889750" y="3674963"/>
            <a:ext cx="4460621" cy="165100"/>
          </a:xfrm>
          <a:prstGeom prst="rect">
            <a:avLst/>
          </a:prstGeom>
          <a:noFill/>
          <a:ln/>
        </p:spPr>
        <p:txBody>
          <a:bodyPr wrap="square" lIns="0" tIns="0" rIns="0" bIns="0" rtlCol="0" anchor="t">
            <a:normAutofit/>
          </a:bodyPr>
          <a:lstStyle/>
          <a:p>
            <a:pPr algn="l" indent="0" marL="0">
              <a:lnSpc>
                <a:spcPts val="1100"/>
              </a:lnSpc>
              <a:buNone/>
            </a:pPr>
            <a:r>
              <a:rPr lang="en-US" sz="1100" b="1" dirty="0">
                <a:solidFill>
                  <a:srgbClr val="1428A0"/>
                </a:solidFill>
                <a:latin typeface="Noto Sans KR" pitchFamily="34" charset="0"/>
                <a:ea typeface="Noto Sans KR" pitchFamily="34" charset="-122"/>
                <a:cs typeface="Noto Sans KR" pitchFamily="34" charset="-120"/>
              </a:rPr>
              <a:t>↓</a:t>
            </a:r>
            <a:endParaRPr lang="en-US" sz="1100" dirty="0"/>
          </a:p>
        </p:txBody>
      </p:sp>
      <p:sp>
        <p:nvSpPr>
          <p:cNvPr id="23" name="Text 21"/>
          <p:cNvSpPr/>
          <p:nvPr/>
        </p:nvSpPr>
        <p:spPr>
          <a:xfrm>
            <a:off x="6889750" y="3917454"/>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1428A0"/>
          </a:solid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4</a:t>
            </a:r>
            <a:endParaRPr lang="en-US" sz="1200" dirty="0"/>
          </a:p>
        </p:txBody>
      </p:sp>
      <p:sp>
        <p:nvSpPr>
          <p:cNvPr id="24" name="Shape 22"/>
          <p:cNvSpPr/>
          <p:nvPr/>
        </p:nvSpPr>
        <p:spPr>
          <a:xfrm>
            <a:off x="7235825" y="3868638"/>
            <a:ext cx="3981450" cy="351730"/>
          </a:xfrm>
          <a:prstGeom prst="roundRect">
            <a:avLst>
              <a:gd name="adj" fmla="val 17151"/>
            </a:avLst>
          </a:prstGeom>
          <a:solidFill>
            <a:srgbClr val="FCE8EA"/>
          </a:solidFill>
          <a:ln w="6350">
            <a:solidFill>
              <a:srgbClr val="C8102E"/>
            </a:solidFill>
            <a:prstDash val="solid"/>
          </a:ln>
        </p:spPr>
      </p:sp>
      <p:sp>
        <p:nvSpPr>
          <p:cNvPr id="25" name="Text 23"/>
          <p:cNvSpPr/>
          <p:nvPr/>
        </p:nvSpPr>
        <p:spPr>
          <a:xfrm>
            <a:off x="7353300" y="3928963"/>
            <a:ext cx="695920" cy="256480"/>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C8102E"/>
                </a:solidFill>
                <a:latin typeface="Noto Sans KR" pitchFamily="34" charset="0"/>
                <a:ea typeface="Noto Sans KR" pitchFamily="34" charset="-122"/>
                <a:cs typeface="Noto Sans KR" pitchFamily="34" charset="-120"/>
              </a:rPr>
              <a:t>악성 실행</a:t>
            </a:r>
            <a:endParaRPr lang="en-US" sz="1300" dirty="0"/>
          </a:p>
        </p:txBody>
      </p:sp>
      <p:sp>
        <p:nvSpPr>
          <p:cNvPr id="26" name="Text 24"/>
          <p:cNvSpPr/>
          <p:nvPr/>
        </p:nvSpPr>
        <p:spPr>
          <a:xfrm>
            <a:off x="8074620" y="3948013"/>
            <a:ext cx="313948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366"/>
                </a:solidFill>
                <a:latin typeface="Noto Sans KR" pitchFamily="34" charset="0"/>
                <a:ea typeface="Noto Sans KR" pitchFamily="34" charset="-122"/>
                <a:cs typeface="Noto Sans KR" pitchFamily="34" charset="-120"/>
              </a:rPr>
              <a:t>리버스 셸 등으로 공격자 서버에 연결 → PC 장악</a:t>
            </a:r>
            <a:endParaRPr lang="en-US" sz="1200" dirty="0"/>
          </a:p>
        </p:txBody>
      </p:sp>
      <p:sp>
        <p:nvSpPr>
          <p:cNvPr id="27" name="Shape 25"/>
          <p:cNvSpPr/>
          <p:nvPr/>
        </p:nvSpPr>
        <p:spPr>
          <a:xfrm>
            <a:off x="6734175" y="4448969"/>
            <a:ext cx="4641850" cy="1516856"/>
          </a:xfrm>
          <a:prstGeom prst="roundRect">
            <a:avLst>
              <a:gd name="adj" fmla="val 6489"/>
            </a:avLst>
          </a:prstGeom>
          <a:solidFill>
            <a:srgbClr val="FFFFFF"/>
          </a:solidFill>
          <a:ln w="6350">
            <a:solidFill>
              <a:srgbClr val="DCE1EA"/>
            </a:solidFill>
            <a:prstDash val="solid"/>
          </a:ln>
        </p:spPr>
      </p:sp>
      <p:sp>
        <p:nvSpPr>
          <p:cNvPr id="28" name="Text 26"/>
          <p:cNvSpPr/>
          <p:nvPr/>
        </p:nvSpPr>
        <p:spPr>
          <a:xfrm>
            <a:off x="6889750" y="4566444"/>
            <a:ext cx="446062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8A0"/>
                </a:solidFill>
                <a:latin typeface="Noto Sans KR" pitchFamily="34" charset="0"/>
                <a:ea typeface="Noto Sans KR" pitchFamily="34" charset="-122"/>
                <a:cs typeface="Noto Sans KR" pitchFamily="34" charset="-120"/>
              </a:rPr>
              <a:t>방어</a:t>
            </a:r>
            <a:endParaRPr lang="en-US" sz="1400" dirty="0"/>
          </a:p>
        </p:txBody>
      </p:sp>
      <p:sp>
        <p:nvSpPr>
          <p:cNvPr id="29" name="Text 27"/>
          <p:cNvSpPr/>
          <p:nvPr/>
        </p:nvSpPr>
        <p:spPr>
          <a:xfrm>
            <a:off x="6889750" y="4878784"/>
            <a:ext cx="14108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a:t>
            </a:r>
            <a:endParaRPr lang="en-US" sz="1200" dirty="0"/>
          </a:p>
        </p:txBody>
      </p:sp>
      <p:sp>
        <p:nvSpPr>
          <p:cNvPr id="30" name="Text 28"/>
          <p:cNvSpPr/>
          <p:nvPr/>
        </p:nvSpPr>
        <p:spPr>
          <a:xfrm>
            <a:off x="7043539" y="4878784"/>
            <a:ext cx="430221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1320"/>
                </a:solidFill>
                <a:latin typeface="Noto Sans KR" pitchFamily="34" charset="0"/>
                <a:ea typeface="Noto Sans KR" pitchFamily="34" charset="-122"/>
                <a:cs typeface="Noto Sans KR" pitchFamily="34" charset="-120"/>
              </a:rPr>
              <a:t>safetensors</a:t>
            </a:r>
            <a:r>
              <a:rPr lang="en-US" sz="1200" dirty="0">
                <a:solidFill>
                  <a:srgbClr val="0E1320"/>
                </a:solidFill>
                <a:latin typeface="Noto Sans KR" pitchFamily="34" charset="0"/>
                <a:ea typeface="Noto Sans KR" pitchFamily="34" charset="-122"/>
                <a:cs typeface="Noto Sans KR" pitchFamily="34" charset="-120"/>
              </a:rPr>
              <a:t> 형식만 사용 — 코드 실행이 불가능한 저장 형식</a:t>
            </a:r>
            <a:endParaRPr lang="en-US" sz="1200" dirty="0"/>
          </a:p>
        </p:txBody>
      </p:sp>
      <p:sp>
        <p:nvSpPr>
          <p:cNvPr id="31" name="Text 29"/>
          <p:cNvSpPr/>
          <p:nvPr/>
        </p:nvSpPr>
        <p:spPr>
          <a:xfrm>
            <a:off x="6889750" y="5155605"/>
            <a:ext cx="14108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a:t>
            </a:r>
            <a:endParaRPr lang="en-US" sz="1200" dirty="0"/>
          </a:p>
        </p:txBody>
      </p:sp>
      <p:sp>
        <p:nvSpPr>
          <p:cNvPr id="32" name="Text 30"/>
          <p:cNvSpPr/>
          <p:nvPr/>
        </p:nvSpPr>
        <p:spPr>
          <a:xfrm>
            <a:off x="7043539" y="5155605"/>
            <a:ext cx="43022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320"/>
                </a:solidFill>
                <a:latin typeface="Noto Sans KR" pitchFamily="34" charset="0"/>
                <a:ea typeface="Noto Sans KR" pitchFamily="34" charset="-122"/>
                <a:cs typeface="Noto Sans KR" pitchFamily="34" charset="-120"/>
              </a:rPr>
              <a:t>검증된 모델만 반입 · 샌드박스에서 먼저 로드</a:t>
            </a:r>
            <a:endParaRPr lang="en-US" sz="1200" dirty="0"/>
          </a:p>
        </p:txBody>
      </p:sp>
      <p:sp>
        <p:nvSpPr>
          <p:cNvPr id="33" name="Text 31"/>
          <p:cNvSpPr/>
          <p:nvPr/>
        </p:nvSpPr>
        <p:spPr>
          <a:xfrm>
            <a:off x="6889750" y="5432425"/>
            <a:ext cx="14108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a:t>
            </a:r>
            <a:endParaRPr lang="en-US" sz="1200" dirty="0"/>
          </a:p>
        </p:txBody>
      </p:sp>
      <p:sp>
        <p:nvSpPr>
          <p:cNvPr id="34" name="Text 32"/>
          <p:cNvSpPr/>
          <p:nvPr/>
        </p:nvSpPr>
        <p:spPr>
          <a:xfrm>
            <a:off x="7043539" y="5432425"/>
            <a:ext cx="43022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320"/>
                </a:solidFill>
                <a:latin typeface="Noto Sans KR" pitchFamily="34" charset="0"/>
                <a:ea typeface="Noto Sans KR" pitchFamily="34" charset="-122"/>
                <a:cs typeface="Noto Sans KR" pitchFamily="34" charset="-120"/>
              </a:rPr>
              <a:t>스캐너 맹신 금지 — 압축·깨진 pickle로 우회된 사례 있음</a:t>
            </a:r>
            <a:endParaRPr lang="en-US" sz="1200" dirty="0"/>
          </a:p>
        </p:txBody>
      </p:sp>
      <p:sp>
        <p:nvSpPr>
          <p:cNvPr id="35" name="Text 33"/>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출처: JFrog(2024.2, baller423 사례 약 100건) · ReversingLabs(2025.2, nullifAI) · 점검 항목 07 도구 검수 · 09 샌드박스</a:t>
            </a:r>
            <a:endParaRPr lang="en-US" sz="1200" dirty="0"/>
          </a:p>
        </p:txBody>
      </p:sp>
      <p:sp>
        <p:nvSpPr>
          <p:cNvPr id="36" name="Text 34"/>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428A0"/>
                </a:solidFill>
                <a:latin typeface="Noto Sans KR" pitchFamily="34" charset="0"/>
                <a:ea typeface="Noto Sans KR" pitchFamily="34" charset="-122"/>
                <a:cs typeface="Noto Sans KR" pitchFamily="34" charset="-120"/>
              </a:rPr>
              <a:t>QUIZ</a:t>
            </a:r>
            <a:endParaRPr lang="en-US" sz="1200" dirty="0"/>
          </a:p>
        </p:txBody>
      </p:sp>
      <p:sp>
        <p:nvSpPr>
          <p:cNvPr id="3" name="Text 1"/>
          <p:cNvSpPr/>
          <p:nvPr>
            <p:ph type="title"/>
          </p:nvPr>
        </p:nvSpPr>
        <p:spPr>
          <a:xfrm>
            <a:off x="812800" y="886420"/>
            <a:ext cx="1088339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0E1320"/>
                </a:solidFill>
                <a:latin typeface="Noto Sans KR" pitchFamily="34" charset="0"/>
                <a:ea typeface="Noto Sans KR" pitchFamily="34" charset="-122"/>
                <a:cs typeface="Noto Sans KR" pitchFamily="34" charset="-120"/>
              </a:rPr>
              <a:t>어느 단계에서 확인할까?</a:t>
            </a:r>
            <a:endParaRPr lang="en-US" sz="2800" dirty="0"/>
          </a:p>
        </p:txBody>
      </p:sp>
      <p:sp>
        <p:nvSpPr>
          <p:cNvPr id="4" name="Text 2"/>
          <p:cNvSpPr/>
          <p:nvPr/>
        </p:nvSpPr>
        <p:spPr>
          <a:xfrm>
            <a:off x="812800" y="13588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8A0"/>
                </a:solidFill>
                <a:latin typeface="Noto Sans KR" pitchFamily="34" charset="0"/>
                <a:ea typeface="Noto Sans KR" pitchFamily="34" charset="-122"/>
                <a:cs typeface="Noto Sans KR" pitchFamily="34" charset="-120"/>
              </a:rPr>
              <a:t>각 항목이 사전검토 · 오픈전검토 · 임직원교육 중 어디에 해당하는지 분류해 보세요</a:t>
            </a:r>
            <a:endParaRPr lang="en-US" sz="1500" dirty="0"/>
          </a:p>
        </p:txBody>
      </p:sp>
      <p:sp>
        <p:nvSpPr>
          <p:cNvPr id="5" name="Shape 3"/>
          <p:cNvSpPr/>
          <p:nvPr/>
        </p:nvSpPr>
        <p:spPr>
          <a:xfrm>
            <a:off x="819150" y="1809651"/>
            <a:ext cx="3407767" cy="787301"/>
          </a:xfrm>
          <a:prstGeom prst="roundRect">
            <a:avLst>
              <a:gd name="adj" fmla="val 10485"/>
            </a:avLst>
          </a:prstGeom>
          <a:solidFill>
            <a:srgbClr val="EEF1FB"/>
          </a:solidFill>
          <a:ln w="12700">
            <a:solidFill>
              <a:srgbClr val="1428A0"/>
            </a:solidFill>
            <a:prstDash val="solid"/>
          </a:ln>
        </p:spPr>
      </p:sp>
      <p:sp>
        <p:nvSpPr>
          <p:cNvPr id="6" name="Text 4"/>
          <p:cNvSpPr/>
          <p:nvPr/>
        </p:nvSpPr>
        <p:spPr>
          <a:xfrm>
            <a:off x="977900" y="1930301"/>
            <a:ext cx="3182975"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428A0"/>
                </a:solidFill>
                <a:latin typeface="Noto Sans KR" pitchFamily="34" charset="0"/>
                <a:ea typeface="Noto Sans KR" pitchFamily="34" charset="-122"/>
                <a:cs typeface="Noto Sans KR" pitchFamily="34" charset="-120"/>
              </a:rPr>
              <a:t>사전검토</a:t>
            </a:r>
            <a:endParaRPr lang="en-US" sz="1700" dirty="0"/>
          </a:p>
        </p:txBody>
      </p:sp>
      <p:sp>
        <p:nvSpPr>
          <p:cNvPr id="7" name="Text 5"/>
          <p:cNvSpPr/>
          <p:nvPr/>
        </p:nvSpPr>
        <p:spPr>
          <a:xfrm>
            <a:off x="977900" y="2270621"/>
            <a:ext cx="3182975"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0E1320"/>
                </a:solidFill>
                <a:latin typeface="Noto Sans KR" pitchFamily="34" charset="0"/>
                <a:ea typeface="Noto Sans KR" pitchFamily="34" charset="-122"/>
                <a:cs typeface="Noto Sans KR" pitchFamily="34" charset="-120"/>
              </a:rPr>
              <a:t>AI 서비스 자체를 한 번만 검토 (전사 공통)</a:t>
            </a:r>
            <a:endParaRPr lang="en-US" sz="1200" dirty="0"/>
          </a:p>
        </p:txBody>
      </p:sp>
      <p:sp>
        <p:nvSpPr>
          <p:cNvPr id="8" name="Shape 6"/>
          <p:cNvSpPr/>
          <p:nvPr/>
        </p:nvSpPr>
        <p:spPr>
          <a:xfrm>
            <a:off x="4392017" y="1809651"/>
            <a:ext cx="3407866" cy="787301"/>
          </a:xfrm>
          <a:prstGeom prst="roundRect">
            <a:avLst>
              <a:gd name="adj" fmla="val 10485"/>
            </a:avLst>
          </a:prstGeom>
          <a:solidFill>
            <a:srgbClr val="FDEBDD"/>
          </a:solidFill>
          <a:ln w="12700">
            <a:solidFill>
              <a:srgbClr val="C2410C"/>
            </a:solidFill>
            <a:prstDash val="solid"/>
          </a:ln>
        </p:spPr>
      </p:sp>
      <p:sp>
        <p:nvSpPr>
          <p:cNvPr id="9" name="Text 7"/>
          <p:cNvSpPr/>
          <p:nvPr/>
        </p:nvSpPr>
        <p:spPr>
          <a:xfrm>
            <a:off x="4550767" y="1930301"/>
            <a:ext cx="3183077"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C2410C"/>
                </a:solidFill>
                <a:latin typeface="Noto Sans KR" pitchFamily="34" charset="0"/>
                <a:ea typeface="Noto Sans KR" pitchFamily="34" charset="-122"/>
                <a:cs typeface="Noto Sans KR" pitchFamily="34" charset="-120"/>
              </a:rPr>
              <a:t>오픈전검토</a:t>
            </a:r>
            <a:endParaRPr lang="en-US" sz="1700" dirty="0"/>
          </a:p>
        </p:txBody>
      </p:sp>
      <p:sp>
        <p:nvSpPr>
          <p:cNvPr id="10" name="Text 8"/>
          <p:cNvSpPr/>
          <p:nvPr/>
        </p:nvSpPr>
        <p:spPr>
          <a:xfrm>
            <a:off x="4550767" y="2270621"/>
            <a:ext cx="3183077"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0E1320"/>
                </a:solidFill>
                <a:latin typeface="Noto Sans KR" pitchFamily="34" charset="0"/>
                <a:ea typeface="Noto Sans KR" pitchFamily="34" charset="-122"/>
                <a:cs typeface="Noto Sans KR" pitchFamily="34" charset="-120"/>
              </a:rPr>
              <a:t>각 사 환경에 맞춰 구축·설정</a:t>
            </a:r>
            <a:endParaRPr lang="en-US" sz="1200" dirty="0"/>
          </a:p>
        </p:txBody>
      </p:sp>
      <p:sp>
        <p:nvSpPr>
          <p:cNvPr id="11" name="Shape 9"/>
          <p:cNvSpPr/>
          <p:nvPr/>
        </p:nvSpPr>
        <p:spPr>
          <a:xfrm>
            <a:off x="7964984" y="1809651"/>
            <a:ext cx="3407866" cy="787301"/>
          </a:xfrm>
          <a:prstGeom prst="roundRect">
            <a:avLst>
              <a:gd name="adj" fmla="val 10485"/>
            </a:avLst>
          </a:prstGeom>
          <a:solidFill>
            <a:srgbClr val="DDF1E3"/>
          </a:solidFill>
          <a:ln w="12700">
            <a:solidFill>
              <a:srgbClr val="2E8B57"/>
            </a:solidFill>
            <a:prstDash val="solid"/>
          </a:ln>
        </p:spPr>
      </p:sp>
      <p:sp>
        <p:nvSpPr>
          <p:cNvPr id="12" name="Text 10"/>
          <p:cNvSpPr/>
          <p:nvPr/>
        </p:nvSpPr>
        <p:spPr>
          <a:xfrm>
            <a:off x="8123734" y="1930301"/>
            <a:ext cx="3183077"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2E8B57"/>
                </a:solidFill>
                <a:latin typeface="Noto Sans KR" pitchFamily="34" charset="0"/>
                <a:ea typeface="Noto Sans KR" pitchFamily="34" charset="-122"/>
                <a:cs typeface="Noto Sans KR" pitchFamily="34" charset="-120"/>
              </a:rPr>
              <a:t>임직원교육</a:t>
            </a:r>
            <a:endParaRPr lang="en-US" sz="1700" dirty="0"/>
          </a:p>
        </p:txBody>
      </p:sp>
      <p:sp>
        <p:nvSpPr>
          <p:cNvPr id="13" name="Text 11"/>
          <p:cNvSpPr/>
          <p:nvPr/>
        </p:nvSpPr>
        <p:spPr>
          <a:xfrm>
            <a:off x="8123734" y="2270621"/>
            <a:ext cx="3183077"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0E1320"/>
                </a:solidFill>
                <a:latin typeface="Noto Sans KR" pitchFamily="34" charset="0"/>
                <a:ea typeface="Noto Sans KR" pitchFamily="34" charset="-122"/>
                <a:cs typeface="Noto Sans KR" pitchFamily="34" charset="-120"/>
              </a:rPr>
              <a:t>사용자가 지켜야 할 사항 안내</a:t>
            </a:r>
            <a:endParaRPr lang="en-US" sz="1200" dirty="0"/>
          </a:p>
        </p:txBody>
      </p:sp>
      <p:sp>
        <p:nvSpPr>
          <p:cNvPr id="14" name="Shape 12"/>
          <p:cNvSpPr/>
          <p:nvPr/>
        </p:nvSpPr>
        <p:spPr>
          <a:xfrm>
            <a:off x="815975" y="2784277"/>
            <a:ext cx="3414117" cy="3181548"/>
          </a:xfrm>
          <a:prstGeom prst="roundRect">
            <a:avLst>
              <a:gd name="adj" fmla="val 3094"/>
            </a:avLst>
          </a:prstGeom>
          <a:solidFill>
            <a:srgbClr val="FFFFFF"/>
          </a:solidFill>
          <a:ln w="6350">
            <a:solidFill>
              <a:srgbClr val="DCE1EA"/>
            </a:solidFill>
            <a:prstDash val="solid"/>
          </a:ln>
        </p:spPr>
      </p:sp>
      <p:sp>
        <p:nvSpPr>
          <p:cNvPr id="15" name="Text 13"/>
          <p:cNvSpPr/>
          <p:nvPr/>
        </p:nvSpPr>
        <p:spPr>
          <a:xfrm>
            <a:off x="1009650" y="2965252"/>
            <a:ext cx="522288" cy="353020"/>
          </a:xfrm>
          <a:prstGeom prst="roundRect">
            <a:avLst>
              <a:gd name="adj" fmla="val 17988"/>
            </a:avLst>
          </a:prstGeom>
          <a:solidFill>
            <a:srgbClr val="0E1320"/>
          </a:solidFill>
          <a:ln/>
        </p:spPr>
        <p:txBody>
          <a:bodyPr wrap="none" lIns="0" tIns="0" rIns="0" bIns="0" rtlCol="0" anchor="ctr">
            <a:normAutofit/>
          </a:bodyPr>
          <a:lstStyle/>
          <a:p>
            <a:pPr algn="ctr" indent="0" marL="0">
              <a:lnSpc>
                <a:spcPts val="2380"/>
              </a:lnSpc>
              <a:buNone/>
            </a:pPr>
            <a:r>
              <a:rPr lang="en-US" sz="1700" b="1" dirty="0">
                <a:solidFill>
                  <a:srgbClr val="FFFFFF"/>
                </a:solidFill>
                <a:latin typeface="Noto Sans KR" pitchFamily="34" charset="0"/>
                <a:ea typeface="Noto Sans KR" pitchFamily="34" charset="-122"/>
                <a:cs typeface="Noto Sans KR" pitchFamily="34" charset="-120"/>
              </a:rPr>
              <a:t>Q1</a:t>
            </a:r>
            <a:endParaRPr lang="en-US" sz="1700" dirty="0"/>
          </a:p>
        </p:txBody>
      </p:sp>
      <p:sp>
        <p:nvSpPr>
          <p:cNvPr id="16" name="Text 14"/>
          <p:cNvSpPr/>
          <p:nvPr/>
        </p:nvSpPr>
        <p:spPr>
          <a:xfrm>
            <a:off x="1009650" y="3432572"/>
            <a:ext cx="3117570" cy="1924348"/>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0E1320"/>
                </a:solidFill>
                <a:latin typeface="Noto Sans KR" pitchFamily="34" charset="0"/>
                <a:ea typeface="Noto Sans KR" pitchFamily="34" charset="-122"/>
                <a:cs typeface="Noto Sans KR" pitchFamily="34" charset="-120"/>
              </a:rPr>
              <a:t>AI 서비스를 업무 외 용도로 사용하지 않는가?</a:t>
            </a:r>
            <a:endParaRPr lang="en-US" sz="1700" dirty="0"/>
          </a:p>
        </p:txBody>
      </p:sp>
      <p:sp>
        <p:nvSpPr>
          <p:cNvPr id="17" name="Shape 15"/>
          <p:cNvSpPr/>
          <p:nvPr/>
        </p:nvSpPr>
        <p:spPr>
          <a:xfrm>
            <a:off x="1009650" y="5448995"/>
            <a:ext cx="3026767" cy="0"/>
          </a:xfrm>
          <a:prstGeom prst="line">
            <a:avLst/>
          </a:prstGeom>
          <a:noFill/>
          <a:ln w="6350">
            <a:solidFill>
              <a:srgbClr val="C9D0DC"/>
            </a:solidFill>
            <a:prstDash val="dash"/>
          </a:ln>
        </p:spPr>
      </p:sp>
      <p:sp>
        <p:nvSpPr>
          <p:cNvPr id="18" name="Text 16"/>
          <p:cNvSpPr/>
          <p:nvPr/>
        </p:nvSpPr>
        <p:spPr>
          <a:xfrm>
            <a:off x="1009650" y="5553770"/>
            <a:ext cx="36456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5B6577"/>
                </a:solidFill>
                <a:latin typeface="Noto Sans KR" pitchFamily="34" charset="0"/>
                <a:ea typeface="Noto Sans KR" pitchFamily="34" charset="-122"/>
                <a:cs typeface="Noto Sans KR" pitchFamily="34" charset="-120"/>
              </a:rPr>
              <a:t>정답</a:t>
            </a:r>
            <a:endParaRPr lang="en-US" sz="1300" dirty="0"/>
          </a:p>
        </p:txBody>
      </p:sp>
      <p:sp>
        <p:nvSpPr>
          <p:cNvPr id="19" name="Shape 17"/>
          <p:cNvSpPr/>
          <p:nvPr/>
        </p:nvSpPr>
        <p:spPr>
          <a:xfrm>
            <a:off x="1415058" y="5669260"/>
            <a:ext cx="814487" cy="0"/>
          </a:xfrm>
          <a:prstGeom prst="line">
            <a:avLst/>
          </a:prstGeom>
          <a:noFill/>
          <a:ln w="19050">
            <a:solidFill>
              <a:srgbClr val="9AA6BD"/>
            </a:solidFill>
            <a:prstDash val="solid"/>
          </a:ln>
        </p:spPr>
      </p:sp>
      <p:sp>
        <p:nvSpPr>
          <p:cNvPr id="20" name="Shape 18"/>
          <p:cNvSpPr/>
          <p:nvPr/>
        </p:nvSpPr>
        <p:spPr>
          <a:xfrm>
            <a:off x="2318445" y="5669260"/>
            <a:ext cx="814586" cy="0"/>
          </a:xfrm>
          <a:prstGeom prst="line">
            <a:avLst/>
          </a:prstGeom>
          <a:noFill/>
          <a:ln w="19050">
            <a:solidFill>
              <a:srgbClr val="9AA6BD"/>
            </a:solidFill>
            <a:prstDash val="solid"/>
          </a:ln>
        </p:spPr>
      </p:sp>
      <p:sp>
        <p:nvSpPr>
          <p:cNvPr id="21" name="Shape 19"/>
          <p:cNvSpPr/>
          <p:nvPr/>
        </p:nvSpPr>
        <p:spPr>
          <a:xfrm>
            <a:off x="3221930" y="5669260"/>
            <a:ext cx="814487" cy="0"/>
          </a:xfrm>
          <a:prstGeom prst="line">
            <a:avLst/>
          </a:prstGeom>
          <a:noFill/>
          <a:ln w="19050">
            <a:solidFill>
              <a:srgbClr val="9AA6BD"/>
            </a:solidFill>
            <a:prstDash val="solid"/>
          </a:ln>
        </p:spPr>
      </p:sp>
      <p:sp>
        <p:nvSpPr>
          <p:cNvPr id="22" name="Shape 20"/>
          <p:cNvSpPr/>
          <p:nvPr/>
        </p:nvSpPr>
        <p:spPr>
          <a:xfrm>
            <a:off x="4388842" y="2784277"/>
            <a:ext cx="3414216" cy="3181548"/>
          </a:xfrm>
          <a:prstGeom prst="roundRect">
            <a:avLst>
              <a:gd name="adj" fmla="val 3094"/>
            </a:avLst>
          </a:prstGeom>
          <a:solidFill>
            <a:srgbClr val="FFFFFF"/>
          </a:solidFill>
          <a:ln w="6350">
            <a:solidFill>
              <a:srgbClr val="DCE1EA"/>
            </a:solidFill>
            <a:prstDash val="solid"/>
          </a:ln>
        </p:spPr>
      </p:sp>
      <p:sp>
        <p:nvSpPr>
          <p:cNvPr id="23" name="Text 21"/>
          <p:cNvSpPr/>
          <p:nvPr/>
        </p:nvSpPr>
        <p:spPr>
          <a:xfrm>
            <a:off x="4582517" y="2965252"/>
            <a:ext cx="522288" cy="353020"/>
          </a:xfrm>
          <a:prstGeom prst="roundRect">
            <a:avLst>
              <a:gd name="adj" fmla="val 17988"/>
            </a:avLst>
          </a:prstGeom>
          <a:solidFill>
            <a:srgbClr val="0E1320"/>
          </a:solidFill>
          <a:ln/>
        </p:spPr>
        <p:txBody>
          <a:bodyPr wrap="none" lIns="0" tIns="0" rIns="0" bIns="0" rtlCol="0" anchor="ctr">
            <a:normAutofit/>
          </a:bodyPr>
          <a:lstStyle/>
          <a:p>
            <a:pPr algn="ctr" indent="0" marL="0">
              <a:lnSpc>
                <a:spcPts val="2380"/>
              </a:lnSpc>
              <a:buNone/>
            </a:pPr>
            <a:r>
              <a:rPr lang="en-US" sz="1700" b="1" dirty="0">
                <a:solidFill>
                  <a:srgbClr val="FFFFFF"/>
                </a:solidFill>
                <a:latin typeface="Noto Sans KR" pitchFamily="34" charset="0"/>
                <a:ea typeface="Noto Sans KR" pitchFamily="34" charset="-122"/>
                <a:cs typeface="Noto Sans KR" pitchFamily="34" charset="-120"/>
              </a:rPr>
              <a:t>Q2</a:t>
            </a:r>
            <a:endParaRPr lang="en-US" sz="1700" dirty="0"/>
          </a:p>
        </p:txBody>
      </p:sp>
      <p:sp>
        <p:nvSpPr>
          <p:cNvPr id="24" name="Text 22"/>
          <p:cNvSpPr/>
          <p:nvPr/>
        </p:nvSpPr>
        <p:spPr>
          <a:xfrm>
            <a:off x="4582517" y="3432572"/>
            <a:ext cx="3117672" cy="1924348"/>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0E1320"/>
                </a:solidFill>
                <a:latin typeface="Noto Sans KR" pitchFamily="34" charset="0"/>
                <a:ea typeface="Noto Sans KR" pitchFamily="34" charset="-122"/>
                <a:cs typeface="Noto Sans KR" pitchFamily="34" charset="-120"/>
              </a:rPr>
              <a:t>AI 서비스가 Enterprise plan을 제공하고 있는가?</a:t>
            </a:r>
            <a:endParaRPr lang="en-US" sz="1700" dirty="0"/>
          </a:p>
        </p:txBody>
      </p:sp>
      <p:sp>
        <p:nvSpPr>
          <p:cNvPr id="25" name="Shape 23"/>
          <p:cNvSpPr/>
          <p:nvPr/>
        </p:nvSpPr>
        <p:spPr>
          <a:xfrm>
            <a:off x="4582517" y="5448995"/>
            <a:ext cx="3026866" cy="0"/>
          </a:xfrm>
          <a:prstGeom prst="line">
            <a:avLst/>
          </a:prstGeom>
          <a:noFill/>
          <a:ln w="6350">
            <a:solidFill>
              <a:srgbClr val="C9D0DC"/>
            </a:solidFill>
            <a:prstDash val="dash"/>
          </a:ln>
        </p:spPr>
      </p:sp>
      <p:sp>
        <p:nvSpPr>
          <p:cNvPr id="26" name="Text 24"/>
          <p:cNvSpPr/>
          <p:nvPr/>
        </p:nvSpPr>
        <p:spPr>
          <a:xfrm>
            <a:off x="4582517" y="5553770"/>
            <a:ext cx="36456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5B6577"/>
                </a:solidFill>
                <a:latin typeface="Noto Sans KR" pitchFamily="34" charset="0"/>
                <a:ea typeface="Noto Sans KR" pitchFamily="34" charset="-122"/>
                <a:cs typeface="Noto Sans KR" pitchFamily="34" charset="-120"/>
              </a:rPr>
              <a:t>정답</a:t>
            </a:r>
            <a:endParaRPr lang="en-US" sz="1300" dirty="0"/>
          </a:p>
        </p:txBody>
      </p:sp>
      <p:sp>
        <p:nvSpPr>
          <p:cNvPr id="27" name="Shape 25"/>
          <p:cNvSpPr/>
          <p:nvPr/>
        </p:nvSpPr>
        <p:spPr>
          <a:xfrm>
            <a:off x="4987925" y="5669260"/>
            <a:ext cx="814487" cy="0"/>
          </a:xfrm>
          <a:prstGeom prst="line">
            <a:avLst/>
          </a:prstGeom>
          <a:noFill/>
          <a:ln w="19050">
            <a:solidFill>
              <a:srgbClr val="9AA6BD"/>
            </a:solidFill>
            <a:prstDash val="solid"/>
          </a:ln>
        </p:spPr>
      </p:sp>
      <p:sp>
        <p:nvSpPr>
          <p:cNvPr id="28" name="Shape 26"/>
          <p:cNvSpPr/>
          <p:nvPr/>
        </p:nvSpPr>
        <p:spPr>
          <a:xfrm>
            <a:off x="5891312" y="5669260"/>
            <a:ext cx="814586" cy="0"/>
          </a:xfrm>
          <a:prstGeom prst="line">
            <a:avLst/>
          </a:prstGeom>
          <a:noFill/>
          <a:ln w="19050">
            <a:solidFill>
              <a:srgbClr val="9AA6BD"/>
            </a:solidFill>
            <a:prstDash val="solid"/>
          </a:ln>
        </p:spPr>
      </p:sp>
      <p:sp>
        <p:nvSpPr>
          <p:cNvPr id="29" name="Shape 27"/>
          <p:cNvSpPr/>
          <p:nvPr/>
        </p:nvSpPr>
        <p:spPr>
          <a:xfrm>
            <a:off x="6794798" y="5669260"/>
            <a:ext cx="814586" cy="0"/>
          </a:xfrm>
          <a:prstGeom prst="line">
            <a:avLst/>
          </a:prstGeom>
          <a:noFill/>
          <a:ln w="19050">
            <a:solidFill>
              <a:srgbClr val="9AA6BD"/>
            </a:solidFill>
            <a:prstDash val="solid"/>
          </a:ln>
        </p:spPr>
      </p:sp>
      <p:sp>
        <p:nvSpPr>
          <p:cNvPr id="30" name="Shape 28"/>
          <p:cNvSpPr/>
          <p:nvPr/>
        </p:nvSpPr>
        <p:spPr>
          <a:xfrm>
            <a:off x="7961809" y="2784277"/>
            <a:ext cx="3414216" cy="3181548"/>
          </a:xfrm>
          <a:prstGeom prst="roundRect">
            <a:avLst>
              <a:gd name="adj" fmla="val 3094"/>
            </a:avLst>
          </a:prstGeom>
          <a:solidFill>
            <a:srgbClr val="FFFFFF"/>
          </a:solidFill>
          <a:ln w="6350">
            <a:solidFill>
              <a:srgbClr val="DCE1EA"/>
            </a:solidFill>
            <a:prstDash val="solid"/>
          </a:ln>
        </p:spPr>
      </p:sp>
      <p:sp>
        <p:nvSpPr>
          <p:cNvPr id="31" name="Text 29"/>
          <p:cNvSpPr/>
          <p:nvPr/>
        </p:nvSpPr>
        <p:spPr>
          <a:xfrm>
            <a:off x="8155484" y="2965252"/>
            <a:ext cx="522288" cy="353020"/>
          </a:xfrm>
          <a:prstGeom prst="roundRect">
            <a:avLst>
              <a:gd name="adj" fmla="val 17988"/>
            </a:avLst>
          </a:prstGeom>
          <a:solidFill>
            <a:srgbClr val="0E1320"/>
          </a:solidFill>
          <a:ln/>
        </p:spPr>
        <p:txBody>
          <a:bodyPr wrap="none" lIns="0" tIns="0" rIns="0" bIns="0" rtlCol="0" anchor="ctr">
            <a:normAutofit/>
          </a:bodyPr>
          <a:lstStyle/>
          <a:p>
            <a:pPr algn="ctr" indent="0" marL="0">
              <a:lnSpc>
                <a:spcPts val="2380"/>
              </a:lnSpc>
              <a:buNone/>
            </a:pPr>
            <a:r>
              <a:rPr lang="en-US" sz="1700" b="1" dirty="0">
                <a:solidFill>
                  <a:srgbClr val="FFFFFF"/>
                </a:solidFill>
                <a:latin typeface="Noto Sans KR" pitchFamily="34" charset="0"/>
                <a:ea typeface="Noto Sans KR" pitchFamily="34" charset="-122"/>
                <a:cs typeface="Noto Sans KR" pitchFamily="34" charset="-120"/>
              </a:rPr>
              <a:t>Q3</a:t>
            </a:r>
            <a:endParaRPr lang="en-US" sz="1700" dirty="0"/>
          </a:p>
        </p:txBody>
      </p:sp>
      <p:sp>
        <p:nvSpPr>
          <p:cNvPr id="32" name="Text 30"/>
          <p:cNvSpPr/>
          <p:nvPr/>
        </p:nvSpPr>
        <p:spPr>
          <a:xfrm>
            <a:off x="8155484" y="3432572"/>
            <a:ext cx="3117672" cy="1924348"/>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0E1320"/>
                </a:solidFill>
                <a:latin typeface="Noto Sans KR" pitchFamily="34" charset="0"/>
                <a:ea typeface="Noto Sans KR" pitchFamily="34" charset="-122"/>
                <a:cs typeface="Noto Sans KR" pitchFamily="34" charset="-120"/>
              </a:rPr>
              <a:t>AI 서비스가 모니터링이 가능한가?</a:t>
            </a:r>
            <a:endParaRPr lang="en-US" sz="1700" dirty="0"/>
          </a:p>
        </p:txBody>
      </p:sp>
      <p:sp>
        <p:nvSpPr>
          <p:cNvPr id="33" name="Shape 31"/>
          <p:cNvSpPr/>
          <p:nvPr/>
        </p:nvSpPr>
        <p:spPr>
          <a:xfrm>
            <a:off x="8155484" y="5448995"/>
            <a:ext cx="3026866" cy="0"/>
          </a:xfrm>
          <a:prstGeom prst="line">
            <a:avLst/>
          </a:prstGeom>
          <a:noFill/>
          <a:ln w="6350">
            <a:solidFill>
              <a:srgbClr val="C9D0DC"/>
            </a:solidFill>
            <a:prstDash val="dash"/>
          </a:ln>
        </p:spPr>
      </p:sp>
      <p:sp>
        <p:nvSpPr>
          <p:cNvPr id="34" name="Text 32"/>
          <p:cNvSpPr/>
          <p:nvPr/>
        </p:nvSpPr>
        <p:spPr>
          <a:xfrm>
            <a:off x="8155484" y="5553770"/>
            <a:ext cx="36456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5B6577"/>
                </a:solidFill>
                <a:latin typeface="Noto Sans KR" pitchFamily="34" charset="0"/>
                <a:ea typeface="Noto Sans KR" pitchFamily="34" charset="-122"/>
                <a:cs typeface="Noto Sans KR" pitchFamily="34" charset="-120"/>
              </a:rPr>
              <a:t>정답</a:t>
            </a:r>
            <a:endParaRPr lang="en-US" sz="1300" dirty="0"/>
          </a:p>
        </p:txBody>
      </p:sp>
      <p:sp>
        <p:nvSpPr>
          <p:cNvPr id="35" name="Shape 33"/>
          <p:cNvSpPr/>
          <p:nvPr/>
        </p:nvSpPr>
        <p:spPr>
          <a:xfrm>
            <a:off x="8560891" y="5669260"/>
            <a:ext cx="814487" cy="0"/>
          </a:xfrm>
          <a:prstGeom prst="line">
            <a:avLst/>
          </a:prstGeom>
          <a:noFill/>
          <a:ln w="19050">
            <a:solidFill>
              <a:srgbClr val="9AA6BD"/>
            </a:solidFill>
            <a:prstDash val="solid"/>
          </a:ln>
        </p:spPr>
      </p:sp>
      <p:sp>
        <p:nvSpPr>
          <p:cNvPr id="36" name="Shape 34"/>
          <p:cNvSpPr/>
          <p:nvPr/>
        </p:nvSpPr>
        <p:spPr>
          <a:xfrm>
            <a:off x="9464278" y="5669260"/>
            <a:ext cx="814586" cy="0"/>
          </a:xfrm>
          <a:prstGeom prst="line">
            <a:avLst/>
          </a:prstGeom>
          <a:noFill/>
          <a:ln w="19050">
            <a:solidFill>
              <a:srgbClr val="9AA6BD"/>
            </a:solidFill>
            <a:prstDash val="solid"/>
          </a:ln>
        </p:spPr>
      </p:sp>
      <p:sp>
        <p:nvSpPr>
          <p:cNvPr id="37" name="Shape 35"/>
          <p:cNvSpPr/>
          <p:nvPr/>
        </p:nvSpPr>
        <p:spPr>
          <a:xfrm>
            <a:off x="10367764" y="5669260"/>
            <a:ext cx="814586" cy="0"/>
          </a:xfrm>
          <a:prstGeom prst="line">
            <a:avLst/>
          </a:prstGeom>
          <a:noFill/>
          <a:ln w="19050">
            <a:solidFill>
              <a:srgbClr val="9AA6BD"/>
            </a:solidFill>
            <a:prstDash val="solid"/>
          </a:ln>
        </p:spPr>
      </p:sp>
      <p:sp>
        <p:nvSpPr>
          <p:cNvPr id="38" name="Text 36"/>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812800" y="508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428A0"/>
                </a:solidFill>
                <a:latin typeface="Noto Sans KR" pitchFamily="34" charset="0"/>
                <a:ea typeface="Noto Sans KR" pitchFamily="34" charset="-122"/>
                <a:cs typeface="Noto Sans KR" pitchFamily="34" charset="-120"/>
              </a:rPr>
              <a:t>사외접속차단 · 조치 ↔ 실사</a:t>
            </a:r>
            <a:endParaRPr lang="en-US" sz="1200" dirty="0"/>
          </a:p>
        </p:txBody>
      </p:sp>
      <p:sp>
        <p:nvSpPr>
          <p:cNvPr id="3" name="Text 1"/>
          <p:cNvSpPr/>
          <p:nvPr>
            <p:ph type="title"/>
          </p:nvPr>
        </p:nvSpPr>
        <p:spPr>
          <a:xfrm>
            <a:off x="812800" y="77212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0E1320"/>
                </a:solidFill>
                <a:latin typeface="Noto Sans KR" pitchFamily="34" charset="0"/>
                <a:ea typeface="Noto Sans KR" pitchFamily="34" charset="-122"/>
                <a:cs typeface="Noto Sans KR" pitchFamily="34" charset="-120"/>
              </a:rPr>
              <a:t>테넌트 Restriction (개인계정 차단)</a:t>
            </a:r>
            <a:endParaRPr lang="en-US" sz="2600" dirty="0"/>
          </a:p>
        </p:txBody>
      </p:sp>
      <p:sp>
        <p:nvSpPr>
          <p:cNvPr id="4" name="Text 2"/>
          <p:cNvSpPr/>
          <p:nvPr/>
        </p:nvSpPr>
        <p:spPr>
          <a:xfrm>
            <a:off x="812800" y="120263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8A0"/>
                </a:solidFill>
                <a:latin typeface="Noto Sans KR" pitchFamily="34" charset="0"/>
                <a:ea typeface="Noto Sans KR" pitchFamily="34" charset="-122"/>
                <a:cs typeface="Noto Sans KR" pitchFamily="34" charset="-120"/>
              </a:rPr>
              <a:t>회사 테넌트만 허용하도록 헤더 주입</a:t>
            </a:r>
            <a:endParaRPr lang="en-US" sz="1400" dirty="0"/>
          </a:p>
        </p:txBody>
      </p:sp>
      <p:sp>
        <p:nvSpPr>
          <p:cNvPr id="5" name="Shape 3"/>
          <p:cNvSpPr/>
          <p:nvPr/>
        </p:nvSpPr>
        <p:spPr>
          <a:xfrm>
            <a:off x="815975" y="1556246"/>
            <a:ext cx="5530850" cy="1650305"/>
          </a:xfrm>
          <a:prstGeom prst="roundRect">
            <a:avLst>
              <a:gd name="adj" fmla="val 5194"/>
            </a:avLst>
          </a:prstGeom>
          <a:solidFill>
            <a:srgbClr val="FFFFFF"/>
          </a:solidFill>
          <a:ln w="6350">
            <a:solidFill>
              <a:srgbClr val="DCE1EA"/>
            </a:solidFill>
            <a:prstDash val="solid"/>
          </a:ln>
        </p:spPr>
      </p:sp>
      <p:sp>
        <p:nvSpPr>
          <p:cNvPr id="6" name="Text 4"/>
          <p:cNvSpPr/>
          <p:nvPr/>
        </p:nvSpPr>
        <p:spPr>
          <a:xfrm>
            <a:off x="971550" y="1686421"/>
            <a:ext cx="5376291"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8A0"/>
                </a:solidFill>
                <a:latin typeface="Noto Sans KR" pitchFamily="34" charset="0"/>
                <a:ea typeface="Noto Sans KR" pitchFamily="34" charset="-122"/>
                <a:cs typeface="Noto Sans KR" pitchFamily="34" charset="-120"/>
              </a:rPr>
              <a:t>조치: 프록시가 로그인 요청에 헤더 주입</a:t>
            </a:r>
            <a:endParaRPr lang="en-US" sz="1300" dirty="0"/>
          </a:p>
        </p:txBody>
      </p:sp>
      <p:sp>
        <p:nvSpPr>
          <p:cNvPr id="7" name="Text 5"/>
          <p:cNvSpPr/>
          <p:nvPr/>
        </p:nvSpPr>
        <p:spPr>
          <a:xfrm>
            <a:off x="971550" y="1993702"/>
            <a:ext cx="5219700" cy="1082675"/>
          </a:xfrm>
          <a:prstGeom prst="roundRect">
            <a:avLst>
              <a:gd name="adj" fmla="val 5865"/>
            </a:avLst>
          </a:prstGeom>
          <a:solidFill>
            <a:srgbClr val="0E1320"/>
          </a:solidFill>
          <a:ln/>
        </p:spPr>
        <p:txBody>
          <a:bodyPr wrap="square" lIns="108401" tIns="70301" rIns="0" bIns="44901" rtlCol="0" anchor="t">
            <a:normAutofit/>
          </a:bodyPr>
          <a:lstStyle/>
          <a:p>
            <a:pPr algn="l" indent="0" marL="0">
              <a:lnSpc>
                <a:spcPts val="1425"/>
              </a:lnSpc>
              <a:buNone/>
            </a:pPr>
            <a:r>
              <a:rPr lang="en-US" sz="950" dirty="0">
                <a:solidFill>
                  <a:srgbClr val="8A93A6"/>
                </a:solidFill>
                <a:latin typeface="JetBrains Mono" pitchFamily="49" charset="0"/>
                <a:ea typeface="JetBrains Mono" pitchFamily="49" charset="-122"/>
                <a:cs typeface="JetBrains Mono" pitchFamily="49" charset="-120"/>
              </a:rPr>
              <a:t># Microsoft 365 / Entra</a:t>
            </a:r>
            <a:endParaRPr lang="en-US" sz="950" dirty="0"/>
          </a:p>
          <a:p>
            <a:pPr algn="l" indent="0" marL="0">
              <a:lnSpc>
                <a:spcPts val="1425"/>
              </a:lnSpc>
              <a:buNone/>
            </a:pPr>
            <a:r>
              <a:rPr lang="en-US" sz="950" dirty="0">
                <a:solidFill>
                  <a:srgbClr val="9DB4FF"/>
                </a:solidFill>
                <a:latin typeface="JetBrains Mono" pitchFamily="49" charset="0"/>
                <a:ea typeface="JetBrains Mono" pitchFamily="49" charset="-122"/>
                <a:cs typeface="JetBrains Mono" pitchFamily="49" charset="-120"/>
              </a:rPr>
              <a:t>Restrict-Access-To-Tenants</a:t>
            </a:r>
            <a:r>
              <a:rPr lang="en-US" sz="950" dirty="0">
                <a:solidFill>
                  <a:srgbClr val="E6EAF2"/>
                </a:solidFill>
                <a:latin typeface="JetBrains Mono" pitchFamily="49" charset="0"/>
                <a:ea typeface="JetBrains Mono" pitchFamily="49" charset="-122"/>
                <a:cs typeface="JetBrains Mono" pitchFamily="49" charset="-120"/>
              </a:rPr>
              <a:t>: </a:t>
            </a:r>
            <a:r>
              <a:rPr lang="en-US" sz="950" dirty="0">
                <a:solidFill>
                  <a:srgbClr val="C3E88D"/>
                </a:solidFill>
                <a:latin typeface="JetBrains Mono" pitchFamily="49" charset="0"/>
                <a:ea typeface="JetBrains Mono" pitchFamily="49" charset="-122"/>
                <a:cs typeface="JetBrains Mono" pitchFamily="49" charset="-120"/>
              </a:rPr>
              <a:t>samsung.com</a:t>
            </a:r>
            <a:endParaRPr lang="en-US" sz="950" dirty="0"/>
          </a:p>
          <a:p>
            <a:pPr algn="l" indent="0" marL="0">
              <a:lnSpc>
                <a:spcPts val="1425"/>
              </a:lnSpc>
              <a:buNone/>
            </a:pPr>
            <a:r>
              <a:rPr lang="en-US" sz="950" dirty="0">
                <a:solidFill>
                  <a:srgbClr val="9DB4FF"/>
                </a:solidFill>
                <a:latin typeface="JetBrains Mono" pitchFamily="49" charset="0"/>
                <a:ea typeface="JetBrains Mono" pitchFamily="49" charset="-122"/>
                <a:cs typeface="JetBrains Mono" pitchFamily="49" charset="-120"/>
              </a:rPr>
              <a:t>Restrict-Access-Context</a:t>
            </a:r>
            <a:r>
              <a:rPr lang="en-US" sz="950" dirty="0">
                <a:solidFill>
                  <a:srgbClr val="E6EAF2"/>
                </a:solidFill>
                <a:latin typeface="JetBrains Mono" pitchFamily="49" charset="0"/>
                <a:ea typeface="JetBrains Mono" pitchFamily="49" charset="-122"/>
                <a:cs typeface="JetBrains Mono" pitchFamily="49" charset="-120"/>
              </a:rPr>
              <a:t>: </a:t>
            </a:r>
            <a:r>
              <a:rPr lang="en-US" sz="950" dirty="0">
                <a:solidFill>
                  <a:srgbClr val="C3E88D"/>
                </a:solidFill>
                <a:latin typeface="JetBrains Mono" pitchFamily="49" charset="0"/>
                <a:ea typeface="JetBrains Mono" pitchFamily="49" charset="-122"/>
                <a:cs typeface="JetBrains Mono" pitchFamily="49" charset="-120"/>
              </a:rPr>
              <a:t>‹회사 디렉터리 ID›</a:t>
            </a:r>
            <a:endParaRPr lang="en-US" sz="950" dirty="0"/>
          </a:p>
          <a:p>
            <a:pPr algn="l" indent="0" marL="0">
              <a:lnSpc>
                <a:spcPts val="1425"/>
              </a:lnSpc>
              <a:buNone/>
            </a:pPr>
            <a:r>
              <a:rPr lang="en-US" sz="950" dirty="0">
                <a:solidFill>
                  <a:srgbClr val="8A93A6"/>
                </a:solidFill>
                <a:latin typeface="JetBrains Mono" pitchFamily="49" charset="0"/>
                <a:ea typeface="JetBrains Mono" pitchFamily="49" charset="-122"/>
                <a:cs typeface="JetBrains Mono" pitchFamily="49" charset="-120"/>
              </a:rPr>
              <a:t># Google Workspace</a:t>
            </a:r>
            <a:endParaRPr lang="en-US" sz="950" dirty="0"/>
          </a:p>
          <a:p>
            <a:pPr algn="l" indent="0" marL="0">
              <a:lnSpc>
                <a:spcPts val="1425"/>
              </a:lnSpc>
              <a:buNone/>
            </a:pPr>
            <a:r>
              <a:rPr lang="en-US" sz="950" dirty="0">
                <a:solidFill>
                  <a:srgbClr val="9DB4FF"/>
                </a:solidFill>
                <a:latin typeface="JetBrains Mono" pitchFamily="49" charset="0"/>
                <a:ea typeface="JetBrains Mono" pitchFamily="49" charset="-122"/>
                <a:cs typeface="JetBrains Mono" pitchFamily="49" charset="-120"/>
              </a:rPr>
              <a:t>X-GoogApps-Allowed-Domains</a:t>
            </a:r>
            <a:r>
              <a:rPr lang="en-US" sz="950" dirty="0">
                <a:solidFill>
                  <a:srgbClr val="E6EAF2"/>
                </a:solidFill>
                <a:latin typeface="JetBrains Mono" pitchFamily="49" charset="0"/>
                <a:ea typeface="JetBrains Mono" pitchFamily="49" charset="-122"/>
                <a:cs typeface="JetBrains Mono" pitchFamily="49" charset="-120"/>
              </a:rPr>
              <a:t>: </a:t>
            </a:r>
            <a:r>
              <a:rPr lang="en-US" sz="950" dirty="0">
                <a:solidFill>
                  <a:srgbClr val="C3E88D"/>
                </a:solidFill>
                <a:latin typeface="JetBrains Mono" pitchFamily="49" charset="0"/>
                <a:ea typeface="JetBrains Mono" pitchFamily="49" charset="-122"/>
                <a:cs typeface="JetBrains Mono" pitchFamily="49" charset="-120"/>
              </a:rPr>
              <a:t>samsung.com</a:t>
            </a:r>
            <a:endParaRPr lang="en-US" sz="950" dirty="0"/>
          </a:p>
        </p:txBody>
      </p:sp>
      <p:sp>
        <p:nvSpPr>
          <p:cNvPr id="8" name="Text 6"/>
          <p:cNvSpPr/>
          <p:nvPr/>
        </p:nvSpPr>
        <p:spPr>
          <a:xfrm>
            <a:off x="6553200" y="1553071"/>
            <a:ext cx="497078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8102E"/>
                </a:solidFill>
                <a:latin typeface="Noto Sans KR" pitchFamily="34" charset="0"/>
                <a:ea typeface="Noto Sans KR" pitchFamily="34" charset="-122"/>
                <a:cs typeface="Noto Sans KR" pitchFamily="34" charset="-120"/>
              </a:rPr>
              <a:t>실제 차단 실사</a:t>
            </a:r>
            <a:endParaRPr lang="en-US" sz="1300" dirty="0"/>
          </a:p>
        </p:txBody>
      </p:sp>
      <p:sp>
        <p:nvSpPr>
          <p:cNvPr id="9" name="Shape 7"/>
          <p:cNvSpPr/>
          <p:nvPr/>
        </p:nvSpPr>
        <p:spPr>
          <a:xfrm>
            <a:off x="6556375" y="1863527"/>
            <a:ext cx="4819650" cy="3744317"/>
          </a:xfrm>
          <a:prstGeom prst="roundRect">
            <a:avLst>
              <a:gd name="adj" fmla="val 2289"/>
            </a:avLst>
          </a:prstGeom>
          <a:solidFill>
            <a:srgbClr val="E9EDF5"/>
          </a:solidFill>
          <a:ln w="6350">
            <a:solidFill>
              <a:srgbClr val="DCE1EA"/>
            </a:solidFill>
            <a:prstDash val="solid"/>
          </a:ln>
        </p:spPr>
      </p:sp>
      <p:pic>
        <p:nvPicPr>
          <p:cNvPr id="10" name="Image 0" descr="Claude Code 앱에서 개인 계정 전환 시도 시 인증 실패·다시 로그인 안내가 뜬 차단 화면">    </p:cNvPr>
          <p:cNvPicPr>
            <a:picLocks noChangeAspect="1"/>
          </p:cNvPicPr>
          <p:nvPr/>
        </p:nvPicPr>
        <p:blipFill>
          <a:blip r:embed="rId1"/>
          <a:srcRect l="-2" r="-2" t="0" b="0"/>
          <a:stretch/>
        </p:blipFill>
        <p:spPr>
          <a:xfrm>
            <a:off x="6559550" y="2490986"/>
            <a:ext cx="4813300" cy="2489299"/>
          </a:xfrm>
          <a:prstGeom prst="rect">
            <a:avLst/>
          </a:prstGeom>
        </p:spPr>
      </p:pic>
      <p:sp>
        <p:nvSpPr>
          <p:cNvPr id="11" name="Text 8"/>
          <p:cNvSpPr/>
          <p:nvPr/>
        </p:nvSpPr>
        <p:spPr>
          <a:xfrm>
            <a:off x="6553200" y="5687219"/>
            <a:ext cx="4970780" cy="434181"/>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0E1320"/>
                </a:solidFill>
                <a:latin typeface="Noto Sans KR" pitchFamily="34" charset="0"/>
                <a:ea typeface="Noto Sans KR" pitchFamily="34" charset="-122"/>
                <a:cs typeface="Noto Sans KR" pitchFamily="34" charset="-120"/>
              </a:rPr>
              <a:t>개인계정 전환 시도 → Anthropic 서버가 </a:t>
            </a:r>
            <a:r>
              <a:rPr lang="en-US" sz="1150" b="1" dirty="0">
                <a:solidFill>
                  <a:srgbClr val="C8102E"/>
                </a:solidFill>
                <a:latin typeface="Noto Sans KR" pitchFamily="34" charset="0"/>
                <a:ea typeface="Noto Sans KR" pitchFamily="34" charset="-122"/>
                <a:cs typeface="Noto Sans KR" pitchFamily="34" charset="-120"/>
              </a:rPr>
              <a:t>테넌트 위반 403</a:t>
            </a:r>
            <a:r>
              <a:rPr lang="en-US" sz="1150" dirty="0">
                <a:solidFill>
                  <a:srgbClr val="0E1320"/>
                </a:solidFill>
                <a:latin typeface="Noto Sans KR" pitchFamily="34" charset="0"/>
                <a:ea typeface="Noto Sans KR" pitchFamily="34" charset="-122"/>
                <a:cs typeface="Noto Sans KR" pitchFamily="34" charset="-120"/>
              </a:rPr>
              <a:t> → 앱에 "인증 실패" 표시</a:t>
            </a:r>
            <a:endParaRPr lang="en-US" sz="1150" dirty="0"/>
          </a:p>
        </p:txBody>
      </p:sp>
      <p:sp>
        <p:nvSpPr>
          <p:cNvPr id="12" name="Text 9"/>
          <p:cNvSpPr/>
          <p:nvPr/>
        </p:nvSpPr>
        <p:spPr>
          <a:xfrm>
            <a:off x="10820400" y="62382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812800" y="508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428A0"/>
                </a:solidFill>
                <a:latin typeface="Noto Sans KR" pitchFamily="34" charset="0"/>
                <a:ea typeface="Noto Sans KR" pitchFamily="34" charset="-122"/>
                <a:cs typeface="Noto Sans KR" pitchFamily="34" charset="-120"/>
              </a:rPr>
              <a:t>SSO 설정 ① · 조직 설정 → 조직 및 설정 → 도메인</a:t>
            </a:r>
            <a:endParaRPr lang="en-US" sz="1200" dirty="0"/>
          </a:p>
        </p:txBody>
      </p:sp>
      <p:sp>
        <p:nvSpPr>
          <p:cNvPr id="3" name="Text 1"/>
          <p:cNvSpPr/>
          <p:nvPr>
            <p:ph type="title"/>
          </p:nvPr>
        </p:nvSpPr>
        <p:spPr>
          <a:xfrm>
            <a:off x="812800" y="77212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0E1320"/>
                </a:solidFill>
                <a:latin typeface="Noto Sans KR" pitchFamily="34" charset="0"/>
                <a:ea typeface="Noto Sans KR" pitchFamily="34" charset="-122"/>
                <a:cs typeface="Noto Sans KR" pitchFamily="34" charset="-120"/>
              </a:rPr>
              <a:t>도메인 등록 · 검증</a:t>
            </a:r>
            <a:endParaRPr lang="en-US" sz="2600" dirty="0"/>
          </a:p>
        </p:txBody>
      </p:sp>
      <p:sp>
        <p:nvSpPr>
          <p:cNvPr id="4" name="Text 2"/>
          <p:cNvSpPr/>
          <p:nvPr/>
        </p:nvSpPr>
        <p:spPr>
          <a:xfrm>
            <a:off x="812800" y="120263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8A0"/>
                </a:solidFill>
                <a:latin typeface="Noto Sans KR" pitchFamily="34" charset="0"/>
                <a:ea typeface="Noto Sans KR" pitchFamily="34" charset="-122"/>
                <a:cs typeface="Noto Sans KR" pitchFamily="34" charset="-120"/>
              </a:rPr>
              <a:t>samsung.com DNS에 TXT 레코드 </a:t>
            </a:r>
            <a:r>
              <a:rPr lang="en-US" sz="1300" dirty="0">
                <a:solidFill>
                  <a:srgbClr val="0E1320"/>
                </a:solidFill>
                <a:latin typeface="Noto Sans KR" pitchFamily="34" charset="0"/>
                <a:ea typeface="Noto Sans KR" pitchFamily="34" charset="-122"/>
                <a:cs typeface="Noto Sans KR" pitchFamily="34" charset="-120"/>
              </a:rPr>
              <a:t>anthropic-domain-verification-</a:t>
            </a:r>
            <a:r>
              <a:rPr lang="en-US" sz="1300" dirty="0">
                <a:solidFill>
                  <a:srgbClr val="C8102E"/>
                </a:solidFill>
                <a:latin typeface="Noto Sans KR" pitchFamily="34" charset="0"/>
                <a:ea typeface="Noto Sans KR" pitchFamily="34" charset="-122"/>
                <a:cs typeface="Noto Sans KR" pitchFamily="34" charset="-120"/>
              </a:rPr>
              <a:t>xxxxxx</a:t>
            </a:r>
            <a:r>
              <a:rPr lang="en-US" sz="1300" dirty="0">
                <a:solidFill>
                  <a:srgbClr val="0E1320"/>
                </a:solidFill>
                <a:latin typeface="Noto Sans KR" pitchFamily="34" charset="0"/>
                <a:ea typeface="Noto Sans KR" pitchFamily="34" charset="-122"/>
                <a:cs typeface="Noto Sans KR" pitchFamily="34" charset="-120"/>
              </a:rPr>
              <a:t>=‹토큰›</a:t>
            </a:r>
            <a:r>
              <a:rPr lang="en-US" sz="1300" dirty="0">
                <a:solidFill>
                  <a:srgbClr val="1428A0"/>
                </a:solidFill>
                <a:latin typeface="Noto Sans KR" pitchFamily="34" charset="0"/>
                <a:ea typeface="Noto Sans KR" pitchFamily="34" charset="-122"/>
                <a:cs typeface="Noto Sans KR" pitchFamily="34" charset="-120"/>
              </a:rPr>
              <a:t> 등록 → 도메인 소유 증명</a:t>
            </a:r>
            <a:endParaRPr lang="en-US" sz="1300" dirty="0"/>
          </a:p>
        </p:txBody>
      </p:sp>
      <p:sp>
        <p:nvSpPr>
          <p:cNvPr id="5" name="Text 3"/>
          <p:cNvSpPr/>
          <p:nvPr/>
        </p:nvSpPr>
        <p:spPr>
          <a:xfrm>
            <a:off x="812800" y="1574602"/>
            <a:ext cx="228600" cy="228600"/>
          </a:xfrm>
          <a:custGeom>
            <a:avLst/>
            <a:gdLst/>
            <a:ahLst/>
            <a:cxnLst/>
            <a:rect l="l" t="t" r="r" b="b"/>
            <a:pathLst>
              <a:path w="228600" h="228600">
                <a:moveTo>
                  <a:pt x="114300" y="0"/>
                </a:moveTo>
                <a:lnTo>
                  <a:pt x="114300" y="0"/>
                </a:lnTo>
                <a:arcTo hR="114300" wR="114300" stAng="16200000" swAng="5400000"/>
                <a:lnTo>
                  <a:pt x="228600" y="114300"/>
                </a:lnTo>
                <a:arcTo hR="114300" wR="114300" stAng="0" swAng="5400000"/>
                <a:lnTo>
                  <a:pt x="114300" y="228600"/>
                </a:lnTo>
                <a:arcTo hR="114300" wR="114300" stAng="5400000" swAng="5400000"/>
                <a:lnTo>
                  <a:pt x="0" y="114300"/>
                </a:lnTo>
                <a:arcTo hR="114300" wR="114300" stAng="10800000" swAng="5400000"/>
                <a:close/>
              </a:path>
            </a:pathLst>
          </a:custGeom>
          <a:solidFill>
            <a:srgbClr val="1428A0"/>
          </a:solid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1</a:t>
            </a:r>
            <a:endParaRPr lang="en-US" sz="1200" dirty="0"/>
          </a:p>
        </p:txBody>
      </p:sp>
      <p:sp>
        <p:nvSpPr>
          <p:cNvPr id="6" name="Text 4"/>
          <p:cNvSpPr/>
          <p:nvPr/>
        </p:nvSpPr>
        <p:spPr>
          <a:xfrm>
            <a:off x="1117600" y="1573411"/>
            <a:ext cx="95642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1320"/>
                </a:solidFill>
                <a:latin typeface="Noto Sans KR" pitchFamily="34" charset="0"/>
                <a:ea typeface="Noto Sans KR" pitchFamily="34" charset="-122"/>
                <a:cs typeface="Noto Sans KR" pitchFamily="34" charset="-120"/>
              </a:rPr>
              <a:t>도메인 입력</a:t>
            </a:r>
            <a:endParaRPr lang="en-US" sz="1300" dirty="0"/>
          </a:p>
        </p:txBody>
      </p:sp>
      <p:sp>
        <p:nvSpPr>
          <p:cNvPr id="7" name="Shape 5"/>
          <p:cNvSpPr/>
          <p:nvPr/>
        </p:nvSpPr>
        <p:spPr>
          <a:xfrm>
            <a:off x="815975" y="1871166"/>
            <a:ext cx="3397250" cy="4158159"/>
          </a:xfrm>
          <a:prstGeom prst="roundRect">
            <a:avLst>
              <a:gd name="adj" fmla="val 2150"/>
            </a:avLst>
          </a:prstGeom>
          <a:solidFill>
            <a:srgbClr val="FFFFFF"/>
          </a:solidFill>
          <a:ln w="6350">
            <a:solidFill>
              <a:srgbClr val="DCE1EA"/>
            </a:solidFill>
            <a:prstDash val="solid"/>
          </a:ln>
        </p:spPr>
      </p:sp>
      <p:pic>
        <p:nvPicPr>
          <p:cNvPr id="8" name="Image 0" descr="조직 도메인 검증 화면: 도메인 입력 후 Continue">    </p:cNvPr>
          <p:cNvPicPr>
            <a:picLocks noChangeAspect="1"/>
          </p:cNvPicPr>
          <p:nvPr/>
        </p:nvPicPr>
        <p:blipFill>
          <a:blip r:embed="rId1"/>
          <a:srcRect l="-3" r="-3" t="0" b="0"/>
          <a:stretch/>
        </p:blipFill>
        <p:spPr>
          <a:xfrm>
            <a:off x="908050" y="3361531"/>
            <a:ext cx="3213100" cy="1177429"/>
          </a:xfrm>
          <a:prstGeom prst="rect">
            <a:avLst/>
          </a:prstGeom>
        </p:spPr>
      </p:pic>
      <p:sp>
        <p:nvSpPr>
          <p:cNvPr id="9" name="Text 6"/>
          <p:cNvSpPr/>
          <p:nvPr/>
        </p:nvSpPr>
        <p:spPr>
          <a:xfrm>
            <a:off x="4394200" y="1574602"/>
            <a:ext cx="228600" cy="228600"/>
          </a:xfrm>
          <a:custGeom>
            <a:avLst/>
            <a:gdLst/>
            <a:ahLst/>
            <a:cxnLst/>
            <a:rect l="l" t="t" r="r" b="b"/>
            <a:pathLst>
              <a:path w="228600" h="228600">
                <a:moveTo>
                  <a:pt x="114300" y="0"/>
                </a:moveTo>
                <a:lnTo>
                  <a:pt x="114300" y="0"/>
                </a:lnTo>
                <a:arcTo hR="114300" wR="114300" stAng="16200000" swAng="5400000"/>
                <a:lnTo>
                  <a:pt x="228600" y="114300"/>
                </a:lnTo>
                <a:arcTo hR="114300" wR="114300" stAng="0" swAng="5400000"/>
                <a:lnTo>
                  <a:pt x="114300" y="228600"/>
                </a:lnTo>
                <a:arcTo hR="114300" wR="114300" stAng="5400000" swAng="5400000"/>
                <a:lnTo>
                  <a:pt x="0" y="114300"/>
                </a:lnTo>
                <a:arcTo hR="114300" wR="114300" stAng="10800000" swAng="5400000"/>
                <a:close/>
              </a:path>
            </a:pathLst>
          </a:custGeom>
          <a:solidFill>
            <a:srgbClr val="1428A0"/>
          </a:solid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2</a:t>
            </a:r>
            <a:endParaRPr lang="en-US" sz="1200" dirty="0"/>
          </a:p>
        </p:txBody>
      </p:sp>
      <p:sp>
        <p:nvSpPr>
          <p:cNvPr id="10" name="Text 7"/>
          <p:cNvSpPr/>
          <p:nvPr/>
        </p:nvSpPr>
        <p:spPr>
          <a:xfrm>
            <a:off x="4699000" y="1573411"/>
            <a:ext cx="1758434"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1320"/>
                </a:solidFill>
                <a:latin typeface="Noto Sans KR" pitchFamily="34" charset="0"/>
                <a:ea typeface="Noto Sans KR" pitchFamily="34" charset="-122"/>
                <a:cs typeface="Noto Sans KR" pitchFamily="34" charset="-120"/>
              </a:rPr>
              <a:t>samsung.com 등록</a:t>
            </a:r>
            <a:endParaRPr lang="en-US" sz="1300" dirty="0"/>
          </a:p>
        </p:txBody>
      </p:sp>
      <p:sp>
        <p:nvSpPr>
          <p:cNvPr id="11" name="Shape 8"/>
          <p:cNvSpPr/>
          <p:nvPr/>
        </p:nvSpPr>
        <p:spPr>
          <a:xfrm>
            <a:off x="4397375" y="1871166"/>
            <a:ext cx="3397250" cy="4158159"/>
          </a:xfrm>
          <a:prstGeom prst="roundRect">
            <a:avLst>
              <a:gd name="adj" fmla="val 2150"/>
            </a:avLst>
          </a:prstGeom>
          <a:solidFill>
            <a:srgbClr val="FFFFFF"/>
          </a:solidFill>
          <a:ln w="6350">
            <a:solidFill>
              <a:srgbClr val="DCE1EA"/>
            </a:solidFill>
            <a:prstDash val="solid"/>
          </a:ln>
        </p:spPr>
      </p:sp>
      <p:pic>
        <p:nvPicPr>
          <p:cNvPr id="12" name="Image 1" descr="조직 이메일 도메인 추가 모달">    </p:cNvPr>
          <p:cNvPicPr>
            <a:picLocks noChangeAspect="1"/>
          </p:cNvPicPr>
          <p:nvPr/>
        </p:nvPicPr>
        <p:blipFill>
          <a:blip r:embed="rId2"/>
          <a:srcRect l="0" r="0" t="0" b="0"/>
          <a:stretch/>
        </p:blipFill>
        <p:spPr>
          <a:xfrm>
            <a:off x="4514850" y="2019796"/>
            <a:ext cx="3162300" cy="3860800"/>
          </a:xfrm>
          <a:prstGeom prst="rect">
            <a:avLst/>
          </a:prstGeom>
        </p:spPr>
      </p:pic>
      <p:sp>
        <p:nvSpPr>
          <p:cNvPr id="13" name="Text 9"/>
          <p:cNvSpPr/>
          <p:nvPr/>
        </p:nvSpPr>
        <p:spPr>
          <a:xfrm>
            <a:off x="7975600" y="1574602"/>
            <a:ext cx="228600" cy="228600"/>
          </a:xfrm>
          <a:custGeom>
            <a:avLst/>
            <a:gdLst/>
            <a:ahLst/>
            <a:cxnLst/>
            <a:rect l="l" t="t" r="r" b="b"/>
            <a:pathLst>
              <a:path w="228600" h="228600">
                <a:moveTo>
                  <a:pt x="114300" y="0"/>
                </a:moveTo>
                <a:lnTo>
                  <a:pt x="114300" y="0"/>
                </a:lnTo>
                <a:arcTo hR="114300" wR="114300" stAng="16200000" swAng="5400000"/>
                <a:lnTo>
                  <a:pt x="228600" y="114300"/>
                </a:lnTo>
                <a:arcTo hR="114300" wR="114300" stAng="0" swAng="5400000"/>
                <a:lnTo>
                  <a:pt x="114300" y="228600"/>
                </a:lnTo>
                <a:arcTo hR="114300" wR="114300" stAng="5400000" swAng="5400000"/>
                <a:lnTo>
                  <a:pt x="0" y="114300"/>
                </a:lnTo>
                <a:arcTo hR="114300" wR="114300" stAng="10800000" swAng="5400000"/>
                <a:close/>
              </a:path>
            </a:pathLst>
          </a:custGeom>
          <a:solidFill>
            <a:srgbClr val="1428A0"/>
          </a:solid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3</a:t>
            </a:r>
            <a:endParaRPr lang="en-US" sz="1200" dirty="0"/>
          </a:p>
        </p:txBody>
      </p:sp>
      <p:sp>
        <p:nvSpPr>
          <p:cNvPr id="14" name="Text 10"/>
          <p:cNvSpPr/>
          <p:nvPr/>
        </p:nvSpPr>
        <p:spPr>
          <a:xfrm>
            <a:off x="8280400" y="1573411"/>
            <a:ext cx="2864525"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1320"/>
                </a:solidFill>
                <a:latin typeface="Noto Sans KR" pitchFamily="34" charset="0"/>
                <a:ea typeface="Noto Sans KR" pitchFamily="34" charset="-122"/>
                <a:cs typeface="Noto Sans KR" pitchFamily="34" charset="-120"/>
              </a:rPr>
              <a:t>회사 DNS에 TXT 등록 → Verified</a:t>
            </a:r>
            <a:endParaRPr lang="en-US" sz="1300" dirty="0"/>
          </a:p>
        </p:txBody>
      </p:sp>
      <p:sp>
        <p:nvSpPr>
          <p:cNvPr id="15" name="Shape 11"/>
          <p:cNvSpPr/>
          <p:nvPr/>
        </p:nvSpPr>
        <p:spPr>
          <a:xfrm>
            <a:off x="7978775" y="1871166"/>
            <a:ext cx="3397250" cy="4158159"/>
          </a:xfrm>
          <a:prstGeom prst="roundRect">
            <a:avLst>
              <a:gd name="adj" fmla="val 2150"/>
            </a:avLst>
          </a:prstGeom>
          <a:solidFill>
            <a:srgbClr val="FFFFFF"/>
          </a:solidFill>
          <a:ln w="6350">
            <a:solidFill>
              <a:srgbClr val="DCE1EA"/>
            </a:solidFill>
            <a:prstDash val="solid"/>
          </a:ln>
        </p:spPr>
      </p:sp>
      <p:pic>
        <p:nvPicPr>
          <p:cNvPr id="16" name="Image 2" descr="도메인 표의 Verification이 Verified(녹색)로 바뀜">    </p:cNvPr>
          <p:cNvPicPr>
            <a:picLocks noChangeAspect="1"/>
          </p:cNvPicPr>
          <p:nvPr/>
        </p:nvPicPr>
        <p:blipFill>
          <a:blip r:embed="rId3"/>
          <a:srcRect l="-5" r="-5" t="0" b="0"/>
          <a:stretch/>
        </p:blipFill>
        <p:spPr>
          <a:xfrm>
            <a:off x="8070850" y="3476427"/>
            <a:ext cx="3213100" cy="947539"/>
          </a:xfrm>
          <a:prstGeom prst="rect">
            <a:avLst/>
          </a:prstGeom>
        </p:spPr>
      </p:pic>
      <p:sp>
        <p:nvSpPr>
          <p:cNvPr id="17" name="Text 12"/>
          <p:cNvSpPr/>
          <p:nvPr/>
        </p:nvSpPr>
        <p:spPr>
          <a:xfrm>
            <a:off x="812800" y="6306840"/>
            <a:ext cx="9156700"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5B6577"/>
                </a:solidFill>
                <a:latin typeface="Noto Sans KR" pitchFamily="34" charset="0"/>
                <a:ea typeface="Noto Sans KR" pitchFamily="34" charset="-122"/>
                <a:cs typeface="Noto Sans KR" pitchFamily="34" charset="-120"/>
              </a:rPr>
              <a:t>출처: Claude 고객지원 「Set up single sign-on (SSO)」</a:t>
            </a:r>
            <a:endParaRPr lang="en-US" sz="1100" dirty="0"/>
          </a:p>
        </p:txBody>
      </p:sp>
      <p:sp>
        <p:nvSpPr>
          <p:cNvPr id="18" name="Text 13"/>
          <p:cNvSpPr/>
          <p:nvPr/>
        </p:nvSpPr>
        <p:spPr>
          <a:xfrm>
            <a:off x="10820400" y="62890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812800" y="508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428A0"/>
                </a:solidFill>
                <a:latin typeface="Noto Sans KR" pitchFamily="34" charset="0"/>
                <a:ea typeface="Noto Sans KR" pitchFamily="34" charset="-122"/>
                <a:cs typeface="Noto Sans KR" pitchFamily="34" charset="-120"/>
              </a:rPr>
              <a:t>SSO 설정 ② · Authentication</a:t>
            </a:r>
            <a:endParaRPr lang="en-US" sz="1200" dirty="0"/>
          </a:p>
        </p:txBody>
      </p:sp>
      <p:sp>
        <p:nvSpPr>
          <p:cNvPr id="3" name="Text 1"/>
          <p:cNvSpPr/>
          <p:nvPr>
            <p:ph type="title"/>
          </p:nvPr>
        </p:nvSpPr>
        <p:spPr>
          <a:xfrm>
            <a:off x="812800" y="77212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0E1320"/>
                </a:solidFill>
                <a:latin typeface="Noto Sans KR" pitchFamily="34" charset="0"/>
                <a:ea typeface="Noto Sans KR" pitchFamily="34" charset="-122"/>
                <a:cs typeface="Noto Sans KR" pitchFamily="34" charset="-120"/>
              </a:rPr>
              <a:t>SSO 연동 · 강제 적용</a:t>
            </a:r>
            <a:endParaRPr lang="en-US" sz="2600" dirty="0"/>
          </a:p>
        </p:txBody>
      </p:sp>
      <p:sp>
        <p:nvSpPr>
          <p:cNvPr id="4" name="Shape 2"/>
          <p:cNvSpPr/>
          <p:nvPr/>
        </p:nvSpPr>
        <p:spPr>
          <a:xfrm>
            <a:off x="815975" y="1294705"/>
            <a:ext cx="10560050" cy="4201220"/>
          </a:xfrm>
          <a:prstGeom prst="roundRect">
            <a:avLst>
              <a:gd name="adj" fmla="val 2040"/>
            </a:avLst>
          </a:prstGeom>
          <a:solidFill>
            <a:srgbClr val="FFFFFF"/>
          </a:solidFill>
          <a:ln w="6350">
            <a:solidFill>
              <a:srgbClr val="DCE1EA"/>
            </a:solidFill>
            <a:prstDash val="solid"/>
          </a:ln>
        </p:spPr>
      </p:sp>
      <p:pic>
        <p:nvPicPr>
          <p:cNvPr id="5" name="Image 0" descr="Authentication 화면: Single sign-on Connected, Require SSO for Console/Claude 토글">    </p:cNvPr>
          <p:cNvPicPr>
            <a:picLocks noChangeAspect="1"/>
          </p:cNvPicPr>
          <p:nvPr/>
        </p:nvPicPr>
        <p:blipFill>
          <a:blip r:embed="rId1"/>
          <a:srcRect l="0" r="0" t="0" b="0"/>
          <a:stretch/>
        </p:blipFill>
        <p:spPr>
          <a:xfrm>
            <a:off x="1016000" y="2023666"/>
            <a:ext cx="10160000" cy="2743200"/>
          </a:xfrm>
          <a:prstGeom prst="rect">
            <a:avLst/>
          </a:prstGeom>
        </p:spPr>
      </p:pic>
      <p:sp>
        <p:nvSpPr>
          <p:cNvPr id="6" name="Shape 3"/>
          <p:cNvSpPr/>
          <p:nvPr/>
        </p:nvSpPr>
        <p:spPr>
          <a:xfrm>
            <a:off x="815975" y="5616575"/>
            <a:ext cx="5226050" cy="412750"/>
          </a:xfrm>
          <a:prstGeom prst="roundRect">
            <a:avLst>
              <a:gd name="adj" fmla="val 17692"/>
            </a:avLst>
          </a:prstGeom>
          <a:solidFill>
            <a:srgbClr val="FFFFFF"/>
          </a:solidFill>
          <a:ln w="6350">
            <a:solidFill>
              <a:srgbClr val="DCE1EA"/>
            </a:solidFill>
            <a:prstDash val="solid"/>
          </a:ln>
        </p:spPr>
      </p:sp>
      <p:sp>
        <p:nvSpPr>
          <p:cNvPr id="7" name="Text 4"/>
          <p:cNvSpPr/>
          <p:nvPr/>
        </p:nvSpPr>
        <p:spPr>
          <a:xfrm>
            <a:off x="946150" y="5708650"/>
            <a:ext cx="228600" cy="228600"/>
          </a:xfrm>
          <a:custGeom>
            <a:avLst/>
            <a:gdLst/>
            <a:ahLst/>
            <a:cxnLst/>
            <a:rect l="l" t="t" r="r" b="b"/>
            <a:pathLst>
              <a:path w="228600" h="228600">
                <a:moveTo>
                  <a:pt x="114300" y="0"/>
                </a:moveTo>
                <a:lnTo>
                  <a:pt x="114300" y="0"/>
                </a:lnTo>
                <a:arcTo hR="114300" wR="114300" stAng="16200000" swAng="5400000"/>
                <a:lnTo>
                  <a:pt x="228600" y="114300"/>
                </a:lnTo>
                <a:arcTo hR="114300" wR="114300" stAng="0" swAng="5400000"/>
                <a:lnTo>
                  <a:pt x="114300" y="228600"/>
                </a:lnTo>
                <a:arcTo hR="114300" wR="114300" stAng="5400000" swAng="5400000"/>
                <a:lnTo>
                  <a:pt x="0" y="114300"/>
                </a:lnTo>
                <a:arcTo hR="114300" wR="114300" stAng="10800000" swAng="5400000"/>
                <a:close/>
              </a:path>
            </a:pathLst>
          </a:custGeom>
          <a:solidFill>
            <a:srgbClr val="1428A0"/>
          </a:solid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1</a:t>
            </a:r>
            <a:endParaRPr lang="en-US" sz="1200" dirty="0"/>
          </a:p>
        </p:txBody>
      </p:sp>
      <p:sp>
        <p:nvSpPr>
          <p:cNvPr id="8" name="Text 5"/>
          <p:cNvSpPr/>
          <p:nvPr/>
        </p:nvSpPr>
        <p:spPr>
          <a:xfrm>
            <a:off x="1250950" y="5711527"/>
            <a:ext cx="4800727"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Manage SSO</a:t>
            </a:r>
            <a:r>
              <a:rPr lang="en-US" sz="1300" dirty="0">
                <a:solidFill>
                  <a:srgbClr val="0E1320"/>
                </a:solidFill>
                <a:latin typeface="Noto Sans KR" pitchFamily="34" charset="0"/>
                <a:ea typeface="Noto Sans KR" pitchFamily="34" charset="-122"/>
                <a:cs typeface="Noto Sans KR" pitchFamily="34" charset="-120"/>
              </a:rPr>
              <a:t>로 IdP(Okta·Entra·Google) 연동</a:t>
            </a:r>
            <a:endParaRPr lang="en-US" sz="1300" dirty="0"/>
          </a:p>
        </p:txBody>
      </p:sp>
      <p:sp>
        <p:nvSpPr>
          <p:cNvPr id="9" name="Shape 6"/>
          <p:cNvSpPr/>
          <p:nvPr/>
        </p:nvSpPr>
        <p:spPr>
          <a:xfrm>
            <a:off x="6149975" y="5616575"/>
            <a:ext cx="5226050" cy="412750"/>
          </a:xfrm>
          <a:prstGeom prst="roundRect">
            <a:avLst>
              <a:gd name="adj" fmla="val 17692"/>
            </a:avLst>
          </a:prstGeom>
          <a:solidFill>
            <a:srgbClr val="FFFFFF"/>
          </a:solidFill>
          <a:ln w="6350">
            <a:solidFill>
              <a:srgbClr val="DCE1EA"/>
            </a:solidFill>
            <a:prstDash val="solid"/>
          </a:ln>
        </p:spPr>
      </p:sp>
      <p:sp>
        <p:nvSpPr>
          <p:cNvPr id="10" name="Text 7"/>
          <p:cNvSpPr/>
          <p:nvPr/>
        </p:nvSpPr>
        <p:spPr>
          <a:xfrm>
            <a:off x="6280150" y="5708650"/>
            <a:ext cx="228600" cy="228600"/>
          </a:xfrm>
          <a:custGeom>
            <a:avLst/>
            <a:gdLst/>
            <a:ahLst/>
            <a:cxnLst/>
            <a:rect l="l" t="t" r="r" b="b"/>
            <a:pathLst>
              <a:path w="228600" h="228600">
                <a:moveTo>
                  <a:pt x="114300" y="0"/>
                </a:moveTo>
                <a:lnTo>
                  <a:pt x="114300" y="0"/>
                </a:lnTo>
                <a:arcTo hR="114300" wR="114300" stAng="16200000" swAng="5400000"/>
                <a:lnTo>
                  <a:pt x="228600" y="114300"/>
                </a:lnTo>
                <a:arcTo hR="114300" wR="114300" stAng="0" swAng="5400000"/>
                <a:lnTo>
                  <a:pt x="114300" y="228600"/>
                </a:lnTo>
                <a:arcTo hR="114300" wR="114300" stAng="5400000" swAng="5400000"/>
                <a:lnTo>
                  <a:pt x="0" y="114300"/>
                </a:lnTo>
                <a:arcTo hR="114300" wR="114300" stAng="10800000" swAng="5400000"/>
                <a:close/>
              </a:path>
            </a:pathLst>
          </a:custGeom>
          <a:solidFill>
            <a:srgbClr val="1428A0"/>
          </a:solidFill>
          <a:ln/>
        </p:spPr>
        <p:txBody>
          <a:bodyPr wrap="square" lIns="0" tIns="0" rIns="0" bIns="0" rtlCol="0" anchor="t">
            <a:normAutofit/>
          </a:bodyPr>
          <a:lstStyle/>
          <a:p>
            <a:pPr algn="l" indent="0" marL="0">
              <a:lnSpc>
                <a:spcPts val="1680"/>
              </a:lnSpc>
              <a:buNone/>
            </a:pPr>
            <a:r>
              <a:rPr lang="en-US" sz="1200" b="1" dirty="0">
                <a:solidFill>
                  <a:srgbClr val="FFFFFF"/>
                </a:solidFill>
                <a:latin typeface="Noto Sans KR" pitchFamily="34" charset="0"/>
                <a:ea typeface="Noto Sans KR" pitchFamily="34" charset="-122"/>
                <a:cs typeface="Noto Sans KR" pitchFamily="34" charset="-120"/>
              </a:rPr>
              <a:t>2</a:t>
            </a:r>
            <a:endParaRPr lang="en-US" sz="1200" dirty="0"/>
          </a:p>
        </p:txBody>
      </p:sp>
      <p:sp>
        <p:nvSpPr>
          <p:cNvPr id="11" name="Text 8"/>
          <p:cNvSpPr/>
          <p:nvPr/>
        </p:nvSpPr>
        <p:spPr>
          <a:xfrm>
            <a:off x="6584950" y="5711527"/>
            <a:ext cx="4800727"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320"/>
                </a:solidFill>
                <a:latin typeface="Noto Sans KR" pitchFamily="34" charset="0"/>
                <a:ea typeface="Noto Sans KR" pitchFamily="34" charset="-122"/>
                <a:cs typeface="Noto Sans KR" pitchFamily="34" charset="-120"/>
              </a:rPr>
              <a:t>Require SSO for Claude</a:t>
            </a:r>
            <a:r>
              <a:rPr lang="en-US" sz="1300" dirty="0">
                <a:solidFill>
                  <a:srgbClr val="0E1320"/>
                </a:solidFill>
                <a:latin typeface="Noto Sans KR" pitchFamily="34" charset="0"/>
                <a:ea typeface="Noto Sans KR" pitchFamily="34" charset="-122"/>
                <a:cs typeface="Noto Sans KR" pitchFamily="34" charset="-120"/>
              </a:rPr>
              <a:t> 켜기 → 전원 SSO 강제</a:t>
            </a:r>
            <a:endParaRPr lang="en-US" sz="1300" dirty="0"/>
          </a:p>
        </p:txBody>
      </p:sp>
      <p:sp>
        <p:nvSpPr>
          <p:cNvPr id="12" name="Text 9"/>
          <p:cNvSpPr/>
          <p:nvPr/>
        </p:nvSpPr>
        <p:spPr>
          <a:xfrm>
            <a:off x="812800" y="6306840"/>
            <a:ext cx="9156700" cy="2209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5B6577"/>
                </a:solidFill>
                <a:latin typeface="Noto Sans KR" pitchFamily="34" charset="0"/>
                <a:ea typeface="Noto Sans KR" pitchFamily="34" charset="-122"/>
                <a:cs typeface="Noto Sans KR" pitchFamily="34" charset="-120"/>
              </a:rPr>
              <a:t>출처: Claude 고객지원 「Set up single sign-on (SSO)」 · 점검 항목 04 계정·인증</a:t>
            </a:r>
            <a:endParaRPr lang="en-US" sz="1100" dirty="0"/>
          </a:p>
        </p:txBody>
      </p:sp>
      <p:sp>
        <p:nvSpPr>
          <p:cNvPr id="13" name="Text 10"/>
          <p:cNvSpPr/>
          <p:nvPr/>
        </p:nvSpPr>
        <p:spPr>
          <a:xfrm>
            <a:off x="10820400" y="62890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11125200" y="65049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26</a:t>
            </a:r>
            <a:endParaRPr lang="en-US" sz="1200" dirty="0"/>
          </a:p>
        </p:txBody>
      </p:sp>
      <p:sp>
        <p:nvSpPr>
          <p:cNvPr id="3" name="Text 1"/>
          <p:cNvSpPr/>
          <p:nvPr/>
        </p:nvSpPr>
        <p:spPr>
          <a:xfrm>
            <a:off x="508000" y="317500"/>
            <a:ext cx="11511280" cy="22096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1428A0"/>
                </a:solidFill>
                <a:latin typeface="Noto Sans KR" pitchFamily="34" charset="0"/>
                <a:ea typeface="Noto Sans KR" pitchFamily="34" charset="-122"/>
                <a:cs typeface="Noto Sans KR" pitchFamily="34" charset="-120"/>
              </a:rPr>
              <a:t>SSO 토큰 검증</a:t>
            </a:r>
            <a:endParaRPr lang="en-US" sz="1100" dirty="0"/>
          </a:p>
        </p:txBody>
      </p:sp>
      <p:sp>
        <p:nvSpPr>
          <p:cNvPr id="4" name="Text 2"/>
          <p:cNvSpPr/>
          <p:nvPr>
            <p:ph type="title"/>
          </p:nvPr>
        </p:nvSpPr>
        <p:spPr>
          <a:xfrm>
            <a:off x="508000" y="538460"/>
            <a:ext cx="11511280" cy="346670"/>
          </a:xfrm>
          <a:prstGeom prst="rect">
            <a:avLst/>
          </a:prstGeom>
          <a:noFill/>
          <a:ln/>
        </p:spPr>
        <p:txBody>
          <a:bodyPr wrap="square" lIns="0" tIns="0" rIns="0" bIns="0" rtlCol="0" anchor="t">
            <a:normAutofit/>
          </a:bodyPr>
          <a:lstStyle/>
          <a:p>
            <a:pPr algn="l" indent="0" marL="0">
              <a:lnSpc>
                <a:spcPts val="2530"/>
              </a:lnSpc>
              <a:buNone/>
            </a:pPr>
            <a:r>
              <a:rPr lang="en-US" sz="2300" b="1" i="0" dirty="0">
                <a:solidFill>
                  <a:srgbClr val="0E1320"/>
                </a:solidFill>
                <a:latin typeface="Noto Sans KR" pitchFamily="34" charset="0"/>
                <a:ea typeface="Noto Sans KR" pitchFamily="34" charset="-122"/>
                <a:cs typeface="Noto Sans KR" pitchFamily="34" charset="-120"/>
              </a:rPr>
              <a:t>토큰 검증</a:t>
            </a:r>
            <a:endParaRPr lang="en-US" sz="2300" dirty="0"/>
          </a:p>
        </p:txBody>
      </p:sp>
      <p:pic>
        <p:nvPicPr>
          <p:cNvPr id="5" name="Image 0" descr="preencoded.png">    </p:cNvPr>
          <p:cNvPicPr>
            <a:picLocks noChangeAspect="1"/>
          </p:cNvPicPr>
          <p:nvPr/>
        </p:nvPicPr>
        <p:blipFill>
          <a:blip r:embed="rId1"/>
          <a:srcRect l="0" r="0" t="-12" b="-12"/>
          <a:stretch/>
        </p:blipFill>
        <p:spPr>
          <a:xfrm>
            <a:off x="939701" y="863600"/>
            <a:ext cx="10298509" cy="58547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482600" y="330200"/>
            <a:ext cx="11563604" cy="22096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1428A0"/>
                </a:solidFill>
                <a:latin typeface="Noto Sans KR" pitchFamily="34" charset="0"/>
                <a:ea typeface="Noto Sans KR" pitchFamily="34" charset="-122"/>
                <a:cs typeface="Noto Sans KR" pitchFamily="34" charset="-120"/>
              </a:rPr>
              <a:t>사내 MCP 서버 연동 · FastMCP (Python)</a:t>
            </a:r>
            <a:endParaRPr lang="en-US" sz="1100" dirty="0"/>
          </a:p>
        </p:txBody>
      </p:sp>
      <p:sp>
        <p:nvSpPr>
          <p:cNvPr id="3" name="Text 1"/>
          <p:cNvSpPr/>
          <p:nvPr>
            <p:ph type="title"/>
          </p:nvPr>
        </p:nvSpPr>
        <p:spPr>
          <a:xfrm>
            <a:off x="482600" y="551160"/>
            <a:ext cx="11563604" cy="346670"/>
          </a:xfrm>
          <a:prstGeom prst="rect">
            <a:avLst/>
          </a:prstGeom>
          <a:noFill/>
          <a:ln/>
        </p:spPr>
        <p:txBody>
          <a:bodyPr wrap="square" lIns="0" tIns="0" rIns="0" bIns="0" rtlCol="0" anchor="t">
            <a:normAutofit/>
          </a:bodyPr>
          <a:lstStyle/>
          <a:p>
            <a:pPr algn="l" indent="0" marL="0">
              <a:lnSpc>
                <a:spcPts val="2530"/>
              </a:lnSpc>
              <a:buNone/>
            </a:pPr>
            <a:r>
              <a:rPr lang="en-US" sz="2300" b="1" i="0" dirty="0">
                <a:solidFill>
                  <a:srgbClr val="0E1320"/>
                </a:solidFill>
                <a:latin typeface="Noto Sans KR" pitchFamily="34" charset="0"/>
                <a:ea typeface="Noto Sans KR" pitchFamily="34" charset="-122"/>
                <a:cs typeface="Noto Sans KR" pitchFamily="34" charset="-120"/>
              </a:rPr>
              <a:t>MCP Client · Server 코드 예시</a:t>
            </a:r>
            <a:endParaRPr lang="en-US" sz="2300" dirty="0"/>
          </a:p>
        </p:txBody>
      </p:sp>
      <p:sp>
        <p:nvSpPr>
          <p:cNvPr id="4" name="Shape 2"/>
          <p:cNvSpPr/>
          <p:nvPr/>
        </p:nvSpPr>
        <p:spPr>
          <a:xfrm>
            <a:off x="485775" y="977205"/>
            <a:ext cx="4940300" cy="4969570"/>
          </a:xfrm>
          <a:prstGeom prst="roundRect">
            <a:avLst>
              <a:gd name="adj" fmla="val 1992"/>
            </a:avLst>
          </a:prstGeom>
          <a:solidFill>
            <a:srgbClr val="FFFFFF"/>
          </a:solidFill>
          <a:ln w="6350">
            <a:solidFill>
              <a:srgbClr val="DCE1EA"/>
            </a:solidFill>
            <a:prstDash val="solid"/>
          </a:ln>
        </p:spPr>
      </p:sp>
      <p:sp>
        <p:nvSpPr>
          <p:cNvPr id="5" name="Text 3"/>
          <p:cNvSpPr/>
          <p:nvPr/>
        </p:nvSpPr>
        <p:spPr>
          <a:xfrm>
            <a:off x="641350" y="1094680"/>
            <a:ext cx="129754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E1320"/>
                </a:solidFill>
                <a:latin typeface="Noto Sans KR" pitchFamily="34" charset="0"/>
                <a:ea typeface="Noto Sans KR" pitchFamily="34" charset="-122"/>
                <a:cs typeface="Noto Sans KR" pitchFamily="34" charset="-120"/>
              </a:rPr>
              <a:t>MCP Client</a:t>
            </a:r>
            <a:endParaRPr lang="en-US" sz="1600" dirty="0"/>
          </a:p>
        </p:txBody>
      </p:sp>
      <p:sp>
        <p:nvSpPr>
          <p:cNvPr id="6" name="Text 4"/>
          <p:cNvSpPr/>
          <p:nvPr/>
        </p:nvSpPr>
        <p:spPr>
          <a:xfrm>
            <a:off x="3917752" y="1129605"/>
            <a:ext cx="1352748" cy="214610"/>
          </a:xfrm>
          <a:prstGeom prst="roundRect">
            <a:avLst>
              <a:gd name="adj" fmla="val 50000"/>
            </a:avLst>
          </a:prstGeom>
          <a:solidFill>
            <a:srgbClr val="1428A0"/>
          </a:solidFill>
          <a:ln/>
        </p:spPr>
        <p:txBody>
          <a:bodyPr wrap="none" lIns="0" tIns="0" rIns="0" bIns="0" rtlCol="0" anchor="ctr">
            <a:normAutofit/>
          </a:bodyPr>
          <a:lstStyle/>
          <a:p>
            <a:pPr algn="ctr" indent="0" marL="0">
              <a:lnSpc>
                <a:spcPts val="1190"/>
              </a:lnSpc>
              <a:buNone/>
            </a:pPr>
            <a:r>
              <a:rPr lang="en-US" sz="850" b="1" dirty="0">
                <a:solidFill>
                  <a:srgbClr val="FFFFFF"/>
                </a:solidFill>
                <a:latin typeface="Noto Sans KR" pitchFamily="34" charset="0"/>
                <a:ea typeface="Noto Sans KR" pitchFamily="34" charset="-122"/>
                <a:cs typeface="Noto Sans KR" pitchFamily="34" charset="-120"/>
              </a:rPr>
              <a:t>Claude Desktop 앱 내장</a:t>
            </a:r>
            <a:endParaRPr lang="en-US" sz="850" dirty="0"/>
          </a:p>
        </p:txBody>
      </p:sp>
      <p:sp>
        <p:nvSpPr>
          <p:cNvPr id="7" name="Text 5"/>
          <p:cNvSpPr/>
          <p:nvPr/>
        </p:nvSpPr>
        <p:spPr>
          <a:xfrm>
            <a:off x="641350" y="1442641"/>
            <a:ext cx="4768025" cy="196850"/>
          </a:xfrm>
          <a:prstGeom prst="rect">
            <a:avLst/>
          </a:prstGeom>
          <a:noFill/>
          <a:ln/>
        </p:spPr>
        <p:txBody>
          <a:bodyPr wrap="square" lIns="0" tIns="0" rIns="0" bIns="0" rtlCol="0" anchor="t">
            <a:normAutofit/>
          </a:bodyPr>
          <a:lstStyle/>
          <a:p>
            <a:pPr algn="l" indent="0" marL="0">
              <a:lnSpc>
                <a:spcPts val="1350"/>
              </a:lnSpc>
              <a:buNone/>
            </a:pPr>
            <a:r>
              <a:rPr lang="en-US" sz="1000" dirty="0">
                <a:solidFill>
                  <a:srgbClr val="4A5366"/>
                </a:solidFill>
                <a:latin typeface="Noto Sans KR" pitchFamily="34" charset="0"/>
                <a:ea typeface="Noto Sans KR" pitchFamily="34" charset="-122"/>
                <a:cs typeface="Noto Sans KR" pitchFamily="34" charset="-120"/>
              </a:rPr>
              <a:t>앱 프로세스 안의 코드 · </a:t>
            </a:r>
            <a:r>
              <a:rPr lang="en-US" sz="1000" b="1" dirty="0">
                <a:solidFill>
                  <a:srgbClr val="C8102E"/>
                </a:solidFill>
                <a:latin typeface="Noto Sans KR" pitchFamily="34" charset="0"/>
                <a:ea typeface="Noto Sans KR" pitchFamily="34" charset="-122"/>
                <a:cs typeface="Noto Sans KR" pitchFamily="34" charset="-120"/>
              </a:rPr>
              <a:t>사용자에게 안 보임</a:t>
            </a:r>
            <a:endParaRPr lang="en-US" sz="1000" dirty="0"/>
          </a:p>
        </p:txBody>
      </p:sp>
      <p:sp>
        <p:nvSpPr>
          <p:cNvPr id="8" name="Text 6"/>
          <p:cNvSpPr/>
          <p:nvPr/>
        </p:nvSpPr>
        <p:spPr>
          <a:xfrm>
            <a:off x="641350" y="1677591"/>
            <a:ext cx="4629150" cy="3855839"/>
          </a:xfrm>
          <a:prstGeom prst="roundRect">
            <a:avLst>
              <a:gd name="adj" fmla="val 1976"/>
            </a:avLst>
          </a:prstGeom>
          <a:solidFill>
            <a:srgbClr val="0E1320"/>
          </a:solidFill>
          <a:ln/>
        </p:spPr>
        <p:txBody>
          <a:bodyPr wrap="square" lIns="104682" tIns="79282" rIns="0" bIns="79282" rtlCol="0" anchor="t">
            <a:normAutofit/>
          </a:bodyPr>
          <a:lstStyle/>
          <a:p>
            <a:pPr algn="l" indent="0" marL="0">
              <a:lnSpc>
                <a:spcPts val="1840"/>
              </a:lnSpc>
              <a:buNone/>
            </a:pPr>
            <a:r>
              <a:rPr lang="en-US" sz="1150" dirty="0">
                <a:solidFill>
                  <a:srgbClr val="7F8AA3"/>
                </a:solidFill>
                <a:latin typeface="JetBrains Mono" pitchFamily="49" charset="0"/>
                <a:ea typeface="JetBrains Mono" pitchFamily="49" charset="-122"/>
                <a:cs typeface="JetBrains Mono" pitchFamily="49" charset="-120"/>
              </a:rPr>
              <a:t># Claude Desktop 안에 이미 있는 역할 (개념 예시)</a:t>
            </a:r>
            <a:endParaRPr lang="en-US" sz="1150" dirty="0"/>
          </a:p>
          <a:p>
            <a:pPr algn="l" indent="0" marL="0">
              <a:lnSpc>
                <a:spcPts val="1840"/>
              </a:lnSpc>
              <a:buNone/>
            </a:pPr>
            <a:r>
              <a:rPr lang="en-US" sz="1150" dirty="0">
                <a:solidFill>
                  <a:srgbClr val="C792EA"/>
                </a:solidFill>
                <a:latin typeface="JetBrains Mono" pitchFamily="49" charset="0"/>
                <a:ea typeface="JetBrains Mono" pitchFamily="49" charset="-122"/>
                <a:cs typeface="JetBrains Mono" pitchFamily="49" charset="-120"/>
              </a:rPr>
              <a:t>from</a:t>
            </a:r>
            <a:r>
              <a:rPr lang="en-US" sz="1150" dirty="0">
                <a:solidFill>
                  <a:srgbClr val="C9D1E0"/>
                </a:solidFill>
                <a:latin typeface="JetBrains Mono" pitchFamily="49" charset="0"/>
                <a:ea typeface="JetBrains Mono" pitchFamily="49" charset="-122"/>
                <a:cs typeface="JetBrains Mono" pitchFamily="49" charset="-120"/>
              </a:rPr>
              <a:t> fastmcp </a:t>
            </a:r>
            <a:r>
              <a:rPr lang="en-US" sz="1150" dirty="0">
                <a:solidFill>
                  <a:srgbClr val="C792EA"/>
                </a:solidFill>
                <a:latin typeface="JetBrains Mono" pitchFamily="49" charset="0"/>
                <a:ea typeface="JetBrains Mono" pitchFamily="49" charset="-122"/>
                <a:cs typeface="JetBrains Mono" pitchFamily="49" charset="-120"/>
              </a:rPr>
              <a:t>import</a:t>
            </a:r>
            <a:r>
              <a:rPr lang="en-US" sz="1150" dirty="0">
                <a:solidFill>
                  <a:srgbClr val="C9D1E0"/>
                </a:solidFill>
                <a:latin typeface="JetBrains Mono" pitchFamily="49" charset="0"/>
                <a:ea typeface="JetBrains Mono" pitchFamily="49" charset="-122"/>
                <a:cs typeface="JetBrains Mono" pitchFamily="49" charset="-120"/>
              </a:rPr>
              <a:t> </a:t>
            </a:r>
            <a:r>
              <a:rPr lang="en-US" sz="1150" dirty="0">
                <a:solidFill>
                  <a:srgbClr val="82AAFF"/>
                </a:solidFill>
                <a:latin typeface="JetBrains Mono" pitchFamily="49" charset="0"/>
                <a:ea typeface="JetBrains Mono" pitchFamily="49" charset="-122"/>
                <a:cs typeface="JetBrains Mono" pitchFamily="49" charset="-120"/>
              </a:rPr>
              <a:t>Client</a:t>
            </a:r>
            <a:endParaRPr lang="en-US" sz="1150" dirty="0"/>
          </a:p>
          <a:p>
            <a:pPr algn="l" indent="0" marL="0">
              <a:lnSpc>
                <a:spcPts val="1840"/>
              </a:lnSpc>
              <a:buNone/>
            </a:pPr>
            <a:r>
              <a:rPr lang="en-US" sz="1150" dirty="0">
                <a:solidFill>
                  <a:srgbClr val="C9D1E0"/>
                </a:solidFill>
                <a:latin typeface="JetBrains Mono" pitchFamily="49" charset="0"/>
                <a:ea typeface="JetBrains Mono" pitchFamily="49" charset="-122"/>
                <a:cs typeface="JetBrains Mono" pitchFamily="49" charset="-120"/>
              </a:rPr>
              <a:t> </a:t>
            </a:r>
            <a:endParaRPr lang="en-US" sz="1150" dirty="0"/>
          </a:p>
          <a:p>
            <a:pPr algn="l" indent="0" marL="0">
              <a:lnSpc>
                <a:spcPts val="1840"/>
              </a:lnSpc>
              <a:buNone/>
            </a:pPr>
            <a:r>
              <a:rPr lang="en-US" sz="1150" dirty="0">
                <a:solidFill>
                  <a:srgbClr val="C792EA"/>
                </a:solidFill>
                <a:latin typeface="JetBrains Mono" pitchFamily="49" charset="0"/>
                <a:ea typeface="JetBrains Mono" pitchFamily="49" charset="-122"/>
                <a:cs typeface="JetBrains Mono" pitchFamily="49" charset="-120"/>
              </a:rPr>
              <a:t>async with</a:t>
            </a:r>
            <a:r>
              <a:rPr lang="en-US" sz="1150" dirty="0">
                <a:solidFill>
                  <a:srgbClr val="C9D1E0"/>
                </a:solidFill>
                <a:latin typeface="JetBrains Mono" pitchFamily="49" charset="0"/>
                <a:ea typeface="JetBrains Mono" pitchFamily="49" charset="-122"/>
                <a:cs typeface="JetBrains Mono" pitchFamily="49" charset="-120"/>
              </a:rPr>
              <a:t> </a:t>
            </a:r>
            <a:r>
              <a:rPr lang="en-US" sz="1150" dirty="0">
                <a:solidFill>
                  <a:srgbClr val="82AAFF"/>
                </a:solidFill>
                <a:latin typeface="JetBrains Mono" pitchFamily="49" charset="0"/>
                <a:ea typeface="JetBrains Mono" pitchFamily="49" charset="-122"/>
                <a:cs typeface="JetBrains Mono" pitchFamily="49" charset="-120"/>
              </a:rPr>
              <a:t>Client</a:t>
            </a:r>
            <a:r>
              <a:rPr lang="en-US" sz="1150" dirty="0">
                <a:solidFill>
                  <a:srgbClr val="C9D1E0"/>
                </a:solidFill>
                <a:latin typeface="JetBrains Mono" pitchFamily="49" charset="0"/>
                <a:ea typeface="JetBrains Mono" pitchFamily="49" charset="-122"/>
                <a:cs typeface="JetBrains Mono" pitchFamily="49" charset="-120"/>
              </a:rPr>
              <a:t>(</a:t>
            </a:r>
            <a:r>
              <a:rPr lang="en-US" sz="1150" dirty="0">
                <a:solidFill>
                  <a:srgbClr val="FFCDAA"/>
                </a:solidFill>
                <a:latin typeface="JetBrains Mono" pitchFamily="49" charset="0"/>
                <a:ea typeface="JetBrains Mono" pitchFamily="49" charset="-122"/>
                <a:cs typeface="JetBrains Mono" pitchFamily="49" charset="-120"/>
              </a:rPr>
              <a:t>"confluence_server.py"</a:t>
            </a:r>
            <a:r>
              <a:rPr lang="en-US" sz="1150" dirty="0">
                <a:solidFill>
                  <a:srgbClr val="C9D1E0"/>
                </a:solidFill>
                <a:latin typeface="JetBrains Mono" pitchFamily="49" charset="0"/>
                <a:ea typeface="JetBrains Mono" pitchFamily="49" charset="-122"/>
                <a:cs typeface="JetBrains Mono" pitchFamily="49" charset="-120"/>
              </a:rPr>
              <a:t>) \</a:t>
            </a:r>
            <a:endParaRPr lang="en-US" sz="1150" dirty="0"/>
          </a:p>
          <a:p>
            <a:pPr algn="l" indent="0" marL="0">
              <a:lnSpc>
                <a:spcPts val="1840"/>
              </a:lnSpc>
              <a:buNone/>
            </a:pPr>
            <a:r>
              <a:rPr lang="en-US" sz="1150" dirty="0">
                <a:solidFill>
                  <a:srgbClr val="C9D1E0"/>
                </a:solidFill>
                <a:latin typeface="JetBrains Mono" pitchFamily="49" charset="0"/>
                <a:ea typeface="JetBrains Mono" pitchFamily="49" charset="-122"/>
                <a:cs typeface="JetBrains Mono" pitchFamily="49" charset="-120"/>
              </a:rPr>
              <a:t>        </a:t>
            </a:r>
            <a:r>
              <a:rPr lang="en-US" sz="1150" dirty="0">
                <a:solidFill>
                  <a:srgbClr val="C792EA"/>
                </a:solidFill>
                <a:latin typeface="JetBrains Mono" pitchFamily="49" charset="0"/>
                <a:ea typeface="JetBrains Mono" pitchFamily="49" charset="-122"/>
                <a:cs typeface="JetBrains Mono" pitchFamily="49" charset="-120"/>
              </a:rPr>
              <a:t>as</a:t>
            </a:r>
            <a:r>
              <a:rPr lang="en-US" sz="1150" dirty="0">
                <a:solidFill>
                  <a:srgbClr val="C9D1E0"/>
                </a:solidFill>
                <a:latin typeface="JetBrains Mono" pitchFamily="49" charset="0"/>
                <a:ea typeface="JetBrains Mono" pitchFamily="49" charset="-122"/>
                <a:cs typeface="JetBrains Mono" pitchFamily="49" charset="-120"/>
              </a:rPr>
              <a:t> client:</a:t>
            </a:r>
            <a:endParaRPr lang="en-US" sz="1150" dirty="0"/>
          </a:p>
          <a:p>
            <a:pPr algn="l" indent="0" marL="0">
              <a:lnSpc>
                <a:spcPts val="1840"/>
              </a:lnSpc>
              <a:buNone/>
            </a:pPr>
            <a:r>
              <a:rPr lang="en-US" sz="1150" dirty="0">
                <a:solidFill>
                  <a:srgbClr val="C9D1E0"/>
                </a:solidFill>
                <a:latin typeface="JetBrains Mono" pitchFamily="49" charset="0"/>
                <a:ea typeface="JetBrains Mono" pitchFamily="49" charset="-122"/>
                <a:cs typeface="JetBrains Mono" pitchFamily="49" charset="-120"/>
              </a:rPr>
              <a:t>    </a:t>
            </a:r>
            <a:r>
              <a:rPr lang="en-US" sz="1150" dirty="0">
                <a:solidFill>
                  <a:srgbClr val="7F8AA3"/>
                </a:solidFill>
                <a:latin typeface="JetBrains Mono" pitchFamily="49" charset="0"/>
                <a:ea typeface="JetBrains Mono" pitchFamily="49" charset="-122"/>
                <a:cs typeface="JetBrains Mono" pitchFamily="49" charset="-120"/>
              </a:rPr>
              <a:t># ↑ 서버 자식 프로세스 실행 + 초기화</a:t>
            </a:r>
            <a:endParaRPr lang="en-US" sz="1150" dirty="0"/>
          </a:p>
          <a:p>
            <a:pPr algn="l" indent="0" marL="0">
              <a:lnSpc>
                <a:spcPts val="1840"/>
              </a:lnSpc>
              <a:buNone/>
            </a:pPr>
            <a:r>
              <a:rPr lang="en-US" sz="1150" dirty="0">
                <a:solidFill>
                  <a:srgbClr val="C9D1E0"/>
                </a:solidFill>
                <a:latin typeface="JetBrains Mono" pitchFamily="49" charset="0"/>
                <a:ea typeface="JetBrains Mono" pitchFamily="49" charset="-122"/>
                <a:cs typeface="JetBrains Mono" pitchFamily="49" charset="-120"/>
              </a:rPr>
              <a:t> </a:t>
            </a:r>
            <a:endParaRPr lang="en-US" sz="1150" dirty="0"/>
          </a:p>
          <a:p>
            <a:pPr algn="l" indent="0" marL="0">
              <a:lnSpc>
                <a:spcPts val="1840"/>
              </a:lnSpc>
              <a:buNone/>
            </a:pPr>
            <a:r>
              <a:rPr lang="en-US" sz="1150" dirty="0">
                <a:solidFill>
                  <a:srgbClr val="C9D1E0"/>
                </a:solidFill>
                <a:latin typeface="JetBrains Mono" pitchFamily="49" charset="0"/>
                <a:ea typeface="JetBrains Mono" pitchFamily="49" charset="-122"/>
                <a:cs typeface="JetBrains Mono" pitchFamily="49" charset="-120"/>
              </a:rPr>
              <a:t>    tools = </a:t>
            </a:r>
            <a:r>
              <a:rPr lang="en-US" sz="1150" dirty="0">
                <a:solidFill>
                  <a:srgbClr val="C792EA"/>
                </a:solidFill>
                <a:latin typeface="JetBrains Mono" pitchFamily="49" charset="0"/>
                <a:ea typeface="JetBrains Mono" pitchFamily="49" charset="-122"/>
                <a:cs typeface="JetBrains Mono" pitchFamily="49" charset="-120"/>
              </a:rPr>
              <a:t>await</a:t>
            </a:r>
            <a:r>
              <a:rPr lang="en-US" sz="1150" dirty="0">
                <a:solidFill>
                  <a:srgbClr val="C9D1E0"/>
                </a:solidFill>
                <a:latin typeface="JetBrains Mono" pitchFamily="49" charset="0"/>
                <a:ea typeface="JetBrains Mono" pitchFamily="49" charset="-122"/>
                <a:cs typeface="JetBrains Mono" pitchFamily="49" charset="-120"/>
              </a:rPr>
              <a:t> client.</a:t>
            </a:r>
            <a:r>
              <a:rPr lang="en-US" sz="1150" dirty="0">
                <a:solidFill>
                  <a:srgbClr val="82AAFF"/>
                </a:solidFill>
                <a:latin typeface="JetBrains Mono" pitchFamily="49" charset="0"/>
                <a:ea typeface="JetBrains Mono" pitchFamily="49" charset="-122"/>
                <a:cs typeface="JetBrains Mono" pitchFamily="49" charset="-120"/>
              </a:rPr>
              <a:t>list_tools</a:t>
            </a:r>
            <a:r>
              <a:rPr lang="en-US" sz="1150" dirty="0">
                <a:solidFill>
                  <a:srgbClr val="C9D1E0"/>
                </a:solidFill>
                <a:latin typeface="JetBrains Mono" pitchFamily="49" charset="0"/>
                <a:ea typeface="JetBrains Mono" pitchFamily="49" charset="-122"/>
                <a:cs typeface="JetBrains Mono" pitchFamily="49" charset="-120"/>
              </a:rPr>
              <a:t>()</a:t>
            </a:r>
            <a:endParaRPr lang="en-US" sz="1150" dirty="0"/>
          </a:p>
          <a:p>
            <a:pPr algn="l" indent="0" marL="0">
              <a:lnSpc>
                <a:spcPts val="1840"/>
              </a:lnSpc>
              <a:buNone/>
            </a:pPr>
            <a:r>
              <a:rPr lang="en-US" sz="1150" dirty="0">
                <a:solidFill>
                  <a:srgbClr val="C9D1E0"/>
                </a:solidFill>
                <a:latin typeface="JetBrains Mono" pitchFamily="49" charset="0"/>
                <a:ea typeface="JetBrains Mono" pitchFamily="49" charset="-122"/>
                <a:cs typeface="JetBrains Mono" pitchFamily="49" charset="-120"/>
              </a:rPr>
              <a:t>    </a:t>
            </a:r>
            <a:r>
              <a:rPr lang="en-US" sz="1150" dirty="0">
                <a:solidFill>
                  <a:srgbClr val="7F8AA3"/>
                </a:solidFill>
                <a:latin typeface="JetBrains Mono" pitchFamily="49" charset="0"/>
                <a:ea typeface="JetBrains Mono" pitchFamily="49" charset="-122"/>
                <a:cs typeface="JetBrains Mono" pitchFamily="49" charset="-120"/>
              </a:rPr>
              <a:t># ↑ 툴 목록을 모델 요청에 첨부</a:t>
            </a:r>
            <a:endParaRPr lang="en-US" sz="1150" dirty="0"/>
          </a:p>
          <a:p>
            <a:pPr algn="l" indent="0" marL="0">
              <a:lnSpc>
                <a:spcPts val="1840"/>
              </a:lnSpc>
              <a:buNone/>
            </a:pPr>
            <a:r>
              <a:rPr lang="en-US" sz="1150" dirty="0">
                <a:solidFill>
                  <a:srgbClr val="C9D1E0"/>
                </a:solidFill>
                <a:latin typeface="JetBrains Mono" pitchFamily="49" charset="0"/>
                <a:ea typeface="JetBrains Mono" pitchFamily="49" charset="-122"/>
                <a:cs typeface="JetBrains Mono" pitchFamily="49" charset="-120"/>
              </a:rPr>
              <a:t> </a:t>
            </a:r>
            <a:endParaRPr lang="en-US" sz="1150" dirty="0"/>
          </a:p>
          <a:p>
            <a:pPr algn="l" indent="0" marL="0">
              <a:lnSpc>
                <a:spcPts val="1840"/>
              </a:lnSpc>
              <a:buNone/>
            </a:pPr>
            <a:r>
              <a:rPr lang="en-US" sz="1150" dirty="0">
                <a:solidFill>
                  <a:srgbClr val="C9D1E0"/>
                </a:solidFill>
                <a:latin typeface="JetBrains Mono" pitchFamily="49" charset="0"/>
                <a:ea typeface="JetBrains Mono" pitchFamily="49" charset="-122"/>
                <a:cs typeface="JetBrains Mono" pitchFamily="49" charset="-120"/>
              </a:rPr>
              <a:t>    result = </a:t>
            </a:r>
            <a:r>
              <a:rPr lang="en-US" sz="1150" dirty="0">
                <a:solidFill>
                  <a:srgbClr val="C792EA"/>
                </a:solidFill>
                <a:latin typeface="JetBrains Mono" pitchFamily="49" charset="0"/>
                <a:ea typeface="JetBrains Mono" pitchFamily="49" charset="-122"/>
                <a:cs typeface="JetBrains Mono" pitchFamily="49" charset="-120"/>
              </a:rPr>
              <a:t>await</a:t>
            </a:r>
            <a:r>
              <a:rPr lang="en-US" sz="1150" dirty="0">
                <a:solidFill>
                  <a:srgbClr val="C9D1E0"/>
                </a:solidFill>
                <a:latin typeface="JetBrains Mono" pitchFamily="49" charset="0"/>
                <a:ea typeface="JetBrains Mono" pitchFamily="49" charset="-122"/>
                <a:cs typeface="JetBrains Mono" pitchFamily="49" charset="-120"/>
              </a:rPr>
              <a:t> client.</a:t>
            </a:r>
            <a:r>
              <a:rPr lang="en-US" sz="1150" dirty="0">
                <a:solidFill>
                  <a:srgbClr val="82AAFF"/>
                </a:solidFill>
                <a:latin typeface="JetBrains Mono" pitchFamily="49" charset="0"/>
                <a:ea typeface="JetBrains Mono" pitchFamily="49" charset="-122"/>
                <a:cs typeface="JetBrains Mono" pitchFamily="49" charset="-120"/>
              </a:rPr>
              <a:t>call_tool</a:t>
            </a:r>
            <a:r>
              <a:rPr lang="en-US" sz="1150" dirty="0">
                <a:solidFill>
                  <a:srgbClr val="C9D1E0"/>
                </a:solidFill>
                <a:latin typeface="JetBrains Mono" pitchFamily="49" charset="0"/>
                <a:ea typeface="JetBrains Mono" pitchFamily="49" charset="-122"/>
                <a:cs typeface="JetBrains Mono" pitchFamily="49" charset="-120"/>
              </a:rPr>
              <a:t>(</a:t>
            </a:r>
            <a:endParaRPr lang="en-US" sz="1150" dirty="0"/>
          </a:p>
          <a:p>
            <a:pPr algn="l" indent="0" marL="0">
              <a:lnSpc>
                <a:spcPts val="1840"/>
              </a:lnSpc>
              <a:buNone/>
            </a:pPr>
            <a:r>
              <a:rPr lang="en-US" sz="1150" dirty="0">
                <a:solidFill>
                  <a:srgbClr val="C9D1E0"/>
                </a:solidFill>
                <a:latin typeface="JetBrains Mono" pitchFamily="49" charset="0"/>
                <a:ea typeface="JetBrains Mono" pitchFamily="49" charset="-122"/>
                <a:cs typeface="JetBrains Mono" pitchFamily="49" charset="-120"/>
              </a:rPr>
              <a:t>        </a:t>
            </a:r>
            <a:r>
              <a:rPr lang="en-US" sz="1150" dirty="0">
                <a:solidFill>
                  <a:srgbClr val="FFCDAA"/>
                </a:solidFill>
                <a:latin typeface="JetBrains Mono" pitchFamily="49" charset="0"/>
                <a:ea typeface="JetBrains Mono" pitchFamily="49" charset="-122"/>
                <a:cs typeface="JetBrains Mono" pitchFamily="49" charset="-120"/>
              </a:rPr>
              <a:t>"search_pages"</a:t>
            </a:r>
            <a:r>
              <a:rPr lang="en-US" sz="1150" dirty="0">
                <a:solidFill>
                  <a:srgbClr val="C9D1E0"/>
                </a:solidFill>
                <a:latin typeface="JetBrains Mono" pitchFamily="49" charset="0"/>
                <a:ea typeface="JetBrains Mono" pitchFamily="49" charset="-122"/>
                <a:cs typeface="JetBrains Mono" pitchFamily="49" charset="-120"/>
              </a:rPr>
              <a:t>, {</a:t>
            </a:r>
            <a:r>
              <a:rPr lang="en-US" sz="1150" dirty="0">
                <a:solidFill>
                  <a:srgbClr val="FFCDAA"/>
                </a:solidFill>
                <a:latin typeface="JetBrains Mono" pitchFamily="49" charset="0"/>
                <a:ea typeface="JetBrains Mono" pitchFamily="49" charset="-122"/>
                <a:cs typeface="JetBrains Mono" pitchFamily="49" charset="-120"/>
              </a:rPr>
              <a:t>"query"</a:t>
            </a:r>
            <a:r>
              <a:rPr lang="en-US" sz="1150" dirty="0">
                <a:solidFill>
                  <a:srgbClr val="C9D1E0"/>
                </a:solidFill>
                <a:latin typeface="JetBrains Mono" pitchFamily="49" charset="0"/>
                <a:ea typeface="JetBrains Mono" pitchFamily="49" charset="-122"/>
                <a:cs typeface="JetBrains Mono" pitchFamily="49" charset="-120"/>
              </a:rPr>
              <a:t>: </a:t>
            </a:r>
            <a:r>
              <a:rPr lang="en-US" sz="1150" dirty="0">
                <a:solidFill>
                  <a:srgbClr val="FFCDAA"/>
                </a:solidFill>
                <a:latin typeface="JetBrains Mono" pitchFamily="49" charset="0"/>
                <a:ea typeface="JetBrains Mono" pitchFamily="49" charset="-122"/>
                <a:cs typeface="JetBrains Mono" pitchFamily="49" charset="-120"/>
              </a:rPr>
              <a:t>"보안가이드"</a:t>
            </a:r>
            <a:r>
              <a:rPr lang="en-US" sz="1150" dirty="0">
                <a:solidFill>
                  <a:srgbClr val="C9D1E0"/>
                </a:solidFill>
                <a:latin typeface="JetBrains Mono" pitchFamily="49" charset="0"/>
                <a:ea typeface="JetBrains Mono" pitchFamily="49" charset="-122"/>
                <a:cs typeface="JetBrains Mono" pitchFamily="49" charset="-120"/>
              </a:rPr>
              <a:t>}</a:t>
            </a:r>
            <a:endParaRPr lang="en-US" sz="1150" dirty="0"/>
          </a:p>
          <a:p>
            <a:pPr algn="l" indent="0" marL="0">
              <a:lnSpc>
                <a:spcPts val="1840"/>
              </a:lnSpc>
              <a:buNone/>
            </a:pPr>
            <a:r>
              <a:rPr lang="en-US" sz="1150" dirty="0">
                <a:solidFill>
                  <a:srgbClr val="C9D1E0"/>
                </a:solidFill>
                <a:latin typeface="JetBrains Mono" pitchFamily="49" charset="0"/>
                <a:ea typeface="JetBrains Mono" pitchFamily="49" charset="-122"/>
                <a:cs typeface="JetBrains Mono" pitchFamily="49" charset="-120"/>
              </a:rPr>
              <a:t>    )</a:t>
            </a:r>
            <a:endParaRPr lang="en-US" sz="1150" dirty="0"/>
          </a:p>
          <a:p>
            <a:pPr algn="l" indent="0" marL="0">
              <a:lnSpc>
                <a:spcPts val="1840"/>
              </a:lnSpc>
              <a:buNone/>
            </a:pPr>
            <a:r>
              <a:rPr lang="en-US" sz="1150" dirty="0">
                <a:solidFill>
                  <a:srgbClr val="C9D1E0"/>
                </a:solidFill>
                <a:latin typeface="JetBrains Mono" pitchFamily="49" charset="0"/>
                <a:ea typeface="JetBrains Mono" pitchFamily="49" charset="-122"/>
                <a:cs typeface="JetBrains Mono" pitchFamily="49" charset="-120"/>
              </a:rPr>
              <a:t>    </a:t>
            </a:r>
            <a:r>
              <a:rPr lang="en-US" sz="1150" dirty="0">
                <a:solidFill>
                  <a:srgbClr val="7F8AA3"/>
                </a:solidFill>
                <a:latin typeface="JetBrains Mono" pitchFamily="49" charset="0"/>
                <a:ea typeface="JetBrains Mono" pitchFamily="49" charset="-122"/>
                <a:cs typeface="JetBrains Mono" pitchFamily="49" charset="-120"/>
              </a:rPr>
              <a:t># ↑ 모델이 고른 툴 실행 요청</a:t>
            </a:r>
            <a:endParaRPr lang="en-US" sz="1150" dirty="0"/>
          </a:p>
        </p:txBody>
      </p:sp>
      <p:sp>
        <p:nvSpPr>
          <p:cNvPr id="9" name="Text 7"/>
          <p:cNvSpPr/>
          <p:nvPr/>
        </p:nvSpPr>
        <p:spPr>
          <a:xfrm>
            <a:off x="641350" y="5596930"/>
            <a:ext cx="713383" cy="219670"/>
          </a:xfrm>
          <a:prstGeom prst="roundRect">
            <a:avLst>
              <a:gd name="adj" fmla="val 23126"/>
            </a:avLst>
          </a:prstGeom>
          <a:solidFill>
            <a:srgbClr val="EEF1FB"/>
          </a:solidFill>
          <a:ln/>
        </p:spPr>
        <p:txBody>
          <a:bodyPr wrap="none" lIns="0" tIns="0" rIns="0" bIns="0" rtlCol="0" anchor="ctr">
            <a:normAutofit/>
          </a:bodyPr>
          <a:lstStyle/>
          <a:p>
            <a:pPr algn="ctr" indent="0" marL="0">
              <a:lnSpc>
                <a:spcPts val="1330"/>
              </a:lnSpc>
              <a:buNone/>
            </a:pPr>
            <a:r>
              <a:rPr lang="en-US" sz="950" b="1" dirty="0">
                <a:solidFill>
                  <a:srgbClr val="1428A0"/>
                </a:solidFill>
                <a:latin typeface="Noto Sans KR" pitchFamily="34" charset="0"/>
                <a:ea typeface="Noto Sans KR" pitchFamily="34" charset="-122"/>
                <a:cs typeface="Noto Sans KR" pitchFamily="34" charset="-120"/>
              </a:rPr>
              <a:t>Client(...)</a:t>
            </a:r>
            <a:endParaRPr lang="en-US" sz="950" dirty="0"/>
          </a:p>
        </p:txBody>
      </p:sp>
      <p:sp>
        <p:nvSpPr>
          <p:cNvPr id="10" name="Text 8"/>
          <p:cNvSpPr/>
          <p:nvPr/>
        </p:nvSpPr>
        <p:spPr>
          <a:xfrm>
            <a:off x="1418233" y="5617865"/>
            <a:ext cx="177800" cy="203200"/>
          </a:xfrm>
          <a:prstGeom prst="rect">
            <a:avLst/>
          </a:prstGeom>
          <a:noFill/>
          <a:ln/>
        </p:spPr>
        <p:txBody>
          <a:bodyPr wrap="square" lIns="0" tIns="0" rIns="0" bIns="0" rtlCol="0" anchor="t">
            <a:normAutofit/>
          </a:bodyPr>
          <a:lstStyle/>
          <a:p>
            <a:pPr algn="l" indent="0" marL="0">
              <a:lnSpc>
                <a:spcPts val="1400"/>
              </a:lnSpc>
              <a:buNone/>
            </a:pPr>
            <a:r>
              <a:rPr lang="en-US" sz="1000" b="1" dirty="0">
                <a:solidFill>
                  <a:srgbClr val="1428A0"/>
                </a:solidFill>
                <a:latin typeface="Noto Sans KR" pitchFamily="34" charset="0"/>
                <a:ea typeface="Noto Sans KR" pitchFamily="34" charset="-122"/>
                <a:cs typeface="Noto Sans KR" pitchFamily="34" charset="-120"/>
              </a:rPr>
              <a:t>→</a:t>
            </a:r>
            <a:endParaRPr lang="en-US" sz="1000" dirty="0"/>
          </a:p>
        </p:txBody>
      </p:sp>
      <p:sp>
        <p:nvSpPr>
          <p:cNvPr id="11" name="Text 9"/>
          <p:cNvSpPr/>
          <p:nvPr/>
        </p:nvSpPr>
        <p:spPr>
          <a:xfrm>
            <a:off x="1608733" y="5596930"/>
            <a:ext cx="699195" cy="219670"/>
          </a:xfrm>
          <a:prstGeom prst="roundRect">
            <a:avLst>
              <a:gd name="adj" fmla="val 23126"/>
            </a:avLst>
          </a:prstGeom>
          <a:solidFill>
            <a:srgbClr val="EEF1FB"/>
          </a:solidFill>
          <a:ln/>
        </p:spPr>
        <p:txBody>
          <a:bodyPr wrap="none" lIns="0" tIns="0" rIns="0" bIns="0" rtlCol="0" anchor="ctr">
            <a:normAutofit/>
          </a:bodyPr>
          <a:lstStyle/>
          <a:p>
            <a:pPr algn="ctr" indent="0" marL="0">
              <a:lnSpc>
                <a:spcPts val="1330"/>
              </a:lnSpc>
              <a:buNone/>
            </a:pPr>
            <a:r>
              <a:rPr lang="en-US" sz="950" b="1" dirty="0">
                <a:solidFill>
                  <a:srgbClr val="1428A0"/>
                </a:solidFill>
                <a:latin typeface="Noto Sans KR" pitchFamily="34" charset="0"/>
                <a:ea typeface="Noto Sans KR" pitchFamily="34" charset="-122"/>
                <a:cs typeface="Noto Sans KR" pitchFamily="34" charset="-120"/>
              </a:rPr>
              <a:t>list_tools</a:t>
            </a:r>
            <a:endParaRPr lang="en-US" sz="950" dirty="0"/>
          </a:p>
        </p:txBody>
      </p:sp>
      <p:sp>
        <p:nvSpPr>
          <p:cNvPr id="12" name="Text 10"/>
          <p:cNvSpPr/>
          <p:nvPr/>
        </p:nvSpPr>
        <p:spPr>
          <a:xfrm>
            <a:off x="2371427" y="5617865"/>
            <a:ext cx="177800" cy="203200"/>
          </a:xfrm>
          <a:prstGeom prst="rect">
            <a:avLst/>
          </a:prstGeom>
          <a:noFill/>
          <a:ln/>
        </p:spPr>
        <p:txBody>
          <a:bodyPr wrap="square" lIns="0" tIns="0" rIns="0" bIns="0" rtlCol="0" anchor="t">
            <a:normAutofit/>
          </a:bodyPr>
          <a:lstStyle/>
          <a:p>
            <a:pPr algn="l" indent="0" marL="0">
              <a:lnSpc>
                <a:spcPts val="1400"/>
              </a:lnSpc>
              <a:buNone/>
            </a:pPr>
            <a:r>
              <a:rPr lang="en-US" sz="1000" b="1" dirty="0">
                <a:solidFill>
                  <a:srgbClr val="1428A0"/>
                </a:solidFill>
                <a:latin typeface="Noto Sans KR" pitchFamily="34" charset="0"/>
                <a:ea typeface="Noto Sans KR" pitchFamily="34" charset="-122"/>
                <a:cs typeface="Noto Sans KR" pitchFamily="34" charset="-120"/>
              </a:rPr>
              <a:t>→</a:t>
            </a:r>
            <a:endParaRPr lang="en-US" sz="1000" dirty="0"/>
          </a:p>
        </p:txBody>
      </p:sp>
      <p:sp>
        <p:nvSpPr>
          <p:cNvPr id="13" name="Text 11"/>
          <p:cNvSpPr/>
          <p:nvPr/>
        </p:nvSpPr>
        <p:spPr>
          <a:xfrm>
            <a:off x="2561927" y="5596930"/>
            <a:ext cx="666552" cy="219670"/>
          </a:xfrm>
          <a:prstGeom prst="roundRect">
            <a:avLst>
              <a:gd name="adj" fmla="val 23126"/>
            </a:avLst>
          </a:prstGeom>
          <a:solidFill>
            <a:srgbClr val="EEF1FB"/>
          </a:solidFill>
          <a:ln/>
        </p:spPr>
        <p:txBody>
          <a:bodyPr wrap="none" lIns="0" tIns="0" rIns="0" bIns="0" rtlCol="0" anchor="ctr">
            <a:normAutofit/>
          </a:bodyPr>
          <a:lstStyle/>
          <a:p>
            <a:pPr algn="ctr" indent="0" marL="0">
              <a:lnSpc>
                <a:spcPts val="1330"/>
              </a:lnSpc>
              <a:buNone/>
            </a:pPr>
            <a:r>
              <a:rPr lang="en-US" sz="950" b="1" dirty="0">
                <a:solidFill>
                  <a:srgbClr val="1428A0"/>
                </a:solidFill>
                <a:latin typeface="Noto Sans KR" pitchFamily="34" charset="0"/>
                <a:ea typeface="Noto Sans KR" pitchFamily="34" charset="-122"/>
                <a:cs typeface="Noto Sans KR" pitchFamily="34" charset="-120"/>
              </a:rPr>
              <a:t>call_tool</a:t>
            </a:r>
            <a:endParaRPr lang="en-US" sz="950" dirty="0"/>
          </a:p>
        </p:txBody>
      </p:sp>
      <p:sp>
        <p:nvSpPr>
          <p:cNvPr id="14" name="Text 12"/>
          <p:cNvSpPr/>
          <p:nvPr/>
        </p:nvSpPr>
        <p:spPr>
          <a:xfrm>
            <a:off x="5679480" y="2651224"/>
            <a:ext cx="833041" cy="338931"/>
          </a:xfrm>
          <a:prstGeom prst="rect">
            <a:avLst/>
          </a:prstGeom>
          <a:noFill/>
          <a:ln/>
        </p:spPr>
        <p:txBody>
          <a:bodyPr wrap="square" lIns="0" tIns="0" rIns="0" bIns="0" rtlCol="0" anchor="t">
            <a:normAutofit/>
          </a:bodyPr>
          <a:lstStyle/>
          <a:p>
            <a:pPr algn="ctr" indent="0" marL="0">
              <a:lnSpc>
                <a:spcPts val="1235"/>
              </a:lnSpc>
              <a:buNone/>
            </a:pPr>
            <a:r>
              <a:rPr lang="en-US" sz="950" b="1" dirty="0">
                <a:solidFill>
                  <a:srgbClr val="5B6577"/>
                </a:solidFill>
                <a:latin typeface="Noto Sans KR" pitchFamily="34" charset="0"/>
                <a:ea typeface="Noto Sans KR" pitchFamily="34" charset="-122"/>
                <a:cs typeface="Noto Sans KR" pitchFamily="34" charset="-120"/>
              </a:rPr>
              <a:t>stdin / stdout</a:t>
            </a:r>
            <a:endParaRPr lang="en-US" sz="950" dirty="0"/>
          </a:p>
          <a:p>
            <a:pPr algn="ctr" indent="0" marL="0">
              <a:lnSpc>
                <a:spcPts val="1235"/>
              </a:lnSpc>
              <a:buNone/>
            </a:pPr>
            <a:r>
              <a:rPr lang="en-US" sz="950" b="1" dirty="0">
                <a:solidFill>
                  <a:srgbClr val="5B6577"/>
                </a:solidFill>
                <a:latin typeface="Noto Sans KR" pitchFamily="34" charset="0"/>
                <a:ea typeface="Noto Sans KR" pitchFamily="34" charset="-122"/>
                <a:cs typeface="Noto Sans KR" pitchFamily="34" charset="-120"/>
              </a:rPr>
              <a:t>JSON-RPC</a:t>
            </a:r>
            <a:endParaRPr lang="en-US" sz="950" dirty="0"/>
          </a:p>
        </p:txBody>
      </p:sp>
      <p:sp>
        <p:nvSpPr>
          <p:cNvPr id="15" name="Text 13"/>
          <p:cNvSpPr/>
          <p:nvPr/>
        </p:nvSpPr>
        <p:spPr>
          <a:xfrm>
            <a:off x="5730240" y="3129855"/>
            <a:ext cx="731520" cy="167580"/>
          </a:xfrm>
          <a:prstGeom prst="rect">
            <a:avLst/>
          </a:prstGeom>
          <a:noFill/>
          <a:ln/>
        </p:spPr>
        <p:txBody>
          <a:bodyPr wrap="square" lIns="0" tIns="0" rIns="0" bIns="0" rtlCol="0" anchor="t">
            <a:normAutofit/>
          </a:bodyPr>
          <a:lstStyle/>
          <a:p>
            <a:pPr algn="ctr" indent="0" marL="0">
              <a:lnSpc>
                <a:spcPts val="1120"/>
              </a:lnSpc>
              <a:buNone/>
            </a:pPr>
            <a:r>
              <a:rPr lang="en-US" sz="800" b="1" dirty="0">
                <a:solidFill>
                  <a:srgbClr val="1428A0"/>
                </a:solidFill>
                <a:latin typeface="JetBrains Mono" pitchFamily="49" charset="0"/>
                <a:ea typeface="JetBrains Mono" pitchFamily="49" charset="-122"/>
                <a:cs typeface="JetBrains Mono" pitchFamily="49" charset="-120"/>
              </a:rPr>
              <a:t>tools/call</a:t>
            </a:r>
            <a:endParaRPr lang="en-US" sz="800" dirty="0"/>
          </a:p>
        </p:txBody>
      </p:sp>
      <p:pic>
        <p:nvPicPr>
          <p:cNvPr id="16" name="Image 0" descr="preencoded.png">    </p:cNvPr>
          <p:cNvPicPr>
            <a:picLocks noChangeAspect="1"/>
          </p:cNvPicPr>
          <p:nvPr/>
        </p:nvPicPr>
        <p:blipFill>
          <a:blip r:embed="rId1"/>
          <a:srcRect l="0" r="0" t="0" b="0"/>
          <a:stretch/>
        </p:blipFill>
        <p:spPr>
          <a:xfrm>
            <a:off x="5619750" y="3297436"/>
            <a:ext cx="952500" cy="101600"/>
          </a:xfrm>
          <a:prstGeom prst="rect">
            <a:avLst/>
          </a:prstGeom>
        </p:spPr>
      </p:pic>
      <p:pic>
        <p:nvPicPr>
          <p:cNvPr id="17" name="Image 1" descr="preencoded.png">    </p:cNvPr>
          <p:cNvPicPr>
            <a:picLocks noChangeAspect="1"/>
          </p:cNvPicPr>
          <p:nvPr/>
        </p:nvPicPr>
        <p:blipFill>
          <a:blip r:embed="rId2"/>
          <a:srcRect l="0" r="0" t="0" b="0"/>
          <a:stretch/>
        </p:blipFill>
        <p:spPr>
          <a:xfrm>
            <a:off x="5619750" y="3564136"/>
            <a:ext cx="952500" cy="101600"/>
          </a:xfrm>
          <a:prstGeom prst="rect">
            <a:avLst/>
          </a:prstGeom>
        </p:spPr>
      </p:pic>
      <p:sp>
        <p:nvSpPr>
          <p:cNvPr id="18" name="Text 14"/>
          <p:cNvSpPr/>
          <p:nvPr/>
        </p:nvSpPr>
        <p:spPr>
          <a:xfrm>
            <a:off x="5876459" y="3691136"/>
            <a:ext cx="438983" cy="167580"/>
          </a:xfrm>
          <a:prstGeom prst="rect">
            <a:avLst/>
          </a:prstGeom>
          <a:noFill/>
          <a:ln/>
        </p:spPr>
        <p:txBody>
          <a:bodyPr wrap="square" lIns="0" tIns="0" rIns="0" bIns="0" rtlCol="0" anchor="t">
            <a:normAutofit/>
          </a:bodyPr>
          <a:lstStyle/>
          <a:p>
            <a:pPr algn="ctr" indent="0" marL="0">
              <a:lnSpc>
                <a:spcPts val="1120"/>
              </a:lnSpc>
              <a:buNone/>
            </a:pPr>
            <a:r>
              <a:rPr lang="en-US" sz="800" b="1" dirty="0">
                <a:solidFill>
                  <a:srgbClr val="1E6B3A"/>
                </a:solidFill>
                <a:latin typeface="JetBrains Mono" pitchFamily="49" charset="0"/>
                <a:ea typeface="JetBrains Mono" pitchFamily="49" charset="-122"/>
                <a:cs typeface="JetBrains Mono" pitchFamily="49" charset="-120"/>
              </a:rPr>
              <a:t>result</a:t>
            </a:r>
            <a:endParaRPr lang="en-US" sz="800" dirty="0"/>
          </a:p>
        </p:txBody>
      </p:sp>
      <p:sp>
        <p:nvSpPr>
          <p:cNvPr id="19" name="Text 15"/>
          <p:cNvSpPr/>
          <p:nvPr/>
        </p:nvSpPr>
        <p:spPr>
          <a:xfrm>
            <a:off x="5825530" y="3998416"/>
            <a:ext cx="540941" cy="299641"/>
          </a:xfrm>
          <a:prstGeom prst="rect">
            <a:avLst/>
          </a:prstGeom>
          <a:noFill/>
          <a:ln/>
        </p:spPr>
        <p:txBody>
          <a:bodyPr wrap="square" lIns="0" tIns="0" rIns="0" bIns="0" rtlCol="0" anchor="t">
            <a:normAutofit/>
          </a:bodyPr>
          <a:lstStyle/>
          <a:p>
            <a:pPr algn="ctr" indent="0" marL="0">
              <a:lnSpc>
                <a:spcPts val="1080"/>
              </a:lnSpc>
              <a:buNone/>
            </a:pPr>
            <a:r>
              <a:rPr lang="en-US" sz="800" dirty="0">
                <a:solidFill>
                  <a:srgbClr val="5B6577"/>
                </a:solidFill>
                <a:latin typeface="Noto Sans KR" pitchFamily="34" charset="0"/>
                <a:ea typeface="Noto Sans KR" pitchFamily="34" charset="-122"/>
                <a:cs typeface="Noto Sans KR" pitchFamily="34" charset="-120"/>
              </a:rPr>
              <a:t>같은 PC 안</a:t>
            </a:r>
            <a:endParaRPr lang="en-US" sz="800" dirty="0"/>
          </a:p>
          <a:p>
            <a:pPr algn="ctr" indent="0" marL="0">
              <a:lnSpc>
                <a:spcPts val="1080"/>
              </a:lnSpc>
              <a:buNone/>
            </a:pPr>
            <a:r>
              <a:rPr lang="en-US" sz="800" dirty="0">
                <a:solidFill>
                  <a:srgbClr val="5B6577"/>
                </a:solidFill>
                <a:latin typeface="Noto Sans KR" pitchFamily="34" charset="0"/>
                <a:ea typeface="Noto Sans KR" pitchFamily="34" charset="-122"/>
                <a:cs typeface="Noto Sans KR" pitchFamily="34" charset="-120"/>
              </a:rPr>
              <a:t>파이프 통신</a:t>
            </a:r>
            <a:endParaRPr lang="en-US" sz="800" dirty="0"/>
          </a:p>
        </p:txBody>
      </p:sp>
      <p:sp>
        <p:nvSpPr>
          <p:cNvPr id="20" name="Shape 16"/>
          <p:cNvSpPr/>
          <p:nvPr/>
        </p:nvSpPr>
        <p:spPr>
          <a:xfrm>
            <a:off x="6765925" y="977205"/>
            <a:ext cx="4940300" cy="4969570"/>
          </a:xfrm>
          <a:prstGeom prst="roundRect">
            <a:avLst>
              <a:gd name="adj" fmla="val 1992"/>
            </a:avLst>
          </a:prstGeom>
          <a:solidFill>
            <a:srgbClr val="FFFFFF"/>
          </a:solidFill>
          <a:ln w="6350">
            <a:solidFill>
              <a:srgbClr val="DCE1EA"/>
            </a:solidFill>
            <a:prstDash val="solid"/>
          </a:ln>
        </p:spPr>
      </p:sp>
      <p:sp>
        <p:nvSpPr>
          <p:cNvPr id="21" name="Text 17"/>
          <p:cNvSpPr/>
          <p:nvPr/>
        </p:nvSpPr>
        <p:spPr>
          <a:xfrm>
            <a:off x="6921500" y="1094680"/>
            <a:ext cx="137374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E1320"/>
                </a:solidFill>
                <a:latin typeface="Noto Sans KR" pitchFamily="34" charset="0"/>
                <a:ea typeface="Noto Sans KR" pitchFamily="34" charset="-122"/>
                <a:cs typeface="Noto Sans KR" pitchFamily="34" charset="-120"/>
              </a:rPr>
              <a:t>MCP Server</a:t>
            </a:r>
            <a:endParaRPr lang="en-US" sz="1600" dirty="0"/>
          </a:p>
        </p:txBody>
      </p:sp>
      <p:sp>
        <p:nvSpPr>
          <p:cNvPr id="22" name="Text 18"/>
          <p:cNvSpPr/>
          <p:nvPr/>
        </p:nvSpPr>
        <p:spPr>
          <a:xfrm>
            <a:off x="9925943" y="1129605"/>
            <a:ext cx="1624707" cy="214610"/>
          </a:xfrm>
          <a:prstGeom prst="roundRect">
            <a:avLst>
              <a:gd name="adj" fmla="val 50000"/>
            </a:avLst>
          </a:prstGeom>
          <a:solidFill>
            <a:srgbClr val="1E6B3A"/>
          </a:solidFill>
          <a:ln/>
        </p:spPr>
        <p:txBody>
          <a:bodyPr wrap="none" lIns="0" tIns="0" rIns="0" bIns="0" rtlCol="0" anchor="ctr">
            <a:normAutofit/>
          </a:bodyPr>
          <a:lstStyle/>
          <a:p>
            <a:pPr algn="ctr" indent="0" marL="0">
              <a:lnSpc>
                <a:spcPts val="1190"/>
              </a:lnSpc>
              <a:buNone/>
            </a:pPr>
            <a:r>
              <a:rPr lang="en-US" sz="850" b="1" dirty="0">
                <a:solidFill>
                  <a:srgbClr val="FFFFFF"/>
                </a:solidFill>
                <a:latin typeface="Noto Sans KR" pitchFamily="34" charset="0"/>
                <a:ea typeface="Noto Sans KR" pitchFamily="34" charset="-122"/>
                <a:cs typeface="Noto Sans KR" pitchFamily="34" charset="-120"/>
              </a:rPr>
              <a:t>사용자가 작성 · mcp.json 등록</a:t>
            </a:r>
            <a:endParaRPr lang="en-US" sz="850" dirty="0"/>
          </a:p>
        </p:txBody>
      </p:sp>
      <p:sp>
        <p:nvSpPr>
          <p:cNvPr id="23" name="Text 19"/>
          <p:cNvSpPr/>
          <p:nvPr/>
        </p:nvSpPr>
        <p:spPr>
          <a:xfrm>
            <a:off x="6921500" y="1442641"/>
            <a:ext cx="4768025" cy="196850"/>
          </a:xfrm>
          <a:prstGeom prst="rect">
            <a:avLst/>
          </a:prstGeom>
          <a:noFill/>
          <a:ln/>
        </p:spPr>
        <p:txBody>
          <a:bodyPr wrap="square" lIns="0" tIns="0" rIns="0" bIns="0" rtlCol="0" anchor="t">
            <a:normAutofit/>
          </a:bodyPr>
          <a:lstStyle/>
          <a:p>
            <a:pPr algn="l" indent="0" marL="0">
              <a:lnSpc>
                <a:spcPts val="1350"/>
              </a:lnSpc>
              <a:buNone/>
            </a:pPr>
            <a:r>
              <a:rPr lang="en-US" sz="1000" dirty="0">
                <a:solidFill>
                  <a:srgbClr val="4A5366"/>
                </a:solidFill>
                <a:latin typeface="Noto Sans KR" pitchFamily="34" charset="0"/>
                <a:ea typeface="Noto Sans KR" pitchFamily="34" charset="-122"/>
                <a:cs typeface="Noto Sans KR" pitchFamily="34" charset="-120"/>
              </a:rPr>
              <a:t>앱이 띄우는 </a:t>
            </a:r>
            <a:r>
              <a:rPr lang="en-US" sz="1000" b="1" dirty="0">
                <a:solidFill>
                  <a:srgbClr val="0E1320"/>
                </a:solidFill>
                <a:latin typeface="Noto Sans KR" pitchFamily="34" charset="0"/>
                <a:ea typeface="Noto Sans KR" pitchFamily="34" charset="-122"/>
                <a:cs typeface="Noto Sans KR" pitchFamily="34" charset="-120"/>
              </a:rPr>
              <a:t>자식 프로세스</a:t>
            </a:r>
            <a:r>
              <a:rPr lang="en-US" sz="1000" dirty="0">
                <a:solidFill>
                  <a:srgbClr val="4A5366"/>
                </a:solidFill>
                <a:latin typeface="Noto Sans KR" pitchFamily="34" charset="0"/>
                <a:ea typeface="Noto Sans KR" pitchFamily="34" charset="-122"/>
                <a:cs typeface="Noto Sans KR" pitchFamily="34" charset="-120"/>
              </a:rPr>
              <a:t> · python confluence_server.py</a:t>
            </a:r>
            <a:endParaRPr lang="en-US" sz="1000" dirty="0"/>
          </a:p>
        </p:txBody>
      </p:sp>
      <p:sp>
        <p:nvSpPr>
          <p:cNvPr id="24" name="Text 20"/>
          <p:cNvSpPr/>
          <p:nvPr/>
        </p:nvSpPr>
        <p:spPr>
          <a:xfrm>
            <a:off x="6921500" y="1677591"/>
            <a:ext cx="4629150" cy="3855839"/>
          </a:xfrm>
          <a:prstGeom prst="roundRect">
            <a:avLst>
              <a:gd name="adj" fmla="val 1976"/>
            </a:avLst>
          </a:prstGeom>
          <a:solidFill>
            <a:srgbClr val="0E1320"/>
          </a:solidFill>
          <a:ln/>
        </p:spPr>
        <p:txBody>
          <a:bodyPr wrap="square" lIns="104682" tIns="79282" rIns="0" bIns="79282" rtlCol="0" anchor="t">
            <a:normAutofit/>
          </a:bodyPr>
          <a:lstStyle/>
          <a:p>
            <a:pPr algn="l" indent="0" marL="0">
              <a:lnSpc>
                <a:spcPts val="1840"/>
              </a:lnSpc>
              <a:buNone/>
            </a:pPr>
            <a:r>
              <a:rPr lang="en-US" sz="1150" dirty="0">
                <a:solidFill>
                  <a:srgbClr val="7F8AA3"/>
                </a:solidFill>
                <a:latin typeface="JetBrains Mono" pitchFamily="49" charset="0"/>
                <a:ea typeface="JetBrains Mono" pitchFamily="49" charset="-122"/>
                <a:cs typeface="JetBrains Mono" pitchFamily="49" charset="-120"/>
              </a:rPr>
              <a:t># confluence_server.py (직접 작성)</a:t>
            </a:r>
            <a:endParaRPr lang="en-US" sz="1150" dirty="0"/>
          </a:p>
          <a:p>
            <a:pPr algn="l" indent="0" marL="0">
              <a:lnSpc>
                <a:spcPts val="1840"/>
              </a:lnSpc>
              <a:buNone/>
            </a:pPr>
            <a:r>
              <a:rPr lang="en-US" sz="1150" dirty="0">
                <a:solidFill>
                  <a:srgbClr val="C792EA"/>
                </a:solidFill>
                <a:latin typeface="JetBrains Mono" pitchFamily="49" charset="0"/>
                <a:ea typeface="JetBrains Mono" pitchFamily="49" charset="-122"/>
                <a:cs typeface="JetBrains Mono" pitchFamily="49" charset="-120"/>
              </a:rPr>
              <a:t>from</a:t>
            </a:r>
            <a:r>
              <a:rPr lang="en-US" sz="1150" dirty="0">
                <a:solidFill>
                  <a:srgbClr val="C9D1E0"/>
                </a:solidFill>
                <a:latin typeface="JetBrains Mono" pitchFamily="49" charset="0"/>
                <a:ea typeface="JetBrains Mono" pitchFamily="49" charset="-122"/>
                <a:cs typeface="JetBrains Mono" pitchFamily="49" charset="-120"/>
              </a:rPr>
              <a:t> fastmcp </a:t>
            </a:r>
            <a:r>
              <a:rPr lang="en-US" sz="1150" dirty="0">
                <a:solidFill>
                  <a:srgbClr val="C792EA"/>
                </a:solidFill>
                <a:latin typeface="JetBrains Mono" pitchFamily="49" charset="0"/>
                <a:ea typeface="JetBrains Mono" pitchFamily="49" charset="-122"/>
                <a:cs typeface="JetBrains Mono" pitchFamily="49" charset="-120"/>
              </a:rPr>
              <a:t>import</a:t>
            </a:r>
            <a:r>
              <a:rPr lang="en-US" sz="1150" dirty="0">
                <a:solidFill>
                  <a:srgbClr val="C9D1E0"/>
                </a:solidFill>
                <a:latin typeface="JetBrains Mono" pitchFamily="49" charset="0"/>
                <a:ea typeface="JetBrains Mono" pitchFamily="49" charset="-122"/>
                <a:cs typeface="JetBrains Mono" pitchFamily="49" charset="-120"/>
              </a:rPr>
              <a:t> </a:t>
            </a:r>
            <a:r>
              <a:rPr lang="en-US" sz="1150" dirty="0">
                <a:solidFill>
                  <a:srgbClr val="82AAFF"/>
                </a:solidFill>
                <a:latin typeface="JetBrains Mono" pitchFamily="49" charset="0"/>
                <a:ea typeface="JetBrains Mono" pitchFamily="49" charset="-122"/>
                <a:cs typeface="JetBrains Mono" pitchFamily="49" charset="-120"/>
              </a:rPr>
              <a:t>FastMCP</a:t>
            </a:r>
            <a:endParaRPr lang="en-US" sz="1150" dirty="0"/>
          </a:p>
          <a:p>
            <a:pPr algn="l" indent="0" marL="0">
              <a:lnSpc>
                <a:spcPts val="1840"/>
              </a:lnSpc>
              <a:buNone/>
            </a:pPr>
            <a:r>
              <a:rPr lang="en-US" sz="1150" dirty="0">
                <a:solidFill>
                  <a:srgbClr val="C9D1E0"/>
                </a:solidFill>
                <a:latin typeface="JetBrains Mono" pitchFamily="49" charset="0"/>
                <a:ea typeface="JetBrains Mono" pitchFamily="49" charset="-122"/>
                <a:cs typeface="JetBrains Mono" pitchFamily="49" charset="-120"/>
              </a:rPr>
              <a:t> </a:t>
            </a:r>
            <a:endParaRPr lang="en-US" sz="1150" dirty="0"/>
          </a:p>
          <a:p>
            <a:pPr algn="l" indent="0" marL="0">
              <a:lnSpc>
                <a:spcPts val="1840"/>
              </a:lnSpc>
              <a:buNone/>
            </a:pPr>
            <a:r>
              <a:rPr lang="en-US" sz="1150" dirty="0">
                <a:solidFill>
                  <a:srgbClr val="C9D1E0"/>
                </a:solidFill>
                <a:latin typeface="JetBrains Mono" pitchFamily="49" charset="0"/>
                <a:ea typeface="JetBrains Mono" pitchFamily="49" charset="-122"/>
                <a:cs typeface="JetBrains Mono" pitchFamily="49" charset="-120"/>
              </a:rPr>
              <a:t>mcp = </a:t>
            </a:r>
            <a:r>
              <a:rPr lang="en-US" sz="1150" dirty="0">
                <a:solidFill>
                  <a:srgbClr val="82AAFF"/>
                </a:solidFill>
                <a:latin typeface="JetBrains Mono" pitchFamily="49" charset="0"/>
                <a:ea typeface="JetBrains Mono" pitchFamily="49" charset="-122"/>
                <a:cs typeface="JetBrains Mono" pitchFamily="49" charset="-120"/>
              </a:rPr>
              <a:t>FastMCP</a:t>
            </a:r>
            <a:r>
              <a:rPr lang="en-US" sz="1150" dirty="0">
                <a:solidFill>
                  <a:srgbClr val="C9D1E0"/>
                </a:solidFill>
                <a:latin typeface="JetBrains Mono" pitchFamily="49" charset="0"/>
                <a:ea typeface="JetBrains Mono" pitchFamily="49" charset="-122"/>
                <a:cs typeface="JetBrains Mono" pitchFamily="49" charset="-120"/>
              </a:rPr>
              <a:t>(</a:t>
            </a:r>
            <a:r>
              <a:rPr lang="en-US" sz="1150" dirty="0">
                <a:solidFill>
                  <a:srgbClr val="FFCDAA"/>
                </a:solidFill>
                <a:latin typeface="JetBrains Mono" pitchFamily="49" charset="0"/>
                <a:ea typeface="JetBrains Mono" pitchFamily="49" charset="-122"/>
                <a:cs typeface="JetBrains Mono" pitchFamily="49" charset="-120"/>
              </a:rPr>
              <a:t>"confluence"</a:t>
            </a:r>
            <a:r>
              <a:rPr lang="en-US" sz="1150" dirty="0">
                <a:solidFill>
                  <a:srgbClr val="C9D1E0"/>
                </a:solidFill>
                <a:latin typeface="JetBrains Mono" pitchFamily="49" charset="0"/>
                <a:ea typeface="JetBrains Mono" pitchFamily="49" charset="-122"/>
                <a:cs typeface="JetBrains Mono" pitchFamily="49" charset="-120"/>
              </a:rPr>
              <a:t>)</a:t>
            </a:r>
            <a:endParaRPr lang="en-US" sz="1150" dirty="0"/>
          </a:p>
          <a:p>
            <a:pPr algn="l" indent="0" marL="0">
              <a:lnSpc>
                <a:spcPts val="1840"/>
              </a:lnSpc>
              <a:buNone/>
            </a:pPr>
            <a:r>
              <a:rPr lang="en-US" sz="1150" dirty="0">
                <a:solidFill>
                  <a:srgbClr val="C9D1E0"/>
                </a:solidFill>
                <a:latin typeface="JetBrains Mono" pitchFamily="49" charset="0"/>
                <a:ea typeface="JetBrains Mono" pitchFamily="49" charset="-122"/>
                <a:cs typeface="JetBrains Mono" pitchFamily="49" charset="-120"/>
              </a:rPr>
              <a:t> </a:t>
            </a:r>
            <a:endParaRPr lang="en-US" sz="1150" dirty="0"/>
          </a:p>
          <a:p>
            <a:pPr algn="l" indent="0" marL="0">
              <a:lnSpc>
                <a:spcPts val="1840"/>
              </a:lnSpc>
              <a:buNone/>
            </a:pPr>
            <a:r>
              <a:rPr lang="en-US" sz="1150" dirty="0">
                <a:solidFill>
                  <a:srgbClr val="F78C6C"/>
                </a:solidFill>
                <a:latin typeface="JetBrains Mono" pitchFamily="49" charset="0"/>
                <a:ea typeface="JetBrains Mono" pitchFamily="49" charset="-122"/>
                <a:cs typeface="JetBrains Mono" pitchFamily="49" charset="-120"/>
              </a:rPr>
              <a:t>@mcp.tool()</a:t>
            </a:r>
            <a:endParaRPr lang="en-US" sz="1150" dirty="0"/>
          </a:p>
          <a:p>
            <a:pPr algn="l" indent="0" marL="0">
              <a:lnSpc>
                <a:spcPts val="1840"/>
              </a:lnSpc>
              <a:buNone/>
            </a:pPr>
            <a:r>
              <a:rPr lang="en-US" sz="1150" dirty="0">
                <a:solidFill>
                  <a:srgbClr val="C792EA"/>
                </a:solidFill>
                <a:latin typeface="JetBrains Mono" pitchFamily="49" charset="0"/>
                <a:ea typeface="JetBrains Mono" pitchFamily="49" charset="-122"/>
                <a:cs typeface="JetBrains Mono" pitchFamily="49" charset="-120"/>
              </a:rPr>
              <a:t>def</a:t>
            </a:r>
            <a:r>
              <a:rPr lang="en-US" sz="1150" dirty="0">
                <a:solidFill>
                  <a:srgbClr val="C9D1E0"/>
                </a:solidFill>
                <a:latin typeface="JetBrains Mono" pitchFamily="49" charset="0"/>
                <a:ea typeface="JetBrains Mono" pitchFamily="49" charset="-122"/>
                <a:cs typeface="JetBrains Mono" pitchFamily="49" charset="-120"/>
              </a:rPr>
              <a:t> </a:t>
            </a:r>
            <a:r>
              <a:rPr lang="en-US" sz="1150" dirty="0">
                <a:solidFill>
                  <a:srgbClr val="82AAFF"/>
                </a:solidFill>
                <a:latin typeface="JetBrains Mono" pitchFamily="49" charset="0"/>
                <a:ea typeface="JetBrains Mono" pitchFamily="49" charset="-122"/>
                <a:cs typeface="JetBrains Mono" pitchFamily="49" charset="-120"/>
              </a:rPr>
              <a:t>search_pages</a:t>
            </a:r>
            <a:r>
              <a:rPr lang="en-US" sz="1150" dirty="0">
                <a:solidFill>
                  <a:srgbClr val="C9D1E0"/>
                </a:solidFill>
                <a:latin typeface="JetBrains Mono" pitchFamily="49" charset="0"/>
                <a:ea typeface="JetBrains Mono" pitchFamily="49" charset="-122"/>
                <a:cs typeface="JetBrains Mono" pitchFamily="49" charset="-120"/>
              </a:rPr>
              <a:t>(query: </a:t>
            </a:r>
            <a:r>
              <a:rPr lang="en-US" sz="1150" dirty="0">
                <a:solidFill>
                  <a:srgbClr val="C792EA"/>
                </a:solidFill>
                <a:latin typeface="JetBrains Mono" pitchFamily="49" charset="0"/>
                <a:ea typeface="JetBrains Mono" pitchFamily="49" charset="-122"/>
                <a:cs typeface="JetBrains Mono" pitchFamily="49" charset="-120"/>
              </a:rPr>
              <a:t>str</a:t>
            </a:r>
            <a:r>
              <a:rPr lang="en-US" sz="1150" dirty="0">
                <a:solidFill>
                  <a:srgbClr val="C9D1E0"/>
                </a:solidFill>
                <a:latin typeface="JetBrains Mono" pitchFamily="49" charset="0"/>
                <a:ea typeface="JetBrains Mono" pitchFamily="49" charset="-122"/>
                <a:cs typeface="JetBrains Mono" pitchFamily="49" charset="-120"/>
              </a:rPr>
              <a:t>) -&gt; </a:t>
            </a:r>
            <a:r>
              <a:rPr lang="en-US" sz="1150" dirty="0">
                <a:solidFill>
                  <a:srgbClr val="C792EA"/>
                </a:solidFill>
                <a:latin typeface="JetBrains Mono" pitchFamily="49" charset="0"/>
                <a:ea typeface="JetBrains Mono" pitchFamily="49" charset="-122"/>
                <a:cs typeface="JetBrains Mono" pitchFamily="49" charset="-120"/>
              </a:rPr>
              <a:t>str</a:t>
            </a:r>
            <a:r>
              <a:rPr lang="en-US" sz="1150" dirty="0">
                <a:solidFill>
                  <a:srgbClr val="C9D1E0"/>
                </a:solidFill>
                <a:latin typeface="JetBrains Mono" pitchFamily="49" charset="0"/>
                <a:ea typeface="JetBrains Mono" pitchFamily="49" charset="-122"/>
                <a:cs typeface="JetBrains Mono" pitchFamily="49" charset="-120"/>
              </a:rPr>
              <a:t>:</a:t>
            </a:r>
            <a:endParaRPr lang="en-US" sz="1150" dirty="0"/>
          </a:p>
          <a:p>
            <a:pPr algn="l" indent="0" marL="0">
              <a:lnSpc>
                <a:spcPts val="1840"/>
              </a:lnSpc>
              <a:buNone/>
            </a:pPr>
            <a:r>
              <a:rPr lang="en-US" sz="1150" dirty="0">
                <a:solidFill>
                  <a:srgbClr val="C9D1E0"/>
                </a:solidFill>
                <a:latin typeface="JetBrains Mono" pitchFamily="49" charset="0"/>
                <a:ea typeface="JetBrains Mono" pitchFamily="49" charset="-122"/>
                <a:cs typeface="JetBrains Mono" pitchFamily="49" charset="-120"/>
              </a:rPr>
              <a:t>    </a:t>
            </a:r>
            <a:r>
              <a:rPr lang="en-US" sz="1150" dirty="0">
                <a:solidFill>
                  <a:srgbClr val="FFCDAA"/>
                </a:solidFill>
                <a:latin typeface="JetBrains Mono" pitchFamily="49" charset="0"/>
                <a:ea typeface="JetBrains Mono" pitchFamily="49" charset="-122"/>
                <a:cs typeface="JetBrains Mono" pitchFamily="49" charset="-120"/>
              </a:rPr>
              <a:t>"""Confluence 페이지 검색"""</a:t>
            </a:r>
            <a:endParaRPr lang="en-US" sz="1150" dirty="0"/>
          </a:p>
          <a:p>
            <a:pPr algn="l" indent="0" marL="0">
              <a:lnSpc>
                <a:spcPts val="1840"/>
              </a:lnSpc>
              <a:buNone/>
            </a:pPr>
            <a:r>
              <a:rPr lang="en-US" sz="1150" dirty="0">
                <a:solidFill>
                  <a:srgbClr val="C9D1E0"/>
                </a:solidFill>
                <a:latin typeface="JetBrains Mono" pitchFamily="49" charset="0"/>
                <a:ea typeface="JetBrains Mono" pitchFamily="49" charset="-122"/>
                <a:cs typeface="JetBrains Mono" pitchFamily="49" charset="-120"/>
              </a:rPr>
              <a:t>    </a:t>
            </a:r>
            <a:r>
              <a:rPr lang="en-US" sz="1150" dirty="0">
                <a:solidFill>
                  <a:srgbClr val="C792EA"/>
                </a:solidFill>
                <a:latin typeface="JetBrains Mono" pitchFamily="49" charset="0"/>
                <a:ea typeface="JetBrains Mono" pitchFamily="49" charset="-122"/>
                <a:cs typeface="JetBrains Mono" pitchFamily="49" charset="-120"/>
              </a:rPr>
              <a:t>return</a:t>
            </a:r>
            <a:r>
              <a:rPr lang="en-US" sz="1150" dirty="0">
                <a:solidFill>
                  <a:srgbClr val="C9D1E0"/>
                </a:solidFill>
                <a:latin typeface="JetBrains Mono" pitchFamily="49" charset="0"/>
                <a:ea typeface="JetBrains Mono" pitchFamily="49" charset="-122"/>
                <a:cs typeface="JetBrains Mono" pitchFamily="49" charset="-120"/>
              </a:rPr>
              <a:t> </a:t>
            </a:r>
            <a:r>
              <a:rPr lang="en-US" sz="1150" dirty="0">
                <a:solidFill>
                  <a:srgbClr val="82AAFF"/>
                </a:solidFill>
                <a:latin typeface="JetBrains Mono" pitchFamily="49" charset="0"/>
                <a:ea typeface="JetBrains Mono" pitchFamily="49" charset="-122"/>
                <a:cs typeface="JetBrains Mono" pitchFamily="49" charset="-120"/>
              </a:rPr>
              <a:t>search_confluence</a:t>
            </a:r>
            <a:r>
              <a:rPr lang="en-US" sz="1150" dirty="0">
                <a:solidFill>
                  <a:srgbClr val="C9D1E0"/>
                </a:solidFill>
                <a:latin typeface="JetBrains Mono" pitchFamily="49" charset="0"/>
                <a:ea typeface="JetBrains Mono" pitchFamily="49" charset="-122"/>
                <a:cs typeface="JetBrains Mono" pitchFamily="49" charset="-120"/>
              </a:rPr>
              <a:t>(query)</a:t>
            </a:r>
            <a:endParaRPr lang="en-US" sz="1150" dirty="0"/>
          </a:p>
          <a:p>
            <a:pPr algn="l" indent="0" marL="0">
              <a:lnSpc>
                <a:spcPts val="1840"/>
              </a:lnSpc>
              <a:buNone/>
            </a:pPr>
            <a:r>
              <a:rPr lang="en-US" sz="1150" dirty="0">
                <a:solidFill>
                  <a:srgbClr val="C9D1E0"/>
                </a:solidFill>
                <a:latin typeface="JetBrains Mono" pitchFamily="49" charset="0"/>
                <a:ea typeface="JetBrains Mono" pitchFamily="49" charset="-122"/>
                <a:cs typeface="JetBrains Mono" pitchFamily="49" charset="-120"/>
              </a:rPr>
              <a:t> </a:t>
            </a:r>
            <a:endParaRPr lang="en-US" sz="1150" dirty="0"/>
          </a:p>
          <a:p>
            <a:pPr algn="l" indent="0" marL="0">
              <a:lnSpc>
                <a:spcPts val="1840"/>
              </a:lnSpc>
              <a:buNone/>
            </a:pPr>
            <a:r>
              <a:rPr lang="en-US" sz="1150" dirty="0">
                <a:solidFill>
                  <a:srgbClr val="C792EA"/>
                </a:solidFill>
                <a:latin typeface="JetBrains Mono" pitchFamily="49" charset="0"/>
                <a:ea typeface="JetBrains Mono" pitchFamily="49" charset="-122"/>
                <a:cs typeface="JetBrains Mono" pitchFamily="49" charset="-120"/>
              </a:rPr>
              <a:t>if</a:t>
            </a:r>
            <a:r>
              <a:rPr lang="en-US" sz="1150" dirty="0">
                <a:solidFill>
                  <a:srgbClr val="C9D1E0"/>
                </a:solidFill>
                <a:latin typeface="JetBrains Mono" pitchFamily="49" charset="0"/>
                <a:ea typeface="JetBrains Mono" pitchFamily="49" charset="-122"/>
                <a:cs typeface="JetBrains Mono" pitchFamily="49" charset="-120"/>
              </a:rPr>
              <a:t> __name__ == </a:t>
            </a:r>
            <a:r>
              <a:rPr lang="en-US" sz="1150" dirty="0">
                <a:solidFill>
                  <a:srgbClr val="FFCDAA"/>
                </a:solidFill>
                <a:latin typeface="JetBrains Mono" pitchFamily="49" charset="0"/>
                <a:ea typeface="JetBrains Mono" pitchFamily="49" charset="-122"/>
                <a:cs typeface="JetBrains Mono" pitchFamily="49" charset="-120"/>
              </a:rPr>
              <a:t>"__main__"</a:t>
            </a:r>
            <a:r>
              <a:rPr lang="en-US" sz="1150" dirty="0">
                <a:solidFill>
                  <a:srgbClr val="C9D1E0"/>
                </a:solidFill>
                <a:latin typeface="JetBrains Mono" pitchFamily="49" charset="0"/>
                <a:ea typeface="JetBrains Mono" pitchFamily="49" charset="-122"/>
                <a:cs typeface="JetBrains Mono" pitchFamily="49" charset="-120"/>
              </a:rPr>
              <a:t>:</a:t>
            </a:r>
            <a:endParaRPr lang="en-US" sz="1150" dirty="0"/>
          </a:p>
          <a:p>
            <a:pPr algn="l" indent="0" marL="0">
              <a:lnSpc>
                <a:spcPts val="1840"/>
              </a:lnSpc>
              <a:buNone/>
            </a:pPr>
            <a:r>
              <a:rPr lang="en-US" sz="1150" dirty="0">
                <a:solidFill>
                  <a:srgbClr val="C9D1E0"/>
                </a:solidFill>
                <a:latin typeface="JetBrains Mono" pitchFamily="49" charset="0"/>
                <a:ea typeface="JetBrains Mono" pitchFamily="49" charset="-122"/>
                <a:cs typeface="JetBrains Mono" pitchFamily="49" charset="-120"/>
              </a:rPr>
              <a:t>    mcp.</a:t>
            </a:r>
            <a:r>
              <a:rPr lang="en-US" sz="1150" dirty="0">
                <a:solidFill>
                  <a:srgbClr val="82AAFF"/>
                </a:solidFill>
                <a:latin typeface="JetBrains Mono" pitchFamily="49" charset="0"/>
                <a:ea typeface="JetBrains Mono" pitchFamily="49" charset="-122"/>
                <a:cs typeface="JetBrains Mono" pitchFamily="49" charset="-120"/>
              </a:rPr>
              <a:t>run</a:t>
            </a:r>
            <a:r>
              <a:rPr lang="en-US" sz="1150" dirty="0">
                <a:solidFill>
                  <a:srgbClr val="C9D1E0"/>
                </a:solidFill>
                <a:latin typeface="JetBrains Mono" pitchFamily="49" charset="0"/>
                <a:ea typeface="JetBrains Mono" pitchFamily="49" charset="-122"/>
                <a:cs typeface="JetBrains Mono" pitchFamily="49" charset="-120"/>
              </a:rPr>
              <a:t>() </a:t>
            </a:r>
            <a:r>
              <a:rPr lang="en-US" sz="1150" dirty="0">
                <a:solidFill>
                  <a:srgbClr val="7F8AA3"/>
                </a:solidFill>
                <a:latin typeface="JetBrains Mono" pitchFamily="49" charset="0"/>
                <a:ea typeface="JetBrains Mono" pitchFamily="49" charset="-122"/>
                <a:cs typeface="JetBrains Mono" pitchFamily="49" charset="-120"/>
              </a:rPr>
              <a:t># 기본 stdio로 대기</a:t>
            </a:r>
            <a:endParaRPr lang="en-US" sz="1150" dirty="0"/>
          </a:p>
        </p:txBody>
      </p:sp>
      <p:sp>
        <p:nvSpPr>
          <p:cNvPr id="25" name="Text 21"/>
          <p:cNvSpPr/>
          <p:nvPr/>
        </p:nvSpPr>
        <p:spPr>
          <a:xfrm>
            <a:off x="6921500" y="5596930"/>
            <a:ext cx="888107" cy="219670"/>
          </a:xfrm>
          <a:prstGeom prst="roundRect">
            <a:avLst>
              <a:gd name="adj" fmla="val 23126"/>
            </a:avLst>
          </a:prstGeom>
          <a:solidFill>
            <a:srgbClr val="E6F3EB"/>
          </a:solidFill>
          <a:ln/>
        </p:spPr>
        <p:txBody>
          <a:bodyPr wrap="none" lIns="0" tIns="0" rIns="0" bIns="0" rtlCol="0" anchor="ctr">
            <a:normAutofit/>
          </a:bodyPr>
          <a:lstStyle/>
          <a:p>
            <a:pPr algn="ctr" indent="0" marL="0">
              <a:lnSpc>
                <a:spcPts val="1330"/>
              </a:lnSpc>
              <a:buNone/>
            </a:pPr>
            <a:r>
              <a:rPr lang="en-US" sz="950" b="1" dirty="0">
                <a:solidFill>
                  <a:srgbClr val="1E6B3A"/>
                </a:solidFill>
                <a:latin typeface="Noto Sans KR" pitchFamily="34" charset="0"/>
                <a:ea typeface="Noto Sans KR" pitchFamily="34" charset="-122"/>
                <a:cs typeface="Noto Sans KR" pitchFamily="34" charset="-120"/>
              </a:rPr>
              <a:t>@mcp.tool()</a:t>
            </a:r>
            <a:endParaRPr lang="en-US" sz="950" dirty="0"/>
          </a:p>
        </p:txBody>
      </p:sp>
      <p:sp>
        <p:nvSpPr>
          <p:cNvPr id="26" name="Text 22"/>
          <p:cNvSpPr/>
          <p:nvPr/>
        </p:nvSpPr>
        <p:spPr>
          <a:xfrm>
            <a:off x="7873107" y="5617865"/>
            <a:ext cx="177800" cy="203200"/>
          </a:xfrm>
          <a:prstGeom prst="rect">
            <a:avLst/>
          </a:prstGeom>
          <a:noFill/>
          <a:ln/>
        </p:spPr>
        <p:txBody>
          <a:bodyPr wrap="square" lIns="0" tIns="0" rIns="0" bIns="0" rtlCol="0" anchor="t">
            <a:normAutofit/>
          </a:bodyPr>
          <a:lstStyle/>
          <a:p>
            <a:pPr algn="l" indent="0" marL="0">
              <a:lnSpc>
                <a:spcPts val="1400"/>
              </a:lnSpc>
              <a:buNone/>
            </a:pPr>
            <a:r>
              <a:rPr lang="en-US" sz="1000" b="1" dirty="0">
                <a:solidFill>
                  <a:srgbClr val="1E6B3A"/>
                </a:solidFill>
                <a:latin typeface="Noto Sans KR" pitchFamily="34" charset="0"/>
                <a:ea typeface="Noto Sans KR" pitchFamily="34" charset="-122"/>
                <a:cs typeface="Noto Sans KR" pitchFamily="34" charset="-120"/>
              </a:rPr>
              <a:t>→</a:t>
            </a:r>
            <a:endParaRPr lang="en-US" sz="1000" dirty="0"/>
          </a:p>
        </p:txBody>
      </p:sp>
      <p:sp>
        <p:nvSpPr>
          <p:cNvPr id="27" name="Text 23"/>
          <p:cNvSpPr/>
          <p:nvPr/>
        </p:nvSpPr>
        <p:spPr>
          <a:xfrm>
            <a:off x="8063607" y="5596930"/>
            <a:ext cx="745331" cy="219670"/>
          </a:xfrm>
          <a:prstGeom prst="roundRect">
            <a:avLst>
              <a:gd name="adj" fmla="val 23126"/>
            </a:avLst>
          </a:prstGeom>
          <a:solidFill>
            <a:srgbClr val="E6F3EB"/>
          </a:solidFill>
          <a:ln/>
        </p:spPr>
        <p:txBody>
          <a:bodyPr wrap="none" lIns="0" tIns="0" rIns="0" bIns="0" rtlCol="0" anchor="ctr">
            <a:normAutofit/>
          </a:bodyPr>
          <a:lstStyle/>
          <a:p>
            <a:pPr algn="ctr" indent="0" marL="0">
              <a:lnSpc>
                <a:spcPts val="1330"/>
              </a:lnSpc>
              <a:buNone/>
            </a:pPr>
            <a:r>
              <a:rPr lang="en-US" sz="950" b="1" dirty="0">
                <a:solidFill>
                  <a:srgbClr val="1E6B3A"/>
                </a:solidFill>
                <a:latin typeface="Noto Sans KR" pitchFamily="34" charset="0"/>
                <a:ea typeface="Noto Sans KR" pitchFamily="34" charset="-122"/>
                <a:cs typeface="Noto Sans KR" pitchFamily="34" charset="-120"/>
              </a:rPr>
              <a:t>mcp.run()</a:t>
            </a:r>
            <a:endParaRPr lang="en-US" sz="950" dirty="0"/>
          </a:p>
        </p:txBody>
      </p:sp>
      <p:sp>
        <p:nvSpPr>
          <p:cNvPr id="28" name="Text 24"/>
          <p:cNvSpPr/>
          <p:nvPr/>
        </p:nvSpPr>
        <p:spPr>
          <a:xfrm>
            <a:off x="8872438" y="5617865"/>
            <a:ext cx="177800" cy="203200"/>
          </a:xfrm>
          <a:prstGeom prst="rect">
            <a:avLst/>
          </a:prstGeom>
          <a:noFill/>
          <a:ln/>
        </p:spPr>
        <p:txBody>
          <a:bodyPr wrap="square" lIns="0" tIns="0" rIns="0" bIns="0" rtlCol="0" anchor="t">
            <a:normAutofit/>
          </a:bodyPr>
          <a:lstStyle/>
          <a:p>
            <a:pPr algn="l" indent="0" marL="0">
              <a:lnSpc>
                <a:spcPts val="1400"/>
              </a:lnSpc>
              <a:buNone/>
            </a:pPr>
            <a:r>
              <a:rPr lang="en-US" sz="1000" b="1" dirty="0">
                <a:solidFill>
                  <a:srgbClr val="1E6B3A"/>
                </a:solidFill>
                <a:latin typeface="Noto Sans KR" pitchFamily="34" charset="0"/>
                <a:ea typeface="Noto Sans KR" pitchFamily="34" charset="-122"/>
                <a:cs typeface="Noto Sans KR" pitchFamily="34" charset="-120"/>
              </a:rPr>
              <a:t>→</a:t>
            </a:r>
            <a:endParaRPr lang="en-US" sz="1000" dirty="0"/>
          </a:p>
        </p:txBody>
      </p:sp>
      <p:sp>
        <p:nvSpPr>
          <p:cNvPr id="29" name="Text 25"/>
          <p:cNvSpPr/>
          <p:nvPr/>
        </p:nvSpPr>
        <p:spPr>
          <a:xfrm>
            <a:off x="9062938" y="5596930"/>
            <a:ext cx="623788" cy="219670"/>
          </a:xfrm>
          <a:prstGeom prst="roundRect">
            <a:avLst>
              <a:gd name="adj" fmla="val 23126"/>
            </a:avLst>
          </a:prstGeom>
          <a:solidFill>
            <a:srgbClr val="E6F3EB"/>
          </a:solidFill>
          <a:ln/>
        </p:spPr>
        <p:txBody>
          <a:bodyPr wrap="none" lIns="0" tIns="0" rIns="0" bIns="0" rtlCol="0" anchor="ctr">
            <a:normAutofit/>
          </a:bodyPr>
          <a:lstStyle/>
          <a:p>
            <a:pPr algn="ctr" indent="0" marL="0">
              <a:lnSpc>
                <a:spcPts val="1330"/>
              </a:lnSpc>
              <a:buNone/>
            </a:pPr>
            <a:r>
              <a:rPr lang="en-US" sz="950" b="1" dirty="0">
                <a:solidFill>
                  <a:srgbClr val="1E6B3A"/>
                </a:solidFill>
                <a:latin typeface="Noto Sans KR" pitchFamily="34" charset="0"/>
                <a:ea typeface="Noto Sans KR" pitchFamily="34" charset="-122"/>
                <a:cs typeface="Noto Sans KR" pitchFamily="34" charset="-120"/>
              </a:rPr>
              <a:t>결과 반환</a:t>
            </a:r>
            <a:endParaRPr lang="en-US" sz="950" dirty="0"/>
          </a:p>
        </p:txBody>
      </p:sp>
      <p:sp>
        <p:nvSpPr>
          <p:cNvPr id="30" name="Shape 26"/>
          <p:cNvSpPr/>
          <p:nvPr/>
        </p:nvSpPr>
        <p:spPr>
          <a:xfrm>
            <a:off x="482600" y="6051550"/>
            <a:ext cx="11226800" cy="400050"/>
          </a:xfrm>
          <a:prstGeom prst="roundRect">
            <a:avLst>
              <a:gd name="adj" fmla="val 19048"/>
            </a:avLst>
          </a:prstGeom>
          <a:solidFill>
            <a:srgbClr val="1428A0"/>
          </a:solidFill>
          <a:ln/>
        </p:spPr>
      </p:sp>
      <p:sp>
        <p:nvSpPr>
          <p:cNvPr id="31" name="Text 27"/>
          <p:cNvSpPr/>
          <p:nvPr/>
        </p:nvSpPr>
        <p:spPr>
          <a:xfrm>
            <a:off x="647700" y="6140450"/>
            <a:ext cx="5392744"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FFFFFF"/>
                </a:solidFill>
                <a:latin typeface="Noto Sans KR" pitchFamily="34" charset="0"/>
                <a:ea typeface="Noto Sans KR" pitchFamily="34" charset="-122"/>
                <a:cs typeface="Noto Sans KR" pitchFamily="34" charset="-120"/>
              </a:rPr>
              <a:t>MCP Client는 Claude Desktop 앱에 내장되어 코딩되어 있으므로 보이지 않음</a:t>
            </a:r>
            <a:endParaRPr lang="en-US" sz="1250" dirty="0"/>
          </a:p>
        </p:txBody>
      </p:sp>
      <p:sp>
        <p:nvSpPr>
          <p:cNvPr id="32" name="Text 28"/>
          <p:cNvSpPr/>
          <p:nvPr/>
        </p:nvSpPr>
        <p:spPr>
          <a:xfrm>
            <a:off x="5984974" y="6158210"/>
            <a:ext cx="2499697" cy="212030"/>
          </a:xfrm>
          <a:prstGeom prst="rect">
            <a:avLst/>
          </a:prstGeom>
          <a:noFill/>
          <a:ln/>
        </p:spPr>
        <p:txBody>
          <a:bodyPr wrap="none" lIns="0" tIns="0" rIns="0" bIns="0" rtlCol="0" anchor="t">
            <a:normAutofit/>
          </a:bodyPr>
          <a:lstStyle/>
          <a:p>
            <a:pPr algn="l" indent="0" marL="0">
              <a:lnSpc>
                <a:spcPts val="1470"/>
              </a:lnSpc>
              <a:buNone/>
            </a:pPr>
            <a:r>
              <a:rPr lang="en-US" sz="1050" dirty="0">
                <a:solidFill>
                  <a:srgbClr val="BFD0FF"/>
                </a:solidFill>
                <a:latin typeface="Noto Sans KR" pitchFamily="34" charset="0"/>
                <a:ea typeface="Noto Sans KR" pitchFamily="34" charset="-122"/>
                <a:cs typeface="Noto Sans KR" pitchFamily="34" charset="-120"/>
              </a:rPr>
              <a:t>사용자가 작성 · 등록하는 것은 MCP Server</a:t>
            </a:r>
            <a:endParaRPr lang="en-US" sz="1050" dirty="0"/>
          </a:p>
        </p:txBody>
      </p:sp>
      <p:sp>
        <p:nvSpPr>
          <p:cNvPr id="33" name="Text 29"/>
          <p:cNvSpPr/>
          <p:nvPr/>
        </p:nvSpPr>
        <p:spPr>
          <a:xfrm>
            <a:off x="11150600" y="65176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29</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457200" y="292100"/>
            <a:ext cx="3350780" cy="22096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1428A0"/>
                </a:solidFill>
                <a:latin typeface="Noto Sans KR" pitchFamily="34" charset="0"/>
                <a:ea typeface="Noto Sans KR" pitchFamily="34" charset="-122"/>
                <a:cs typeface="Noto Sans KR" pitchFamily="34" charset="-120"/>
              </a:rPr>
              <a:t>MCP 프로토콜 · JSON-RPC 2.0</a:t>
            </a:r>
            <a:endParaRPr lang="en-US" sz="1100" dirty="0"/>
          </a:p>
        </p:txBody>
      </p:sp>
      <p:sp>
        <p:nvSpPr>
          <p:cNvPr id="3" name="Text 1"/>
          <p:cNvSpPr/>
          <p:nvPr>
            <p:ph type="title"/>
          </p:nvPr>
        </p:nvSpPr>
        <p:spPr>
          <a:xfrm>
            <a:off x="457200" y="513060"/>
            <a:ext cx="3903821" cy="346670"/>
          </a:xfrm>
          <a:prstGeom prst="rect">
            <a:avLst/>
          </a:prstGeom>
          <a:noFill/>
          <a:ln/>
        </p:spPr>
        <p:txBody>
          <a:bodyPr wrap="square" lIns="0" tIns="0" rIns="0" bIns="0" rtlCol="0" anchor="t">
            <a:normAutofit/>
          </a:bodyPr>
          <a:lstStyle/>
          <a:p>
            <a:pPr algn="l" indent="0" marL="0">
              <a:lnSpc>
                <a:spcPts val="2530"/>
              </a:lnSpc>
              <a:buNone/>
            </a:pPr>
            <a:r>
              <a:rPr lang="en-US" sz="2300" b="1" i="0" dirty="0">
                <a:solidFill>
                  <a:srgbClr val="0E1320"/>
                </a:solidFill>
                <a:latin typeface="Noto Sans KR" pitchFamily="34" charset="0"/>
                <a:ea typeface="Noto Sans KR" pitchFamily="34" charset="-122"/>
                <a:cs typeface="Noto Sans KR" pitchFamily="34" charset="-120"/>
              </a:rPr>
              <a:t>MCP 프로토콜 실제 데이터</a:t>
            </a:r>
            <a:endParaRPr lang="en-US" sz="2300" dirty="0"/>
          </a:p>
        </p:txBody>
      </p:sp>
      <p:sp>
        <p:nvSpPr>
          <p:cNvPr id="4" name="Shape 2"/>
          <p:cNvSpPr/>
          <p:nvPr/>
        </p:nvSpPr>
        <p:spPr>
          <a:xfrm>
            <a:off x="457200" y="935930"/>
            <a:ext cx="1333500" cy="0"/>
          </a:xfrm>
          <a:prstGeom prst="line">
            <a:avLst/>
          </a:prstGeom>
          <a:noFill/>
          <a:ln w="25400">
            <a:solidFill>
              <a:srgbClr val="1428A0"/>
            </a:solidFill>
            <a:prstDash val="solid"/>
          </a:ln>
        </p:spPr>
      </p:sp>
      <p:sp>
        <p:nvSpPr>
          <p:cNvPr id="5" name="Text 3"/>
          <p:cNvSpPr/>
          <p:nvPr/>
        </p:nvSpPr>
        <p:spPr>
          <a:xfrm>
            <a:off x="457200" y="1622822"/>
            <a:ext cx="1384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1320"/>
                </a:solidFill>
                <a:latin typeface="Noto Sans KR" pitchFamily="34" charset="0"/>
                <a:ea typeface="Noto Sans KR" pitchFamily="34" charset="-122"/>
                <a:cs typeface="Noto Sans KR" pitchFamily="34" charset="-120"/>
              </a:rPr>
              <a:t>① 초기화</a:t>
            </a:r>
            <a:endParaRPr lang="en-US" sz="1400" dirty="0"/>
          </a:p>
        </p:txBody>
      </p:sp>
      <p:sp>
        <p:nvSpPr>
          <p:cNvPr id="6" name="Text 4"/>
          <p:cNvSpPr/>
          <p:nvPr/>
        </p:nvSpPr>
        <p:spPr>
          <a:xfrm>
            <a:off x="457200" y="1909762"/>
            <a:ext cx="1384300" cy="203200"/>
          </a:xfrm>
          <a:prstGeom prst="rect">
            <a:avLst/>
          </a:prstGeom>
          <a:noFill/>
          <a:ln/>
        </p:spPr>
        <p:txBody>
          <a:bodyPr wrap="square" lIns="0" tIns="0" rIns="0" bIns="0" rtlCol="0" anchor="t">
            <a:normAutofit/>
          </a:bodyPr>
          <a:lstStyle/>
          <a:p>
            <a:pPr algn="l" indent="0" marL="0">
              <a:lnSpc>
                <a:spcPts val="1400"/>
              </a:lnSpc>
              <a:buNone/>
            </a:pPr>
            <a:r>
              <a:rPr lang="en-US" sz="1000" b="1" dirty="0">
                <a:solidFill>
                  <a:srgbClr val="1428A0"/>
                </a:solidFill>
                <a:latin typeface="JetBrains Mono" pitchFamily="49" charset="0"/>
                <a:ea typeface="JetBrains Mono" pitchFamily="49" charset="-122"/>
                <a:cs typeface="JetBrains Mono" pitchFamily="49" charset="-120"/>
              </a:rPr>
              <a:t>initialize</a:t>
            </a:r>
            <a:endParaRPr lang="en-US" sz="1000" dirty="0"/>
          </a:p>
        </p:txBody>
      </p:sp>
      <p:sp>
        <p:nvSpPr>
          <p:cNvPr id="7" name="Text 5"/>
          <p:cNvSpPr/>
          <p:nvPr/>
        </p:nvSpPr>
        <p:spPr>
          <a:xfrm>
            <a:off x="1892300" y="923230"/>
            <a:ext cx="4813808" cy="176510"/>
          </a:xfrm>
          <a:prstGeom prst="rect">
            <a:avLst/>
          </a:prstGeom>
          <a:noFill/>
          <a:ln/>
        </p:spPr>
        <p:txBody>
          <a:bodyPr wrap="square" lIns="0" tIns="0" rIns="0" bIns="0" rtlCol="0" anchor="t">
            <a:normAutofit/>
          </a:bodyPr>
          <a:lstStyle/>
          <a:p>
            <a:pPr algn="l" indent="0" marL="0">
              <a:lnSpc>
                <a:spcPts val="1190"/>
              </a:lnSpc>
              <a:buNone/>
            </a:pPr>
            <a:r>
              <a:rPr lang="en-US" sz="850" b="1" dirty="0">
                <a:solidFill>
                  <a:srgbClr val="1428A0"/>
                </a:solidFill>
                <a:latin typeface="Noto Sans KR" pitchFamily="34" charset="0"/>
                <a:ea typeface="Noto Sans KR" pitchFamily="34" charset="-122"/>
                <a:cs typeface="Noto Sans KR" pitchFamily="34" charset="-120"/>
              </a:rPr>
              <a:t>Client → Server · 요청 (stdin)</a:t>
            </a:r>
            <a:endParaRPr lang="en-US" sz="850" dirty="0"/>
          </a:p>
        </p:txBody>
      </p:sp>
      <p:sp>
        <p:nvSpPr>
          <p:cNvPr id="8" name="Text 6"/>
          <p:cNvSpPr/>
          <p:nvPr/>
        </p:nvSpPr>
        <p:spPr>
          <a:xfrm>
            <a:off x="1892300" y="1112441"/>
            <a:ext cx="4673600" cy="1598513"/>
          </a:xfrm>
          <a:prstGeom prst="roundRect">
            <a:avLst>
              <a:gd name="adj" fmla="val 3972"/>
            </a:avLst>
          </a:prstGeom>
          <a:solidFill>
            <a:srgbClr val="0E1320"/>
          </a:solidFill>
          <a:ln/>
        </p:spPr>
        <p:txBody>
          <a:bodyPr wrap="square" lIns="133801" tIns="57601" rIns="0" bIns="57601" rtlCol="0" anchor="t">
            <a:normAutofit/>
          </a:bodyPr>
          <a:lstStyle/>
          <a:p>
            <a:pPr algn="l" indent="0" marL="0">
              <a:lnSpc>
                <a:spcPts val="1705"/>
              </a:lnSpc>
              <a:buNone/>
            </a:pP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C3E88D"/>
                </a:solidFill>
                <a:latin typeface="JetBrains Mono" pitchFamily="49" charset="0"/>
                <a:ea typeface="JetBrains Mono" pitchFamily="49" charset="-122"/>
                <a:cs typeface="JetBrains Mono" pitchFamily="49" charset="-120"/>
              </a:rPr>
              <a:t>"jsonrpc"</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FFCDAA"/>
                </a:solidFill>
                <a:latin typeface="JetBrains Mono" pitchFamily="49" charset="0"/>
                <a:ea typeface="JetBrains Mono" pitchFamily="49" charset="-122"/>
                <a:cs typeface="JetBrains Mono" pitchFamily="49" charset="-120"/>
              </a:rPr>
              <a:t>"2.0"</a:t>
            </a: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C3E88D"/>
                </a:solidFill>
                <a:latin typeface="JetBrains Mono" pitchFamily="49" charset="0"/>
                <a:ea typeface="JetBrains Mono" pitchFamily="49" charset="-122"/>
                <a:cs typeface="JetBrains Mono" pitchFamily="49" charset="-120"/>
              </a:rPr>
              <a:t>"id"</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9DB4FF"/>
                </a:solidFill>
                <a:latin typeface="JetBrains Mono" pitchFamily="49" charset="0"/>
                <a:ea typeface="JetBrains Mono" pitchFamily="49" charset="-122"/>
                <a:cs typeface="JetBrains Mono" pitchFamily="49" charset="-120"/>
              </a:rPr>
              <a:t>1</a:t>
            </a:r>
            <a:r>
              <a:rPr lang="en-US" sz="1100" dirty="0">
                <a:solidFill>
                  <a:srgbClr val="C9D1E0"/>
                </a:solidFill>
                <a:latin typeface="JetBrains Mono" pitchFamily="49" charset="0"/>
                <a:ea typeface="JetBrains Mono" pitchFamily="49" charset="-122"/>
                <a:cs typeface="JetBrains Mono" pitchFamily="49" charset="-120"/>
              </a:rPr>
              <a:t>,</a:t>
            </a:r>
            <a:endParaRPr lang="en-US" sz="1100" dirty="0"/>
          </a:p>
          <a:p>
            <a:pPr algn="l" indent="0" marL="0">
              <a:lnSpc>
                <a:spcPts val="1705"/>
              </a:lnSpc>
              <a:buNone/>
            </a:pP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C3E88D"/>
                </a:solidFill>
                <a:latin typeface="JetBrains Mono" pitchFamily="49" charset="0"/>
                <a:ea typeface="JetBrains Mono" pitchFamily="49" charset="-122"/>
                <a:cs typeface="JetBrains Mono" pitchFamily="49" charset="-120"/>
              </a:rPr>
              <a:t>"method"</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FFCDAA"/>
                </a:solidFill>
                <a:latin typeface="JetBrains Mono" pitchFamily="49" charset="0"/>
                <a:ea typeface="JetBrains Mono" pitchFamily="49" charset="-122"/>
                <a:cs typeface="JetBrains Mono" pitchFamily="49" charset="-120"/>
              </a:rPr>
              <a:t>"initialize"</a:t>
            </a:r>
            <a:r>
              <a:rPr lang="en-US" sz="1100" dirty="0">
                <a:solidFill>
                  <a:srgbClr val="C9D1E0"/>
                </a:solidFill>
                <a:latin typeface="JetBrains Mono" pitchFamily="49" charset="0"/>
                <a:ea typeface="JetBrains Mono" pitchFamily="49" charset="-122"/>
                <a:cs typeface="JetBrains Mono" pitchFamily="49" charset="-120"/>
              </a:rPr>
              <a:t>,</a:t>
            </a:r>
            <a:endParaRPr lang="en-US" sz="1100" dirty="0"/>
          </a:p>
          <a:p>
            <a:pPr algn="l" indent="0" marL="0">
              <a:lnSpc>
                <a:spcPts val="1705"/>
              </a:lnSpc>
              <a:buNone/>
            </a:pP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C3E88D"/>
                </a:solidFill>
                <a:latin typeface="JetBrains Mono" pitchFamily="49" charset="0"/>
                <a:ea typeface="JetBrains Mono" pitchFamily="49" charset="-122"/>
                <a:cs typeface="JetBrains Mono" pitchFamily="49" charset="-120"/>
              </a:rPr>
              <a:t>"params"</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C3E88D"/>
                </a:solidFill>
                <a:latin typeface="JetBrains Mono" pitchFamily="49" charset="0"/>
                <a:ea typeface="JetBrains Mono" pitchFamily="49" charset="-122"/>
                <a:cs typeface="JetBrains Mono" pitchFamily="49" charset="-120"/>
              </a:rPr>
              <a:t>"protocolVersion"</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FFCDAA"/>
                </a:solidFill>
                <a:latin typeface="JetBrains Mono" pitchFamily="49" charset="0"/>
                <a:ea typeface="JetBrains Mono" pitchFamily="49" charset="-122"/>
                <a:cs typeface="JetBrains Mono" pitchFamily="49" charset="-120"/>
              </a:rPr>
              <a:t>"2025-06-18"</a:t>
            </a:r>
            <a:r>
              <a:rPr lang="en-US" sz="1100" dirty="0">
                <a:solidFill>
                  <a:srgbClr val="C9D1E0"/>
                </a:solidFill>
                <a:latin typeface="JetBrains Mono" pitchFamily="49" charset="0"/>
                <a:ea typeface="JetBrains Mono" pitchFamily="49" charset="-122"/>
                <a:cs typeface="JetBrains Mono" pitchFamily="49" charset="-120"/>
              </a:rPr>
              <a:t>,</a:t>
            </a:r>
            <a:endParaRPr lang="en-US" sz="1100" dirty="0"/>
          </a:p>
          <a:p>
            <a:pPr algn="l" indent="0" marL="0">
              <a:lnSpc>
                <a:spcPts val="1705"/>
              </a:lnSpc>
              <a:buNone/>
            </a:pP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C3E88D"/>
                </a:solidFill>
                <a:latin typeface="JetBrains Mono" pitchFamily="49" charset="0"/>
                <a:ea typeface="JetBrains Mono" pitchFamily="49" charset="-122"/>
                <a:cs typeface="JetBrains Mono" pitchFamily="49" charset="-120"/>
              </a:rPr>
              <a:t>"capabilities"</a:t>
            </a:r>
            <a:r>
              <a:rPr lang="en-US" sz="1100" dirty="0">
                <a:solidFill>
                  <a:srgbClr val="C9D1E0"/>
                </a:solidFill>
                <a:latin typeface="JetBrains Mono" pitchFamily="49" charset="0"/>
                <a:ea typeface="JetBrains Mono" pitchFamily="49" charset="-122"/>
                <a:cs typeface="JetBrains Mono" pitchFamily="49" charset="-120"/>
              </a:rPr>
              <a:t>:{},</a:t>
            </a:r>
            <a:endParaRPr lang="en-US" sz="1100" dirty="0"/>
          </a:p>
          <a:p>
            <a:pPr algn="l" indent="0" marL="0">
              <a:lnSpc>
                <a:spcPts val="1705"/>
              </a:lnSpc>
              <a:buNone/>
            </a:pP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C3E88D"/>
                </a:solidFill>
                <a:latin typeface="JetBrains Mono" pitchFamily="49" charset="0"/>
                <a:ea typeface="JetBrains Mono" pitchFamily="49" charset="-122"/>
                <a:cs typeface="JetBrains Mono" pitchFamily="49" charset="-120"/>
              </a:rPr>
              <a:t>"clientInfo"</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C3E88D"/>
                </a:solidFill>
                <a:latin typeface="JetBrains Mono" pitchFamily="49" charset="0"/>
                <a:ea typeface="JetBrains Mono" pitchFamily="49" charset="-122"/>
                <a:cs typeface="JetBrains Mono" pitchFamily="49" charset="-120"/>
              </a:rPr>
              <a:t>"name"</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FFCDAA"/>
                </a:solidFill>
                <a:latin typeface="JetBrains Mono" pitchFamily="49" charset="0"/>
                <a:ea typeface="JetBrains Mono" pitchFamily="49" charset="-122"/>
                <a:cs typeface="JetBrains Mono" pitchFamily="49" charset="-120"/>
              </a:rPr>
              <a:t>"claude-desktop"</a:t>
            </a:r>
            <a:r>
              <a:rPr lang="en-US" sz="1100" dirty="0">
                <a:solidFill>
                  <a:srgbClr val="C9D1E0"/>
                </a:solidFill>
                <a:latin typeface="JetBrains Mono" pitchFamily="49" charset="0"/>
                <a:ea typeface="JetBrains Mono" pitchFamily="49" charset="-122"/>
                <a:cs typeface="JetBrains Mono" pitchFamily="49" charset="-120"/>
              </a:rPr>
              <a:t>,</a:t>
            </a:r>
            <a:endParaRPr lang="en-US" sz="1100" dirty="0"/>
          </a:p>
          <a:p>
            <a:pPr algn="l" indent="0" marL="0">
              <a:lnSpc>
                <a:spcPts val="1705"/>
              </a:lnSpc>
              <a:buNone/>
            </a:pP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C3E88D"/>
                </a:solidFill>
                <a:latin typeface="JetBrains Mono" pitchFamily="49" charset="0"/>
                <a:ea typeface="JetBrains Mono" pitchFamily="49" charset="-122"/>
                <a:cs typeface="JetBrains Mono" pitchFamily="49" charset="-120"/>
              </a:rPr>
              <a:t>"version"</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FFCDAA"/>
                </a:solidFill>
                <a:latin typeface="JetBrains Mono" pitchFamily="49" charset="0"/>
                <a:ea typeface="JetBrains Mono" pitchFamily="49" charset="-122"/>
                <a:cs typeface="JetBrains Mono" pitchFamily="49" charset="-120"/>
              </a:rPr>
              <a:t>"1.0"</a:t>
            </a:r>
            <a:r>
              <a:rPr lang="en-US" sz="1100" dirty="0">
                <a:solidFill>
                  <a:srgbClr val="C9D1E0"/>
                </a:solidFill>
                <a:latin typeface="JetBrains Mono" pitchFamily="49" charset="0"/>
                <a:ea typeface="JetBrains Mono" pitchFamily="49" charset="-122"/>
                <a:cs typeface="JetBrains Mono" pitchFamily="49" charset="-120"/>
              </a:rPr>
              <a:t>}}}</a:t>
            </a:r>
            <a:endParaRPr lang="en-US" sz="1100" dirty="0"/>
          </a:p>
        </p:txBody>
      </p:sp>
      <p:sp>
        <p:nvSpPr>
          <p:cNvPr id="9" name="Shape 7"/>
          <p:cNvSpPr/>
          <p:nvPr/>
        </p:nvSpPr>
        <p:spPr>
          <a:xfrm>
            <a:off x="1892300" y="1112441"/>
            <a:ext cx="4673600" cy="1598513"/>
          </a:xfrm>
          <a:custGeom>
            <a:avLst/>
            <a:gdLst/>
            <a:ahLst/>
            <a:cxnLst/>
            <a:rect l="l" t="t" r="r" b="b"/>
            <a:pathLst>
              <a:path w="4673600" h="1598513">
                <a:moveTo>
                  <a:pt x="63500" y="1598513"/>
                </a:moveTo>
                <a:lnTo>
                  <a:pt x="63500" y="1598513"/>
                </a:lnTo>
                <a:arcTo hR="63500" wR="63500" stAng="5400000" swAng="5400000"/>
                <a:lnTo>
                  <a:pt x="0" y="63500"/>
                </a:lnTo>
                <a:arcTo hR="63500" wR="63500" stAng="10800000" swAng="5400000"/>
                <a:lnTo>
                  <a:pt x="63500" y="0"/>
                </a:lnTo>
                <a:arcTo hR="63500" wR="25400" stAng="16200000" swAng="-5400000"/>
                <a:lnTo>
                  <a:pt x="38100" y="1535013"/>
                </a:lnTo>
                <a:arcTo hR="63500" wR="25400" stAng="10800000" swAng="-5400000"/>
                <a:close/>
              </a:path>
            </a:pathLst>
          </a:custGeom>
          <a:solidFill>
            <a:srgbClr val="1428A0"/>
          </a:solidFill>
          <a:ln/>
        </p:spPr>
      </p:sp>
      <p:pic>
        <p:nvPicPr>
          <p:cNvPr id="10" name="Image 0" descr="preencoded.png">    </p:cNvPr>
          <p:cNvPicPr>
            <a:picLocks noChangeAspect="1"/>
          </p:cNvPicPr>
          <p:nvPr/>
        </p:nvPicPr>
        <p:blipFill>
          <a:blip r:embed="rId1"/>
          <a:srcRect l="0" r="0" t="0" b="0"/>
          <a:stretch/>
        </p:blipFill>
        <p:spPr>
          <a:xfrm>
            <a:off x="6673850" y="1677392"/>
            <a:ext cx="279400" cy="88900"/>
          </a:xfrm>
          <a:prstGeom prst="rect">
            <a:avLst/>
          </a:prstGeom>
        </p:spPr>
      </p:pic>
      <p:pic>
        <p:nvPicPr>
          <p:cNvPr id="11" name="Image 1" descr="preencoded.png">    </p:cNvPr>
          <p:cNvPicPr>
            <a:picLocks noChangeAspect="1"/>
          </p:cNvPicPr>
          <p:nvPr/>
        </p:nvPicPr>
        <p:blipFill>
          <a:blip r:embed="rId2"/>
          <a:srcRect l="0" r="0" t="0" b="0"/>
          <a:stretch/>
        </p:blipFill>
        <p:spPr>
          <a:xfrm>
            <a:off x="6673850" y="1867892"/>
            <a:ext cx="279400" cy="88900"/>
          </a:xfrm>
          <a:prstGeom prst="rect">
            <a:avLst/>
          </a:prstGeom>
        </p:spPr>
      </p:pic>
      <p:sp>
        <p:nvSpPr>
          <p:cNvPr id="12" name="Text 8"/>
          <p:cNvSpPr/>
          <p:nvPr/>
        </p:nvSpPr>
        <p:spPr>
          <a:xfrm>
            <a:off x="7061200" y="923230"/>
            <a:ext cx="4813808" cy="176510"/>
          </a:xfrm>
          <a:prstGeom prst="rect">
            <a:avLst/>
          </a:prstGeom>
          <a:noFill/>
          <a:ln/>
        </p:spPr>
        <p:txBody>
          <a:bodyPr wrap="square" lIns="0" tIns="0" rIns="0" bIns="0" rtlCol="0" anchor="t">
            <a:normAutofit/>
          </a:bodyPr>
          <a:lstStyle/>
          <a:p>
            <a:pPr algn="l" indent="0" marL="0">
              <a:lnSpc>
                <a:spcPts val="1190"/>
              </a:lnSpc>
              <a:buNone/>
            </a:pPr>
            <a:r>
              <a:rPr lang="en-US" sz="850" b="1" dirty="0">
                <a:solidFill>
                  <a:srgbClr val="1E6B3A"/>
                </a:solidFill>
                <a:latin typeface="Noto Sans KR" pitchFamily="34" charset="0"/>
                <a:ea typeface="Noto Sans KR" pitchFamily="34" charset="-122"/>
                <a:cs typeface="Noto Sans KR" pitchFamily="34" charset="-120"/>
              </a:rPr>
              <a:t>Server → Client · 응답 (stdout)</a:t>
            </a:r>
            <a:endParaRPr lang="en-US" sz="850" dirty="0"/>
          </a:p>
        </p:txBody>
      </p:sp>
      <p:sp>
        <p:nvSpPr>
          <p:cNvPr id="13" name="Text 9"/>
          <p:cNvSpPr/>
          <p:nvPr/>
        </p:nvSpPr>
        <p:spPr>
          <a:xfrm>
            <a:off x="7061200" y="1112441"/>
            <a:ext cx="4673600" cy="1598513"/>
          </a:xfrm>
          <a:prstGeom prst="roundRect">
            <a:avLst>
              <a:gd name="adj" fmla="val 3972"/>
            </a:avLst>
          </a:prstGeom>
          <a:solidFill>
            <a:srgbClr val="0E1320"/>
          </a:solidFill>
          <a:ln/>
        </p:spPr>
        <p:txBody>
          <a:bodyPr wrap="square" lIns="133801" tIns="57601" rIns="0" bIns="57601" rtlCol="0" anchor="t">
            <a:normAutofit/>
          </a:bodyPr>
          <a:lstStyle/>
          <a:p>
            <a:pPr algn="l" indent="0" marL="0">
              <a:lnSpc>
                <a:spcPts val="1705"/>
              </a:lnSpc>
              <a:buNone/>
            </a:pP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C3E88D"/>
                </a:solidFill>
                <a:latin typeface="JetBrains Mono" pitchFamily="49" charset="0"/>
                <a:ea typeface="JetBrains Mono" pitchFamily="49" charset="-122"/>
                <a:cs typeface="JetBrains Mono" pitchFamily="49" charset="-120"/>
              </a:rPr>
              <a:t>"jsonrpc"</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FFCDAA"/>
                </a:solidFill>
                <a:latin typeface="JetBrains Mono" pitchFamily="49" charset="0"/>
                <a:ea typeface="JetBrains Mono" pitchFamily="49" charset="-122"/>
                <a:cs typeface="JetBrains Mono" pitchFamily="49" charset="-120"/>
              </a:rPr>
              <a:t>"2.0"</a:t>
            </a: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C3E88D"/>
                </a:solidFill>
                <a:latin typeface="JetBrains Mono" pitchFamily="49" charset="0"/>
                <a:ea typeface="JetBrains Mono" pitchFamily="49" charset="-122"/>
                <a:cs typeface="JetBrains Mono" pitchFamily="49" charset="-120"/>
              </a:rPr>
              <a:t>"id"</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9DB4FF"/>
                </a:solidFill>
                <a:latin typeface="JetBrains Mono" pitchFamily="49" charset="0"/>
                <a:ea typeface="JetBrains Mono" pitchFamily="49" charset="-122"/>
                <a:cs typeface="JetBrains Mono" pitchFamily="49" charset="-120"/>
              </a:rPr>
              <a:t>1</a:t>
            </a:r>
            <a:r>
              <a:rPr lang="en-US" sz="1100" dirty="0">
                <a:solidFill>
                  <a:srgbClr val="C9D1E0"/>
                </a:solidFill>
                <a:latin typeface="JetBrains Mono" pitchFamily="49" charset="0"/>
                <a:ea typeface="JetBrains Mono" pitchFamily="49" charset="-122"/>
                <a:cs typeface="JetBrains Mono" pitchFamily="49" charset="-120"/>
              </a:rPr>
              <a:t>,</a:t>
            </a:r>
            <a:endParaRPr lang="en-US" sz="1100" dirty="0"/>
          </a:p>
          <a:p>
            <a:pPr algn="l" indent="0" marL="0">
              <a:lnSpc>
                <a:spcPts val="1705"/>
              </a:lnSpc>
              <a:buNone/>
            </a:pP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C3E88D"/>
                </a:solidFill>
                <a:latin typeface="JetBrains Mono" pitchFamily="49" charset="0"/>
                <a:ea typeface="JetBrains Mono" pitchFamily="49" charset="-122"/>
                <a:cs typeface="JetBrains Mono" pitchFamily="49" charset="-120"/>
              </a:rPr>
              <a:t>"result"</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C3E88D"/>
                </a:solidFill>
                <a:latin typeface="JetBrains Mono" pitchFamily="49" charset="0"/>
                <a:ea typeface="JetBrains Mono" pitchFamily="49" charset="-122"/>
                <a:cs typeface="JetBrains Mono" pitchFamily="49" charset="-120"/>
              </a:rPr>
              <a:t>"protocolVersion"</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FFCDAA"/>
                </a:solidFill>
                <a:latin typeface="JetBrains Mono" pitchFamily="49" charset="0"/>
                <a:ea typeface="JetBrains Mono" pitchFamily="49" charset="-122"/>
                <a:cs typeface="JetBrains Mono" pitchFamily="49" charset="-120"/>
              </a:rPr>
              <a:t>"2025-06-18"</a:t>
            </a:r>
            <a:r>
              <a:rPr lang="en-US" sz="1100" dirty="0">
                <a:solidFill>
                  <a:srgbClr val="C9D1E0"/>
                </a:solidFill>
                <a:latin typeface="JetBrains Mono" pitchFamily="49" charset="0"/>
                <a:ea typeface="JetBrains Mono" pitchFamily="49" charset="-122"/>
                <a:cs typeface="JetBrains Mono" pitchFamily="49" charset="-120"/>
              </a:rPr>
              <a:t>,</a:t>
            </a:r>
            <a:endParaRPr lang="en-US" sz="1100" dirty="0"/>
          </a:p>
          <a:p>
            <a:pPr algn="l" indent="0" marL="0">
              <a:lnSpc>
                <a:spcPts val="1705"/>
              </a:lnSpc>
              <a:buNone/>
            </a:pP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C3E88D"/>
                </a:solidFill>
                <a:latin typeface="JetBrains Mono" pitchFamily="49" charset="0"/>
                <a:ea typeface="JetBrains Mono" pitchFamily="49" charset="-122"/>
                <a:cs typeface="JetBrains Mono" pitchFamily="49" charset="-120"/>
              </a:rPr>
              <a:t>"capabilities"</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C3E88D"/>
                </a:solidFill>
                <a:latin typeface="JetBrains Mono" pitchFamily="49" charset="0"/>
                <a:ea typeface="JetBrains Mono" pitchFamily="49" charset="-122"/>
                <a:cs typeface="JetBrains Mono" pitchFamily="49" charset="-120"/>
              </a:rPr>
              <a:t>"tools"</a:t>
            </a:r>
            <a:r>
              <a:rPr lang="en-US" sz="1100" dirty="0">
                <a:solidFill>
                  <a:srgbClr val="C9D1E0"/>
                </a:solidFill>
                <a:latin typeface="JetBrains Mono" pitchFamily="49" charset="0"/>
                <a:ea typeface="JetBrains Mono" pitchFamily="49" charset="-122"/>
                <a:cs typeface="JetBrains Mono" pitchFamily="49" charset="-120"/>
              </a:rPr>
              <a:t>:{}},</a:t>
            </a:r>
            <a:endParaRPr lang="en-US" sz="1100" dirty="0"/>
          </a:p>
          <a:p>
            <a:pPr algn="l" indent="0" marL="0">
              <a:lnSpc>
                <a:spcPts val="1705"/>
              </a:lnSpc>
              <a:buNone/>
            </a:pP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C3E88D"/>
                </a:solidFill>
                <a:latin typeface="JetBrains Mono" pitchFamily="49" charset="0"/>
                <a:ea typeface="JetBrains Mono" pitchFamily="49" charset="-122"/>
                <a:cs typeface="JetBrains Mono" pitchFamily="49" charset="-120"/>
              </a:rPr>
              <a:t>"serverInfo"</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C3E88D"/>
                </a:solidFill>
                <a:latin typeface="JetBrains Mono" pitchFamily="49" charset="0"/>
                <a:ea typeface="JetBrains Mono" pitchFamily="49" charset="-122"/>
                <a:cs typeface="JetBrains Mono" pitchFamily="49" charset="-120"/>
              </a:rPr>
              <a:t>"name"</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FFCDAA"/>
                </a:solidFill>
                <a:latin typeface="JetBrains Mono" pitchFamily="49" charset="0"/>
                <a:ea typeface="JetBrains Mono" pitchFamily="49" charset="-122"/>
                <a:cs typeface="JetBrains Mono" pitchFamily="49" charset="-120"/>
              </a:rPr>
              <a:t>"confluence"</a:t>
            </a:r>
            <a:r>
              <a:rPr lang="en-US" sz="1100" dirty="0">
                <a:solidFill>
                  <a:srgbClr val="C9D1E0"/>
                </a:solidFill>
                <a:latin typeface="JetBrains Mono" pitchFamily="49" charset="0"/>
                <a:ea typeface="JetBrains Mono" pitchFamily="49" charset="-122"/>
                <a:cs typeface="JetBrains Mono" pitchFamily="49" charset="-120"/>
              </a:rPr>
              <a:t>,</a:t>
            </a:r>
            <a:endParaRPr lang="en-US" sz="1100" dirty="0"/>
          </a:p>
          <a:p>
            <a:pPr algn="l" indent="0" marL="0">
              <a:lnSpc>
                <a:spcPts val="1705"/>
              </a:lnSpc>
              <a:buNone/>
            </a:pP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C3E88D"/>
                </a:solidFill>
                <a:latin typeface="JetBrains Mono" pitchFamily="49" charset="0"/>
                <a:ea typeface="JetBrains Mono" pitchFamily="49" charset="-122"/>
                <a:cs typeface="JetBrains Mono" pitchFamily="49" charset="-120"/>
              </a:rPr>
              <a:t>"version"</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FFCDAA"/>
                </a:solidFill>
                <a:latin typeface="JetBrains Mono" pitchFamily="49" charset="0"/>
                <a:ea typeface="JetBrains Mono" pitchFamily="49" charset="-122"/>
                <a:cs typeface="JetBrains Mono" pitchFamily="49" charset="-120"/>
              </a:rPr>
              <a:t>"1.0"</a:t>
            </a:r>
            <a:r>
              <a:rPr lang="en-US" sz="1100" dirty="0">
                <a:solidFill>
                  <a:srgbClr val="C9D1E0"/>
                </a:solidFill>
                <a:latin typeface="JetBrains Mono" pitchFamily="49" charset="0"/>
                <a:ea typeface="JetBrains Mono" pitchFamily="49" charset="-122"/>
                <a:cs typeface="JetBrains Mono" pitchFamily="49" charset="-120"/>
              </a:rPr>
              <a:t>}}}</a:t>
            </a:r>
            <a:endParaRPr lang="en-US" sz="1100" dirty="0"/>
          </a:p>
        </p:txBody>
      </p:sp>
      <p:sp>
        <p:nvSpPr>
          <p:cNvPr id="14" name="Shape 10"/>
          <p:cNvSpPr/>
          <p:nvPr/>
        </p:nvSpPr>
        <p:spPr>
          <a:xfrm>
            <a:off x="7061200" y="1112441"/>
            <a:ext cx="4673600" cy="1598513"/>
          </a:xfrm>
          <a:custGeom>
            <a:avLst/>
            <a:gdLst/>
            <a:ahLst/>
            <a:cxnLst/>
            <a:rect l="l" t="t" r="r" b="b"/>
            <a:pathLst>
              <a:path w="4673600" h="1598513">
                <a:moveTo>
                  <a:pt x="63500" y="1598513"/>
                </a:moveTo>
                <a:lnTo>
                  <a:pt x="63500" y="1598513"/>
                </a:lnTo>
                <a:arcTo hR="63500" wR="63500" stAng="5400000" swAng="5400000"/>
                <a:lnTo>
                  <a:pt x="0" y="63500"/>
                </a:lnTo>
                <a:arcTo hR="63500" wR="63500" stAng="10800000" swAng="5400000"/>
                <a:lnTo>
                  <a:pt x="63500" y="0"/>
                </a:lnTo>
                <a:arcTo hR="63500" wR="25400" stAng="16200000" swAng="-5400000"/>
                <a:lnTo>
                  <a:pt x="38100" y="1535013"/>
                </a:lnTo>
                <a:arcTo hR="63500" wR="25400" stAng="10800000" swAng="-5400000"/>
                <a:close/>
              </a:path>
            </a:pathLst>
          </a:custGeom>
          <a:solidFill>
            <a:srgbClr val="1E6B3A"/>
          </a:solidFill>
          <a:ln/>
        </p:spPr>
      </p:sp>
      <p:sp>
        <p:nvSpPr>
          <p:cNvPr id="15" name="Shape 11"/>
          <p:cNvSpPr/>
          <p:nvPr/>
        </p:nvSpPr>
        <p:spPr>
          <a:xfrm>
            <a:off x="457200" y="2825254"/>
            <a:ext cx="1333500" cy="0"/>
          </a:xfrm>
          <a:prstGeom prst="line">
            <a:avLst/>
          </a:prstGeom>
          <a:noFill/>
          <a:ln w="25400">
            <a:solidFill>
              <a:srgbClr val="1428A0"/>
            </a:solidFill>
            <a:prstDash val="solid"/>
          </a:ln>
        </p:spPr>
      </p:sp>
      <p:sp>
        <p:nvSpPr>
          <p:cNvPr id="16" name="Text 12"/>
          <p:cNvSpPr/>
          <p:nvPr/>
        </p:nvSpPr>
        <p:spPr>
          <a:xfrm>
            <a:off x="457200" y="3512145"/>
            <a:ext cx="1384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1320"/>
                </a:solidFill>
                <a:latin typeface="Noto Sans KR" pitchFamily="34" charset="0"/>
                <a:ea typeface="Noto Sans KR" pitchFamily="34" charset="-122"/>
                <a:cs typeface="Noto Sans KR" pitchFamily="34" charset="-120"/>
              </a:rPr>
              <a:t>② 툴 목록</a:t>
            </a:r>
            <a:endParaRPr lang="en-US" sz="1400" dirty="0"/>
          </a:p>
        </p:txBody>
      </p:sp>
      <p:sp>
        <p:nvSpPr>
          <p:cNvPr id="17" name="Text 13"/>
          <p:cNvSpPr/>
          <p:nvPr/>
        </p:nvSpPr>
        <p:spPr>
          <a:xfrm>
            <a:off x="457200" y="3799086"/>
            <a:ext cx="1384300" cy="203200"/>
          </a:xfrm>
          <a:prstGeom prst="rect">
            <a:avLst/>
          </a:prstGeom>
          <a:noFill/>
          <a:ln/>
        </p:spPr>
        <p:txBody>
          <a:bodyPr wrap="square" lIns="0" tIns="0" rIns="0" bIns="0" rtlCol="0" anchor="t">
            <a:normAutofit/>
          </a:bodyPr>
          <a:lstStyle/>
          <a:p>
            <a:pPr algn="l" indent="0" marL="0">
              <a:lnSpc>
                <a:spcPts val="1400"/>
              </a:lnSpc>
              <a:buNone/>
            </a:pPr>
            <a:r>
              <a:rPr lang="en-US" sz="1000" b="1" dirty="0">
                <a:solidFill>
                  <a:srgbClr val="1428A0"/>
                </a:solidFill>
                <a:latin typeface="JetBrains Mono" pitchFamily="49" charset="0"/>
                <a:ea typeface="JetBrains Mono" pitchFamily="49" charset="-122"/>
                <a:cs typeface="JetBrains Mono" pitchFamily="49" charset="-120"/>
              </a:rPr>
              <a:t>tools/list</a:t>
            </a:r>
            <a:endParaRPr lang="en-US" sz="1000" dirty="0"/>
          </a:p>
        </p:txBody>
      </p:sp>
      <p:sp>
        <p:nvSpPr>
          <p:cNvPr id="18" name="Text 14"/>
          <p:cNvSpPr/>
          <p:nvPr/>
        </p:nvSpPr>
        <p:spPr>
          <a:xfrm>
            <a:off x="1892300" y="2812554"/>
            <a:ext cx="4813808" cy="176510"/>
          </a:xfrm>
          <a:prstGeom prst="rect">
            <a:avLst/>
          </a:prstGeom>
          <a:noFill/>
          <a:ln/>
        </p:spPr>
        <p:txBody>
          <a:bodyPr wrap="square" lIns="0" tIns="0" rIns="0" bIns="0" rtlCol="0" anchor="t">
            <a:normAutofit/>
          </a:bodyPr>
          <a:lstStyle/>
          <a:p>
            <a:pPr algn="l" indent="0" marL="0">
              <a:lnSpc>
                <a:spcPts val="1190"/>
              </a:lnSpc>
              <a:buNone/>
            </a:pPr>
            <a:r>
              <a:rPr lang="en-US" sz="850" b="1" dirty="0">
                <a:solidFill>
                  <a:srgbClr val="1428A0"/>
                </a:solidFill>
                <a:latin typeface="Noto Sans KR" pitchFamily="34" charset="0"/>
                <a:ea typeface="Noto Sans KR" pitchFamily="34" charset="-122"/>
                <a:cs typeface="Noto Sans KR" pitchFamily="34" charset="-120"/>
              </a:rPr>
              <a:t>Client → Server · 요청 (stdin)</a:t>
            </a:r>
            <a:endParaRPr lang="en-US" sz="850" dirty="0"/>
          </a:p>
        </p:txBody>
      </p:sp>
      <p:sp>
        <p:nvSpPr>
          <p:cNvPr id="19" name="Text 15"/>
          <p:cNvSpPr/>
          <p:nvPr/>
        </p:nvSpPr>
        <p:spPr>
          <a:xfrm>
            <a:off x="1892300" y="3001764"/>
            <a:ext cx="4673600" cy="1598613"/>
          </a:xfrm>
          <a:prstGeom prst="roundRect">
            <a:avLst>
              <a:gd name="adj" fmla="val 3972"/>
            </a:avLst>
          </a:prstGeom>
          <a:solidFill>
            <a:srgbClr val="0E1320"/>
          </a:solidFill>
          <a:ln/>
        </p:spPr>
        <p:txBody>
          <a:bodyPr wrap="square" lIns="133801" tIns="57601" rIns="0" bIns="57601" rtlCol="0" anchor="t">
            <a:normAutofit/>
          </a:bodyPr>
          <a:lstStyle/>
          <a:p>
            <a:pPr algn="l" indent="0" marL="0">
              <a:lnSpc>
                <a:spcPts val="1705"/>
              </a:lnSpc>
              <a:buNone/>
            </a:pP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C3E88D"/>
                </a:solidFill>
                <a:latin typeface="JetBrains Mono" pitchFamily="49" charset="0"/>
                <a:ea typeface="JetBrains Mono" pitchFamily="49" charset="-122"/>
                <a:cs typeface="JetBrains Mono" pitchFamily="49" charset="-120"/>
              </a:rPr>
              <a:t>"jsonrpc"</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FFCDAA"/>
                </a:solidFill>
                <a:latin typeface="JetBrains Mono" pitchFamily="49" charset="0"/>
                <a:ea typeface="JetBrains Mono" pitchFamily="49" charset="-122"/>
                <a:cs typeface="JetBrains Mono" pitchFamily="49" charset="-120"/>
              </a:rPr>
              <a:t>"2.0"</a:t>
            </a: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C3E88D"/>
                </a:solidFill>
                <a:latin typeface="JetBrains Mono" pitchFamily="49" charset="0"/>
                <a:ea typeface="JetBrains Mono" pitchFamily="49" charset="-122"/>
                <a:cs typeface="JetBrains Mono" pitchFamily="49" charset="-120"/>
              </a:rPr>
              <a:t>"id"</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9DB4FF"/>
                </a:solidFill>
                <a:latin typeface="JetBrains Mono" pitchFamily="49" charset="0"/>
                <a:ea typeface="JetBrains Mono" pitchFamily="49" charset="-122"/>
                <a:cs typeface="JetBrains Mono" pitchFamily="49" charset="-120"/>
              </a:rPr>
              <a:t>2</a:t>
            </a:r>
            <a:r>
              <a:rPr lang="en-US" sz="1100" dirty="0">
                <a:solidFill>
                  <a:srgbClr val="C9D1E0"/>
                </a:solidFill>
                <a:latin typeface="JetBrains Mono" pitchFamily="49" charset="0"/>
                <a:ea typeface="JetBrains Mono" pitchFamily="49" charset="-122"/>
                <a:cs typeface="JetBrains Mono" pitchFamily="49" charset="-120"/>
              </a:rPr>
              <a:t>,</a:t>
            </a:r>
            <a:endParaRPr lang="en-US" sz="1100" dirty="0"/>
          </a:p>
          <a:p>
            <a:pPr algn="l" indent="0" marL="0">
              <a:lnSpc>
                <a:spcPts val="1705"/>
              </a:lnSpc>
              <a:buNone/>
            </a:pP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C3E88D"/>
                </a:solidFill>
                <a:latin typeface="JetBrains Mono" pitchFamily="49" charset="0"/>
                <a:ea typeface="JetBrains Mono" pitchFamily="49" charset="-122"/>
                <a:cs typeface="JetBrains Mono" pitchFamily="49" charset="-120"/>
              </a:rPr>
              <a:t>"method"</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FFCDAA"/>
                </a:solidFill>
                <a:latin typeface="JetBrains Mono" pitchFamily="49" charset="0"/>
                <a:ea typeface="JetBrains Mono" pitchFamily="49" charset="-122"/>
                <a:cs typeface="JetBrains Mono" pitchFamily="49" charset="-120"/>
              </a:rPr>
              <a:t>"tools/list"</a:t>
            </a:r>
            <a:r>
              <a:rPr lang="en-US" sz="1100" dirty="0">
                <a:solidFill>
                  <a:srgbClr val="C9D1E0"/>
                </a:solidFill>
                <a:latin typeface="JetBrains Mono" pitchFamily="49" charset="0"/>
                <a:ea typeface="JetBrains Mono" pitchFamily="49" charset="-122"/>
                <a:cs typeface="JetBrains Mono" pitchFamily="49" charset="-120"/>
              </a:rPr>
              <a:t>}</a:t>
            </a:r>
            <a:endParaRPr lang="en-US" sz="1100" dirty="0"/>
          </a:p>
        </p:txBody>
      </p:sp>
      <p:sp>
        <p:nvSpPr>
          <p:cNvPr id="20" name="Shape 16"/>
          <p:cNvSpPr/>
          <p:nvPr/>
        </p:nvSpPr>
        <p:spPr>
          <a:xfrm>
            <a:off x="1892300" y="3001764"/>
            <a:ext cx="4673600" cy="1598613"/>
          </a:xfrm>
          <a:custGeom>
            <a:avLst/>
            <a:gdLst/>
            <a:ahLst/>
            <a:cxnLst/>
            <a:rect l="l" t="t" r="r" b="b"/>
            <a:pathLst>
              <a:path w="4673600" h="1598613">
                <a:moveTo>
                  <a:pt x="63500" y="1598613"/>
                </a:moveTo>
                <a:lnTo>
                  <a:pt x="63500" y="1598613"/>
                </a:lnTo>
                <a:arcTo hR="63500" wR="63500" stAng="5400000" swAng="5400000"/>
                <a:lnTo>
                  <a:pt x="0" y="63500"/>
                </a:lnTo>
                <a:arcTo hR="63500" wR="63500" stAng="10800000" swAng="5400000"/>
                <a:lnTo>
                  <a:pt x="63500" y="0"/>
                </a:lnTo>
                <a:arcTo hR="63500" wR="25400" stAng="16200000" swAng="-5400000"/>
                <a:lnTo>
                  <a:pt x="38100" y="1535113"/>
                </a:lnTo>
                <a:arcTo hR="63500" wR="25400" stAng="10800000" swAng="-5400000"/>
                <a:close/>
              </a:path>
            </a:pathLst>
          </a:custGeom>
          <a:solidFill>
            <a:srgbClr val="1428A0"/>
          </a:solidFill>
          <a:ln/>
        </p:spPr>
      </p:sp>
      <p:pic>
        <p:nvPicPr>
          <p:cNvPr id="21" name="Image 2" descr="preencoded.png">    </p:cNvPr>
          <p:cNvPicPr>
            <a:picLocks noChangeAspect="1"/>
          </p:cNvPicPr>
          <p:nvPr/>
        </p:nvPicPr>
        <p:blipFill>
          <a:blip r:embed="rId3"/>
          <a:srcRect l="0" r="0" t="0" b="0"/>
          <a:stretch/>
        </p:blipFill>
        <p:spPr>
          <a:xfrm>
            <a:off x="6673850" y="3566716"/>
            <a:ext cx="279400" cy="88900"/>
          </a:xfrm>
          <a:prstGeom prst="rect">
            <a:avLst/>
          </a:prstGeom>
        </p:spPr>
      </p:pic>
      <p:pic>
        <p:nvPicPr>
          <p:cNvPr id="22" name="Image 3" descr="preencoded.png">    </p:cNvPr>
          <p:cNvPicPr>
            <a:picLocks noChangeAspect="1"/>
          </p:cNvPicPr>
          <p:nvPr/>
        </p:nvPicPr>
        <p:blipFill>
          <a:blip r:embed="rId4"/>
          <a:srcRect l="0" r="0" t="0" b="0"/>
          <a:stretch/>
        </p:blipFill>
        <p:spPr>
          <a:xfrm>
            <a:off x="6673850" y="3757216"/>
            <a:ext cx="279400" cy="88900"/>
          </a:xfrm>
          <a:prstGeom prst="rect">
            <a:avLst/>
          </a:prstGeom>
        </p:spPr>
      </p:pic>
      <p:sp>
        <p:nvSpPr>
          <p:cNvPr id="23" name="Text 17"/>
          <p:cNvSpPr/>
          <p:nvPr/>
        </p:nvSpPr>
        <p:spPr>
          <a:xfrm>
            <a:off x="7061200" y="2812554"/>
            <a:ext cx="4813808" cy="176510"/>
          </a:xfrm>
          <a:prstGeom prst="rect">
            <a:avLst/>
          </a:prstGeom>
          <a:noFill/>
          <a:ln/>
        </p:spPr>
        <p:txBody>
          <a:bodyPr wrap="square" lIns="0" tIns="0" rIns="0" bIns="0" rtlCol="0" anchor="t">
            <a:normAutofit/>
          </a:bodyPr>
          <a:lstStyle/>
          <a:p>
            <a:pPr algn="l" indent="0" marL="0">
              <a:lnSpc>
                <a:spcPts val="1190"/>
              </a:lnSpc>
              <a:buNone/>
            </a:pPr>
            <a:r>
              <a:rPr lang="en-US" sz="850" b="1" dirty="0">
                <a:solidFill>
                  <a:srgbClr val="1E6B3A"/>
                </a:solidFill>
                <a:latin typeface="Noto Sans KR" pitchFamily="34" charset="0"/>
                <a:ea typeface="Noto Sans KR" pitchFamily="34" charset="-122"/>
                <a:cs typeface="Noto Sans KR" pitchFamily="34" charset="-120"/>
              </a:rPr>
              <a:t>Server → Client · 응답 (stdout)</a:t>
            </a:r>
            <a:endParaRPr lang="en-US" sz="850" dirty="0"/>
          </a:p>
        </p:txBody>
      </p:sp>
      <p:sp>
        <p:nvSpPr>
          <p:cNvPr id="24" name="Text 18"/>
          <p:cNvSpPr/>
          <p:nvPr/>
        </p:nvSpPr>
        <p:spPr>
          <a:xfrm>
            <a:off x="7061200" y="3001764"/>
            <a:ext cx="4673600" cy="1598613"/>
          </a:xfrm>
          <a:prstGeom prst="roundRect">
            <a:avLst>
              <a:gd name="adj" fmla="val 3972"/>
            </a:avLst>
          </a:prstGeom>
          <a:solidFill>
            <a:srgbClr val="0E1320"/>
          </a:solidFill>
          <a:ln/>
        </p:spPr>
        <p:txBody>
          <a:bodyPr wrap="square" lIns="133801" tIns="57601" rIns="0" bIns="57601" rtlCol="0" anchor="t">
            <a:normAutofit/>
          </a:bodyPr>
          <a:lstStyle/>
          <a:p>
            <a:pPr algn="l" indent="0" marL="0">
              <a:lnSpc>
                <a:spcPts val="1705"/>
              </a:lnSpc>
              <a:buNone/>
            </a:pP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C3E88D"/>
                </a:solidFill>
                <a:latin typeface="JetBrains Mono" pitchFamily="49" charset="0"/>
                <a:ea typeface="JetBrains Mono" pitchFamily="49" charset="-122"/>
                <a:cs typeface="JetBrains Mono" pitchFamily="49" charset="-120"/>
              </a:rPr>
              <a:t>"jsonrpc"</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FFCDAA"/>
                </a:solidFill>
                <a:latin typeface="JetBrains Mono" pitchFamily="49" charset="0"/>
                <a:ea typeface="JetBrains Mono" pitchFamily="49" charset="-122"/>
                <a:cs typeface="JetBrains Mono" pitchFamily="49" charset="-120"/>
              </a:rPr>
              <a:t>"2.0"</a:t>
            </a: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C3E88D"/>
                </a:solidFill>
                <a:latin typeface="JetBrains Mono" pitchFamily="49" charset="0"/>
                <a:ea typeface="JetBrains Mono" pitchFamily="49" charset="-122"/>
                <a:cs typeface="JetBrains Mono" pitchFamily="49" charset="-120"/>
              </a:rPr>
              <a:t>"id"</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9DB4FF"/>
                </a:solidFill>
                <a:latin typeface="JetBrains Mono" pitchFamily="49" charset="0"/>
                <a:ea typeface="JetBrains Mono" pitchFamily="49" charset="-122"/>
                <a:cs typeface="JetBrains Mono" pitchFamily="49" charset="-120"/>
              </a:rPr>
              <a:t>2</a:t>
            </a:r>
            <a:r>
              <a:rPr lang="en-US" sz="1100" dirty="0">
                <a:solidFill>
                  <a:srgbClr val="C9D1E0"/>
                </a:solidFill>
                <a:latin typeface="JetBrains Mono" pitchFamily="49" charset="0"/>
                <a:ea typeface="JetBrains Mono" pitchFamily="49" charset="-122"/>
                <a:cs typeface="JetBrains Mono" pitchFamily="49" charset="-120"/>
              </a:rPr>
              <a:t>,</a:t>
            </a:r>
            <a:endParaRPr lang="en-US" sz="1100" dirty="0"/>
          </a:p>
          <a:p>
            <a:pPr algn="l" indent="0" marL="0">
              <a:lnSpc>
                <a:spcPts val="1705"/>
              </a:lnSpc>
              <a:buNone/>
            </a:pP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C3E88D"/>
                </a:solidFill>
                <a:latin typeface="JetBrains Mono" pitchFamily="49" charset="0"/>
                <a:ea typeface="JetBrains Mono" pitchFamily="49" charset="-122"/>
                <a:cs typeface="JetBrains Mono" pitchFamily="49" charset="-120"/>
              </a:rPr>
              <a:t>"result"</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C3E88D"/>
                </a:solidFill>
                <a:latin typeface="JetBrains Mono" pitchFamily="49" charset="0"/>
                <a:ea typeface="JetBrains Mono" pitchFamily="49" charset="-122"/>
                <a:cs typeface="JetBrains Mono" pitchFamily="49" charset="-120"/>
              </a:rPr>
              <a:t>"tools"</a:t>
            </a:r>
            <a:r>
              <a:rPr lang="en-US" sz="1100" dirty="0">
                <a:solidFill>
                  <a:srgbClr val="C9D1E0"/>
                </a:solidFill>
                <a:latin typeface="JetBrains Mono" pitchFamily="49" charset="0"/>
                <a:ea typeface="JetBrains Mono" pitchFamily="49" charset="-122"/>
                <a:cs typeface="JetBrains Mono" pitchFamily="49" charset="-120"/>
              </a:rPr>
              <a:t>:[{</a:t>
            </a:r>
            <a:endParaRPr lang="en-US" sz="1100" dirty="0"/>
          </a:p>
          <a:p>
            <a:pPr algn="l" indent="0" marL="0">
              <a:lnSpc>
                <a:spcPts val="1705"/>
              </a:lnSpc>
              <a:buNone/>
            </a:pP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C3E88D"/>
                </a:solidFill>
                <a:latin typeface="JetBrains Mono" pitchFamily="49" charset="0"/>
                <a:ea typeface="JetBrains Mono" pitchFamily="49" charset="-122"/>
                <a:cs typeface="JetBrains Mono" pitchFamily="49" charset="-120"/>
              </a:rPr>
              <a:t>"name"</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FFCDAA"/>
                </a:solidFill>
                <a:latin typeface="JetBrains Mono" pitchFamily="49" charset="0"/>
                <a:ea typeface="JetBrains Mono" pitchFamily="49" charset="-122"/>
                <a:cs typeface="JetBrains Mono" pitchFamily="49" charset="-120"/>
              </a:rPr>
              <a:t>"search_pages"</a:t>
            </a:r>
            <a:r>
              <a:rPr lang="en-US" sz="1100" dirty="0">
                <a:solidFill>
                  <a:srgbClr val="C9D1E0"/>
                </a:solidFill>
                <a:latin typeface="JetBrains Mono" pitchFamily="49" charset="0"/>
                <a:ea typeface="JetBrains Mono" pitchFamily="49" charset="-122"/>
                <a:cs typeface="JetBrains Mono" pitchFamily="49" charset="-120"/>
              </a:rPr>
              <a:t>,</a:t>
            </a:r>
            <a:endParaRPr lang="en-US" sz="1100" dirty="0"/>
          </a:p>
          <a:p>
            <a:pPr algn="l" indent="0" marL="0">
              <a:lnSpc>
                <a:spcPts val="1705"/>
              </a:lnSpc>
              <a:buNone/>
            </a:pP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C3E88D"/>
                </a:solidFill>
                <a:latin typeface="JetBrains Mono" pitchFamily="49" charset="0"/>
                <a:ea typeface="JetBrains Mono" pitchFamily="49" charset="-122"/>
                <a:cs typeface="JetBrains Mono" pitchFamily="49" charset="-120"/>
              </a:rPr>
              <a:t>"description"</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FFCDAA"/>
                </a:solidFill>
                <a:latin typeface="JetBrains Mono" pitchFamily="49" charset="0"/>
                <a:ea typeface="JetBrains Mono" pitchFamily="49" charset="-122"/>
                <a:cs typeface="JetBrains Mono" pitchFamily="49" charset="-120"/>
              </a:rPr>
              <a:t>"Confluence 페이지 검색"</a:t>
            </a:r>
            <a:r>
              <a:rPr lang="en-US" sz="1100" dirty="0">
                <a:solidFill>
                  <a:srgbClr val="C9D1E0"/>
                </a:solidFill>
                <a:latin typeface="JetBrains Mono" pitchFamily="49" charset="0"/>
                <a:ea typeface="JetBrains Mono" pitchFamily="49" charset="-122"/>
                <a:cs typeface="JetBrains Mono" pitchFamily="49" charset="-120"/>
              </a:rPr>
              <a:t>,</a:t>
            </a:r>
            <a:endParaRPr lang="en-US" sz="1100" dirty="0"/>
          </a:p>
          <a:p>
            <a:pPr algn="l" indent="0" marL="0">
              <a:lnSpc>
                <a:spcPts val="1705"/>
              </a:lnSpc>
              <a:buNone/>
            </a:pP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C3E88D"/>
                </a:solidFill>
                <a:latin typeface="JetBrains Mono" pitchFamily="49" charset="0"/>
                <a:ea typeface="JetBrains Mono" pitchFamily="49" charset="-122"/>
                <a:cs typeface="JetBrains Mono" pitchFamily="49" charset="-120"/>
              </a:rPr>
              <a:t>"inputSchema"</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C3E88D"/>
                </a:solidFill>
                <a:latin typeface="JetBrains Mono" pitchFamily="49" charset="0"/>
                <a:ea typeface="JetBrains Mono" pitchFamily="49" charset="-122"/>
                <a:cs typeface="JetBrains Mono" pitchFamily="49" charset="-120"/>
              </a:rPr>
              <a:t>"type"</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FFCDAA"/>
                </a:solidFill>
                <a:latin typeface="JetBrains Mono" pitchFamily="49" charset="0"/>
                <a:ea typeface="JetBrains Mono" pitchFamily="49" charset="-122"/>
                <a:cs typeface="JetBrains Mono" pitchFamily="49" charset="-120"/>
              </a:rPr>
              <a:t>"object"</a:t>
            </a:r>
            <a:r>
              <a:rPr lang="en-US" sz="1100" dirty="0">
                <a:solidFill>
                  <a:srgbClr val="C9D1E0"/>
                </a:solidFill>
                <a:latin typeface="JetBrains Mono" pitchFamily="49" charset="0"/>
                <a:ea typeface="JetBrains Mono" pitchFamily="49" charset="-122"/>
                <a:cs typeface="JetBrains Mono" pitchFamily="49" charset="-120"/>
              </a:rPr>
              <a:t>,</a:t>
            </a:r>
            <a:endParaRPr lang="en-US" sz="1100" dirty="0"/>
          </a:p>
          <a:p>
            <a:pPr algn="l" indent="0" marL="0">
              <a:lnSpc>
                <a:spcPts val="1705"/>
              </a:lnSpc>
              <a:buNone/>
            </a:pP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C3E88D"/>
                </a:solidFill>
                <a:latin typeface="JetBrains Mono" pitchFamily="49" charset="0"/>
                <a:ea typeface="JetBrains Mono" pitchFamily="49" charset="-122"/>
                <a:cs typeface="JetBrains Mono" pitchFamily="49" charset="-120"/>
              </a:rPr>
              <a:t>"properties"</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C3E88D"/>
                </a:solidFill>
                <a:latin typeface="JetBrains Mono" pitchFamily="49" charset="0"/>
                <a:ea typeface="JetBrains Mono" pitchFamily="49" charset="-122"/>
                <a:cs typeface="JetBrains Mono" pitchFamily="49" charset="-120"/>
              </a:rPr>
              <a:t>"query"</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C3E88D"/>
                </a:solidFill>
                <a:latin typeface="JetBrains Mono" pitchFamily="49" charset="0"/>
                <a:ea typeface="JetBrains Mono" pitchFamily="49" charset="-122"/>
                <a:cs typeface="JetBrains Mono" pitchFamily="49" charset="-120"/>
              </a:rPr>
              <a:t>"type"</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FFCDAA"/>
                </a:solidFill>
                <a:latin typeface="JetBrains Mono" pitchFamily="49" charset="0"/>
                <a:ea typeface="JetBrains Mono" pitchFamily="49" charset="-122"/>
                <a:cs typeface="JetBrains Mono" pitchFamily="49" charset="-120"/>
              </a:rPr>
              <a:t>"string"</a:t>
            </a:r>
            <a:r>
              <a:rPr lang="en-US" sz="1100" dirty="0">
                <a:solidFill>
                  <a:srgbClr val="C9D1E0"/>
                </a:solidFill>
                <a:latin typeface="JetBrains Mono" pitchFamily="49" charset="0"/>
                <a:ea typeface="JetBrains Mono" pitchFamily="49" charset="-122"/>
                <a:cs typeface="JetBrains Mono" pitchFamily="49" charset="-120"/>
              </a:rPr>
              <a:t>}}}}]}}</a:t>
            </a:r>
            <a:endParaRPr lang="en-US" sz="1100" dirty="0"/>
          </a:p>
        </p:txBody>
      </p:sp>
      <p:sp>
        <p:nvSpPr>
          <p:cNvPr id="25" name="Shape 19"/>
          <p:cNvSpPr/>
          <p:nvPr/>
        </p:nvSpPr>
        <p:spPr>
          <a:xfrm>
            <a:off x="7061200" y="3001764"/>
            <a:ext cx="4673600" cy="1598613"/>
          </a:xfrm>
          <a:custGeom>
            <a:avLst/>
            <a:gdLst/>
            <a:ahLst/>
            <a:cxnLst/>
            <a:rect l="l" t="t" r="r" b="b"/>
            <a:pathLst>
              <a:path w="4673600" h="1598613">
                <a:moveTo>
                  <a:pt x="63500" y="1598613"/>
                </a:moveTo>
                <a:lnTo>
                  <a:pt x="63500" y="1598613"/>
                </a:lnTo>
                <a:arcTo hR="63500" wR="63500" stAng="5400000" swAng="5400000"/>
                <a:lnTo>
                  <a:pt x="0" y="63500"/>
                </a:lnTo>
                <a:arcTo hR="63500" wR="63500" stAng="10800000" swAng="5400000"/>
                <a:lnTo>
                  <a:pt x="63500" y="0"/>
                </a:lnTo>
                <a:arcTo hR="63500" wR="25400" stAng="16200000" swAng="-5400000"/>
                <a:lnTo>
                  <a:pt x="38100" y="1535113"/>
                </a:lnTo>
                <a:arcTo hR="63500" wR="25400" stAng="10800000" swAng="-5400000"/>
                <a:close/>
              </a:path>
            </a:pathLst>
          </a:custGeom>
          <a:solidFill>
            <a:srgbClr val="1E6B3A"/>
          </a:solidFill>
          <a:ln/>
        </p:spPr>
      </p:sp>
      <p:sp>
        <p:nvSpPr>
          <p:cNvPr id="26" name="Shape 20"/>
          <p:cNvSpPr/>
          <p:nvPr/>
        </p:nvSpPr>
        <p:spPr>
          <a:xfrm>
            <a:off x="457200" y="4714677"/>
            <a:ext cx="1333500" cy="0"/>
          </a:xfrm>
          <a:prstGeom prst="line">
            <a:avLst/>
          </a:prstGeom>
          <a:noFill/>
          <a:ln w="25400">
            <a:solidFill>
              <a:srgbClr val="1428A0"/>
            </a:solidFill>
            <a:prstDash val="solid"/>
          </a:ln>
        </p:spPr>
      </p:sp>
      <p:sp>
        <p:nvSpPr>
          <p:cNvPr id="27" name="Text 21"/>
          <p:cNvSpPr/>
          <p:nvPr/>
        </p:nvSpPr>
        <p:spPr>
          <a:xfrm>
            <a:off x="457200" y="5401568"/>
            <a:ext cx="1384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1320"/>
                </a:solidFill>
                <a:latin typeface="Noto Sans KR" pitchFamily="34" charset="0"/>
                <a:ea typeface="Noto Sans KR" pitchFamily="34" charset="-122"/>
                <a:cs typeface="Noto Sans KR" pitchFamily="34" charset="-120"/>
              </a:rPr>
              <a:t>③ 툴 실행</a:t>
            </a:r>
            <a:endParaRPr lang="en-US" sz="1400" dirty="0"/>
          </a:p>
        </p:txBody>
      </p:sp>
      <p:sp>
        <p:nvSpPr>
          <p:cNvPr id="28" name="Text 22"/>
          <p:cNvSpPr/>
          <p:nvPr/>
        </p:nvSpPr>
        <p:spPr>
          <a:xfrm>
            <a:off x="457200" y="5688509"/>
            <a:ext cx="1384300" cy="203200"/>
          </a:xfrm>
          <a:prstGeom prst="rect">
            <a:avLst/>
          </a:prstGeom>
          <a:noFill/>
          <a:ln/>
        </p:spPr>
        <p:txBody>
          <a:bodyPr wrap="square" lIns="0" tIns="0" rIns="0" bIns="0" rtlCol="0" anchor="t">
            <a:normAutofit/>
          </a:bodyPr>
          <a:lstStyle/>
          <a:p>
            <a:pPr algn="l" indent="0" marL="0">
              <a:lnSpc>
                <a:spcPts val="1400"/>
              </a:lnSpc>
              <a:buNone/>
            </a:pPr>
            <a:r>
              <a:rPr lang="en-US" sz="1000" b="1" dirty="0">
                <a:solidFill>
                  <a:srgbClr val="1428A0"/>
                </a:solidFill>
                <a:latin typeface="JetBrains Mono" pitchFamily="49" charset="0"/>
                <a:ea typeface="JetBrains Mono" pitchFamily="49" charset="-122"/>
                <a:cs typeface="JetBrains Mono" pitchFamily="49" charset="-120"/>
              </a:rPr>
              <a:t>tools/call</a:t>
            </a:r>
            <a:endParaRPr lang="en-US" sz="1000" dirty="0"/>
          </a:p>
        </p:txBody>
      </p:sp>
      <p:sp>
        <p:nvSpPr>
          <p:cNvPr id="29" name="Text 23"/>
          <p:cNvSpPr/>
          <p:nvPr/>
        </p:nvSpPr>
        <p:spPr>
          <a:xfrm>
            <a:off x="1892300" y="4701977"/>
            <a:ext cx="4813808" cy="176510"/>
          </a:xfrm>
          <a:prstGeom prst="rect">
            <a:avLst/>
          </a:prstGeom>
          <a:noFill/>
          <a:ln/>
        </p:spPr>
        <p:txBody>
          <a:bodyPr wrap="square" lIns="0" tIns="0" rIns="0" bIns="0" rtlCol="0" anchor="t">
            <a:normAutofit/>
          </a:bodyPr>
          <a:lstStyle/>
          <a:p>
            <a:pPr algn="l" indent="0" marL="0">
              <a:lnSpc>
                <a:spcPts val="1190"/>
              </a:lnSpc>
              <a:buNone/>
            </a:pPr>
            <a:r>
              <a:rPr lang="en-US" sz="850" b="1" dirty="0">
                <a:solidFill>
                  <a:srgbClr val="1428A0"/>
                </a:solidFill>
                <a:latin typeface="Noto Sans KR" pitchFamily="34" charset="0"/>
                <a:ea typeface="Noto Sans KR" pitchFamily="34" charset="-122"/>
                <a:cs typeface="Noto Sans KR" pitchFamily="34" charset="-120"/>
              </a:rPr>
              <a:t>Client → Server · 요청 (stdin)</a:t>
            </a:r>
            <a:endParaRPr lang="en-US" sz="850" dirty="0"/>
          </a:p>
        </p:txBody>
      </p:sp>
      <p:sp>
        <p:nvSpPr>
          <p:cNvPr id="30" name="Text 24"/>
          <p:cNvSpPr/>
          <p:nvPr/>
        </p:nvSpPr>
        <p:spPr>
          <a:xfrm>
            <a:off x="1892300" y="4891187"/>
            <a:ext cx="4673600" cy="1598513"/>
          </a:xfrm>
          <a:prstGeom prst="roundRect">
            <a:avLst>
              <a:gd name="adj" fmla="val 3972"/>
            </a:avLst>
          </a:prstGeom>
          <a:solidFill>
            <a:srgbClr val="0E1320"/>
          </a:solidFill>
          <a:ln/>
        </p:spPr>
        <p:txBody>
          <a:bodyPr wrap="square" lIns="133801" tIns="57601" rIns="0" bIns="57601" rtlCol="0" anchor="t">
            <a:normAutofit/>
          </a:bodyPr>
          <a:lstStyle/>
          <a:p>
            <a:pPr algn="l" indent="0" marL="0">
              <a:lnSpc>
                <a:spcPts val="1705"/>
              </a:lnSpc>
              <a:buNone/>
            </a:pP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C3E88D"/>
                </a:solidFill>
                <a:latin typeface="JetBrains Mono" pitchFamily="49" charset="0"/>
                <a:ea typeface="JetBrains Mono" pitchFamily="49" charset="-122"/>
                <a:cs typeface="JetBrains Mono" pitchFamily="49" charset="-120"/>
              </a:rPr>
              <a:t>"jsonrpc"</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FFCDAA"/>
                </a:solidFill>
                <a:latin typeface="JetBrains Mono" pitchFamily="49" charset="0"/>
                <a:ea typeface="JetBrains Mono" pitchFamily="49" charset="-122"/>
                <a:cs typeface="JetBrains Mono" pitchFamily="49" charset="-120"/>
              </a:rPr>
              <a:t>"2.0"</a:t>
            </a: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C3E88D"/>
                </a:solidFill>
                <a:latin typeface="JetBrains Mono" pitchFamily="49" charset="0"/>
                <a:ea typeface="JetBrains Mono" pitchFamily="49" charset="-122"/>
                <a:cs typeface="JetBrains Mono" pitchFamily="49" charset="-120"/>
              </a:rPr>
              <a:t>"id"</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9DB4FF"/>
                </a:solidFill>
                <a:latin typeface="JetBrains Mono" pitchFamily="49" charset="0"/>
                <a:ea typeface="JetBrains Mono" pitchFamily="49" charset="-122"/>
                <a:cs typeface="JetBrains Mono" pitchFamily="49" charset="-120"/>
              </a:rPr>
              <a:t>3</a:t>
            </a:r>
            <a:r>
              <a:rPr lang="en-US" sz="1100" dirty="0">
                <a:solidFill>
                  <a:srgbClr val="C9D1E0"/>
                </a:solidFill>
                <a:latin typeface="JetBrains Mono" pitchFamily="49" charset="0"/>
                <a:ea typeface="JetBrains Mono" pitchFamily="49" charset="-122"/>
                <a:cs typeface="JetBrains Mono" pitchFamily="49" charset="-120"/>
              </a:rPr>
              <a:t>,</a:t>
            </a:r>
            <a:endParaRPr lang="en-US" sz="1100" dirty="0"/>
          </a:p>
          <a:p>
            <a:pPr algn="l" indent="0" marL="0">
              <a:lnSpc>
                <a:spcPts val="1705"/>
              </a:lnSpc>
              <a:buNone/>
            </a:pP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C3E88D"/>
                </a:solidFill>
                <a:latin typeface="JetBrains Mono" pitchFamily="49" charset="0"/>
                <a:ea typeface="JetBrains Mono" pitchFamily="49" charset="-122"/>
                <a:cs typeface="JetBrains Mono" pitchFamily="49" charset="-120"/>
              </a:rPr>
              <a:t>"method"</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FFCDAA"/>
                </a:solidFill>
                <a:latin typeface="JetBrains Mono" pitchFamily="49" charset="0"/>
                <a:ea typeface="JetBrains Mono" pitchFamily="49" charset="-122"/>
                <a:cs typeface="JetBrains Mono" pitchFamily="49" charset="-120"/>
              </a:rPr>
              <a:t>"tools/call"</a:t>
            </a:r>
            <a:r>
              <a:rPr lang="en-US" sz="1100" dirty="0">
                <a:solidFill>
                  <a:srgbClr val="C9D1E0"/>
                </a:solidFill>
                <a:latin typeface="JetBrains Mono" pitchFamily="49" charset="0"/>
                <a:ea typeface="JetBrains Mono" pitchFamily="49" charset="-122"/>
                <a:cs typeface="JetBrains Mono" pitchFamily="49" charset="-120"/>
              </a:rPr>
              <a:t>,</a:t>
            </a:r>
            <a:endParaRPr lang="en-US" sz="1100" dirty="0"/>
          </a:p>
          <a:p>
            <a:pPr algn="l" indent="0" marL="0">
              <a:lnSpc>
                <a:spcPts val="1705"/>
              </a:lnSpc>
              <a:buNone/>
            </a:pP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C3E88D"/>
                </a:solidFill>
                <a:latin typeface="JetBrains Mono" pitchFamily="49" charset="0"/>
                <a:ea typeface="JetBrains Mono" pitchFamily="49" charset="-122"/>
                <a:cs typeface="JetBrains Mono" pitchFamily="49" charset="-120"/>
              </a:rPr>
              <a:t>"params"</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C3E88D"/>
                </a:solidFill>
                <a:latin typeface="JetBrains Mono" pitchFamily="49" charset="0"/>
                <a:ea typeface="JetBrains Mono" pitchFamily="49" charset="-122"/>
                <a:cs typeface="JetBrains Mono" pitchFamily="49" charset="-120"/>
              </a:rPr>
              <a:t>"name"</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FFCDAA"/>
                </a:solidFill>
                <a:latin typeface="JetBrains Mono" pitchFamily="49" charset="0"/>
                <a:ea typeface="JetBrains Mono" pitchFamily="49" charset="-122"/>
                <a:cs typeface="JetBrains Mono" pitchFamily="49" charset="-120"/>
              </a:rPr>
              <a:t>"search_pages"</a:t>
            </a:r>
            <a:r>
              <a:rPr lang="en-US" sz="1100" dirty="0">
                <a:solidFill>
                  <a:srgbClr val="C9D1E0"/>
                </a:solidFill>
                <a:latin typeface="JetBrains Mono" pitchFamily="49" charset="0"/>
                <a:ea typeface="JetBrains Mono" pitchFamily="49" charset="-122"/>
                <a:cs typeface="JetBrains Mono" pitchFamily="49" charset="-120"/>
              </a:rPr>
              <a:t>,</a:t>
            </a:r>
            <a:endParaRPr lang="en-US" sz="1100" dirty="0"/>
          </a:p>
          <a:p>
            <a:pPr algn="l" indent="0" marL="0">
              <a:lnSpc>
                <a:spcPts val="1705"/>
              </a:lnSpc>
              <a:buNone/>
            </a:pP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C3E88D"/>
                </a:solidFill>
                <a:latin typeface="JetBrains Mono" pitchFamily="49" charset="0"/>
                <a:ea typeface="JetBrains Mono" pitchFamily="49" charset="-122"/>
                <a:cs typeface="JetBrains Mono" pitchFamily="49" charset="-120"/>
              </a:rPr>
              <a:t>"arguments"</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C3E88D"/>
                </a:solidFill>
                <a:latin typeface="JetBrains Mono" pitchFamily="49" charset="0"/>
                <a:ea typeface="JetBrains Mono" pitchFamily="49" charset="-122"/>
                <a:cs typeface="JetBrains Mono" pitchFamily="49" charset="-120"/>
              </a:rPr>
              <a:t>"query"</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FFCDAA"/>
                </a:solidFill>
                <a:latin typeface="JetBrains Mono" pitchFamily="49" charset="0"/>
                <a:ea typeface="JetBrains Mono" pitchFamily="49" charset="-122"/>
                <a:cs typeface="JetBrains Mono" pitchFamily="49" charset="-120"/>
              </a:rPr>
              <a:t>"보안가이드"</a:t>
            </a:r>
            <a:r>
              <a:rPr lang="en-US" sz="1100" dirty="0">
                <a:solidFill>
                  <a:srgbClr val="C9D1E0"/>
                </a:solidFill>
                <a:latin typeface="JetBrains Mono" pitchFamily="49" charset="0"/>
                <a:ea typeface="JetBrains Mono" pitchFamily="49" charset="-122"/>
                <a:cs typeface="JetBrains Mono" pitchFamily="49" charset="-120"/>
              </a:rPr>
              <a:t>}}}</a:t>
            </a:r>
            <a:endParaRPr lang="en-US" sz="1100" dirty="0"/>
          </a:p>
        </p:txBody>
      </p:sp>
      <p:sp>
        <p:nvSpPr>
          <p:cNvPr id="31" name="Shape 25"/>
          <p:cNvSpPr/>
          <p:nvPr/>
        </p:nvSpPr>
        <p:spPr>
          <a:xfrm>
            <a:off x="1892300" y="4891187"/>
            <a:ext cx="4673600" cy="1598513"/>
          </a:xfrm>
          <a:custGeom>
            <a:avLst/>
            <a:gdLst/>
            <a:ahLst/>
            <a:cxnLst/>
            <a:rect l="l" t="t" r="r" b="b"/>
            <a:pathLst>
              <a:path w="4673600" h="1598513">
                <a:moveTo>
                  <a:pt x="63500" y="1598513"/>
                </a:moveTo>
                <a:lnTo>
                  <a:pt x="63500" y="1598513"/>
                </a:lnTo>
                <a:arcTo hR="63500" wR="63500" stAng="5400000" swAng="5400000"/>
                <a:lnTo>
                  <a:pt x="0" y="63500"/>
                </a:lnTo>
                <a:arcTo hR="63500" wR="63500" stAng="10800000" swAng="5400000"/>
                <a:lnTo>
                  <a:pt x="63500" y="0"/>
                </a:lnTo>
                <a:arcTo hR="63500" wR="25400" stAng="16200000" swAng="-5400000"/>
                <a:lnTo>
                  <a:pt x="38100" y="1535013"/>
                </a:lnTo>
                <a:arcTo hR="63500" wR="25400" stAng="10800000" swAng="-5400000"/>
                <a:close/>
              </a:path>
            </a:pathLst>
          </a:custGeom>
          <a:solidFill>
            <a:srgbClr val="1428A0"/>
          </a:solidFill>
          <a:ln/>
        </p:spPr>
      </p:sp>
      <p:pic>
        <p:nvPicPr>
          <p:cNvPr id="32" name="Image 4" descr="preencoded.png">    </p:cNvPr>
          <p:cNvPicPr>
            <a:picLocks noChangeAspect="1"/>
          </p:cNvPicPr>
          <p:nvPr/>
        </p:nvPicPr>
        <p:blipFill>
          <a:blip r:embed="rId5"/>
          <a:srcRect l="0" r="0" t="0" b="0"/>
          <a:stretch/>
        </p:blipFill>
        <p:spPr>
          <a:xfrm>
            <a:off x="6673850" y="5456138"/>
            <a:ext cx="279400" cy="88900"/>
          </a:xfrm>
          <a:prstGeom prst="rect">
            <a:avLst/>
          </a:prstGeom>
        </p:spPr>
      </p:pic>
      <p:pic>
        <p:nvPicPr>
          <p:cNvPr id="33" name="Image 5" descr="preencoded.png">    </p:cNvPr>
          <p:cNvPicPr>
            <a:picLocks noChangeAspect="1"/>
          </p:cNvPicPr>
          <p:nvPr/>
        </p:nvPicPr>
        <p:blipFill>
          <a:blip r:embed="rId6"/>
          <a:srcRect l="0" r="0" t="0" b="0"/>
          <a:stretch/>
        </p:blipFill>
        <p:spPr>
          <a:xfrm>
            <a:off x="6673850" y="5646638"/>
            <a:ext cx="279400" cy="88900"/>
          </a:xfrm>
          <a:prstGeom prst="rect">
            <a:avLst/>
          </a:prstGeom>
        </p:spPr>
      </p:pic>
      <p:sp>
        <p:nvSpPr>
          <p:cNvPr id="34" name="Text 26"/>
          <p:cNvSpPr/>
          <p:nvPr/>
        </p:nvSpPr>
        <p:spPr>
          <a:xfrm>
            <a:off x="7061200" y="4701977"/>
            <a:ext cx="4813808" cy="176510"/>
          </a:xfrm>
          <a:prstGeom prst="rect">
            <a:avLst/>
          </a:prstGeom>
          <a:noFill/>
          <a:ln/>
        </p:spPr>
        <p:txBody>
          <a:bodyPr wrap="square" lIns="0" tIns="0" rIns="0" bIns="0" rtlCol="0" anchor="t">
            <a:normAutofit/>
          </a:bodyPr>
          <a:lstStyle/>
          <a:p>
            <a:pPr algn="l" indent="0" marL="0">
              <a:lnSpc>
                <a:spcPts val="1190"/>
              </a:lnSpc>
              <a:buNone/>
            </a:pPr>
            <a:r>
              <a:rPr lang="en-US" sz="850" b="1" dirty="0">
                <a:solidFill>
                  <a:srgbClr val="1E6B3A"/>
                </a:solidFill>
                <a:latin typeface="Noto Sans KR" pitchFamily="34" charset="0"/>
                <a:ea typeface="Noto Sans KR" pitchFamily="34" charset="-122"/>
                <a:cs typeface="Noto Sans KR" pitchFamily="34" charset="-120"/>
              </a:rPr>
              <a:t>Server → Client · 응답 (stdout)</a:t>
            </a:r>
            <a:endParaRPr lang="en-US" sz="850" dirty="0"/>
          </a:p>
        </p:txBody>
      </p:sp>
      <p:sp>
        <p:nvSpPr>
          <p:cNvPr id="35" name="Text 27"/>
          <p:cNvSpPr/>
          <p:nvPr/>
        </p:nvSpPr>
        <p:spPr>
          <a:xfrm>
            <a:off x="7061200" y="4891187"/>
            <a:ext cx="4673600" cy="1598513"/>
          </a:xfrm>
          <a:prstGeom prst="roundRect">
            <a:avLst>
              <a:gd name="adj" fmla="val 3972"/>
            </a:avLst>
          </a:prstGeom>
          <a:solidFill>
            <a:srgbClr val="0E1320"/>
          </a:solidFill>
          <a:ln/>
        </p:spPr>
        <p:txBody>
          <a:bodyPr wrap="square" lIns="133801" tIns="57601" rIns="0" bIns="57601" rtlCol="0" anchor="t">
            <a:normAutofit/>
          </a:bodyPr>
          <a:lstStyle/>
          <a:p>
            <a:pPr algn="l" indent="0" marL="0">
              <a:lnSpc>
                <a:spcPts val="1705"/>
              </a:lnSpc>
              <a:buNone/>
            </a:pP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C3E88D"/>
                </a:solidFill>
                <a:latin typeface="JetBrains Mono" pitchFamily="49" charset="0"/>
                <a:ea typeface="JetBrains Mono" pitchFamily="49" charset="-122"/>
                <a:cs typeface="JetBrains Mono" pitchFamily="49" charset="-120"/>
              </a:rPr>
              <a:t>"jsonrpc"</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FFCDAA"/>
                </a:solidFill>
                <a:latin typeface="JetBrains Mono" pitchFamily="49" charset="0"/>
                <a:ea typeface="JetBrains Mono" pitchFamily="49" charset="-122"/>
                <a:cs typeface="JetBrains Mono" pitchFamily="49" charset="-120"/>
              </a:rPr>
              <a:t>"2.0"</a:t>
            </a: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C3E88D"/>
                </a:solidFill>
                <a:latin typeface="JetBrains Mono" pitchFamily="49" charset="0"/>
                <a:ea typeface="JetBrains Mono" pitchFamily="49" charset="-122"/>
                <a:cs typeface="JetBrains Mono" pitchFamily="49" charset="-120"/>
              </a:rPr>
              <a:t>"id"</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9DB4FF"/>
                </a:solidFill>
                <a:latin typeface="JetBrains Mono" pitchFamily="49" charset="0"/>
                <a:ea typeface="JetBrains Mono" pitchFamily="49" charset="-122"/>
                <a:cs typeface="JetBrains Mono" pitchFamily="49" charset="-120"/>
              </a:rPr>
              <a:t>3</a:t>
            </a:r>
            <a:r>
              <a:rPr lang="en-US" sz="1100" dirty="0">
                <a:solidFill>
                  <a:srgbClr val="C9D1E0"/>
                </a:solidFill>
                <a:latin typeface="JetBrains Mono" pitchFamily="49" charset="0"/>
                <a:ea typeface="JetBrains Mono" pitchFamily="49" charset="-122"/>
                <a:cs typeface="JetBrains Mono" pitchFamily="49" charset="-120"/>
              </a:rPr>
              <a:t>,</a:t>
            </a:r>
            <a:endParaRPr lang="en-US" sz="1100" dirty="0"/>
          </a:p>
          <a:p>
            <a:pPr algn="l" indent="0" marL="0">
              <a:lnSpc>
                <a:spcPts val="1705"/>
              </a:lnSpc>
              <a:buNone/>
            </a:pP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C3E88D"/>
                </a:solidFill>
                <a:latin typeface="JetBrains Mono" pitchFamily="49" charset="0"/>
                <a:ea typeface="JetBrains Mono" pitchFamily="49" charset="-122"/>
                <a:cs typeface="JetBrains Mono" pitchFamily="49" charset="-120"/>
              </a:rPr>
              <a:t>"result"</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C3E88D"/>
                </a:solidFill>
                <a:latin typeface="JetBrains Mono" pitchFamily="49" charset="0"/>
                <a:ea typeface="JetBrains Mono" pitchFamily="49" charset="-122"/>
                <a:cs typeface="JetBrains Mono" pitchFamily="49" charset="-120"/>
              </a:rPr>
              <a:t>"content"</a:t>
            </a:r>
            <a:r>
              <a:rPr lang="en-US" sz="1100" dirty="0">
                <a:solidFill>
                  <a:srgbClr val="C9D1E0"/>
                </a:solidFill>
                <a:latin typeface="JetBrains Mono" pitchFamily="49" charset="0"/>
                <a:ea typeface="JetBrains Mono" pitchFamily="49" charset="-122"/>
                <a:cs typeface="JetBrains Mono" pitchFamily="49" charset="-120"/>
              </a:rPr>
              <a:t>:[{</a:t>
            </a:r>
            <a:endParaRPr lang="en-US" sz="1100" dirty="0"/>
          </a:p>
          <a:p>
            <a:pPr algn="l" indent="0" marL="0">
              <a:lnSpc>
                <a:spcPts val="1705"/>
              </a:lnSpc>
              <a:buNone/>
            </a:pP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C3E88D"/>
                </a:solidFill>
                <a:latin typeface="JetBrains Mono" pitchFamily="49" charset="0"/>
                <a:ea typeface="JetBrains Mono" pitchFamily="49" charset="-122"/>
                <a:cs typeface="JetBrains Mono" pitchFamily="49" charset="-120"/>
              </a:rPr>
              <a:t>"type"</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FFCDAA"/>
                </a:solidFill>
                <a:latin typeface="JetBrains Mono" pitchFamily="49" charset="0"/>
                <a:ea typeface="JetBrains Mono" pitchFamily="49" charset="-122"/>
                <a:cs typeface="JetBrains Mono" pitchFamily="49" charset="-120"/>
              </a:rPr>
              <a:t>"text"</a:t>
            </a:r>
            <a:r>
              <a:rPr lang="en-US" sz="1100" dirty="0">
                <a:solidFill>
                  <a:srgbClr val="C9D1E0"/>
                </a:solidFill>
                <a:latin typeface="JetBrains Mono" pitchFamily="49" charset="0"/>
                <a:ea typeface="JetBrains Mono" pitchFamily="49" charset="-122"/>
                <a:cs typeface="JetBrains Mono" pitchFamily="49" charset="-120"/>
              </a:rPr>
              <a:t>,</a:t>
            </a:r>
            <a:endParaRPr lang="en-US" sz="1100" dirty="0"/>
          </a:p>
          <a:p>
            <a:pPr algn="l" indent="0" marL="0">
              <a:lnSpc>
                <a:spcPts val="1705"/>
              </a:lnSpc>
              <a:buNone/>
            </a:pP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C3E88D"/>
                </a:solidFill>
                <a:latin typeface="JetBrains Mono" pitchFamily="49" charset="0"/>
                <a:ea typeface="JetBrains Mono" pitchFamily="49" charset="-122"/>
                <a:cs typeface="JetBrains Mono" pitchFamily="49" charset="-120"/>
              </a:rPr>
              <a:t>"text"</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FFCDAA"/>
                </a:solidFill>
                <a:latin typeface="JetBrains Mono" pitchFamily="49" charset="0"/>
                <a:ea typeface="JetBrains Mono" pitchFamily="49" charset="-122"/>
                <a:cs typeface="JetBrains Mono" pitchFamily="49" charset="-120"/>
              </a:rPr>
              <a:t>"AI 서비스 보안가이드 v2.1 …"</a:t>
            </a:r>
            <a:r>
              <a:rPr lang="en-US" sz="1100" dirty="0">
                <a:solidFill>
                  <a:srgbClr val="C9D1E0"/>
                </a:solidFill>
                <a:latin typeface="JetBrains Mono" pitchFamily="49" charset="0"/>
                <a:ea typeface="JetBrains Mono" pitchFamily="49" charset="-122"/>
                <a:cs typeface="JetBrains Mono" pitchFamily="49" charset="-120"/>
              </a:rPr>
              <a:t>}],</a:t>
            </a:r>
            <a:endParaRPr lang="en-US" sz="1100" dirty="0"/>
          </a:p>
          <a:p>
            <a:pPr algn="l" indent="0" marL="0">
              <a:lnSpc>
                <a:spcPts val="1705"/>
              </a:lnSpc>
              <a:buNone/>
            </a:pP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C3E88D"/>
                </a:solidFill>
                <a:latin typeface="JetBrains Mono" pitchFamily="49" charset="0"/>
                <a:ea typeface="JetBrains Mono" pitchFamily="49" charset="-122"/>
                <a:cs typeface="JetBrains Mono" pitchFamily="49" charset="-120"/>
              </a:rPr>
              <a:t>"isError"</a:t>
            </a:r>
            <a:r>
              <a:rPr lang="en-US" sz="1100" dirty="0">
                <a:solidFill>
                  <a:srgbClr val="C9D1E0"/>
                </a:solidFill>
                <a:latin typeface="JetBrains Mono" pitchFamily="49" charset="0"/>
                <a:ea typeface="JetBrains Mono" pitchFamily="49" charset="-122"/>
                <a:cs typeface="JetBrains Mono" pitchFamily="49" charset="-120"/>
              </a:rPr>
              <a:t>:</a:t>
            </a:r>
            <a:r>
              <a:rPr lang="en-US" sz="1100" dirty="0">
                <a:solidFill>
                  <a:srgbClr val="9DB4FF"/>
                </a:solidFill>
                <a:latin typeface="JetBrains Mono" pitchFamily="49" charset="0"/>
                <a:ea typeface="JetBrains Mono" pitchFamily="49" charset="-122"/>
                <a:cs typeface="JetBrains Mono" pitchFamily="49" charset="-120"/>
              </a:rPr>
              <a:t>false</a:t>
            </a:r>
            <a:r>
              <a:rPr lang="en-US" sz="1100" dirty="0">
                <a:solidFill>
                  <a:srgbClr val="C9D1E0"/>
                </a:solidFill>
                <a:latin typeface="JetBrains Mono" pitchFamily="49" charset="0"/>
                <a:ea typeface="JetBrains Mono" pitchFamily="49" charset="-122"/>
                <a:cs typeface="JetBrains Mono" pitchFamily="49" charset="-120"/>
              </a:rPr>
              <a:t>}}</a:t>
            </a:r>
            <a:endParaRPr lang="en-US" sz="1100" dirty="0"/>
          </a:p>
        </p:txBody>
      </p:sp>
      <p:sp>
        <p:nvSpPr>
          <p:cNvPr id="36" name="Shape 28"/>
          <p:cNvSpPr/>
          <p:nvPr/>
        </p:nvSpPr>
        <p:spPr>
          <a:xfrm>
            <a:off x="7061200" y="4891187"/>
            <a:ext cx="4673600" cy="1598513"/>
          </a:xfrm>
          <a:custGeom>
            <a:avLst/>
            <a:gdLst/>
            <a:ahLst/>
            <a:cxnLst/>
            <a:rect l="l" t="t" r="r" b="b"/>
            <a:pathLst>
              <a:path w="4673600" h="1598513">
                <a:moveTo>
                  <a:pt x="63500" y="1598513"/>
                </a:moveTo>
                <a:lnTo>
                  <a:pt x="63500" y="1598513"/>
                </a:lnTo>
                <a:arcTo hR="63500" wR="63500" stAng="5400000" swAng="5400000"/>
                <a:lnTo>
                  <a:pt x="0" y="63500"/>
                </a:lnTo>
                <a:arcTo hR="63500" wR="63500" stAng="10800000" swAng="5400000"/>
                <a:lnTo>
                  <a:pt x="63500" y="0"/>
                </a:lnTo>
                <a:arcTo hR="63500" wR="25400" stAng="16200000" swAng="-5400000"/>
                <a:lnTo>
                  <a:pt x="38100" y="1535013"/>
                </a:lnTo>
                <a:arcTo hR="63500" wR="25400" stAng="10800000" swAng="-5400000"/>
                <a:close/>
              </a:path>
            </a:pathLst>
          </a:custGeom>
          <a:solidFill>
            <a:srgbClr val="1E6B3A"/>
          </a:solidFill>
          <a:ln/>
        </p:spPr>
      </p:sp>
      <p:sp>
        <p:nvSpPr>
          <p:cNvPr id="37" name="Text 29"/>
          <p:cNvSpPr/>
          <p:nvPr/>
        </p:nvSpPr>
        <p:spPr>
          <a:xfrm>
            <a:off x="11176000" y="65176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27</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482600" y="330200"/>
            <a:ext cx="11563604" cy="22096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1428A0"/>
                </a:solidFill>
                <a:latin typeface="Noto Sans KR" pitchFamily="34" charset="0"/>
                <a:ea typeface="Noto Sans KR" pitchFamily="34" charset="-122"/>
                <a:cs typeface="Noto Sans KR" pitchFamily="34" charset="-120"/>
              </a:rPr>
              <a:t>사내 MCP 서버 연동 · 실제 등록 화면</a:t>
            </a:r>
            <a:endParaRPr lang="en-US" sz="1100" dirty="0"/>
          </a:p>
        </p:txBody>
      </p:sp>
      <p:sp>
        <p:nvSpPr>
          <p:cNvPr id="3" name="Text 1"/>
          <p:cNvSpPr/>
          <p:nvPr>
            <p:ph type="title"/>
          </p:nvPr>
        </p:nvSpPr>
        <p:spPr>
          <a:xfrm>
            <a:off x="482600" y="544810"/>
            <a:ext cx="11563604" cy="318691"/>
          </a:xfrm>
          <a:prstGeom prst="rect">
            <a:avLst/>
          </a:prstGeom>
          <a:noFill/>
          <a:ln/>
        </p:spPr>
        <p:txBody>
          <a:bodyPr wrap="square" lIns="0" tIns="0" rIns="0" bIns="0" rtlCol="0" anchor="t">
            <a:normAutofit/>
          </a:bodyPr>
          <a:lstStyle/>
          <a:p>
            <a:pPr algn="l" indent="0" marL="0">
              <a:lnSpc>
                <a:spcPts val="2310"/>
              </a:lnSpc>
              <a:buNone/>
            </a:pPr>
            <a:r>
              <a:rPr lang="en-US" sz="2100" b="1" i="0" dirty="0">
                <a:solidFill>
                  <a:srgbClr val="0E1320"/>
                </a:solidFill>
                <a:latin typeface="Noto Sans KR" pitchFamily="34" charset="0"/>
                <a:ea typeface="Noto Sans KR" pitchFamily="34" charset="-122"/>
                <a:cs typeface="Noto Sans KR" pitchFamily="34" charset="-120"/>
              </a:rPr>
              <a:t>사내 MCP 서버에 붙는 3가지 유형</a:t>
            </a:r>
            <a:endParaRPr lang="en-US" sz="2100" dirty="0"/>
          </a:p>
        </p:txBody>
      </p:sp>
      <p:sp>
        <p:nvSpPr>
          <p:cNvPr id="4" name="Shape 2"/>
          <p:cNvSpPr/>
          <p:nvPr/>
        </p:nvSpPr>
        <p:spPr>
          <a:xfrm>
            <a:off x="485775" y="930176"/>
            <a:ext cx="11220450" cy="5480149"/>
          </a:xfrm>
          <a:prstGeom prst="roundRect">
            <a:avLst>
              <a:gd name="adj" fmla="val 1333"/>
            </a:avLst>
          </a:prstGeom>
          <a:solidFill>
            <a:srgbClr val="FFFFFF"/>
          </a:solidFill>
          <a:ln w="6350">
            <a:solidFill>
              <a:srgbClr val="DCE1EA"/>
            </a:solidFill>
            <a:prstDash val="solid"/>
          </a:ln>
        </p:spPr>
      </p:sp>
      <p:sp>
        <p:nvSpPr>
          <p:cNvPr id="5" name="Shape 3"/>
          <p:cNvSpPr/>
          <p:nvPr/>
        </p:nvSpPr>
        <p:spPr>
          <a:xfrm>
            <a:off x="488950" y="933351"/>
            <a:ext cx="1079500" cy="452140"/>
          </a:xfrm>
          <a:custGeom>
            <a:avLst/>
            <a:gdLst/>
            <a:ahLst/>
            <a:cxnLst/>
            <a:rect l="l" t="t" r="r" b="b"/>
            <a:pathLst>
              <a:path w="1079500" h="452140">
                <a:moveTo>
                  <a:pt x="0" y="69850"/>
                </a:moveTo>
                <a:arcTo hR="69850" wR="69850" stAng="10800000" swAng="5400000"/>
                <a:lnTo>
                  <a:pt x="1079500" y="0"/>
                </a:lnTo>
                <a:lnTo>
                  <a:pt x="1079500" y="452140"/>
                </a:lnTo>
                <a:lnTo>
                  <a:pt x="0" y="452140"/>
                </a:lnTo>
                <a:close/>
              </a:path>
            </a:pathLst>
          </a:custGeom>
          <a:solidFill>
            <a:srgbClr val="F1F3F7"/>
          </a:solidFill>
          <a:ln/>
        </p:spPr>
      </p:sp>
      <p:sp>
        <p:nvSpPr>
          <p:cNvPr id="6" name="Shape 4"/>
          <p:cNvSpPr/>
          <p:nvPr/>
        </p:nvSpPr>
        <p:spPr>
          <a:xfrm>
            <a:off x="488950" y="933351"/>
            <a:ext cx="1079500" cy="452140"/>
          </a:xfrm>
          <a:custGeom>
            <a:avLst/>
            <a:gdLst/>
            <a:ahLst/>
            <a:cxnLst/>
            <a:rect l="l" t="t" r="r" b="b"/>
            <a:pathLst>
              <a:path w="1079500" h="452140">
                <a:moveTo>
                  <a:pt x="1073150" y="0"/>
                </a:moveTo>
                <a:lnTo>
                  <a:pt x="1079500" y="0"/>
                </a:lnTo>
                <a:lnTo>
                  <a:pt x="1079500" y="452140"/>
                </a:lnTo>
                <a:lnTo>
                  <a:pt x="1073150" y="452140"/>
                </a:lnTo>
                <a:lnTo>
                  <a:pt x="1073150" y="0"/>
                </a:lnTo>
                <a:close/>
                <a:moveTo>
                  <a:pt x="0" y="445790"/>
                </a:moveTo>
                <a:lnTo>
                  <a:pt x="1073150" y="445790"/>
                </a:lnTo>
                <a:lnTo>
                  <a:pt x="1073150" y="452140"/>
                </a:lnTo>
                <a:lnTo>
                  <a:pt x="0" y="452140"/>
                </a:lnTo>
                <a:lnTo>
                  <a:pt x="0" y="445790"/>
                </a:lnTo>
                <a:close/>
              </a:path>
            </a:pathLst>
          </a:custGeom>
          <a:solidFill>
            <a:srgbClr val="E3E8F0"/>
          </a:solidFill>
          <a:ln/>
        </p:spPr>
      </p:sp>
      <p:sp>
        <p:nvSpPr>
          <p:cNvPr id="7" name="Shape 5"/>
          <p:cNvSpPr/>
          <p:nvPr/>
        </p:nvSpPr>
        <p:spPr>
          <a:xfrm>
            <a:off x="1568450" y="933351"/>
            <a:ext cx="3378200" cy="452140"/>
          </a:xfrm>
          <a:prstGeom prst="rect">
            <a:avLst/>
          </a:prstGeom>
          <a:solidFill>
            <a:srgbClr val="5B6577"/>
          </a:solidFill>
          <a:ln/>
        </p:spPr>
      </p:sp>
      <p:sp>
        <p:nvSpPr>
          <p:cNvPr id="8" name="Shape 6"/>
          <p:cNvSpPr/>
          <p:nvPr/>
        </p:nvSpPr>
        <p:spPr>
          <a:xfrm>
            <a:off x="1568450" y="1382316"/>
            <a:ext cx="3378200" cy="0"/>
          </a:xfrm>
          <a:prstGeom prst="line">
            <a:avLst/>
          </a:prstGeom>
          <a:noFill/>
          <a:ln w="6350">
            <a:solidFill>
              <a:srgbClr val="E3E8F0"/>
            </a:solidFill>
            <a:prstDash val="solid"/>
          </a:ln>
        </p:spPr>
      </p:sp>
      <p:sp>
        <p:nvSpPr>
          <p:cNvPr id="9" name="Text 7"/>
          <p:cNvSpPr/>
          <p:nvPr/>
        </p:nvSpPr>
        <p:spPr>
          <a:xfrm>
            <a:off x="2312908" y="984151"/>
            <a:ext cx="1889284" cy="229791"/>
          </a:xfrm>
          <a:prstGeom prst="rect">
            <a:avLst/>
          </a:prstGeom>
          <a:noFill/>
          <a:ln/>
        </p:spPr>
        <p:txBody>
          <a:bodyPr wrap="square" lIns="0" tIns="0" rIns="0" bIns="0" rtlCol="0" anchor="t">
            <a:normAutofit/>
          </a:bodyPr>
          <a:lstStyle/>
          <a:p>
            <a:pPr algn="ctr" indent="0" marL="0">
              <a:lnSpc>
                <a:spcPts val="1610"/>
              </a:lnSpc>
              <a:buNone/>
            </a:pPr>
            <a:r>
              <a:rPr lang="en-US" sz="1150" b="1" dirty="0">
                <a:solidFill>
                  <a:srgbClr val="FFFFFF"/>
                </a:solidFill>
                <a:latin typeface="Noto Sans KR" pitchFamily="34" charset="0"/>
                <a:ea typeface="Noto Sans KR" pitchFamily="34" charset="-122"/>
                <a:cs typeface="Noto Sans KR" pitchFamily="34" charset="-120"/>
              </a:rPr>
              <a:t>① 내 PC · mcp-remote</a:t>
            </a:r>
            <a:endParaRPr lang="en-US" sz="1150" dirty="0"/>
          </a:p>
        </p:txBody>
      </p:sp>
      <p:sp>
        <p:nvSpPr>
          <p:cNvPr id="10" name="Text 8"/>
          <p:cNvSpPr/>
          <p:nvPr/>
        </p:nvSpPr>
        <p:spPr>
          <a:xfrm>
            <a:off x="2675096" y="1194891"/>
            <a:ext cx="1164908" cy="158750"/>
          </a:xfrm>
          <a:prstGeom prst="rect">
            <a:avLst/>
          </a:prstGeom>
          <a:noFill/>
          <a:ln/>
        </p:spPr>
        <p:txBody>
          <a:bodyPr wrap="square" lIns="0" tIns="0" rIns="0" bIns="0" rtlCol="0" anchor="t">
            <a:normAutofit/>
          </a:bodyPr>
          <a:lstStyle/>
          <a:p>
            <a:pPr algn="ctr" indent="0" marL="0">
              <a:lnSpc>
                <a:spcPts val="1050"/>
              </a:lnSpc>
              <a:buNone/>
            </a:pPr>
            <a:r>
              <a:rPr lang="en-US" sz="750" dirty="0">
                <a:solidFill>
                  <a:srgbClr val="FFFFFF">
                    <a:alpha val="85000"/>
                  </a:srgbClr>
                </a:solidFill>
                <a:latin typeface="Noto Sans KR" pitchFamily="34" charset="0"/>
                <a:ea typeface="Noto Sans KR" pitchFamily="34" charset="-122"/>
                <a:cs typeface="Noto Sans KR" pitchFamily="34" charset="-120"/>
              </a:rPr>
              <a:t>Desktop (stdio 브리지)</a:t>
            </a:r>
            <a:endParaRPr lang="en-US" sz="750" dirty="0"/>
          </a:p>
        </p:txBody>
      </p:sp>
      <p:sp>
        <p:nvSpPr>
          <p:cNvPr id="11" name="Shape 9"/>
          <p:cNvSpPr/>
          <p:nvPr/>
        </p:nvSpPr>
        <p:spPr>
          <a:xfrm>
            <a:off x="4946650" y="933351"/>
            <a:ext cx="3378200" cy="452140"/>
          </a:xfrm>
          <a:prstGeom prst="rect">
            <a:avLst/>
          </a:prstGeom>
          <a:solidFill>
            <a:srgbClr val="1E6B3A"/>
          </a:solidFill>
          <a:ln/>
        </p:spPr>
      </p:sp>
      <p:sp>
        <p:nvSpPr>
          <p:cNvPr id="12" name="Shape 10"/>
          <p:cNvSpPr/>
          <p:nvPr/>
        </p:nvSpPr>
        <p:spPr>
          <a:xfrm>
            <a:off x="4946650" y="1382316"/>
            <a:ext cx="3378200" cy="0"/>
          </a:xfrm>
          <a:prstGeom prst="line">
            <a:avLst/>
          </a:prstGeom>
          <a:noFill/>
          <a:ln w="6350">
            <a:solidFill>
              <a:srgbClr val="E3E8F0"/>
            </a:solidFill>
            <a:prstDash val="solid"/>
          </a:ln>
        </p:spPr>
      </p:sp>
      <p:sp>
        <p:nvSpPr>
          <p:cNvPr id="13" name="Text 11"/>
          <p:cNvSpPr/>
          <p:nvPr/>
        </p:nvSpPr>
        <p:spPr>
          <a:xfrm>
            <a:off x="6036270" y="984151"/>
            <a:ext cx="1198959" cy="229791"/>
          </a:xfrm>
          <a:prstGeom prst="rect">
            <a:avLst/>
          </a:prstGeom>
          <a:noFill/>
          <a:ln/>
        </p:spPr>
        <p:txBody>
          <a:bodyPr wrap="square" lIns="0" tIns="0" rIns="0" bIns="0" rtlCol="0" anchor="t">
            <a:normAutofit/>
          </a:bodyPr>
          <a:lstStyle/>
          <a:p>
            <a:pPr algn="ctr" indent="0" marL="0">
              <a:lnSpc>
                <a:spcPts val="1610"/>
              </a:lnSpc>
              <a:buNone/>
            </a:pPr>
            <a:r>
              <a:rPr lang="en-US" sz="1150" b="1" dirty="0">
                <a:solidFill>
                  <a:srgbClr val="FFFFFF"/>
                </a:solidFill>
                <a:latin typeface="Noto Sans KR" pitchFamily="34" charset="0"/>
                <a:ea typeface="Noto Sans KR" pitchFamily="34" charset="-122"/>
                <a:cs typeface="Noto Sans KR" pitchFamily="34" charset="-120"/>
              </a:rPr>
              <a:t>② 내 PC · http</a:t>
            </a:r>
            <a:endParaRPr lang="en-US" sz="1150" dirty="0"/>
          </a:p>
        </p:txBody>
      </p:sp>
      <p:sp>
        <p:nvSpPr>
          <p:cNvPr id="14" name="Text 12"/>
          <p:cNvSpPr/>
          <p:nvPr/>
        </p:nvSpPr>
        <p:spPr>
          <a:xfrm>
            <a:off x="5917565" y="1194891"/>
            <a:ext cx="1436370" cy="158750"/>
          </a:xfrm>
          <a:prstGeom prst="rect">
            <a:avLst/>
          </a:prstGeom>
          <a:noFill/>
          <a:ln/>
        </p:spPr>
        <p:txBody>
          <a:bodyPr wrap="square" lIns="0" tIns="0" rIns="0" bIns="0" rtlCol="0" anchor="t">
            <a:normAutofit/>
          </a:bodyPr>
          <a:lstStyle/>
          <a:p>
            <a:pPr algn="ctr" indent="0" marL="0">
              <a:lnSpc>
                <a:spcPts val="1050"/>
              </a:lnSpc>
              <a:buNone/>
            </a:pPr>
            <a:r>
              <a:rPr lang="en-US" sz="750" dirty="0">
                <a:solidFill>
                  <a:srgbClr val="FFFFFF">
                    <a:alpha val="85000"/>
                  </a:srgbClr>
                </a:solidFill>
                <a:latin typeface="Noto Sans KR" pitchFamily="34" charset="0"/>
                <a:ea typeface="Noto Sans KR" pitchFamily="34" charset="-122"/>
                <a:cs typeface="Noto Sans KR" pitchFamily="34" charset="-120"/>
              </a:rPr>
              <a:t>Code · mcp.json type:http</a:t>
            </a:r>
            <a:endParaRPr lang="en-US" sz="750" dirty="0"/>
          </a:p>
        </p:txBody>
      </p:sp>
      <p:sp>
        <p:nvSpPr>
          <p:cNvPr id="15" name="Shape 13"/>
          <p:cNvSpPr/>
          <p:nvPr/>
        </p:nvSpPr>
        <p:spPr>
          <a:xfrm>
            <a:off x="8324850" y="933351"/>
            <a:ext cx="3378200" cy="452140"/>
          </a:xfrm>
          <a:custGeom>
            <a:avLst/>
            <a:gdLst/>
            <a:ahLst/>
            <a:cxnLst/>
            <a:rect l="l" t="t" r="r" b="b"/>
            <a:pathLst>
              <a:path w="3378200" h="452140">
                <a:moveTo>
                  <a:pt x="3308350" y="0"/>
                </a:moveTo>
                <a:arcTo hR="69850" wR="69850" stAng="16200000" swAng="5400000"/>
                <a:lnTo>
                  <a:pt x="3378200" y="452140"/>
                </a:lnTo>
                <a:lnTo>
                  <a:pt x="0" y="452140"/>
                </a:lnTo>
                <a:lnTo>
                  <a:pt x="0" y="0"/>
                </a:lnTo>
                <a:close/>
              </a:path>
            </a:pathLst>
          </a:custGeom>
          <a:solidFill>
            <a:srgbClr val="C8102E"/>
          </a:solidFill>
          <a:ln/>
        </p:spPr>
      </p:sp>
      <p:sp>
        <p:nvSpPr>
          <p:cNvPr id="16" name="Shape 14"/>
          <p:cNvSpPr/>
          <p:nvPr/>
        </p:nvSpPr>
        <p:spPr>
          <a:xfrm>
            <a:off x="8324850" y="933351"/>
            <a:ext cx="3378200" cy="452140"/>
          </a:xfrm>
          <a:custGeom>
            <a:avLst/>
            <a:gdLst/>
            <a:ahLst/>
            <a:cxnLst/>
            <a:rect l="l" t="t" r="r" b="b"/>
            <a:pathLst>
              <a:path w="3378200" h="452140">
                <a:moveTo>
                  <a:pt x="0" y="445790"/>
                </a:moveTo>
                <a:lnTo>
                  <a:pt x="3378200" y="445790"/>
                </a:lnTo>
                <a:lnTo>
                  <a:pt x="3378200" y="452140"/>
                </a:lnTo>
                <a:lnTo>
                  <a:pt x="0" y="452140"/>
                </a:lnTo>
                <a:lnTo>
                  <a:pt x="0" y="445790"/>
                </a:lnTo>
                <a:close/>
              </a:path>
            </a:pathLst>
          </a:custGeom>
          <a:solidFill>
            <a:srgbClr val="E3E8F0"/>
          </a:solidFill>
          <a:ln/>
        </p:spPr>
      </p:sp>
      <p:sp>
        <p:nvSpPr>
          <p:cNvPr id="17" name="Text 15"/>
          <p:cNvSpPr/>
          <p:nvPr/>
        </p:nvSpPr>
        <p:spPr>
          <a:xfrm>
            <a:off x="9402802" y="984151"/>
            <a:ext cx="1222296" cy="229791"/>
          </a:xfrm>
          <a:prstGeom prst="rect">
            <a:avLst/>
          </a:prstGeom>
          <a:noFill/>
          <a:ln/>
        </p:spPr>
        <p:txBody>
          <a:bodyPr wrap="square" lIns="0" tIns="0" rIns="0" bIns="0" rtlCol="0" anchor="t">
            <a:normAutofit/>
          </a:bodyPr>
          <a:lstStyle/>
          <a:p>
            <a:pPr algn="ctr" indent="0" marL="0">
              <a:lnSpc>
                <a:spcPts val="1610"/>
              </a:lnSpc>
              <a:buNone/>
            </a:pPr>
            <a:r>
              <a:rPr lang="en-US" sz="1150" b="1" dirty="0">
                <a:solidFill>
                  <a:srgbClr val="FFFFFF"/>
                </a:solidFill>
                <a:latin typeface="Noto Sans KR" pitchFamily="34" charset="0"/>
                <a:ea typeface="Noto Sans KR" pitchFamily="34" charset="-122"/>
                <a:cs typeface="Noto Sans KR" pitchFamily="34" charset="-120"/>
              </a:rPr>
              <a:t>③ 커스텀 커넥터</a:t>
            </a:r>
            <a:endParaRPr lang="en-US" sz="1150" dirty="0"/>
          </a:p>
        </p:txBody>
      </p:sp>
      <p:sp>
        <p:nvSpPr>
          <p:cNvPr id="18" name="Text 16"/>
          <p:cNvSpPr/>
          <p:nvPr/>
        </p:nvSpPr>
        <p:spPr>
          <a:xfrm>
            <a:off x="9626888" y="1194891"/>
            <a:ext cx="774025" cy="158750"/>
          </a:xfrm>
          <a:prstGeom prst="rect">
            <a:avLst/>
          </a:prstGeom>
          <a:noFill/>
          <a:ln/>
        </p:spPr>
        <p:txBody>
          <a:bodyPr wrap="square" lIns="0" tIns="0" rIns="0" bIns="0" rtlCol="0" anchor="t">
            <a:normAutofit/>
          </a:bodyPr>
          <a:lstStyle/>
          <a:p>
            <a:pPr algn="ctr" indent="0" marL="0">
              <a:lnSpc>
                <a:spcPts val="1050"/>
              </a:lnSpc>
              <a:buNone/>
            </a:pPr>
            <a:r>
              <a:rPr lang="en-US" sz="750" dirty="0">
                <a:solidFill>
                  <a:srgbClr val="FFFFFF">
                    <a:alpha val="85000"/>
                  </a:srgbClr>
                </a:solidFill>
                <a:latin typeface="Noto Sans KR" pitchFamily="34" charset="0"/>
                <a:ea typeface="Noto Sans KR" pitchFamily="34" charset="-122"/>
                <a:cs typeface="Noto Sans KR" pitchFamily="34" charset="-120"/>
              </a:rPr>
              <a:t>Anthropic 직접</a:t>
            </a:r>
            <a:endParaRPr lang="en-US" sz="750" dirty="0"/>
          </a:p>
        </p:txBody>
      </p:sp>
      <p:sp>
        <p:nvSpPr>
          <p:cNvPr id="19" name="Text 17"/>
          <p:cNvSpPr/>
          <p:nvPr/>
        </p:nvSpPr>
        <p:spPr>
          <a:xfrm>
            <a:off x="488950" y="1385491"/>
            <a:ext cx="1079500" cy="2789833"/>
          </a:xfrm>
          <a:prstGeom prst="rect">
            <a:avLst/>
          </a:prstGeom>
          <a:solidFill>
            <a:srgbClr val="F7F8FA"/>
          </a:solidFill>
          <a:ln/>
        </p:spPr>
        <p:txBody>
          <a:bodyPr wrap="square" lIns="114300" tIns="0" rIns="120650" bIns="6350" rtlCol="0" anchor="ctr">
            <a:normAutofit/>
          </a:bodyPr>
          <a:lstStyle/>
          <a:p>
            <a:pPr algn="l" indent="0" marL="0">
              <a:lnSpc>
                <a:spcPts val="1470"/>
              </a:lnSpc>
              <a:buNone/>
            </a:pPr>
            <a:r>
              <a:rPr lang="en-US" sz="1050" b="1" dirty="0">
                <a:solidFill>
                  <a:srgbClr val="5B6577"/>
                </a:solidFill>
                <a:latin typeface="Noto Sans KR" pitchFamily="34" charset="0"/>
                <a:ea typeface="Noto Sans KR" pitchFamily="34" charset="-122"/>
                <a:cs typeface="Noto Sans KR" pitchFamily="34" charset="-120"/>
              </a:rPr>
              <a:t>등록 화면</a:t>
            </a:r>
            <a:endParaRPr lang="en-US" sz="1050" dirty="0"/>
          </a:p>
        </p:txBody>
      </p:sp>
      <p:sp>
        <p:nvSpPr>
          <p:cNvPr id="20" name="Shape 18"/>
          <p:cNvSpPr/>
          <p:nvPr/>
        </p:nvSpPr>
        <p:spPr>
          <a:xfrm>
            <a:off x="1565275" y="1385491"/>
            <a:ext cx="0" cy="2789833"/>
          </a:xfrm>
          <a:prstGeom prst="line">
            <a:avLst/>
          </a:prstGeom>
          <a:noFill/>
          <a:ln w="6350">
            <a:solidFill>
              <a:srgbClr val="E3E8F0"/>
            </a:solidFill>
            <a:prstDash val="solid"/>
          </a:ln>
        </p:spPr>
      </p:sp>
      <p:sp>
        <p:nvSpPr>
          <p:cNvPr id="21" name="Shape 19"/>
          <p:cNvSpPr/>
          <p:nvPr/>
        </p:nvSpPr>
        <p:spPr>
          <a:xfrm>
            <a:off x="488950" y="4172148"/>
            <a:ext cx="1079500" cy="0"/>
          </a:xfrm>
          <a:prstGeom prst="line">
            <a:avLst/>
          </a:prstGeom>
          <a:noFill/>
          <a:ln w="6350">
            <a:solidFill>
              <a:srgbClr val="E3E8F0"/>
            </a:solidFill>
            <a:prstDash val="solid"/>
          </a:ln>
        </p:spPr>
      </p:sp>
      <p:sp>
        <p:nvSpPr>
          <p:cNvPr id="22" name="Shape 20"/>
          <p:cNvSpPr/>
          <p:nvPr/>
        </p:nvSpPr>
        <p:spPr>
          <a:xfrm>
            <a:off x="1568450" y="1385491"/>
            <a:ext cx="3378200" cy="2789833"/>
          </a:xfrm>
          <a:prstGeom prst="rect">
            <a:avLst/>
          </a:prstGeom>
          <a:solidFill>
            <a:srgbClr val="E9EDF5"/>
          </a:solidFill>
          <a:ln/>
        </p:spPr>
      </p:sp>
      <p:sp>
        <p:nvSpPr>
          <p:cNvPr id="23" name="Shape 21"/>
          <p:cNvSpPr/>
          <p:nvPr/>
        </p:nvSpPr>
        <p:spPr>
          <a:xfrm>
            <a:off x="4943475" y="1385491"/>
            <a:ext cx="0" cy="2789833"/>
          </a:xfrm>
          <a:prstGeom prst="line">
            <a:avLst/>
          </a:prstGeom>
          <a:noFill/>
          <a:ln w="6350">
            <a:solidFill>
              <a:srgbClr val="EEF1F5"/>
            </a:solidFill>
            <a:prstDash val="solid"/>
          </a:ln>
        </p:spPr>
      </p:sp>
      <p:sp>
        <p:nvSpPr>
          <p:cNvPr id="24" name="Shape 22"/>
          <p:cNvSpPr/>
          <p:nvPr/>
        </p:nvSpPr>
        <p:spPr>
          <a:xfrm>
            <a:off x="1606550" y="1423591"/>
            <a:ext cx="3295650" cy="2713633"/>
          </a:xfrm>
          <a:prstGeom prst="roundRect">
            <a:avLst>
              <a:gd name="adj" fmla="val 1404"/>
            </a:avLst>
          </a:prstGeom>
          <a:solidFill>
            <a:srgbClr val="E9EDF5"/>
          </a:solidFill>
          <a:ln/>
        </p:spPr>
      </p:sp>
      <p:pic>
        <p:nvPicPr>
          <p:cNvPr id="25" name="Image 0" descr="설정 개발자 로컬 MCP 서버 구성 편집">    </p:cNvPr>
          <p:cNvPicPr>
            <a:picLocks noChangeAspect="1"/>
          </p:cNvPicPr>
          <p:nvPr/>
        </p:nvPicPr>
        <p:blipFill>
          <a:blip r:embed="rId1"/>
          <a:srcRect l="1" r="1" t="0" b="0"/>
          <a:stretch/>
        </p:blipFill>
        <p:spPr>
          <a:xfrm>
            <a:off x="1606550" y="1423591"/>
            <a:ext cx="4788694" cy="2713633"/>
          </a:xfrm>
          <a:custGeom>
            <a:avLst/>
            <a:gdLst/>
            <a:ahLst/>
            <a:cxnLst/>
            <a:rect l="l" t="t" r="r" b="b"/>
            <a:pathLst>
              <a:path w="4788694" h="2713633">
                <a:moveTo>
                  <a:pt x="0" y="38100"/>
                </a:moveTo>
                <a:arcTo wR="38100" hR="38100" stAng="10800000" swAng="5400000"/>
                <a:lnTo>
                  <a:pt x="4788694" y="0"/>
                </a:lnTo>
                <a:lnTo>
                  <a:pt x="4788694" y="2713633"/>
                </a:lnTo>
                <a:lnTo>
                  <a:pt x="38100" y="2713633"/>
                </a:lnTo>
                <a:arcTo wR="38100" hR="38100" stAng="5400000" swAng="5400000"/>
                <a:close/>
              </a:path>
            </a:pathLst>
          </a:custGeom>
        </p:spPr>
      </p:pic>
      <p:sp>
        <p:nvSpPr>
          <p:cNvPr id="26" name="Shape 23"/>
          <p:cNvSpPr/>
          <p:nvPr/>
        </p:nvSpPr>
        <p:spPr>
          <a:xfrm>
            <a:off x="4946650" y="1385491"/>
            <a:ext cx="3378200" cy="2789833"/>
          </a:xfrm>
          <a:prstGeom prst="rect">
            <a:avLst/>
          </a:prstGeom>
          <a:solidFill>
            <a:srgbClr val="0E1320"/>
          </a:solidFill>
          <a:ln/>
        </p:spPr>
      </p:sp>
      <p:sp>
        <p:nvSpPr>
          <p:cNvPr id="27" name="Shape 24"/>
          <p:cNvSpPr/>
          <p:nvPr/>
        </p:nvSpPr>
        <p:spPr>
          <a:xfrm>
            <a:off x="8321675" y="1385491"/>
            <a:ext cx="0" cy="2789833"/>
          </a:xfrm>
          <a:prstGeom prst="line">
            <a:avLst/>
          </a:prstGeom>
          <a:noFill/>
          <a:ln w="6350">
            <a:solidFill>
              <a:srgbClr val="EEF1F5"/>
            </a:solidFill>
            <a:prstDash val="solid"/>
          </a:ln>
        </p:spPr>
      </p:sp>
      <p:pic>
        <p:nvPicPr>
          <p:cNvPr id="28" name="Image 1" descr="PowerShell claude mcp add --transport http 도움말">    </p:cNvPr>
          <p:cNvPicPr>
            <a:picLocks noChangeAspect="1"/>
          </p:cNvPicPr>
          <p:nvPr/>
        </p:nvPicPr>
        <p:blipFill>
          <a:blip r:embed="rId2"/>
          <a:srcRect l="0" r="0" t="0" b="0"/>
          <a:stretch/>
        </p:blipFill>
        <p:spPr>
          <a:xfrm>
            <a:off x="4984750" y="1423591"/>
            <a:ext cx="3648571" cy="2713633"/>
          </a:xfrm>
          <a:custGeom>
            <a:avLst/>
            <a:gdLst/>
            <a:ahLst/>
            <a:cxnLst/>
            <a:rect l="l" t="t" r="r" b="b"/>
            <a:pathLst>
              <a:path w="3648571" h="2713633">
                <a:moveTo>
                  <a:pt x="0" y="38100"/>
                </a:moveTo>
                <a:arcTo wR="38100" hR="38100" stAng="10800000" swAng="5400000"/>
                <a:lnTo>
                  <a:pt x="3648571" y="0"/>
                </a:lnTo>
                <a:lnTo>
                  <a:pt x="3648571" y="2713633"/>
                </a:lnTo>
                <a:lnTo>
                  <a:pt x="38100" y="2713633"/>
                </a:lnTo>
                <a:arcTo wR="38100" hR="38100" stAng="5400000" swAng="5400000"/>
                <a:close/>
              </a:path>
            </a:pathLst>
          </a:custGeom>
        </p:spPr>
      </p:pic>
      <p:sp>
        <p:nvSpPr>
          <p:cNvPr id="29" name="Shape 25"/>
          <p:cNvSpPr/>
          <p:nvPr/>
        </p:nvSpPr>
        <p:spPr>
          <a:xfrm>
            <a:off x="8324850" y="1385491"/>
            <a:ext cx="3378200" cy="2789833"/>
          </a:xfrm>
          <a:prstGeom prst="rect">
            <a:avLst/>
          </a:prstGeom>
          <a:solidFill>
            <a:srgbClr val="E9EDF5"/>
          </a:solidFill>
          <a:ln/>
        </p:spPr>
      </p:sp>
      <p:sp>
        <p:nvSpPr>
          <p:cNvPr id="30" name="Shape 26"/>
          <p:cNvSpPr/>
          <p:nvPr/>
        </p:nvSpPr>
        <p:spPr>
          <a:xfrm>
            <a:off x="8324850" y="4172148"/>
            <a:ext cx="3378200" cy="0"/>
          </a:xfrm>
          <a:prstGeom prst="line">
            <a:avLst/>
          </a:prstGeom>
          <a:noFill/>
          <a:ln w="6350">
            <a:solidFill>
              <a:srgbClr val="E3E8F0"/>
            </a:solidFill>
            <a:prstDash val="solid"/>
          </a:ln>
        </p:spPr>
      </p:sp>
      <p:pic>
        <p:nvPicPr>
          <p:cNvPr id="31" name="Image 2" descr="조직 설정 커넥터 페이지, 커스텀 커넥터와 + 추가">    </p:cNvPr>
          <p:cNvPicPr>
            <a:picLocks noChangeAspect="1"/>
          </p:cNvPicPr>
          <p:nvPr/>
        </p:nvPicPr>
        <p:blipFill>
          <a:blip r:embed="rId3"/>
          <a:srcRect l="0" r="0" t="0" b="0"/>
          <a:stretch/>
        </p:blipFill>
        <p:spPr>
          <a:xfrm>
            <a:off x="8362950" y="1423591"/>
            <a:ext cx="4812903" cy="2707283"/>
          </a:xfrm>
          <a:custGeom>
            <a:avLst/>
            <a:gdLst/>
            <a:ahLst/>
            <a:cxnLst/>
            <a:rect l="l" t="t" r="r" b="b"/>
            <a:pathLst>
              <a:path w="4812903" h="2707283">
                <a:moveTo>
                  <a:pt x="0" y="38100"/>
                </a:moveTo>
                <a:arcTo wR="38100" hR="38100" stAng="10800000" swAng="5400000"/>
                <a:lnTo>
                  <a:pt x="4812903" y="0"/>
                </a:lnTo>
                <a:lnTo>
                  <a:pt x="4812903" y="2707283"/>
                </a:lnTo>
                <a:lnTo>
                  <a:pt x="38100" y="2707283"/>
                </a:lnTo>
                <a:arcTo wR="38100" hR="38100" stAng="5400000" swAng="5400000"/>
                <a:close/>
              </a:path>
            </a:pathLst>
          </a:custGeom>
        </p:spPr>
      </p:pic>
      <p:sp>
        <p:nvSpPr>
          <p:cNvPr id="32" name="Text 27"/>
          <p:cNvSpPr/>
          <p:nvPr/>
        </p:nvSpPr>
        <p:spPr>
          <a:xfrm>
            <a:off x="488950" y="4175323"/>
            <a:ext cx="1079500" cy="557907"/>
          </a:xfrm>
          <a:prstGeom prst="rect">
            <a:avLst/>
          </a:prstGeom>
          <a:solidFill>
            <a:srgbClr val="F7F8FA"/>
          </a:solidFill>
          <a:ln/>
        </p:spPr>
        <p:txBody>
          <a:bodyPr wrap="square" lIns="114300" tIns="0" rIns="120650" bIns="0" rtlCol="0" anchor="ctr">
            <a:normAutofit/>
          </a:bodyPr>
          <a:lstStyle/>
          <a:p>
            <a:pPr algn="l" indent="0" marL="0">
              <a:lnSpc>
                <a:spcPts val="1470"/>
              </a:lnSpc>
              <a:buNone/>
            </a:pPr>
            <a:r>
              <a:rPr lang="en-US" sz="1050" b="1" dirty="0">
                <a:solidFill>
                  <a:srgbClr val="5B6577"/>
                </a:solidFill>
                <a:latin typeface="Noto Sans KR" pitchFamily="34" charset="0"/>
                <a:ea typeface="Noto Sans KR" pitchFamily="34" charset="-122"/>
                <a:cs typeface="Noto Sans KR" pitchFamily="34" charset="-120"/>
              </a:rPr>
              <a:t>올리는 방법</a:t>
            </a:r>
            <a:endParaRPr lang="en-US" sz="1050" dirty="0"/>
          </a:p>
        </p:txBody>
      </p:sp>
      <p:sp>
        <p:nvSpPr>
          <p:cNvPr id="33" name="Shape 28"/>
          <p:cNvSpPr/>
          <p:nvPr/>
        </p:nvSpPr>
        <p:spPr>
          <a:xfrm>
            <a:off x="1565275" y="4175323"/>
            <a:ext cx="0" cy="557907"/>
          </a:xfrm>
          <a:prstGeom prst="line">
            <a:avLst/>
          </a:prstGeom>
          <a:noFill/>
          <a:ln w="6350">
            <a:solidFill>
              <a:srgbClr val="E3E8F0"/>
            </a:solidFill>
            <a:prstDash val="solid"/>
          </a:ln>
        </p:spPr>
      </p:sp>
      <p:sp>
        <p:nvSpPr>
          <p:cNvPr id="34" name="Shape 29"/>
          <p:cNvSpPr/>
          <p:nvPr/>
        </p:nvSpPr>
        <p:spPr>
          <a:xfrm>
            <a:off x="4943475" y="4175323"/>
            <a:ext cx="0" cy="557907"/>
          </a:xfrm>
          <a:prstGeom prst="line">
            <a:avLst/>
          </a:prstGeom>
          <a:noFill/>
          <a:ln w="6350">
            <a:solidFill>
              <a:srgbClr val="EEF1F5"/>
            </a:solidFill>
            <a:prstDash val="solid"/>
          </a:ln>
        </p:spPr>
      </p:sp>
      <p:sp>
        <p:nvSpPr>
          <p:cNvPr id="35" name="Shape 30"/>
          <p:cNvSpPr/>
          <p:nvPr/>
        </p:nvSpPr>
        <p:spPr>
          <a:xfrm>
            <a:off x="1568450" y="4730055"/>
            <a:ext cx="3378200" cy="0"/>
          </a:xfrm>
          <a:prstGeom prst="line">
            <a:avLst/>
          </a:prstGeom>
          <a:noFill/>
          <a:ln w="6350">
            <a:solidFill>
              <a:srgbClr val="EEF1F5"/>
            </a:solidFill>
            <a:prstDash val="solid"/>
          </a:ln>
        </p:spPr>
      </p:sp>
      <p:sp>
        <p:nvSpPr>
          <p:cNvPr id="36" name="Text 31"/>
          <p:cNvSpPr/>
          <p:nvPr/>
        </p:nvSpPr>
        <p:spPr>
          <a:xfrm>
            <a:off x="2436118" y="4357787"/>
            <a:ext cx="729655" cy="212030"/>
          </a:xfrm>
          <a:prstGeom prst="rect">
            <a:avLst/>
          </a:prstGeom>
          <a:noFill/>
          <a:ln/>
        </p:spPr>
        <p:txBody>
          <a:bodyPr wrap="square" lIns="0" tIns="0" rIns="0" bIns="0" rtlCol="0" anchor="t">
            <a:normAutofit/>
          </a:bodyPr>
          <a:lstStyle/>
          <a:p>
            <a:pPr algn="ctr" indent="0" marL="0">
              <a:lnSpc>
                <a:spcPts val="1470"/>
              </a:lnSpc>
              <a:buNone/>
            </a:pPr>
            <a:r>
              <a:rPr lang="en-US" sz="1050" dirty="0">
                <a:solidFill>
                  <a:srgbClr val="0E1320"/>
                </a:solidFill>
                <a:latin typeface="Noto Sans KR" pitchFamily="34" charset="0"/>
                <a:ea typeface="Noto Sans KR" pitchFamily="34" charset="-122"/>
                <a:cs typeface="Noto Sans KR" pitchFamily="34" charset="-120"/>
              </a:rPr>
              <a:t>mcp.json ·</a:t>
            </a:r>
            <a:endParaRPr lang="en-US" sz="1050" dirty="0"/>
          </a:p>
        </p:txBody>
      </p:sp>
      <p:sp>
        <p:nvSpPr>
          <p:cNvPr id="37" name="Text 32"/>
          <p:cNvSpPr/>
          <p:nvPr/>
        </p:nvSpPr>
        <p:spPr>
          <a:xfrm>
            <a:off x="3114973" y="4375547"/>
            <a:ext cx="957659" cy="176510"/>
          </a:xfrm>
          <a:prstGeom prst="rect">
            <a:avLst/>
          </a:prstGeom>
          <a:noFill/>
          <a:ln/>
        </p:spPr>
        <p:txBody>
          <a:bodyPr wrap="square" lIns="0" tIns="0" rIns="0" bIns="0" rtlCol="0" anchor="t">
            <a:normAutofit/>
          </a:bodyPr>
          <a:lstStyle/>
          <a:p>
            <a:pPr algn="ctr" indent="0" marL="0">
              <a:lnSpc>
                <a:spcPts val="1190"/>
              </a:lnSpc>
              <a:buNone/>
            </a:pPr>
            <a:r>
              <a:rPr lang="en-US" sz="850" dirty="0">
                <a:solidFill>
                  <a:srgbClr val="0E1320"/>
                </a:solidFill>
                <a:latin typeface="JetBrains Mono" pitchFamily="49" charset="0"/>
                <a:ea typeface="JetBrains Mono" pitchFamily="49" charset="-122"/>
                <a:cs typeface="JetBrains Mono" pitchFamily="49" charset="-120"/>
              </a:rPr>
              <a:t>npx mcp-remote</a:t>
            </a:r>
            <a:endParaRPr lang="en-US" sz="850" dirty="0"/>
          </a:p>
        </p:txBody>
      </p:sp>
      <p:sp>
        <p:nvSpPr>
          <p:cNvPr id="38" name="Shape 33"/>
          <p:cNvSpPr/>
          <p:nvPr/>
        </p:nvSpPr>
        <p:spPr>
          <a:xfrm>
            <a:off x="8321675" y="4175323"/>
            <a:ext cx="0" cy="557907"/>
          </a:xfrm>
          <a:prstGeom prst="line">
            <a:avLst/>
          </a:prstGeom>
          <a:noFill/>
          <a:ln w="6350">
            <a:solidFill>
              <a:srgbClr val="EEF1F5"/>
            </a:solidFill>
            <a:prstDash val="solid"/>
          </a:ln>
        </p:spPr>
      </p:sp>
      <p:sp>
        <p:nvSpPr>
          <p:cNvPr id="39" name="Shape 34"/>
          <p:cNvSpPr/>
          <p:nvPr/>
        </p:nvSpPr>
        <p:spPr>
          <a:xfrm>
            <a:off x="4946650" y="4730055"/>
            <a:ext cx="3378200" cy="0"/>
          </a:xfrm>
          <a:prstGeom prst="line">
            <a:avLst/>
          </a:prstGeom>
          <a:noFill/>
          <a:ln w="6350">
            <a:solidFill>
              <a:srgbClr val="EEF1F5"/>
            </a:solidFill>
            <a:prstDash val="solid"/>
          </a:ln>
        </p:spPr>
      </p:sp>
      <p:sp>
        <p:nvSpPr>
          <p:cNvPr id="40" name="Text 35"/>
          <p:cNvSpPr/>
          <p:nvPr/>
        </p:nvSpPr>
        <p:spPr>
          <a:xfrm>
            <a:off x="5943898" y="4357787"/>
            <a:ext cx="729655" cy="212030"/>
          </a:xfrm>
          <a:prstGeom prst="rect">
            <a:avLst/>
          </a:prstGeom>
          <a:noFill/>
          <a:ln/>
        </p:spPr>
        <p:txBody>
          <a:bodyPr wrap="square" lIns="0" tIns="0" rIns="0" bIns="0" rtlCol="0" anchor="t">
            <a:normAutofit/>
          </a:bodyPr>
          <a:lstStyle/>
          <a:p>
            <a:pPr algn="ctr" indent="0" marL="0">
              <a:lnSpc>
                <a:spcPts val="1470"/>
              </a:lnSpc>
              <a:buNone/>
            </a:pPr>
            <a:r>
              <a:rPr lang="en-US" sz="1050" dirty="0">
                <a:solidFill>
                  <a:srgbClr val="0E1320"/>
                </a:solidFill>
                <a:latin typeface="Noto Sans KR" pitchFamily="34" charset="0"/>
                <a:ea typeface="Noto Sans KR" pitchFamily="34" charset="-122"/>
                <a:cs typeface="Noto Sans KR" pitchFamily="34" charset="-120"/>
              </a:rPr>
              <a:t>mcp.json ·</a:t>
            </a:r>
            <a:endParaRPr lang="en-US" sz="1050" dirty="0"/>
          </a:p>
        </p:txBody>
      </p:sp>
      <p:sp>
        <p:nvSpPr>
          <p:cNvPr id="41" name="Text 36"/>
          <p:cNvSpPr/>
          <p:nvPr/>
        </p:nvSpPr>
        <p:spPr>
          <a:xfrm>
            <a:off x="6622752" y="4375547"/>
            <a:ext cx="698500" cy="176510"/>
          </a:xfrm>
          <a:prstGeom prst="rect">
            <a:avLst/>
          </a:prstGeom>
          <a:noFill/>
          <a:ln/>
        </p:spPr>
        <p:txBody>
          <a:bodyPr wrap="square" lIns="0" tIns="0" rIns="0" bIns="0" rtlCol="0" anchor="t">
            <a:normAutofit/>
          </a:bodyPr>
          <a:lstStyle/>
          <a:p>
            <a:pPr algn="ctr" indent="0" marL="0">
              <a:lnSpc>
                <a:spcPts val="1190"/>
              </a:lnSpc>
              <a:buNone/>
            </a:pPr>
            <a:r>
              <a:rPr lang="en-US" sz="850" dirty="0">
                <a:solidFill>
                  <a:srgbClr val="0E1320"/>
                </a:solidFill>
                <a:latin typeface="JetBrains Mono" pitchFamily="49" charset="0"/>
                <a:ea typeface="JetBrains Mono" pitchFamily="49" charset="-122"/>
                <a:cs typeface="JetBrains Mono" pitchFamily="49" charset="-120"/>
              </a:rPr>
              <a:t>type: http</a:t>
            </a:r>
            <a:endParaRPr lang="en-US" sz="850" dirty="0"/>
          </a:p>
        </p:txBody>
      </p:sp>
      <p:sp>
        <p:nvSpPr>
          <p:cNvPr id="42" name="Shape 37"/>
          <p:cNvSpPr/>
          <p:nvPr/>
        </p:nvSpPr>
        <p:spPr>
          <a:xfrm>
            <a:off x="8324850" y="4730055"/>
            <a:ext cx="3378200" cy="0"/>
          </a:xfrm>
          <a:prstGeom prst="line">
            <a:avLst/>
          </a:prstGeom>
          <a:noFill/>
          <a:ln w="6350">
            <a:solidFill>
              <a:srgbClr val="EEF1F5"/>
            </a:solidFill>
            <a:prstDash val="solid"/>
          </a:ln>
        </p:spPr>
      </p:sp>
      <p:sp>
        <p:nvSpPr>
          <p:cNvPr id="43" name="Text 38"/>
          <p:cNvSpPr/>
          <p:nvPr/>
        </p:nvSpPr>
        <p:spPr>
          <a:xfrm>
            <a:off x="9081113" y="4357787"/>
            <a:ext cx="1865575" cy="212030"/>
          </a:xfrm>
          <a:prstGeom prst="rect">
            <a:avLst/>
          </a:prstGeom>
          <a:noFill/>
          <a:ln/>
        </p:spPr>
        <p:txBody>
          <a:bodyPr wrap="square" lIns="0" tIns="0" rIns="0" bIns="0" rtlCol="0" anchor="t">
            <a:normAutofit/>
          </a:bodyPr>
          <a:lstStyle/>
          <a:p>
            <a:pPr algn="ctr" indent="0" marL="0">
              <a:lnSpc>
                <a:spcPts val="1470"/>
              </a:lnSpc>
              <a:buNone/>
            </a:pPr>
            <a:r>
              <a:rPr lang="en-US" sz="1050" dirty="0">
                <a:solidFill>
                  <a:srgbClr val="0E1320"/>
                </a:solidFill>
                <a:latin typeface="Noto Sans KR" pitchFamily="34" charset="0"/>
                <a:ea typeface="Noto Sans KR" pitchFamily="34" charset="-122"/>
                <a:cs typeface="Noto Sans KR" pitchFamily="34" charset="-120"/>
              </a:rPr>
              <a:t>조직 설정 › 커넥터 › + 추가 (URL)</a:t>
            </a:r>
            <a:endParaRPr lang="en-US" sz="1050" dirty="0"/>
          </a:p>
        </p:txBody>
      </p:sp>
      <p:sp>
        <p:nvSpPr>
          <p:cNvPr id="44" name="Text 39"/>
          <p:cNvSpPr/>
          <p:nvPr/>
        </p:nvSpPr>
        <p:spPr>
          <a:xfrm>
            <a:off x="488950" y="4733230"/>
            <a:ext cx="1079500" cy="558006"/>
          </a:xfrm>
          <a:prstGeom prst="rect">
            <a:avLst/>
          </a:prstGeom>
          <a:solidFill>
            <a:srgbClr val="F7F8FA"/>
          </a:solidFill>
          <a:ln/>
        </p:spPr>
        <p:txBody>
          <a:bodyPr wrap="square" lIns="114300" tIns="0" rIns="120650" bIns="0" rtlCol="0" anchor="ctr">
            <a:normAutofit/>
          </a:bodyPr>
          <a:lstStyle/>
          <a:p>
            <a:pPr algn="l" indent="0" marL="0">
              <a:lnSpc>
                <a:spcPts val="1470"/>
              </a:lnSpc>
              <a:buNone/>
            </a:pPr>
            <a:r>
              <a:rPr lang="en-US" sz="1050" b="1" dirty="0">
                <a:solidFill>
                  <a:srgbClr val="5B6577"/>
                </a:solidFill>
                <a:latin typeface="Noto Sans KR" pitchFamily="34" charset="0"/>
                <a:ea typeface="Noto Sans KR" pitchFamily="34" charset="-122"/>
                <a:cs typeface="Noto Sans KR" pitchFamily="34" charset="-120"/>
              </a:rPr>
              <a:t>client 위치</a:t>
            </a:r>
            <a:endParaRPr lang="en-US" sz="1050" dirty="0"/>
          </a:p>
        </p:txBody>
      </p:sp>
      <p:sp>
        <p:nvSpPr>
          <p:cNvPr id="45" name="Shape 40"/>
          <p:cNvSpPr/>
          <p:nvPr/>
        </p:nvSpPr>
        <p:spPr>
          <a:xfrm>
            <a:off x="1565275" y="4733230"/>
            <a:ext cx="0" cy="558006"/>
          </a:xfrm>
          <a:prstGeom prst="line">
            <a:avLst/>
          </a:prstGeom>
          <a:noFill/>
          <a:ln w="6350">
            <a:solidFill>
              <a:srgbClr val="E3E8F0"/>
            </a:solidFill>
            <a:prstDash val="solid"/>
          </a:ln>
        </p:spPr>
      </p:sp>
      <p:sp>
        <p:nvSpPr>
          <p:cNvPr id="46" name="Shape 41"/>
          <p:cNvSpPr/>
          <p:nvPr/>
        </p:nvSpPr>
        <p:spPr>
          <a:xfrm>
            <a:off x="4943475" y="4733230"/>
            <a:ext cx="0" cy="558006"/>
          </a:xfrm>
          <a:prstGeom prst="line">
            <a:avLst/>
          </a:prstGeom>
          <a:noFill/>
          <a:ln w="6350">
            <a:solidFill>
              <a:srgbClr val="EEF1F5"/>
            </a:solidFill>
            <a:prstDash val="solid"/>
          </a:ln>
        </p:spPr>
      </p:sp>
      <p:sp>
        <p:nvSpPr>
          <p:cNvPr id="47" name="Shape 42"/>
          <p:cNvSpPr/>
          <p:nvPr/>
        </p:nvSpPr>
        <p:spPr>
          <a:xfrm>
            <a:off x="1568450" y="5288062"/>
            <a:ext cx="3378200" cy="0"/>
          </a:xfrm>
          <a:prstGeom prst="line">
            <a:avLst/>
          </a:prstGeom>
          <a:noFill/>
          <a:ln w="6350">
            <a:solidFill>
              <a:srgbClr val="EEF1F5"/>
            </a:solidFill>
            <a:prstDash val="solid"/>
          </a:ln>
        </p:spPr>
      </p:sp>
      <p:sp>
        <p:nvSpPr>
          <p:cNvPr id="48" name="Text 43"/>
          <p:cNvSpPr/>
          <p:nvPr/>
        </p:nvSpPr>
        <p:spPr>
          <a:xfrm>
            <a:off x="3093343" y="4915694"/>
            <a:ext cx="372864" cy="212030"/>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0E1320"/>
                </a:solidFill>
                <a:latin typeface="Noto Sans KR" pitchFamily="34" charset="0"/>
                <a:ea typeface="Noto Sans KR" pitchFamily="34" charset="-122"/>
                <a:cs typeface="Noto Sans KR" pitchFamily="34" charset="-120"/>
              </a:rPr>
              <a:t>내 PC</a:t>
            </a:r>
            <a:endParaRPr lang="en-US" sz="1050" dirty="0"/>
          </a:p>
        </p:txBody>
      </p:sp>
      <p:sp>
        <p:nvSpPr>
          <p:cNvPr id="49" name="Shape 44"/>
          <p:cNvSpPr/>
          <p:nvPr/>
        </p:nvSpPr>
        <p:spPr>
          <a:xfrm>
            <a:off x="8321675" y="4733230"/>
            <a:ext cx="0" cy="558006"/>
          </a:xfrm>
          <a:prstGeom prst="line">
            <a:avLst/>
          </a:prstGeom>
          <a:noFill/>
          <a:ln w="6350">
            <a:solidFill>
              <a:srgbClr val="EEF1F5"/>
            </a:solidFill>
            <a:prstDash val="solid"/>
          </a:ln>
        </p:spPr>
      </p:sp>
      <p:sp>
        <p:nvSpPr>
          <p:cNvPr id="50" name="Shape 45"/>
          <p:cNvSpPr/>
          <p:nvPr/>
        </p:nvSpPr>
        <p:spPr>
          <a:xfrm>
            <a:off x="4946650" y="5288062"/>
            <a:ext cx="3378200" cy="0"/>
          </a:xfrm>
          <a:prstGeom prst="line">
            <a:avLst/>
          </a:prstGeom>
          <a:noFill/>
          <a:ln w="6350">
            <a:solidFill>
              <a:srgbClr val="EEF1F5"/>
            </a:solidFill>
            <a:prstDash val="solid"/>
          </a:ln>
        </p:spPr>
      </p:sp>
      <p:sp>
        <p:nvSpPr>
          <p:cNvPr id="51" name="Text 46"/>
          <p:cNvSpPr/>
          <p:nvPr/>
        </p:nvSpPr>
        <p:spPr>
          <a:xfrm>
            <a:off x="6471543" y="4915694"/>
            <a:ext cx="372864" cy="212030"/>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0E1320"/>
                </a:solidFill>
                <a:latin typeface="Noto Sans KR" pitchFamily="34" charset="0"/>
                <a:ea typeface="Noto Sans KR" pitchFamily="34" charset="-122"/>
                <a:cs typeface="Noto Sans KR" pitchFamily="34" charset="-120"/>
              </a:rPr>
              <a:t>내 PC</a:t>
            </a:r>
            <a:endParaRPr lang="en-US" sz="1050" dirty="0"/>
          </a:p>
        </p:txBody>
      </p:sp>
      <p:sp>
        <p:nvSpPr>
          <p:cNvPr id="52" name="Shape 47"/>
          <p:cNvSpPr/>
          <p:nvPr/>
        </p:nvSpPr>
        <p:spPr>
          <a:xfrm>
            <a:off x="8324850" y="5288062"/>
            <a:ext cx="3378200" cy="0"/>
          </a:xfrm>
          <a:prstGeom prst="line">
            <a:avLst/>
          </a:prstGeom>
          <a:noFill/>
          <a:ln w="6350">
            <a:solidFill>
              <a:srgbClr val="EEF1F5"/>
            </a:solidFill>
            <a:prstDash val="solid"/>
          </a:ln>
        </p:spPr>
      </p:sp>
      <p:sp>
        <p:nvSpPr>
          <p:cNvPr id="53" name="Text 48"/>
          <p:cNvSpPr/>
          <p:nvPr/>
        </p:nvSpPr>
        <p:spPr>
          <a:xfrm>
            <a:off x="9689604" y="4915694"/>
            <a:ext cx="699393" cy="212030"/>
          </a:xfrm>
          <a:prstGeom prst="rect">
            <a:avLst/>
          </a:prstGeom>
          <a:noFill/>
          <a:ln/>
        </p:spPr>
        <p:txBody>
          <a:bodyPr wrap="square" lIns="0" tIns="0" rIns="0" bIns="0" rtlCol="0" anchor="t">
            <a:normAutofit/>
          </a:bodyPr>
          <a:lstStyle/>
          <a:p>
            <a:pPr algn="l" indent="0" marL="0">
              <a:lnSpc>
                <a:spcPts val="1470"/>
              </a:lnSpc>
              <a:buNone/>
            </a:pPr>
            <a:r>
              <a:rPr lang="en-US" sz="1050" b="1" dirty="0">
                <a:solidFill>
                  <a:srgbClr val="C8102E"/>
                </a:solidFill>
                <a:latin typeface="Noto Sans KR" pitchFamily="34" charset="0"/>
                <a:ea typeface="Noto Sans KR" pitchFamily="34" charset="-122"/>
                <a:cs typeface="Noto Sans KR" pitchFamily="34" charset="-120"/>
              </a:rPr>
              <a:t>Anthropic</a:t>
            </a:r>
            <a:endParaRPr lang="en-US" sz="1050" dirty="0"/>
          </a:p>
        </p:txBody>
      </p:sp>
      <p:sp>
        <p:nvSpPr>
          <p:cNvPr id="54" name="Text 49"/>
          <p:cNvSpPr/>
          <p:nvPr/>
        </p:nvSpPr>
        <p:spPr>
          <a:xfrm>
            <a:off x="488950" y="5291237"/>
            <a:ext cx="1079500" cy="558006"/>
          </a:xfrm>
          <a:prstGeom prst="rect">
            <a:avLst/>
          </a:prstGeom>
          <a:solidFill>
            <a:srgbClr val="F7F8FA"/>
          </a:solidFill>
          <a:ln/>
        </p:spPr>
        <p:txBody>
          <a:bodyPr wrap="square" lIns="114300" tIns="0" rIns="120650" bIns="0" rtlCol="0" anchor="ctr">
            <a:normAutofit/>
          </a:bodyPr>
          <a:lstStyle/>
          <a:p>
            <a:pPr algn="l" indent="0" marL="0">
              <a:lnSpc>
                <a:spcPts val="1470"/>
              </a:lnSpc>
              <a:buNone/>
            </a:pPr>
            <a:r>
              <a:rPr lang="en-US" sz="1050" b="1" dirty="0">
                <a:solidFill>
                  <a:srgbClr val="5B6577"/>
                </a:solidFill>
                <a:latin typeface="Noto Sans KR" pitchFamily="34" charset="0"/>
                <a:ea typeface="Noto Sans KR" pitchFamily="34" charset="-122"/>
                <a:cs typeface="Noto Sans KR" pitchFamily="34" charset="-120"/>
              </a:rPr>
              <a:t>server 위치</a:t>
            </a:r>
            <a:endParaRPr lang="en-US" sz="1050" dirty="0"/>
          </a:p>
        </p:txBody>
      </p:sp>
      <p:sp>
        <p:nvSpPr>
          <p:cNvPr id="55" name="Shape 50"/>
          <p:cNvSpPr/>
          <p:nvPr/>
        </p:nvSpPr>
        <p:spPr>
          <a:xfrm>
            <a:off x="1565275" y="5291237"/>
            <a:ext cx="0" cy="558006"/>
          </a:xfrm>
          <a:prstGeom prst="line">
            <a:avLst/>
          </a:prstGeom>
          <a:noFill/>
          <a:ln w="6350">
            <a:solidFill>
              <a:srgbClr val="E3E8F0"/>
            </a:solidFill>
            <a:prstDash val="solid"/>
          </a:ln>
        </p:spPr>
      </p:sp>
      <p:sp>
        <p:nvSpPr>
          <p:cNvPr id="56" name="Shape 51"/>
          <p:cNvSpPr/>
          <p:nvPr/>
        </p:nvSpPr>
        <p:spPr>
          <a:xfrm>
            <a:off x="4943475" y="5291237"/>
            <a:ext cx="0" cy="558006"/>
          </a:xfrm>
          <a:prstGeom prst="line">
            <a:avLst/>
          </a:prstGeom>
          <a:noFill/>
          <a:ln w="6350">
            <a:solidFill>
              <a:srgbClr val="EEF1F5"/>
            </a:solidFill>
            <a:prstDash val="solid"/>
          </a:ln>
        </p:spPr>
      </p:sp>
      <p:sp>
        <p:nvSpPr>
          <p:cNvPr id="57" name="Shape 52"/>
          <p:cNvSpPr/>
          <p:nvPr/>
        </p:nvSpPr>
        <p:spPr>
          <a:xfrm>
            <a:off x="1568450" y="5846068"/>
            <a:ext cx="3378200" cy="0"/>
          </a:xfrm>
          <a:prstGeom prst="line">
            <a:avLst/>
          </a:prstGeom>
          <a:noFill/>
          <a:ln w="6350">
            <a:solidFill>
              <a:srgbClr val="EEF1F5"/>
            </a:solidFill>
            <a:prstDash val="solid"/>
          </a:ln>
        </p:spPr>
      </p:sp>
      <p:sp>
        <p:nvSpPr>
          <p:cNvPr id="58" name="Text 53"/>
          <p:cNvSpPr/>
          <p:nvPr/>
        </p:nvSpPr>
        <p:spPr>
          <a:xfrm>
            <a:off x="2868374" y="5408315"/>
            <a:ext cx="772001" cy="212030"/>
          </a:xfrm>
          <a:prstGeom prst="rect">
            <a:avLst/>
          </a:prstGeom>
          <a:noFill/>
          <a:ln/>
        </p:spPr>
        <p:txBody>
          <a:bodyPr wrap="square" lIns="0" tIns="0" rIns="0" bIns="0" rtlCol="0" anchor="t">
            <a:normAutofit/>
          </a:bodyPr>
          <a:lstStyle/>
          <a:p>
            <a:pPr algn="ctr" indent="0" marL="0">
              <a:lnSpc>
                <a:spcPts val="1470"/>
              </a:lnSpc>
              <a:buNone/>
            </a:pPr>
            <a:r>
              <a:rPr lang="en-US" sz="1050" dirty="0">
                <a:solidFill>
                  <a:srgbClr val="0E1320"/>
                </a:solidFill>
                <a:latin typeface="Noto Sans KR" pitchFamily="34" charset="0"/>
                <a:ea typeface="Noto Sans KR" pitchFamily="34" charset="-122"/>
                <a:cs typeface="Noto Sans KR" pitchFamily="34" charset="-120"/>
              </a:rPr>
              <a:t>사내 시스템</a:t>
            </a:r>
            <a:endParaRPr lang="en-US" sz="1050" dirty="0"/>
          </a:p>
        </p:txBody>
      </p:sp>
      <p:sp>
        <p:nvSpPr>
          <p:cNvPr id="59" name="Text 54"/>
          <p:cNvSpPr/>
          <p:nvPr/>
        </p:nvSpPr>
        <p:spPr>
          <a:xfrm>
            <a:off x="2552383" y="5601295"/>
            <a:ext cx="1403985" cy="149820"/>
          </a:xfrm>
          <a:prstGeom prst="rect">
            <a:avLst/>
          </a:prstGeom>
          <a:noFill/>
          <a:ln/>
        </p:spPr>
        <p:txBody>
          <a:bodyPr wrap="square" lIns="0" tIns="0" rIns="0" bIns="0" rtlCol="0" anchor="t">
            <a:normAutofit/>
          </a:bodyPr>
          <a:lstStyle/>
          <a:p>
            <a:pPr algn="ctr" indent="0" marL="0">
              <a:lnSpc>
                <a:spcPts val="980"/>
              </a:lnSpc>
              <a:buNone/>
            </a:pPr>
            <a:r>
              <a:rPr lang="en-US" sz="700" dirty="0">
                <a:solidFill>
                  <a:srgbClr val="5B6577"/>
                </a:solidFill>
                <a:latin typeface="Noto Sans KR" pitchFamily="34" charset="0"/>
                <a:ea typeface="Noto Sans KR" pitchFamily="34" charset="-122"/>
                <a:cs typeface="Noto Sans KR" pitchFamily="34" charset="-120"/>
              </a:rPr>
              <a:t>(내 PC에 mcp-remote 프록시)</a:t>
            </a:r>
            <a:endParaRPr lang="en-US" sz="700" dirty="0"/>
          </a:p>
        </p:txBody>
      </p:sp>
      <p:sp>
        <p:nvSpPr>
          <p:cNvPr id="60" name="Shape 55"/>
          <p:cNvSpPr/>
          <p:nvPr/>
        </p:nvSpPr>
        <p:spPr>
          <a:xfrm>
            <a:off x="8321675" y="5291237"/>
            <a:ext cx="0" cy="558006"/>
          </a:xfrm>
          <a:prstGeom prst="line">
            <a:avLst/>
          </a:prstGeom>
          <a:noFill/>
          <a:ln w="6350">
            <a:solidFill>
              <a:srgbClr val="EEF1F5"/>
            </a:solidFill>
            <a:prstDash val="solid"/>
          </a:ln>
        </p:spPr>
      </p:sp>
      <p:sp>
        <p:nvSpPr>
          <p:cNvPr id="61" name="Shape 56"/>
          <p:cNvSpPr/>
          <p:nvPr/>
        </p:nvSpPr>
        <p:spPr>
          <a:xfrm>
            <a:off x="4946650" y="5846068"/>
            <a:ext cx="3378200" cy="0"/>
          </a:xfrm>
          <a:prstGeom prst="line">
            <a:avLst/>
          </a:prstGeom>
          <a:noFill/>
          <a:ln w="6350">
            <a:solidFill>
              <a:srgbClr val="EEF1F5"/>
            </a:solidFill>
            <a:prstDash val="solid"/>
          </a:ln>
        </p:spPr>
      </p:sp>
      <p:sp>
        <p:nvSpPr>
          <p:cNvPr id="62" name="Text 57"/>
          <p:cNvSpPr/>
          <p:nvPr/>
        </p:nvSpPr>
        <p:spPr>
          <a:xfrm>
            <a:off x="6310908" y="5473700"/>
            <a:ext cx="694134" cy="212030"/>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0E1320"/>
                </a:solidFill>
                <a:latin typeface="Noto Sans KR" pitchFamily="34" charset="0"/>
                <a:ea typeface="Noto Sans KR" pitchFamily="34" charset="-122"/>
                <a:cs typeface="Noto Sans KR" pitchFamily="34" charset="-120"/>
              </a:rPr>
              <a:t>사내 시스템</a:t>
            </a:r>
            <a:endParaRPr lang="en-US" sz="1050" dirty="0"/>
          </a:p>
        </p:txBody>
      </p:sp>
      <p:sp>
        <p:nvSpPr>
          <p:cNvPr id="63" name="Shape 58"/>
          <p:cNvSpPr/>
          <p:nvPr/>
        </p:nvSpPr>
        <p:spPr>
          <a:xfrm>
            <a:off x="8324850" y="5846068"/>
            <a:ext cx="3378200" cy="0"/>
          </a:xfrm>
          <a:prstGeom prst="line">
            <a:avLst/>
          </a:prstGeom>
          <a:noFill/>
          <a:ln w="6350">
            <a:solidFill>
              <a:srgbClr val="EEF1F5"/>
            </a:solidFill>
            <a:prstDash val="solid"/>
          </a:ln>
        </p:spPr>
      </p:sp>
      <p:sp>
        <p:nvSpPr>
          <p:cNvPr id="64" name="Text 59"/>
          <p:cNvSpPr/>
          <p:nvPr/>
        </p:nvSpPr>
        <p:spPr>
          <a:xfrm>
            <a:off x="9692283" y="5473700"/>
            <a:ext cx="694134" cy="212030"/>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0E1320"/>
                </a:solidFill>
                <a:latin typeface="Noto Sans KR" pitchFamily="34" charset="0"/>
                <a:ea typeface="Noto Sans KR" pitchFamily="34" charset="-122"/>
                <a:cs typeface="Noto Sans KR" pitchFamily="34" charset="-120"/>
              </a:rPr>
              <a:t>사내 시스템</a:t>
            </a:r>
            <a:endParaRPr lang="en-US" sz="1050" dirty="0"/>
          </a:p>
        </p:txBody>
      </p:sp>
      <p:sp>
        <p:nvSpPr>
          <p:cNvPr id="65" name="Text 60"/>
          <p:cNvSpPr/>
          <p:nvPr/>
        </p:nvSpPr>
        <p:spPr>
          <a:xfrm>
            <a:off x="488950" y="5849243"/>
            <a:ext cx="1079500" cy="557907"/>
          </a:xfrm>
          <a:custGeom>
            <a:avLst/>
            <a:gdLst/>
            <a:ahLst/>
            <a:cxnLst/>
            <a:rect l="l" t="t" r="r" b="b"/>
            <a:pathLst>
              <a:path w="1079500" h="557907">
                <a:moveTo>
                  <a:pt x="69850" y="557907"/>
                </a:moveTo>
                <a:arcTo hR="69850" wR="69850" stAng="5400000" swAng="5400000"/>
                <a:lnTo>
                  <a:pt x="0" y="0"/>
                </a:lnTo>
                <a:lnTo>
                  <a:pt x="1079500" y="0"/>
                </a:lnTo>
                <a:lnTo>
                  <a:pt x="1079500" y="557907"/>
                </a:lnTo>
                <a:close/>
              </a:path>
            </a:pathLst>
          </a:custGeom>
          <a:solidFill>
            <a:srgbClr val="F7F8FA"/>
          </a:solidFill>
          <a:ln/>
        </p:spPr>
        <p:txBody>
          <a:bodyPr wrap="square" lIns="114300" tIns="0" rIns="69850" bIns="0" rtlCol="0" anchor="ctr">
            <a:normAutofit/>
          </a:bodyPr>
          <a:lstStyle/>
          <a:p>
            <a:pPr algn="l" indent="0" marL="0">
              <a:lnSpc>
                <a:spcPts val="1470"/>
              </a:lnSpc>
              <a:buNone/>
            </a:pPr>
            <a:r>
              <a:rPr lang="en-US" sz="1050" b="1" dirty="0">
                <a:solidFill>
                  <a:srgbClr val="5B6577"/>
                </a:solidFill>
                <a:latin typeface="Noto Sans KR" pitchFamily="34" charset="0"/>
                <a:ea typeface="Noto Sans KR" pitchFamily="34" charset="-122"/>
                <a:cs typeface="Noto Sans KR" pitchFamily="34" charset="-120"/>
              </a:rPr>
              <a:t>사내 egress 통제</a:t>
            </a:r>
            <a:endParaRPr lang="en-US" sz="1050" dirty="0"/>
          </a:p>
        </p:txBody>
      </p:sp>
      <p:sp>
        <p:nvSpPr>
          <p:cNvPr id="66" name="Shape 61"/>
          <p:cNvSpPr/>
          <p:nvPr/>
        </p:nvSpPr>
        <p:spPr>
          <a:xfrm>
            <a:off x="488950" y="5849243"/>
            <a:ext cx="1079500" cy="557907"/>
          </a:xfrm>
          <a:custGeom>
            <a:avLst/>
            <a:gdLst/>
            <a:ahLst/>
            <a:cxnLst/>
            <a:rect l="l" t="t" r="r" b="b"/>
            <a:pathLst>
              <a:path w="1079500" h="557907">
                <a:moveTo>
                  <a:pt x="1073150" y="0"/>
                </a:moveTo>
                <a:lnTo>
                  <a:pt x="1079500" y="0"/>
                </a:lnTo>
                <a:lnTo>
                  <a:pt x="1079500" y="557907"/>
                </a:lnTo>
                <a:lnTo>
                  <a:pt x="1073150" y="557907"/>
                </a:lnTo>
                <a:lnTo>
                  <a:pt x="1073150" y="0"/>
                </a:lnTo>
                <a:close/>
              </a:path>
            </a:pathLst>
          </a:custGeom>
          <a:solidFill>
            <a:srgbClr val="E3E8F0"/>
          </a:solidFill>
          <a:ln/>
        </p:spPr>
      </p:sp>
      <p:sp>
        <p:nvSpPr>
          <p:cNvPr id="67" name="Shape 62"/>
          <p:cNvSpPr/>
          <p:nvPr/>
        </p:nvSpPr>
        <p:spPr>
          <a:xfrm>
            <a:off x="4943475" y="5849243"/>
            <a:ext cx="0" cy="557907"/>
          </a:xfrm>
          <a:prstGeom prst="line">
            <a:avLst/>
          </a:prstGeom>
          <a:noFill/>
          <a:ln w="6350">
            <a:solidFill>
              <a:srgbClr val="EEF1F5"/>
            </a:solidFill>
            <a:prstDash val="solid"/>
          </a:ln>
        </p:spPr>
      </p:sp>
      <p:sp>
        <p:nvSpPr>
          <p:cNvPr id="68" name="Text 63"/>
          <p:cNvSpPr/>
          <p:nvPr/>
        </p:nvSpPr>
        <p:spPr>
          <a:xfrm>
            <a:off x="2670572" y="6034881"/>
            <a:ext cx="1167606" cy="212030"/>
          </a:xfrm>
          <a:prstGeom prst="rect">
            <a:avLst/>
          </a:prstGeom>
          <a:noFill/>
          <a:ln/>
        </p:spPr>
        <p:txBody>
          <a:bodyPr wrap="square" lIns="0" tIns="0" rIns="0" bIns="0" rtlCol="0" anchor="t">
            <a:normAutofit/>
          </a:bodyPr>
          <a:lstStyle/>
          <a:p>
            <a:pPr algn="ctr" indent="0" marL="0">
              <a:lnSpc>
                <a:spcPts val="1470"/>
              </a:lnSpc>
              <a:buNone/>
            </a:pPr>
            <a:r>
              <a:rPr lang="en-US" sz="1050" b="1" dirty="0">
                <a:solidFill>
                  <a:srgbClr val="1E6B3A"/>
                </a:solidFill>
                <a:latin typeface="Noto Sans KR" pitchFamily="34" charset="0"/>
                <a:ea typeface="Noto Sans KR" pitchFamily="34" charset="-122"/>
                <a:cs typeface="Noto Sans KR" pitchFamily="34" charset="-120"/>
              </a:rPr>
              <a:t>사내 프록시·DLP O</a:t>
            </a:r>
            <a:endParaRPr lang="en-US" sz="1050" dirty="0"/>
          </a:p>
        </p:txBody>
      </p:sp>
      <p:sp>
        <p:nvSpPr>
          <p:cNvPr id="69" name="Shape 64"/>
          <p:cNvSpPr/>
          <p:nvPr/>
        </p:nvSpPr>
        <p:spPr>
          <a:xfrm>
            <a:off x="8321675" y="5849243"/>
            <a:ext cx="0" cy="557907"/>
          </a:xfrm>
          <a:prstGeom prst="line">
            <a:avLst/>
          </a:prstGeom>
          <a:noFill/>
          <a:ln w="6350">
            <a:solidFill>
              <a:srgbClr val="EEF1F5"/>
            </a:solidFill>
            <a:prstDash val="solid"/>
          </a:ln>
        </p:spPr>
      </p:sp>
      <p:sp>
        <p:nvSpPr>
          <p:cNvPr id="70" name="Text 65"/>
          <p:cNvSpPr/>
          <p:nvPr/>
        </p:nvSpPr>
        <p:spPr>
          <a:xfrm>
            <a:off x="6048772" y="6034881"/>
            <a:ext cx="1167606" cy="212030"/>
          </a:xfrm>
          <a:prstGeom prst="rect">
            <a:avLst/>
          </a:prstGeom>
          <a:noFill/>
          <a:ln/>
        </p:spPr>
        <p:txBody>
          <a:bodyPr wrap="square" lIns="0" tIns="0" rIns="0" bIns="0" rtlCol="0" anchor="t">
            <a:normAutofit/>
          </a:bodyPr>
          <a:lstStyle/>
          <a:p>
            <a:pPr algn="ctr" indent="0" marL="0">
              <a:lnSpc>
                <a:spcPts val="1470"/>
              </a:lnSpc>
              <a:buNone/>
            </a:pPr>
            <a:r>
              <a:rPr lang="en-US" sz="1050" b="1" dirty="0">
                <a:solidFill>
                  <a:srgbClr val="1E6B3A"/>
                </a:solidFill>
                <a:latin typeface="Noto Sans KR" pitchFamily="34" charset="0"/>
                <a:ea typeface="Noto Sans KR" pitchFamily="34" charset="-122"/>
                <a:cs typeface="Noto Sans KR" pitchFamily="34" charset="-120"/>
              </a:rPr>
              <a:t>사내 프록시·DLP O</a:t>
            </a:r>
            <a:endParaRPr lang="en-US" sz="1050" dirty="0"/>
          </a:p>
        </p:txBody>
      </p:sp>
      <p:sp>
        <p:nvSpPr>
          <p:cNvPr id="71" name="Text 66"/>
          <p:cNvSpPr/>
          <p:nvPr/>
        </p:nvSpPr>
        <p:spPr>
          <a:xfrm>
            <a:off x="9027398" y="6034881"/>
            <a:ext cx="1973104" cy="212030"/>
          </a:xfrm>
          <a:prstGeom prst="rect">
            <a:avLst/>
          </a:prstGeom>
          <a:noFill/>
          <a:ln/>
        </p:spPr>
        <p:txBody>
          <a:bodyPr wrap="square" lIns="0" tIns="0" rIns="0" bIns="0" rtlCol="0" anchor="t">
            <a:normAutofit/>
          </a:bodyPr>
          <a:lstStyle/>
          <a:p>
            <a:pPr algn="ctr" indent="0" marL="0">
              <a:lnSpc>
                <a:spcPts val="1470"/>
              </a:lnSpc>
              <a:buNone/>
            </a:pPr>
            <a:r>
              <a:rPr lang="en-US" sz="1050" b="1" dirty="0">
                <a:solidFill>
                  <a:srgbClr val="C8102E"/>
                </a:solidFill>
                <a:latin typeface="Noto Sans KR" pitchFamily="34" charset="0"/>
                <a:ea typeface="Noto Sans KR" pitchFamily="34" charset="-122"/>
                <a:cs typeface="Noto Sans KR" pitchFamily="34" charset="-120"/>
              </a:rPr>
              <a:t>PC 프록시 밖 (허용목록·GW)</a:t>
            </a:r>
            <a:endParaRPr lang="en-US" sz="1050" dirty="0"/>
          </a:p>
        </p:txBody>
      </p:sp>
      <p:sp>
        <p:nvSpPr>
          <p:cNvPr id="72" name="Text 67"/>
          <p:cNvSpPr/>
          <p:nvPr/>
        </p:nvSpPr>
        <p:spPr>
          <a:xfrm>
            <a:off x="11150600" y="64287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28</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635000" y="444500"/>
            <a:ext cx="11249660" cy="229791"/>
          </a:xfrm>
          <a:prstGeom prst="rect">
            <a:avLst/>
          </a:prstGeom>
          <a:noFill/>
          <a:ln/>
        </p:spPr>
        <p:txBody>
          <a:bodyPr wrap="square" lIns="0" tIns="0" rIns="0" bIns="0" rtlCol="0" anchor="t">
            <a:normAutofit/>
          </a:bodyPr>
          <a:lstStyle/>
          <a:p>
            <a:pPr algn="l" indent="0" marL="0">
              <a:lnSpc>
                <a:spcPts val="1610"/>
              </a:lnSpc>
              <a:buNone/>
            </a:pPr>
            <a:r>
              <a:rPr lang="en-US" sz="1150" b="1" spc="100" kern="0" dirty="0">
                <a:solidFill>
                  <a:srgbClr val="5B6577"/>
                </a:solidFill>
                <a:latin typeface="Noto Sans KR" pitchFamily="34" charset="0"/>
                <a:ea typeface="Noto Sans KR" pitchFamily="34" charset="-122"/>
                <a:cs typeface="Noto Sans KR" pitchFamily="34" charset="-120"/>
              </a:rPr>
              <a:t>MCP 등록 상세 ① · 내 PC 로컬 접점</a:t>
            </a:r>
            <a:endParaRPr lang="en-US" sz="1150" dirty="0"/>
          </a:p>
        </p:txBody>
      </p:sp>
      <p:sp>
        <p:nvSpPr>
          <p:cNvPr id="3" name="Text 1"/>
          <p:cNvSpPr/>
          <p:nvPr>
            <p:ph type="title"/>
          </p:nvPr>
        </p:nvSpPr>
        <p:spPr>
          <a:xfrm>
            <a:off x="635000" y="680641"/>
            <a:ext cx="11249660" cy="346670"/>
          </a:xfrm>
          <a:prstGeom prst="rect">
            <a:avLst/>
          </a:prstGeom>
          <a:noFill/>
          <a:ln/>
        </p:spPr>
        <p:txBody>
          <a:bodyPr wrap="square" lIns="0" tIns="0" rIns="0" bIns="0" rtlCol="0" anchor="t">
            <a:normAutofit/>
          </a:bodyPr>
          <a:lstStyle/>
          <a:p>
            <a:pPr algn="l" indent="0" marL="0">
              <a:lnSpc>
                <a:spcPts val="2530"/>
              </a:lnSpc>
              <a:buNone/>
            </a:pPr>
            <a:r>
              <a:rPr lang="en-US" sz="2300" b="1" i="0" dirty="0">
                <a:solidFill>
                  <a:srgbClr val="0E1320"/>
                </a:solidFill>
                <a:latin typeface="Noto Sans KR" pitchFamily="34" charset="0"/>
                <a:ea typeface="Noto Sans KR" pitchFamily="34" charset="-122"/>
                <a:cs typeface="Noto Sans KR" pitchFamily="34" charset="-120"/>
              </a:rPr>
              <a:t>로컬 MCP 올리기 — 설정 화면과 mcp.json</a:t>
            </a:r>
            <a:endParaRPr lang="en-US" sz="2300" dirty="0"/>
          </a:p>
        </p:txBody>
      </p:sp>
      <p:sp>
        <p:nvSpPr>
          <p:cNvPr id="4" name="Shape 2"/>
          <p:cNvSpPr/>
          <p:nvPr/>
        </p:nvSpPr>
        <p:spPr>
          <a:xfrm>
            <a:off x="638175" y="1106686"/>
            <a:ext cx="5365750" cy="5163939"/>
          </a:xfrm>
          <a:prstGeom prst="roundRect">
            <a:avLst>
              <a:gd name="adj" fmla="val 1660"/>
            </a:avLst>
          </a:prstGeom>
          <a:solidFill>
            <a:srgbClr val="FFFFFF"/>
          </a:solidFill>
          <a:ln w="6350">
            <a:solidFill>
              <a:srgbClr val="DCE1EA"/>
            </a:solidFill>
            <a:prstDash val="solid"/>
          </a:ln>
        </p:spPr>
      </p:sp>
      <p:sp>
        <p:nvSpPr>
          <p:cNvPr id="5" name="Text 3"/>
          <p:cNvSpPr/>
          <p:nvPr/>
        </p:nvSpPr>
        <p:spPr>
          <a:xfrm>
            <a:off x="781050" y="1198761"/>
            <a:ext cx="5232400"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5B6577"/>
                </a:solidFill>
                <a:latin typeface="Noto Sans KR" pitchFamily="34" charset="0"/>
                <a:ea typeface="Noto Sans KR" pitchFamily="34" charset="-122"/>
                <a:cs typeface="Noto Sans KR" pitchFamily="34" charset="-120"/>
              </a:rPr>
              <a:t>실제 올리는 모습</a:t>
            </a:r>
            <a:r>
              <a:rPr lang="en-US" sz="1250" b="1" dirty="0">
                <a:solidFill>
                  <a:srgbClr val="0E1320"/>
                </a:solidFill>
                <a:latin typeface="Noto Sans KR" pitchFamily="34" charset="0"/>
                <a:ea typeface="Noto Sans KR" pitchFamily="34" charset="-122"/>
                <a:cs typeface="Noto Sans KR" pitchFamily="34" charset="-120"/>
              </a:rPr>
              <a:t> · 설정 › 개발자 › 로컬 MCP 서버</a:t>
            </a:r>
            <a:endParaRPr lang="en-US" sz="1250" dirty="0"/>
          </a:p>
        </p:txBody>
      </p:sp>
      <p:sp>
        <p:nvSpPr>
          <p:cNvPr id="6" name="Shape 4"/>
          <p:cNvSpPr/>
          <p:nvPr/>
        </p:nvSpPr>
        <p:spPr>
          <a:xfrm>
            <a:off x="644525" y="1487686"/>
            <a:ext cx="5353050" cy="4412159"/>
          </a:xfrm>
          <a:prstGeom prst="roundRect">
            <a:avLst>
              <a:gd name="adj" fmla="val 1367"/>
            </a:avLst>
          </a:prstGeom>
          <a:solidFill>
            <a:srgbClr val="E9EDF5"/>
          </a:solidFill>
          <a:ln w="6350">
            <a:solidFill>
              <a:srgbClr val="DCE1EA"/>
            </a:solidFill>
            <a:prstDash val="solid"/>
          </a:ln>
        </p:spPr>
      </p:sp>
      <p:pic>
        <p:nvPicPr>
          <p:cNvPr id="7" name="Image 0" descr="설정 개발자 로컬 MCP 서버 화면, 구성 편집 버튼">    </p:cNvPr>
          <p:cNvPicPr>
            <a:picLocks noChangeAspect="1"/>
          </p:cNvPicPr>
          <p:nvPr/>
        </p:nvPicPr>
        <p:blipFill>
          <a:blip r:embed="rId1"/>
          <a:srcRect l="0" r="0" t="1" b="1"/>
          <a:stretch/>
        </p:blipFill>
        <p:spPr>
          <a:xfrm>
            <a:off x="647700" y="2178844"/>
            <a:ext cx="5346700" cy="3029744"/>
          </a:xfrm>
          <a:prstGeom prst="rect">
            <a:avLst/>
          </a:prstGeom>
        </p:spPr>
      </p:pic>
      <p:sp>
        <p:nvSpPr>
          <p:cNvPr id="8" name="Text 5"/>
          <p:cNvSpPr/>
          <p:nvPr/>
        </p:nvSpPr>
        <p:spPr>
          <a:xfrm>
            <a:off x="781050" y="5979220"/>
            <a:ext cx="5232400" cy="212030"/>
          </a:xfrm>
          <a:prstGeom prst="rect">
            <a:avLst/>
          </a:prstGeom>
          <a:noFill/>
          <a:ln/>
        </p:spPr>
        <p:txBody>
          <a:bodyPr wrap="square" lIns="0" tIns="0" rIns="0" bIns="0" rtlCol="0" anchor="t">
            <a:normAutofit/>
          </a:bodyPr>
          <a:lstStyle/>
          <a:p>
            <a:pPr algn="l" indent="0" marL="0">
              <a:lnSpc>
                <a:spcPts val="1470"/>
              </a:lnSpc>
              <a:buNone/>
            </a:pPr>
            <a:r>
              <a:rPr lang="en-US" sz="1050" b="1" dirty="0">
                <a:solidFill>
                  <a:srgbClr val="0E1320"/>
                </a:solidFill>
                <a:latin typeface="Noto Sans KR" pitchFamily="34" charset="0"/>
                <a:ea typeface="Noto Sans KR" pitchFamily="34" charset="-122"/>
                <a:cs typeface="Noto Sans KR" pitchFamily="34" charset="-120"/>
              </a:rPr>
              <a:t>'구성 편집'</a:t>
            </a:r>
            <a:r>
              <a:rPr lang="en-US" sz="1050" dirty="0">
                <a:solidFill>
                  <a:srgbClr val="0E1320"/>
                </a:solidFill>
                <a:latin typeface="Noto Sans KR" pitchFamily="34" charset="0"/>
                <a:ea typeface="Noto Sans KR" pitchFamily="34" charset="-122"/>
                <a:cs typeface="Noto Sans KR" pitchFamily="34" charset="-120"/>
              </a:rPr>
              <a:t>을 눌러 설정 파일(claude_desktop_config.json)을 연다</a:t>
            </a:r>
            <a:endParaRPr lang="en-US" sz="1050" dirty="0"/>
          </a:p>
        </p:txBody>
      </p:sp>
      <p:sp>
        <p:nvSpPr>
          <p:cNvPr id="9" name="Shape 6"/>
          <p:cNvSpPr/>
          <p:nvPr/>
        </p:nvSpPr>
        <p:spPr>
          <a:xfrm>
            <a:off x="6188075" y="1106686"/>
            <a:ext cx="5365750" cy="5163939"/>
          </a:xfrm>
          <a:prstGeom prst="roundRect">
            <a:avLst>
              <a:gd name="adj" fmla="val 1660"/>
            </a:avLst>
          </a:prstGeom>
          <a:solidFill>
            <a:srgbClr val="FFFFFF"/>
          </a:solidFill>
          <a:ln w="6350">
            <a:solidFill>
              <a:srgbClr val="DCE1EA"/>
            </a:solidFill>
            <a:prstDash val="solid"/>
          </a:ln>
        </p:spPr>
      </p:sp>
      <p:sp>
        <p:nvSpPr>
          <p:cNvPr id="10" name="Text 7"/>
          <p:cNvSpPr/>
          <p:nvPr/>
        </p:nvSpPr>
        <p:spPr>
          <a:xfrm>
            <a:off x="6330950" y="1198761"/>
            <a:ext cx="5232400"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5B6577"/>
                </a:solidFill>
                <a:latin typeface="Noto Sans KR" pitchFamily="34" charset="0"/>
                <a:ea typeface="Noto Sans KR" pitchFamily="34" charset="-122"/>
                <a:cs typeface="Noto Sans KR" pitchFamily="34" charset="-120"/>
              </a:rPr>
              <a:t>mcp.json 형태</a:t>
            </a:r>
            <a:r>
              <a:rPr lang="en-US" sz="1250" b="1" dirty="0">
                <a:solidFill>
                  <a:srgbClr val="0E1320"/>
                </a:solidFill>
                <a:latin typeface="Noto Sans KR" pitchFamily="34" charset="0"/>
                <a:ea typeface="Noto Sans KR" pitchFamily="34" charset="-122"/>
                <a:cs typeface="Noto Sans KR" pitchFamily="34" charset="-120"/>
              </a:rPr>
              <a:t> · claude_desktop_config.json</a:t>
            </a:r>
            <a:endParaRPr lang="en-US" sz="1250" dirty="0"/>
          </a:p>
        </p:txBody>
      </p:sp>
      <p:sp>
        <p:nvSpPr>
          <p:cNvPr id="11" name="Shape 8"/>
          <p:cNvSpPr/>
          <p:nvPr/>
        </p:nvSpPr>
        <p:spPr>
          <a:xfrm>
            <a:off x="6194425" y="1487686"/>
            <a:ext cx="5353050" cy="4412159"/>
          </a:xfrm>
          <a:prstGeom prst="roundRect">
            <a:avLst>
              <a:gd name="adj" fmla="val 1367"/>
            </a:avLst>
          </a:prstGeom>
          <a:solidFill>
            <a:srgbClr val="0E1320"/>
          </a:solidFill>
          <a:ln w="6350">
            <a:solidFill>
              <a:srgbClr val="DCE1EA"/>
            </a:solidFill>
            <a:prstDash val="solid"/>
          </a:ln>
        </p:spPr>
      </p:sp>
      <p:pic>
        <p:nvPicPr>
          <p:cNvPr id="12" name="Image 1" descr="mcpServers 블록: aar-echo-local command powershell args">    </p:cNvPr>
          <p:cNvPicPr>
            <a:picLocks noChangeAspect="1"/>
          </p:cNvPicPr>
          <p:nvPr/>
        </p:nvPicPr>
        <p:blipFill>
          <a:blip r:embed="rId2"/>
          <a:srcRect l="0" r="0" t="1" b="1"/>
          <a:stretch/>
        </p:blipFill>
        <p:spPr>
          <a:xfrm>
            <a:off x="6197600" y="2178844"/>
            <a:ext cx="5346700" cy="3029744"/>
          </a:xfrm>
          <a:prstGeom prst="rect">
            <a:avLst/>
          </a:prstGeom>
        </p:spPr>
      </p:pic>
      <p:sp>
        <p:nvSpPr>
          <p:cNvPr id="13" name="Text 9"/>
          <p:cNvSpPr/>
          <p:nvPr/>
        </p:nvSpPr>
        <p:spPr>
          <a:xfrm>
            <a:off x="6330950" y="5979220"/>
            <a:ext cx="5232400" cy="212030"/>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0E1320"/>
                </a:solidFill>
                <a:latin typeface="Noto Sans KR" pitchFamily="34" charset="0"/>
                <a:ea typeface="Noto Sans KR" pitchFamily="34" charset="-122"/>
                <a:cs typeface="Noto Sans KR" pitchFamily="34" charset="-120"/>
              </a:rPr>
              <a:t>mcpServers 에 </a:t>
            </a:r>
            <a:r>
              <a:rPr lang="en-US" sz="1050" b="1" dirty="0">
                <a:solidFill>
                  <a:srgbClr val="0E1320"/>
                </a:solidFill>
                <a:latin typeface="Noto Sans KR" pitchFamily="34" charset="0"/>
                <a:ea typeface="Noto Sans KR" pitchFamily="34" charset="-122"/>
                <a:cs typeface="Noto Sans KR" pitchFamily="34" charset="-120"/>
              </a:rPr>
              <a:t>command·args</a:t>
            </a:r>
            <a:r>
              <a:rPr lang="en-US" sz="1050" dirty="0">
                <a:solidFill>
                  <a:srgbClr val="0E1320"/>
                </a:solidFill>
                <a:latin typeface="Noto Sans KR" pitchFamily="34" charset="0"/>
                <a:ea typeface="Noto Sans KR" pitchFamily="34" charset="-122"/>
                <a:cs typeface="Noto Sans KR" pitchFamily="34" charset="-120"/>
              </a:rPr>
              <a:t> 를 넣는 stdio 형태</a:t>
            </a:r>
            <a:endParaRPr lang="en-US" sz="1050" dirty="0"/>
          </a:p>
        </p:txBody>
      </p:sp>
      <p:sp>
        <p:nvSpPr>
          <p:cNvPr id="14" name="Text 10"/>
          <p:cNvSpPr/>
          <p:nvPr/>
        </p:nvSpPr>
        <p:spPr>
          <a:xfrm>
            <a:off x="10998200" y="63525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635000" y="444500"/>
            <a:ext cx="11249660" cy="229791"/>
          </a:xfrm>
          <a:prstGeom prst="rect">
            <a:avLst/>
          </a:prstGeom>
          <a:noFill/>
          <a:ln/>
        </p:spPr>
        <p:txBody>
          <a:bodyPr wrap="square" lIns="0" tIns="0" rIns="0" bIns="0" rtlCol="0" anchor="t">
            <a:normAutofit/>
          </a:bodyPr>
          <a:lstStyle/>
          <a:p>
            <a:pPr algn="l" indent="0" marL="0">
              <a:lnSpc>
                <a:spcPts val="1610"/>
              </a:lnSpc>
              <a:buNone/>
            </a:pPr>
            <a:r>
              <a:rPr lang="en-US" sz="1150" b="1" spc="100" kern="0" dirty="0">
                <a:solidFill>
                  <a:srgbClr val="1E6B3A"/>
                </a:solidFill>
                <a:latin typeface="Noto Sans KR" pitchFamily="34" charset="0"/>
                <a:ea typeface="Noto Sans KR" pitchFamily="34" charset="-122"/>
                <a:cs typeface="Noto Sans KR" pitchFamily="34" charset="-120"/>
              </a:rPr>
              <a:t>사내 MCP 서버 연동 · mcp.json</a:t>
            </a:r>
            <a:endParaRPr lang="en-US" sz="1150" dirty="0"/>
          </a:p>
        </p:txBody>
      </p:sp>
      <p:sp>
        <p:nvSpPr>
          <p:cNvPr id="3" name="Text 1"/>
          <p:cNvSpPr/>
          <p:nvPr>
            <p:ph type="title"/>
          </p:nvPr>
        </p:nvSpPr>
        <p:spPr>
          <a:xfrm>
            <a:off x="635000" y="680641"/>
            <a:ext cx="11249660" cy="346670"/>
          </a:xfrm>
          <a:prstGeom prst="rect">
            <a:avLst/>
          </a:prstGeom>
          <a:noFill/>
          <a:ln/>
        </p:spPr>
        <p:txBody>
          <a:bodyPr wrap="square" lIns="0" tIns="0" rIns="0" bIns="0" rtlCol="0" anchor="t">
            <a:normAutofit/>
          </a:bodyPr>
          <a:lstStyle/>
          <a:p>
            <a:pPr algn="l" indent="0" marL="0">
              <a:lnSpc>
                <a:spcPts val="2530"/>
              </a:lnSpc>
              <a:buNone/>
            </a:pPr>
            <a:r>
              <a:rPr lang="en-US" sz="2300" b="1" i="0" dirty="0">
                <a:solidFill>
                  <a:srgbClr val="0E1320"/>
                </a:solidFill>
                <a:latin typeface="Noto Sans KR" pitchFamily="34" charset="0"/>
                <a:ea typeface="Noto Sans KR" pitchFamily="34" charset="-122"/>
                <a:cs typeface="Noto Sans KR" pitchFamily="34" charset="-120"/>
              </a:rPr>
              <a:t>Confluence MCP 붙이기 — mcp.json 두 형태</a:t>
            </a:r>
            <a:endParaRPr lang="en-US" sz="2300" dirty="0"/>
          </a:p>
        </p:txBody>
      </p:sp>
      <p:sp>
        <p:nvSpPr>
          <p:cNvPr id="4" name="Shape 2"/>
          <p:cNvSpPr/>
          <p:nvPr/>
        </p:nvSpPr>
        <p:spPr>
          <a:xfrm>
            <a:off x="638175" y="1106686"/>
            <a:ext cx="5365750" cy="5163939"/>
          </a:xfrm>
          <a:prstGeom prst="roundRect">
            <a:avLst>
              <a:gd name="adj" fmla="val 1660"/>
            </a:avLst>
          </a:prstGeom>
          <a:solidFill>
            <a:srgbClr val="FFFFFF"/>
          </a:solidFill>
          <a:ln w="6350">
            <a:solidFill>
              <a:srgbClr val="DCE1EA"/>
            </a:solidFill>
            <a:prstDash val="solid"/>
          </a:ln>
        </p:spPr>
      </p:sp>
      <p:sp>
        <p:nvSpPr>
          <p:cNvPr id="5" name="Text 3"/>
          <p:cNvSpPr/>
          <p:nvPr/>
        </p:nvSpPr>
        <p:spPr>
          <a:xfrm>
            <a:off x="793750" y="1211461"/>
            <a:ext cx="146000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E1320"/>
                </a:solidFill>
                <a:latin typeface="Noto Sans KR" pitchFamily="34" charset="0"/>
                <a:ea typeface="Noto Sans KR" pitchFamily="34" charset="-122"/>
                <a:cs typeface="Noto Sans KR" pitchFamily="34" charset="-120"/>
              </a:rPr>
              <a:t>① mcp-remote</a:t>
            </a:r>
            <a:endParaRPr lang="en-US" sz="1500" dirty="0"/>
          </a:p>
        </p:txBody>
      </p:sp>
      <p:sp>
        <p:nvSpPr>
          <p:cNvPr id="6" name="Text 4"/>
          <p:cNvSpPr/>
          <p:nvPr/>
        </p:nvSpPr>
        <p:spPr>
          <a:xfrm>
            <a:off x="2253754" y="1281311"/>
            <a:ext cx="1141333" cy="212030"/>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5B6577"/>
                </a:solidFill>
                <a:latin typeface="Noto Sans KR" pitchFamily="34" charset="0"/>
                <a:ea typeface="Noto Sans KR" pitchFamily="34" charset="-122"/>
                <a:cs typeface="Noto Sans KR" pitchFamily="34" charset="-120"/>
              </a:rPr>
              <a:t>Desktop · stdio</a:t>
            </a:r>
            <a:endParaRPr lang="en-US" sz="1050" dirty="0"/>
          </a:p>
        </p:txBody>
      </p:sp>
      <p:sp>
        <p:nvSpPr>
          <p:cNvPr id="7" name="Text 5"/>
          <p:cNvSpPr/>
          <p:nvPr/>
        </p:nvSpPr>
        <p:spPr>
          <a:xfrm>
            <a:off x="641350" y="1541661"/>
            <a:ext cx="5520182" cy="176510"/>
          </a:xfrm>
          <a:prstGeom prst="rect">
            <a:avLst/>
          </a:prstGeom>
          <a:noFill/>
          <a:ln/>
        </p:spPr>
        <p:txBody>
          <a:bodyPr wrap="square" lIns="0" tIns="0" rIns="0" bIns="0" rtlCol="0" anchor="t">
            <a:normAutofit/>
          </a:bodyPr>
          <a:lstStyle/>
          <a:p>
            <a:pPr algn="l" indent="0" marL="0">
              <a:lnSpc>
                <a:spcPts val="1190"/>
              </a:lnSpc>
              <a:buNone/>
            </a:pPr>
            <a:r>
              <a:rPr lang="en-US" sz="850" dirty="0">
                <a:solidFill>
                  <a:srgbClr val="8A93A6"/>
                </a:solidFill>
                <a:latin typeface="JetBrains Mono" pitchFamily="49" charset="0"/>
                <a:ea typeface="JetBrains Mono" pitchFamily="49" charset="-122"/>
                <a:cs typeface="JetBrains Mono" pitchFamily="49" charset="-120"/>
              </a:rPr>
              <a:t>claude_desktop_config.json</a:t>
            </a:r>
            <a:endParaRPr lang="en-US" sz="850" dirty="0"/>
          </a:p>
        </p:txBody>
      </p:sp>
      <p:sp>
        <p:nvSpPr>
          <p:cNvPr id="8" name="Text 6"/>
          <p:cNvSpPr/>
          <p:nvPr/>
        </p:nvSpPr>
        <p:spPr>
          <a:xfrm>
            <a:off x="641350" y="1692771"/>
            <a:ext cx="5359400" cy="4282579"/>
          </a:xfrm>
          <a:prstGeom prst="roundRect">
            <a:avLst>
              <a:gd name="adj" fmla="val 1779"/>
            </a:avLst>
          </a:prstGeom>
          <a:solidFill>
            <a:srgbClr val="0E1320"/>
          </a:solidFill>
          <a:ln/>
        </p:spPr>
        <p:txBody>
          <a:bodyPr wrap="square" lIns="142782" tIns="104682" rIns="1114113" bIns="1426573" rtlCol="0" anchor="t">
            <a:normAutofit/>
          </a:bodyPr>
          <a:lstStyle/>
          <a:p>
            <a:pPr algn="l" indent="0" marL="0">
              <a:lnSpc>
                <a:spcPts val="1760"/>
              </a:lnSpc>
              <a:buNone/>
            </a:pPr>
            <a:r>
              <a:rPr lang="en-US" sz="1100" dirty="0">
                <a:solidFill>
                  <a:srgbClr val="9DB4FF"/>
                </a:solidFill>
                <a:latin typeface="JetBrains Mono" pitchFamily="49" charset="0"/>
                <a:ea typeface="JetBrains Mono" pitchFamily="49" charset="-122"/>
                <a:cs typeface="JetBrains Mono" pitchFamily="49" charset="-120"/>
              </a:rPr>
              <a:t>"confluence"</a:t>
            </a:r>
            <a:r>
              <a:rPr lang="en-US" sz="1100" dirty="0">
                <a:solidFill>
                  <a:srgbClr val="C9D1E0"/>
                </a:solidFill>
                <a:latin typeface="JetBrains Mono" pitchFamily="49" charset="0"/>
                <a:ea typeface="JetBrains Mono" pitchFamily="49" charset="-122"/>
                <a:cs typeface="JetBrains Mono" pitchFamily="49" charset="-120"/>
              </a:rPr>
              <a:t>: {</a:t>
            </a:r>
            <a:endParaRPr lang="en-US" sz="1100" dirty="0"/>
          </a:p>
          <a:p>
            <a:pPr algn="l" indent="0" marL="0">
              <a:lnSpc>
                <a:spcPts val="1760"/>
              </a:lnSpc>
              <a:buNone/>
            </a:pP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C3E88D"/>
                </a:solidFill>
                <a:latin typeface="JetBrains Mono" pitchFamily="49" charset="0"/>
                <a:ea typeface="JetBrains Mono" pitchFamily="49" charset="-122"/>
                <a:cs typeface="JetBrains Mono" pitchFamily="49" charset="-120"/>
              </a:rPr>
              <a:t>"command"</a:t>
            </a: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FFCDAA"/>
                </a:solidFill>
                <a:latin typeface="JetBrains Mono" pitchFamily="49" charset="0"/>
                <a:ea typeface="JetBrains Mono" pitchFamily="49" charset="-122"/>
                <a:cs typeface="JetBrains Mono" pitchFamily="49" charset="-120"/>
              </a:rPr>
              <a:t>"npx"</a:t>
            </a:r>
            <a:r>
              <a:rPr lang="en-US" sz="1100" dirty="0">
                <a:solidFill>
                  <a:srgbClr val="C9D1E0"/>
                </a:solidFill>
                <a:latin typeface="JetBrains Mono" pitchFamily="49" charset="0"/>
                <a:ea typeface="JetBrains Mono" pitchFamily="49" charset="-122"/>
                <a:cs typeface="JetBrains Mono" pitchFamily="49" charset="-120"/>
              </a:rPr>
              <a:t>,</a:t>
            </a:r>
            <a:endParaRPr lang="en-US" sz="1100" dirty="0"/>
          </a:p>
          <a:p>
            <a:pPr algn="l" indent="0" marL="0">
              <a:lnSpc>
                <a:spcPts val="1760"/>
              </a:lnSpc>
              <a:buNone/>
            </a:pP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C3E88D"/>
                </a:solidFill>
                <a:latin typeface="JetBrains Mono" pitchFamily="49" charset="0"/>
                <a:ea typeface="JetBrains Mono" pitchFamily="49" charset="-122"/>
                <a:cs typeface="JetBrains Mono" pitchFamily="49" charset="-120"/>
              </a:rPr>
              <a:t>"args"</a:t>
            </a:r>
            <a:r>
              <a:rPr lang="en-US" sz="1100" dirty="0">
                <a:solidFill>
                  <a:srgbClr val="C9D1E0"/>
                </a:solidFill>
                <a:latin typeface="JetBrains Mono" pitchFamily="49" charset="0"/>
                <a:ea typeface="JetBrains Mono" pitchFamily="49" charset="-122"/>
                <a:cs typeface="JetBrains Mono" pitchFamily="49" charset="-120"/>
              </a:rPr>
              <a:t>: [</a:t>
            </a:r>
            <a:endParaRPr lang="en-US" sz="1100" dirty="0"/>
          </a:p>
          <a:p>
            <a:pPr algn="l" indent="0" marL="0">
              <a:lnSpc>
                <a:spcPts val="1760"/>
              </a:lnSpc>
              <a:buNone/>
            </a:pP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FFCDAA"/>
                </a:solidFill>
                <a:latin typeface="JetBrains Mono" pitchFamily="49" charset="0"/>
                <a:ea typeface="JetBrains Mono" pitchFamily="49" charset="-122"/>
                <a:cs typeface="JetBrains Mono" pitchFamily="49" charset="-120"/>
              </a:rPr>
              <a:t>"-y"</a:t>
            </a: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FFCDAA"/>
                </a:solidFill>
                <a:latin typeface="JetBrains Mono" pitchFamily="49" charset="0"/>
                <a:ea typeface="JetBrains Mono" pitchFamily="49" charset="-122"/>
                <a:cs typeface="JetBrains Mono" pitchFamily="49" charset="-120"/>
              </a:rPr>
              <a:t>"mcp-remote"</a:t>
            </a:r>
            <a:r>
              <a:rPr lang="en-US" sz="1100" dirty="0">
                <a:solidFill>
                  <a:srgbClr val="C9D1E0"/>
                </a:solidFill>
                <a:latin typeface="JetBrains Mono" pitchFamily="49" charset="0"/>
                <a:ea typeface="JetBrains Mono" pitchFamily="49" charset="-122"/>
                <a:cs typeface="JetBrains Mono" pitchFamily="49" charset="-120"/>
              </a:rPr>
              <a:t>,</a:t>
            </a:r>
            <a:endParaRPr lang="en-US" sz="1100" dirty="0"/>
          </a:p>
          <a:p>
            <a:pPr algn="l" indent="0" marL="0">
              <a:lnSpc>
                <a:spcPts val="1760"/>
              </a:lnSpc>
              <a:buNone/>
            </a:pP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FFCDAA"/>
                </a:solidFill>
                <a:latin typeface="JetBrains Mono" pitchFamily="49" charset="0"/>
                <a:ea typeface="JetBrains Mono" pitchFamily="49" charset="-122"/>
                <a:cs typeface="JetBrains Mono" pitchFamily="49" charset="-120"/>
              </a:rPr>
              <a:t>"https://mcp.sds-internal.com/confluence"</a:t>
            </a:r>
            <a:r>
              <a:rPr lang="en-US" sz="1100" dirty="0">
                <a:solidFill>
                  <a:srgbClr val="C9D1E0"/>
                </a:solidFill>
                <a:latin typeface="JetBrains Mono" pitchFamily="49" charset="0"/>
                <a:ea typeface="JetBrains Mono" pitchFamily="49" charset="-122"/>
                <a:cs typeface="JetBrains Mono" pitchFamily="49" charset="-120"/>
              </a:rPr>
              <a:t>,</a:t>
            </a:r>
            <a:endParaRPr lang="en-US" sz="1100" dirty="0"/>
          </a:p>
          <a:p>
            <a:pPr algn="l" indent="0" marL="0">
              <a:lnSpc>
                <a:spcPts val="1760"/>
              </a:lnSpc>
              <a:buNone/>
            </a:pP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FFCDAA"/>
                </a:solidFill>
                <a:latin typeface="JetBrains Mono" pitchFamily="49" charset="0"/>
                <a:ea typeface="JetBrains Mono" pitchFamily="49" charset="-122"/>
                <a:cs typeface="JetBrains Mono" pitchFamily="49" charset="-120"/>
              </a:rPr>
              <a:t>"--header"</a:t>
            </a:r>
            <a:r>
              <a:rPr lang="en-US" sz="1100" dirty="0">
                <a:solidFill>
                  <a:srgbClr val="C9D1E0"/>
                </a:solidFill>
                <a:latin typeface="JetBrains Mono" pitchFamily="49" charset="0"/>
                <a:ea typeface="JetBrains Mono" pitchFamily="49" charset="-122"/>
                <a:cs typeface="JetBrains Mono" pitchFamily="49" charset="-120"/>
              </a:rPr>
              <a:t>,</a:t>
            </a:r>
            <a:endParaRPr lang="en-US" sz="1100" dirty="0"/>
          </a:p>
          <a:p>
            <a:pPr algn="l" indent="0" marL="0">
              <a:lnSpc>
                <a:spcPts val="1760"/>
              </a:lnSpc>
              <a:buNone/>
            </a:pP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FFCDAA"/>
                </a:solidFill>
                <a:latin typeface="JetBrains Mono" pitchFamily="49" charset="0"/>
                <a:ea typeface="JetBrains Mono" pitchFamily="49" charset="-122"/>
                <a:cs typeface="JetBrains Mono" pitchFamily="49" charset="-120"/>
              </a:rPr>
              <a:t>"Authorization: Bearer ${CONFLUENCE_TOKEN}"</a:t>
            </a:r>
            <a:endParaRPr lang="en-US" sz="1100" dirty="0"/>
          </a:p>
          <a:p>
            <a:pPr algn="l" indent="0" marL="0">
              <a:lnSpc>
                <a:spcPts val="1760"/>
              </a:lnSpc>
              <a:buNone/>
            </a:pPr>
            <a:r>
              <a:rPr lang="en-US" sz="1100" dirty="0">
                <a:solidFill>
                  <a:srgbClr val="C9D1E0"/>
                </a:solidFill>
                <a:latin typeface="JetBrains Mono" pitchFamily="49" charset="0"/>
                <a:ea typeface="JetBrains Mono" pitchFamily="49" charset="-122"/>
                <a:cs typeface="JetBrains Mono" pitchFamily="49" charset="-120"/>
              </a:rPr>
              <a:t>  ],</a:t>
            </a:r>
            <a:endParaRPr lang="en-US" sz="1100" dirty="0"/>
          </a:p>
          <a:p>
            <a:pPr algn="l" indent="0" marL="0">
              <a:lnSpc>
                <a:spcPts val="1760"/>
              </a:lnSpc>
              <a:buNone/>
            </a:pP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C3E88D"/>
                </a:solidFill>
                <a:latin typeface="JetBrains Mono" pitchFamily="49" charset="0"/>
                <a:ea typeface="JetBrains Mono" pitchFamily="49" charset="-122"/>
                <a:cs typeface="JetBrains Mono" pitchFamily="49" charset="-120"/>
              </a:rPr>
              <a:t>"env"</a:t>
            </a:r>
            <a:r>
              <a:rPr lang="en-US" sz="1100" dirty="0">
                <a:solidFill>
                  <a:srgbClr val="C9D1E0"/>
                </a:solidFill>
                <a:latin typeface="JetBrains Mono" pitchFamily="49" charset="0"/>
                <a:ea typeface="JetBrains Mono" pitchFamily="49" charset="-122"/>
                <a:cs typeface="JetBrains Mono" pitchFamily="49" charset="-120"/>
              </a:rPr>
              <a:t>: {</a:t>
            </a:r>
            <a:endParaRPr lang="en-US" sz="1100" dirty="0"/>
          </a:p>
          <a:p>
            <a:pPr algn="l" indent="0" marL="0">
              <a:lnSpc>
                <a:spcPts val="1760"/>
              </a:lnSpc>
              <a:buNone/>
            </a:pP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9DB4FF"/>
                </a:solidFill>
                <a:latin typeface="JetBrains Mono" pitchFamily="49" charset="0"/>
                <a:ea typeface="JetBrains Mono" pitchFamily="49" charset="-122"/>
                <a:cs typeface="JetBrains Mono" pitchFamily="49" charset="-120"/>
              </a:rPr>
              <a:t>"CONFLUENCE_TOKEN"</a:t>
            </a: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FFCDAA"/>
                </a:solidFill>
                <a:latin typeface="JetBrains Mono" pitchFamily="49" charset="0"/>
                <a:ea typeface="JetBrains Mono" pitchFamily="49" charset="-122"/>
                <a:cs typeface="JetBrains Mono" pitchFamily="49" charset="-120"/>
              </a:rPr>
              <a:t>"cft_1a2b3c…"</a:t>
            </a:r>
            <a:endParaRPr lang="en-US" sz="1100" dirty="0"/>
          </a:p>
          <a:p>
            <a:pPr algn="l" indent="0" marL="0">
              <a:lnSpc>
                <a:spcPts val="1760"/>
              </a:lnSpc>
              <a:buNone/>
            </a:pPr>
            <a:r>
              <a:rPr lang="en-US" sz="1100" dirty="0">
                <a:solidFill>
                  <a:srgbClr val="C9D1E0"/>
                </a:solidFill>
                <a:latin typeface="JetBrains Mono" pitchFamily="49" charset="0"/>
                <a:ea typeface="JetBrains Mono" pitchFamily="49" charset="-122"/>
                <a:cs typeface="JetBrains Mono" pitchFamily="49" charset="-120"/>
              </a:rPr>
              <a:t>  }</a:t>
            </a:r>
            <a:endParaRPr lang="en-US" sz="1100" dirty="0"/>
          </a:p>
          <a:p>
            <a:pPr algn="l" indent="0" marL="0">
              <a:lnSpc>
                <a:spcPts val="1760"/>
              </a:lnSpc>
              <a:buNone/>
            </a:pPr>
            <a:r>
              <a:rPr lang="en-US" sz="1100" dirty="0">
                <a:solidFill>
                  <a:srgbClr val="C9D1E0"/>
                </a:solidFill>
                <a:latin typeface="JetBrains Mono" pitchFamily="49" charset="0"/>
                <a:ea typeface="JetBrains Mono" pitchFamily="49" charset="-122"/>
                <a:cs typeface="JetBrains Mono" pitchFamily="49" charset="-120"/>
              </a:rPr>
              <a:t>}</a:t>
            </a:r>
            <a:endParaRPr lang="en-US" sz="1100" dirty="0"/>
          </a:p>
        </p:txBody>
      </p:sp>
      <p:sp>
        <p:nvSpPr>
          <p:cNvPr id="9" name="Text 7"/>
          <p:cNvSpPr/>
          <p:nvPr/>
        </p:nvSpPr>
        <p:spPr>
          <a:xfrm>
            <a:off x="793750" y="5975350"/>
            <a:ext cx="5206238"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0E1320"/>
                </a:solidFill>
                <a:latin typeface="Noto Sans KR" pitchFamily="34" charset="0"/>
                <a:ea typeface="Noto Sans KR" pitchFamily="34" charset="-122"/>
                <a:cs typeface="Noto Sans KR" pitchFamily="34" charset="-120"/>
              </a:rPr>
              <a:t>stdio만 지원 → </a:t>
            </a:r>
            <a:r>
              <a:rPr lang="en-US" sz="1000" b="1" dirty="0">
                <a:solidFill>
                  <a:srgbClr val="0E1320"/>
                </a:solidFill>
                <a:latin typeface="Noto Sans KR" pitchFamily="34" charset="0"/>
                <a:ea typeface="Noto Sans KR" pitchFamily="34" charset="-122"/>
                <a:cs typeface="Noto Sans KR" pitchFamily="34" charset="-120"/>
              </a:rPr>
              <a:t>mcp-remote</a:t>
            </a:r>
            <a:r>
              <a:rPr lang="en-US" sz="1000" dirty="0">
                <a:solidFill>
                  <a:srgbClr val="0E1320"/>
                </a:solidFill>
                <a:latin typeface="Noto Sans KR" pitchFamily="34" charset="0"/>
                <a:ea typeface="Noto Sans KR" pitchFamily="34" charset="-122"/>
                <a:cs typeface="Noto Sans KR" pitchFamily="34" charset="-120"/>
              </a:rPr>
              <a:t> 브리지 · 토큰은 </a:t>
            </a:r>
            <a:r>
              <a:rPr lang="en-US" sz="1000" b="1" dirty="0">
                <a:solidFill>
                  <a:srgbClr val="0E1320"/>
                </a:solidFill>
                <a:latin typeface="Noto Sans KR" pitchFamily="34" charset="0"/>
                <a:ea typeface="Noto Sans KR" pitchFamily="34" charset="-122"/>
                <a:cs typeface="Noto Sans KR" pitchFamily="34" charset="-120"/>
              </a:rPr>
              <a:t>--header</a:t>
            </a:r>
            <a:r>
              <a:rPr lang="en-US" sz="1000" dirty="0">
                <a:solidFill>
                  <a:srgbClr val="0E1320"/>
                </a:solidFill>
                <a:latin typeface="Noto Sans KR" pitchFamily="34" charset="0"/>
                <a:ea typeface="Noto Sans KR" pitchFamily="34" charset="-122"/>
                <a:cs typeface="Noto Sans KR" pitchFamily="34" charset="-120"/>
              </a:rPr>
              <a:t> + </a:t>
            </a:r>
            <a:r>
              <a:rPr lang="en-US" sz="1000" b="1" dirty="0">
                <a:solidFill>
                  <a:srgbClr val="0E1320"/>
                </a:solidFill>
                <a:latin typeface="Noto Sans KR" pitchFamily="34" charset="0"/>
                <a:ea typeface="Noto Sans KR" pitchFamily="34" charset="-122"/>
                <a:cs typeface="Noto Sans KR" pitchFamily="34" charset="-120"/>
              </a:rPr>
              <a:t>env</a:t>
            </a:r>
            <a:endParaRPr lang="en-US" sz="1000" dirty="0"/>
          </a:p>
        </p:txBody>
      </p:sp>
      <p:sp>
        <p:nvSpPr>
          <p:cNvPr id="10" name="Shape 8"/>
          <p:cNvSpPr/>
          <p:nvPr/>
        </p:nvSpPr>
        <p:spPr>
          <a:xfrm>
            <a:off x="6188075" y="1106686"/>
            <a:ext cx="5365750" cy="5163939"/>
          </a:xfrm>
          <a:prstGeom prst="roundRect">
            <a:avLst>
              <a:gd name="adj" fmla="val 1660"/>
            </a:avLst>
          </a:prstGeom>
          <a:solidFill>
            <a:srgbClr val="FFFFFF"/>
          </a:solidFill>
          <a:ln w="6350">
            <a:solidFill>
              <a:srgbClr val="DCE1EA"/>
            </a:solidFill>
            <a:prstDash val="solid"/>
          </a:ln>
        </p:spPr>
      </p:sp>
      <p:sp>
        <p:nvSpPr>
          <p:cNvPr id="11" name="Text 9"/>
          <p:cNvSpPr/>
          <p:nvPr/>
        </p:nvSpPr>
        <p:spPr>
          <a:xfrm>
            <a:off x="6343650" y="1211461"/>
            <a:ext cx="70961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E1320"/>
                </a:solidFill>
                <a:latin typeface="Noto Sans KR" pitchFamily="34" charset="0"/>
                <a:ea typeface="Noto Sans KR" pitchFamily="34" charset="-122"/>
                <a:cs typeface="Noto Sans KR" pitchFamily="34" charset="-120"/>
              </a:rPr>
              <a:t>② http</a:t>
            </a:r>
            <a:endParaRPr lang="en-US" sz="1500" dirty="0"/>
          </a:p>
        </p:txBody>
      </p:sp>
      <p:sp>
        <p:nvSpPr>
          <p:cNvPr id="12" name="Text 10"/>
          <p:cNvSpPr/>
          <p:nvPr/>
        </p:nvSpPr>
        <p:spPr>
          <a:xfrm>
            <a:off x="7053263" y="1281311"/>
            <a:ext cx="1182648" cy="212030"/>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5B6577"/>
                </a:solidFill>
                <a:latin typeface="Noto Sans KR" pitchFamily="34" charset="0"/>
                <a:ea typeface="Noto Sans KR" pitchFamily="34" charset="-122"/>
                <a:cs typeface="Noto Sans KR" pitchFamily="34" charset="-120"/>
              </a:rPr>
              <a:t>Code · 실제 URL</a:t>
            </a:r>
            <a:endParaRPr lang="en-US" sz="1050" dirty="0"/>
          </a:p>
        </p:txBody>
      </p:sp>
      <p:sp>
        <p:nvSpPr>
          <p:cNvPr id="13" name="Text 11"/>
          <p:cNvSpPr/>
          <p:nvPr/>
        </p:nvSpPr>
        <p:spPr>
          <a:xfrm>
            <a:off x="6191250" y="1541661"/>
            <a:ext cx="5520182" cy="176510"/>
          </a:xfrm>
          <a:prstGeom prst="rect">
            <a:avLst/>
          </a:prstGeom>
          <a:noFill/>
          <a:ln/>
        </p:spPr>
        <p:txBody>
          <a:bodyPr wrap="square" lIns="0" tIns="0" rIns="0" bIns="0" rtlCol="0" anchor="t">
            <a:normAutofit/>
          </a:bodyPr>
          <a:lstStyle/>
          <a:p>
            <a:pPr algn="l" indent="0" marL="0">
              <a:lnSpc>
                <a:spcPts val="1190"/>
              </a:lnSpc>
              <a:buNone/>
            </a:pPr>
            <a:r>
              <a:rPr lang="en-US" sz="850" dirty="0">
                <a:solidFill>
                  <a:srgbClr val="8A93A6"/>
                </a:solidFill>
                <a:latin typeface="JetBrains Mono" pitchFamily="49" charset="0"/>
                <a:ea typeface="JetBrains Mono" pitchFamily="49" charset="-122"/>
                <a:cs typeface="JetBrains Mono" pitchFamily="49" charset="-120"/>
              </a:rPr>
              <a:t>.mcp.json</a:t>
            </a:r>
            <a:endParaRPr lang="en-US" sz="850" dirty="0"/>
          </a:p>
        </p:txBody>
      </p:sp>
      <p:sp>
        <p:nvSpPr>
          <p:cNvPr id="14" name="Text 12"/>
          <p:cNvSpPr/>
          <p:nvPr/>
        </p:nvSpPr>
        <p:spPr>
          <a:xfrm>
            <a:off x="6191250" y="1692771"/>
            <a:ext cx="5359400" cy="4282579"/>
          </a:xfrm>
          <a:prstGeom prst="roundRect">
            <a:avLst>
              <a:gd name="adj" fmla="val 1779"/>
            </a:avLst>
          </a:prstGeom>
          <a:solidFill>
            <a:srgbClr val="0E1320"/>
          </a:solidFill>
          <a:ln/>
        </p:spPr>
        <p:txBody>
          <a:bodyPr wrap="square" lIns="142782" tIns="104682" rIns="768795" bIns="2543776" rtlCol="0" anchor="t">
            <a:normAutofit/>
          </a:bodyPr>
          <a:lstStyle/>
          <a:p>
            <a:pPr algn="l" indent="0" marL="0">
              <a:lnSpc>
                <a:spcPts val="1760"/>
              </a:lnSpc>
              <a:buNone/>
            </a:pPr>
            <a:r>
              <a:rPr lang="en-US" sz="1100" dirty="0">
                <a:solidFill>
                  <a:srgbClr val="9DB4FF"/>
                </a:solidFill>
                <a:latin typeface="JetBrains Mono" pitchFamily="49" charset="0"/>
                <a:ea typeface="JetBrains Mono" pitchFamily="49" charset="-122"/>
                <a:cs typeface="JetBrains Mono" pitchFamily="49" charset="-120"/>
              </a:rPr>
              <a:t>"confluence"</a:t>
            </a:r>
            <a:r>
              <a:rPr lang="en-US" sz="1100" dirty="0">
                <a:solidFill>
                  <a:srgbClr val="C9D1E0"/>
                </a:solidFill>
                <a:latin typeface="JetBrains Mono" pitchFamily="49" charset="0"/>
                <a:ea typeface="JetBrains Mono" pitchFamily="49" charset="-122"/>
                <a:cs typeface="JetBrains Mono" pitchFamily="49" charset="-120"/>
              </a:rPr>
              <a:t>: {</a:t>
            </a:r>
            <a:endParaRPr lang="en-US" sz="1100" dirty="0"/>
          </a:p>
          <a:p>
            <a:pPr algn="l" indent="0" marL="0">
              <a:lnSpc>
                <a:spcPts val="1760"/>
              </a:lnSpc>
              <a:buNone/>
            </a:pP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C3E88D"/>
                </a:solidFill>
                <a:latin typeface="JetBrains Mono" pitchFamily="49" charset="0"/>
                <a:ea typeface="JetBrains Mono" pitchFamily="49" charset="-122"/>
                <a:cs typeface="JetBrains Mono" pitchFamily="49" charset="-120"/>
              </a:rPr>
              <a:t>"type"</a:t>
            </a: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FFCDAA"/>
                </a:solidFill>
                <a:latin typeface="JetBrains Mono" pitchFamily="49" charset="0"/>
                <a:ea typeface="JetBrains Mono" pitchFamily="49" charset="-122"/>
                <a:cs typeface="JetBrains Mono" pitchFamily="49" charset="-120"/>
              </a:rPr>
              <a:t>"http"</a:t>
            </a:r>
            <a:r>
              <a:rPr lang="en-US" sz="1100" dirty="0">
                <a:solidFill>
                  <a:srgbClr val="C9D1E0"/>
                </a:solidFill>
                <a:latin typeface="JetBrains Mono" pitchFamily="49" charset="0"/>
                <a:ea typeface="JetBrains Mono" pitchFamily="49" charset="-122"/>
                <a:cs typeface="JetBrains Mono" pitchFamily="49" charset="-120"/>
              </a:rPr>
              <a:t>,</a:t>
            </a:r>
            <a:endParaRPr lang="en-US" sz="1100" dirty="0"/>
          </a:p>
          <a:p>
            <a:pPr algn="l" indent="0" marL="0">
              <a:lnSpc>
                <a:spcPts val="1760"/>
              </a:lnSpc>
              <a:buNone/>
            </a:pP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C3E88D"/>
                </a:solidFill>
                <a:latin typeface="JetBrains Mono" pitchFamily="49" charset="0"/>
                <a:ea typeface="JetBrains Mono" pitchFamily="49" charset="-122"/>
                <a:cs typeface="JetBrains Mono" pitchFamily="49" charset="-120"/>
              </a:rPr>
              <a:t>"url"</a:t>
            </a: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FFCDAA"/>
                </a:solidFill>
                <a:latin typeface="JetBrains Mono" pitchFamily="49" charset="0"/>
                <a:ea typeface="JetBrains Mono" pitchFamily="49" charset="-122"/>
                <a:cs typeface="JetBrains Mono" pitchFamily="49" charset="-120"/>
              </a:rPr>
              <a:t>"https://mcp.sds-internal.com/confluence"</a:t>
            </a:r>
            <a:r>
              <a:rPr lang="en-US" sz="1100" dirty="0">
                <a:solidFill>
                  <a:srgbClr val="C9D1E0"/>
                </a:solidFill>
                <a:latin typeface="JetBrains Mono" pitchFamily="49" charset="0"/>
                <a:ea typeface="JetBrains Mono" pitchFamily="49" charset="-122"/>
                <a:cs typeface="JetBrains Mono" pitchFamily="49" charset="-120"/>
              </a:rPr>
              <a:t>,</a:t>
            </a:r>
            <a:endParaRPr lang="en-US" sz="1100" dirty="0"/>
          </a:p>
          <a:p>
            <a:pPr algn="l" indent="0" marL="0">
              <a:lnSpc>
                <a:spcPts val="1760"/>
              </a:lnSpc>
              <a:buNone/>
            </a:pP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C3E88D"/>
                </a:solidFill>
                <a:latin typeface="JetBrains Mono" pitchFamily="49" charset="0"/>
                <a:ea typeface="JetBrains Mono" pitchFamily="49" charset="-122"/>
                <a:cs typeface="JetBrains Mono" pitchFamily="49" charset="-120"/>
              </a:rPr>
              <a:t>"headers"</a:t>
            </a:r>
            <a:r>
              <a:rPr lang="en-US" sz="1100" dirty="0">
                <a:solidFill>
                  <a:srgbClr val="C9D1E0"/>
                </a:solidFill>
                <a:latin typeface="JetBrains Mono" pitchFamily="49" charset="0"/>
                <a:ea typeface="JetBrains Mono" pitchFamily="49" charset="-122"/>
                <a:cs typeface="JetBrains Mono" pitchFamily="49" charset="-120"/>
              </a:rPr>
              <a:t>: {</a:t>
            </a:r>
            <a:endParaRPr lang="en-US" sz="1100" dirty="0"/>
          </a:p>
          <a:p>
            <a:pPr algn="l" indent="0" marL="0">
              <a:lnSpc>
                <a:spcPts val="1760"/>
              </a:lnSpc>
              <a:buNone/>
            </a:pP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9DB4FF"/>
                </a:solidFill>
                <a:latin typeface="JetBrains Mono" pitchFamily="49" charset="0"/>
                <a:ea typeface="JetBrains Mono" pitchFamily="49" charset="-122"/>
                <a:cs typeface="JetBrains Mono" pitchFamily="49" charset="-120"/>
              </a:rPr>
              <a:t>"Authorization"</a:t>
            </a:r>
            <a:r>
              <a:rPr lang="en-US" sz="1100" dirty="0">
                <a:solidFill>
                  <a:srgbClr val="C9D1E0"/>
                </a:solidFill>
                <a:latin typeface="JetBrains Mono" pitchFamily="49" charset="0"/>
                <a:ea typeface="JetBrains Mono" pitchFamily="49" charset="-122"/>
                <a:cs typeface="JetBrains Mono" pitchFamily="49" charset="-120"/>
              </a:rPr>
              <a:t>: </a:t>
            </a:r>
            <a:r>
              <a:rPr lang="en-US" sz="1100" dirty="0">
                <a:solidFill>
                  <a:srgbClr val="FFCDAA"/>
                </a:solidFill>
                <a:latin typeface="JetBrains Mono" pitchFamily="49" charset="0"/>
                <a:ea typeface="JetBrains Mono" pitchFamily="49" charset="-122"/>
                <a:cs typeface="JetBrains Mono" pitchFamily="49" charset="-120"/>
              </a:rPr>
              <a:t>"Bearer ${CONFLUENCE_TOKEN}"</a:t>
            </a:r>
            <a:endParaRPr lang="en-US" sz="1100" dirty="0"/>
          </a:p>
          <a:p>
            <a:pPr algn="l" indent="0" marL="0">
              <a:lnSpc>
                <a:spcPts val="1760"/>
              </a:lnSpc>
              <a:buNone/>
            </a:pPr>
            <a:r>
              <a:rPr lang="en-US" sz="1100" dirty="0">
                <a:solidFill>
                  <a:srgbClr val="C9D1E0"/>
                </a:solidFill>
                <a:latin typeface="JetBrains Mono" pitchFamily="49" charset="0"/>
                <a:ea typeface="JetBrains Mono" pitchFamily="49" charset="-122"/>
                <a:cs typeface="JetBrains Mono" pitchFamily="49" charset="-120"/>
              </a:rPr>
              <a:t>  }</a:t>
            </a:r>
            <a:endParaRPr lang="en-US" sz="1100" dirty="0"/>
          </a:p>
          <a:p>
            <a:pPr algn="l" indent="0" marL="0">
              <a:lnSpc>
                <a:spcPts val="1760"/>
              </a:lnSpc>
              <a:buNone/>
            </a:pPr>
            <a:r>
              <a:rPr lang="en-US" sz="1100" dirty="0">
                <a:solidFill>
                  <a:srgbClr val="C9D1E0"/>
                </a:solidFill>
                <a:latin typeface="JetBrains Mono" pitchFamily="49" charset="0"/>
                <a:ea typeface="JetBrains Mono" pitchFamily="49" charset="-122"/>
                <a:cs typeface="JetBrains Mono" pitchFamily="49" charset="-120"/>
              </a:rPr>
              <a:t>}</a:t>
            </a:r>
            <a:endParaRPr lang="en-US" sz="1100" dirty="0"/>
          </a:p>
        </p:txBody>
      </p:sp>
      <p:sp>
        <p:nvSpPr>
          <p:cNvPr id="15" name="Text 13"/>
          <p:cNvSpPr/>
          <p:nvPr/>
        </p:nvSpPr>
        <p:spPr>
          <a:xfrm>
            <a:off x="6343650" y="5975350"/>
            <a:ext cx="5206238"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0E1320"/>
                </a:solidFill>
                <a:latin typeface="Noto Sans KR" pitchFamily="34" charset="0"/>
                <a:ea typeface="Noto Sans KR" pitchFamily="34" charset="-122"/>
                <a:cs typeface="Noto Sans KR" pitchFamily="34" charset="-120"/>
              </a:rPr>
              <a:t>http 네이티브 → </a:t>
            </a:r>
            <a:r>
              <a:rPr lang="en-US" sz="1000" b="1" dirty="0">
                <a:solidFill>
                  <a:srgbClr val="0E1320"/>
                </a:solidFill>
                <a:latin typeface="Noto Sans KR" pitchFamily="34" charset="0"/>
                <a:ea typeface="Noto Sans KR" pitchFamily="34" charset="-122"/>
                <a:cs typeface="Noto Sans KR" pitchFamily="34" charset="-120"/>
              </a:rPr>
              <a:t>claude mcp add --transport http</a:t>
            </a:r>
            <a:r>
              <a:rPr lang="en-US" sz="1000" dirty="0">
                <a:solidFill>
                  <a:srgbClr val="0E1320"/>
                </a:solidFill>
                <a:latin typeface="Noto Sans KR" pitchFamily="34" charset="0"/>
                <a:ea typeface="Noto Sans KR" pitchFamily="34" charset="-122"/>
                <a:cs typeface="Noto Sans KR" pitchFamily="34" charset="-120"/>
              </a:rPr>
              <a:t> 또는 직접 편집</a:t>
            </a:r>
            <a:endParaRPr lang="en-US" sz="1000" dirty="0"/>
          </a:p>
        </p:txBody>
      </p:sp>
      <p:sp>
        <p:nvSpPr>
          <p:cNvPr id="16" name="Text 14"/>
          <p:cNvSpPr/>
          <p:nvPr/>
        </p:nvSpPr>
        <p:spPr>
          <a:xfrm>
            <a:off x="635000" y="6388100"/>
            <a:ext cx="9810750"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5B6577"/>
                </a:solidFill>
                <a:latin typeface="Noto Sans KR" pitchFamily="34" charset="0"/>
                <a:ea typeface="Noto Sans KR" pitchFamily="34" charset="-122"/>
                <a:cs typeface="Noto Sans KR" pitchFamily="34" charset="-120"/>
              </a:rPr>
              <a:t>사내 Confluence MCP 서버(https://mcp.sds-internal.com/confluence) 하나를 두 방식으로 등록</a:t>
            </a:r>
            <a:endParaRPr lang="en-US" sz="1000" dirty="0"/>
          </a:p>
        </p:txBody>
      </p:sp>
      <p:sp>
        <p:nvSpPr>
          <p:cNvPr id="17" name="Text 15"/>
          <p:cNvSpPr/>
          <p:nvPr/>
        </p:nvSpPr>
        <p:spPr>
          <a:xfrm>
            <a:off x="10998200" y="63525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635000" y="444500"/>
            <a:ext cx="11249660" cy="229791"/>
          </a:xfrm>
          <a:prstGeom prst="rect">
            <a:avLst/>
          </a:prstGeom>
          <a:noFill/>
          <a:ln/>
        </p:spPr>
        <p:txBody>
          <a:bodyPr wrap="square" lIns="0" tIns="0" rIns="0" bIns="0" rtlCol="0" anchor="t">
            <a:normAutofit/>
          </a:bodyPr>
          <a:lstStyle/>
          <a:p>
            <a:pPr algn="l" indent="0" marL="0">
              <a:lnSpc>
                <a:spcPts val="1610"/>
              </a:lnSpc>
              <a:buNone/>
            </a:pPr>
            <a:r>
              <a:rPr lang="en-US" sz="1150" b="1" spc="100" kern="0" dirty="0">
                <a:solidFill>
                  <a:srgbClr val="C8102E"/>
                </a:solidFill>
                <a:latin typeface="Noto Sans KR" pitchFamily="34" charset="0"/>
                <a:ea typeface="Noto Sans KR" pitchFamily="34" charset="-122"/>
                <a:cs typeface="Noto Sans KR" pitchFamily="34" charset="-120"/>
              </a:rPr>
              <a:t>MCP 등록 상세 ③ · 인터넷 경계 접점</a:t>
            </a:r>
            <a:endParaRPr lang="en-US" sz="1150" dirty="0"/>
          </a:p>
        </p:txBody>
      </p:sp>
      <p:sp>
        <p:nvSpPr>
          <p:cNvPr id="3" name="Text 1"/>
          <p:cNvSpPr/>
          <p:nvPr>
            <p:ph type="title"/>
          </p:nvPr>
        </p:nvSpPr>
        <p:spPr>
          <a:xfrm>
            <a:off x="635000" y="680641"/>
            <a:ext cx="11249660" cy="346670"/>
          </a:xfrm>
          <a:prstGeom prst="rect">
            <a:avLst/>
          </a:prstGeom>
          <a:noFill/>
          <a:ln/>
        </p:spPr>
        <p:txBody>
          <a:bodyPr wrap="square" lIns="0" tIns="0" rIns="0" bIns="0" rtlCol="0" anchor="t">
            <a:normAutofit/>
          </a:bodyPr>
          <a:lstStyle/>
          <a:p>
            <a:pPr algn="l" indent="0" marL="0">
              <a:lnSpc>
                <a:spcPts val="2530"/>
              </a:lnSpc>
              <a:buNone/>
            </a:pPr>
            <a:r>
              <a:rPr lang="en-US" sz="2300" b="1" i="0" dirty="0">
                <a:solidFill>
                  <a:srgbClr val="0E1320"/>
                </a:solidFill>
                <a:latin typeface="Noto Sans KR" pitchFamily="34" charset="0"/>
                <a:ea typeface="Noto Sans KR" pitchFamily="34" charset="-122"/>
                <a:cs typeface="Noto Sans KR" pitchFamily="34" charset="-120"/>
              </a:rPr>
              <a:t>커스텀 커넥터 올리기 — 웹 폼에 URL</a:t>
            </a:r>
            <a:endParaRPr lang="en-US" sz="2300" dirty="0"/>
          </a:p>
        </p:txBody>
      </p:sp>
      <p:sp>
        <p:nvSpPr>
          <p:cNvPr id="4" name="Shape 2"/>
          <p:cNvSpPr/>
          <p:nvPr/>
        </p:nvSpPr>
        <p:spPr>
          <a:xfrm>
            <a:off x="638175" y="1106686"/>
            <a:ext cx="5365750" cy="5163939"/>
          </a:xfrm>
          <a:prstGeom prst="roundRect">
            <a:avLst>
              <a:gd name="adj" fmla="val 1660"/>
            </a:avLst>
          </a:prstGeom>
          <a:solidFill>
            <a:srgbClr val="FFFFFF"/>
          </a:solidFill>
          <a:ln w="6350">
            <a:solidFill>
              <a:srgbClr val="F3C9CF"/>
            </a:solidFill>
            <a:prstDash val="solid"/>
          </a:ln>
        </p:spPr>
      </p:sp>
      <p:sp>
        <p:nvSpPr>
          <p:cNvPr id="5" name="Text 3"/>
          <p:cNvSpPr/>
          <p:nvPr/>
        </p:nvSpPr>
        <p:spPr>
          <a:xfrm>
            <a:off x="781050" y="1198761"/>
            <a:ext cx="5232400"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C8102E"/>
                </a:solidFill>
                <a:latin typeface="Noto Sans KR" pitchFamily="34" charset="0"/>
                <a:ea typeface="Noto Sans KR" pitchFamily="34" charset="-122"/>
                <a:cs typeface="Noto Sans KR" pitchFamily="34" charset="-120"/>
              </a:rPr>
              <a:t>실제 올리는 모습</a:t>
            </a:r>
            <a:r>
              <a:rPr lang="en-US" sz="1250" b="1" dirty="0">
                <a:solidFill>
                  <a:srgbClr val="0E1320"/>
                </a:solidFill>
                <a:latin typeface="Noto Sans KR" pitchFamily="34" charset="0"/>
                <a:ea typeface="Noto Sans KR" pitchFamily="34" charset="-122"/>
                <a:cs typeface="Noto Sans KR" pitchFamily="34" charset="-120"/>
              </a:rPr>
              <a:t> · 조직 설정 › 커넥터 › + 추가</a:t>
            </a:r>
            <a:endParaRPr lang="en-US" sz="1250" dirty="0"/>
          </a:p>
        </p:txBody>
      </p:sp>
      <p:sp>
        <p:nvSpPr>
          <p:cNvPr id="6" name="Shape 4"/>
          <p:cNvSpPr/>
          <p:nvPr/>
        </p:nvSpPr>
        <p:spPr>
          <a:xfrm>
            <a:off x="644525" y="1487686"/>
            <a:ext cx="5353050" cy="4412159"/>
          </a:xfrm>
          <a:prstGeom prst="roundRect">
            <a:avLst>
              <a:gd name="adj" fmla="val 1367"/>
            </a:avLst>
          </a:prstGeom>
          <a:solidFill>
            <a:srgbClr val="E9EDF5"/>
          </a:solidFill>
          <a:ln w="6350">
            <a:solidFill>
              <a:srgbClr val="DCE1EA"/>
            </a:solidFill>
            <a:prstDash val="solid"/>
          </a:ln>
        </p:spPr>
      </p:sp>
      <p:pic>
        <p:nvPicPr>
          <p:cNvPr id="7" name="Image 0" descr="커넥터 화면에서 + 추가 드롭다운의 커스텀 커넥터 추가 메뉴">    </p:cNvPr>
          <p:cNvPicPr>
            <a:picLocks noChangeAspect="1"/>
          </p:cNvPicPr>
          <p:nvPr/>
        </p:nvPicPr>
        <p:blipFill>
          <a:blip r:embed="rId1"/>
          <a:srcRect l="0" r="0" t="1" b="1"/>
          <a:stretch/>
        </p:blipFill>
        <p:spPr>
          <a:xfrm>
            <a:off x="647700" y="2178844"/>
            <a:ext cx="5346700" cy="3029744"/>
          </a:xfrm>
          <a:prstGeom prst="rect">
            <a:avLst/>
          </a:prstGeom>
        </p:spPr>
      </p:pic>
      <p:sp>
        <p:nvSpPr>
          <p:cNvPr id="8" name="Text 5"/>
          <p:cNvSpPr/>
          <p:nvPr/>
        </p:nvSpPr>
        <p:spPr>
          <a:xfrm>
            <a:off x="781050" y="5979220"/>
            <a:ext cx="5232400" cy="212030"/>
          </a:xfrm>
          <a:prstGeom prst="rect">
            <a:avLst/>
          </a:prstGeom>
          <a:noFill/>
          <a:ln/>
        </p:spPr>
        <p:txBody>
          <a:bodyPr wrap="square" lIns="0" tIns="0" rIns="0" bIns="0" rtlCol="0" anchor="t">
            <a:normAutofit/>
          </a:bodyPr>
          <a:lstStyle/>
          <a:p>
            <a:pPr algn="l" indent="0" marL="0">
              <a:lnSpc>
                <a:spcPts val="1470"/>
              </a:lnSpc>
              <a:buNone/>
            </a:pPr>
            <a:r>
              <a:rPr lang="en-US" sz="1050" b="1" dirty="0">
                <a:solidFill>
                  <a:srgbClr val="0E1320"/>
                </a:solidFill>
                <a:latin typeface="Noto Sans KR" pitchFamily="34" charset="0"/>
                <a:ea typeface="Noto Sans KR" pitchFamily="34" charset="-122"/>
                <a:cs typeface="Noto Sans KR" pitchFamily="34" charset="-120"/>
              </a:rPr>
              <a:t>'+ 추가 › 커스텀 커넥터 추가'</a:t>
            </a:r>
            <a:r>
              <a:rPr lang="en-US" sz="1050" dirty="0">
                <a:solidFill>
                  <a:srgbClr val="0E1320"/>
                </a:solidFill>
                <a:latin typeface="Noto Sans KR" pitchFamily="34" charset="0"/>
                <a:ea typeface="Noto Sans KR" pitchFamily="34" charset="-122"/>
                <a:cs typeface="Noto Sans KR" pitchFamily="34" charset="-120"/>
              </a:rPr>
              <a:t> 선택</a:t>
            </a:r>
            <a:endParaRPr lang="en-US" sz="1050" dirty="0"/>
          </a:p>
        </p:txBody>
      </p:sp>
      <p:sp>
        <p:nvSpPr>
          <p:cNvPr id="9" name="Shape 6"/>
          <p:cNvSpPr/>
          <p:nvPr/>
        </p:nvSpPr>
        <p:spPr>
          <a:xfrm>
            <a:off x="6188075" y="1106686"/>
            <a:ext cx="5365750" cy="5163939"/>
          </a:xfrm>
          <a:prstGeom prst="roundRect">
            <a:avLst>
              <a:gd name="adj" fmla="val 1660"/>
            </a:avLst>
          </a:prstGeom>
          <a:solidFill>
            <a:srgbClr val="FFFFFF"/>
          </a:solidFill>
          <a:ln w="6350">
            <a:solidFill>
              <a:srgbClr val="F3C9CF"/>
            </a:solidFill>
            <a:prstDash val="solid"/>
          </a:ln>
        </p:spPr>
      </p:sp>
      <p:sp>
        <p:nvSpPr>
          <p:cNvPr id="10" name="Text 7"/>
          <p:cNvSpPr/>
          <p:nvPr/>
        </p:nvSpPr>
        <p:spPr>
          <a:xfrm>
            <a:off x="6330950" y="1198761"/>
            <a:ext cx="5232400"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C8102E"/>
                </a:solidFill>
                <a:latin typeface="Noto Sans KR" pitchFamily="34" charset="0"/>
                <a:ea typeface="Noto Sans KR" pitchFamily="34" charset="-122"/>
                <a:cs typeface="Noto Sans KR" pitchFamily="34" charset="-120"/>
              </a:rPr>
              <a:t>형태</a:t>
            </a:r>
            <a:r>
              <a:rPr lang="en-US" sz="1250" b="1" dirty="0">
                <a:solidFill>
                  <a:srgbClr val="0E1320"/>
                </a:solidFill>
                <a:latin typeface="Noto Sans KR" pitchFamily="34" charset="0"/>
                <a:ea typeface="Noto Sans KR" pitchFamily="34" charset="-122"/>
                <a:cs typeface="Noto Sans KR" pitchFamily="34" charset="-120"/>
              </a:rPr>
              <a:t> · 추가 폼(이름 + HTTPS URL)</a:t>
            </a:r>
            <a:endParaRPr lang="en-US" sz="1250" dirty="0"/>
          </a:p>
        </p:txBody>
      </p:sp>
      <p:sp>
        <p:nvSpPr>
          <p:cNvPr id="11" name="Shape 8"/>
          <p:cNvSpPr/>
          <p:nvPr/>
        </p:nvSpPr>
        <p:spPr>
          <a:xfrm>
            <a:off x="6194425" y="1487686"/>
            <a:ext cx="5353050" cy="4412159"/>
          </a:xfrm>
          <a:prstGeom prst="roundRect">
            <a:avLst>
              <a:gd name="adj" fmla="val 1367"/>
            </a:avLst>
          </a:prstGeom>
          <a:solidFill>
            <a:srgbClr val="E9EDF5"/>
          </a:solidFill>
          <a:ln w="6350">
            <a:solidFill>
              <a:srgbClr val="DCE1EA"/>
            </a:solidFill>
            <a:prstDash val="solid"/>
          </a:ln>
        </p:spPr>
      </p:sp>
      <p:pic>
        <p:nvPicPr>
          <p:cNvPr id="12" name="Image 1" descr="커스텀 커넥터 추가 모달: 이름과 MCP 서버 HTTPS URL 입력 후 계속">    </p:cNvPr>
          <p:cNvPicPr>
            <a:picLocks noChangeAspect="1"/>
          </p:cNvPicPr>
          <p:nvPr/>
        </p:nvPicPr>
        <p:blipFill>
          <a:blip r:embed="rId2"/>
          <a:srcRect l="0" r="0" t="1" b="1"/>
          <a:stretch/>
        </p:blipFill>
        <p:spPr>
          <a:xfrm>
            <a:off x="6197600" y="2178844"/>
            <a:ext cx="5346700" cy="3029744"/>
          </a:xfrm>
          <a:prstGeom prst="rect">
            <a:avLst/>
          </a:prstGeom>
        </p:spPr>
      </p:pic>
      <p:sp>
        <p:nvSpPr>
          <p:cNvPr id="13" name="Text 9"/>
          <p:cNvSpPr/>
          <p:nvPr/>
        </p:nvSpPr>
        <p:spPr>
          <a:xfrm>
            <a:off x="6330950" y="5979220"/>
            <a:ext cx="5232400" cy="212030"/>
          </a:xfrm>
          <a:prstGeom prst="rect">
            <a:avLst/>
          </a:prstGeom>
          <a:noFill/>
          <a:ln/>
        </p:spPr>
        <p:txBody>
          <a:bodyPr wrap="square" lIns="0" tIns="0" rIns="0" bIns="0" rtlCol="0" anchor="t">
            <a:normAutofit/>
          </a:bodyPr>
          <a:lstStyle/>
          <a:p>
            <a:pPr algn="l" indent="0" marL="0">
              <a:lnSpc>
                <a:spcPts val="1470"/>
              </a:lnSpc>
              <a:buNone/>
            </a:pPr>
            <a:r>
              <a:rPr lang="en-US" sz="1050" b="1" dirty="0">
                <a:solidFill>
                  <a:srgbClr val="0E1320"/>
                </a:solidFill>
                <a:latin typeface="Noto Sans KR" pitchFamily="34" charset="0"/>
                <a:ea typeface="Noto Sans KR" pitchFamily="34" charset="-122"/>
                <a:cs typeface="Noto Sans KR" pitchFamily="34" charset="-120"/>
              </a:rPr>
              <a:t>URL 한 줄</a:t>
            </a:r>
            <a:r>
              <a:rPr lang="en-US" sz="1050" dirty="0">
                <a:solidFill>
                  <a:srgbClr val="0E1320"/>
                </a:solidFill>
                <a:latin typeface="Noto Sans KR" pitchFamily="34" charset="0"/>
                <a:ea typeface="Noto Sans KR" pitchFamily="34" charset="-122"/>
                <a:cs typeface="Noto Sans KR" pitchFamily="34" charset="-120"/>
              </a:rPr>
              <a:t> → </a:t>
            </a:r>
            <a:r>
              <a:rPr lang="en-US" sz="1050" b="1" dirty="0">
                <a:solidFill>
                  <a:srgbClr val="C8102E"/>
                </a:solidFill>
                <a:latin typeface="Noto Sans KR" pitchFamily="34" charset="0"/>
                <a:ea typeface="Noto Sans KR" pitchFamily="34" charset="-122"/>
                <a:cs typeface="Noto Sans KR" pitchFamily="34" charset="-120"/>
              </a:rPr>
              <a:t>Anthropic</a:t>
            </a:r>
            <a:r>
              <a:rPr lang="en-US" sz="1050" dirty="0">
                <a:solidFill>
                  <a:srgbClr val="0E1320"/>
                </a:solidFill>
                <a:latin typeface="Noto Sans KR" pitchFamily="34" charset="0"/>
                <a:ea typeface="Noto Sans KR" pitchFamily="34" charset="-122"/>
                <a:cs typeface="Noto Sans KR" pitchFamily="34" charset="-120"/>
              </a:rPr>
              <a:t>이 그 주소로 직접 접속 (사내 서버는 노출 필요)</a:t>
            </a:r>
            <a:endParaRPr lang="en-US" sz="1050" dirty="0"/>
          </a:p>
        </p:txBody>
      </p:sp>
      <p:sp>
        <p:nvSpPr>
          <p:cNvPr id="14" name="Text 10"/>
          <p:cNvSpPr/>
          <p:nvPr/>
        </p:nvSpPr>
        <p:spPr>
          <a:xfrm>
            <a:off x="10998200" y="63525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635000" y="292100"/>
            <a:ext cx="5024126" cy="22096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1428A0"/>
                </a:solidFill>
                <a:latin typeface="Noto Sans KR" pitchFamily="34" charset="0"/>
                <a:ea typeface="Noto Sans KR" pitchFamily="34" charset="-122"/>
                <a:cs typeface="Noto Sans KR" pitchFamily="34" charset="-120"/>
              </a:rPr>
              <a:t>에이전트 권한 · Identity</a:t>
            </a:r>
            <a:endParaRPr lang="en-US" sz="1100" dirty="0"/>
          </a:p>
        </p:txBody>
      </p:sp>
      <p:sp>
        <p:nvSpPr>
          <p:cNvPr id="3" name="Text 1"/>
          <p:cNvSpPr/>
          <p:nvPr>
            <p:ph type="title"/>
          </p:nvPr>
        </p:nvSpPr>
        <p:spPr>
          <a:xfrm>
            <a:off x="635000" y="519410"/>
            <a:ext cx="5853351" cy="346670"/>
          </a:xfrm>
          <a:prstGeom prst="rect">
            <a:avLst/>
          </a:prstGeom>
          <a:noFill/>
          <a:ln/>
        </p:spPr>
        <p:txBody>
          <a:bodyPr wrap="square" lIns="0" tIns="0" rIns="0" bIns="0" rtlCol="0" anchor="t">
            <a:normAutofit/>
          </a:bodyPr>
          <a:lstStyle/>
          <a:p>
            <a:pPr algn="l" indent="0" marL="0">
              <a:lnSpc>
                <a:spcPts val="2530"/>
              </a:lnSpc>
              <a:buNone/>
            </a:pPr>
            <a:r>
              <a:rPr lang="en-US" sz="2300" b="1" i="0" dirty="0">
                <a:solidFill>
                  <a:srgbClr val="0E1320"/>
                </a:solidFill>
                <a:latin typeface="Noto Sans KR" pitchFamily="34" charset="0"/>
                <a:ea typeface="Noto Sans KR" pitchFamily="34" charset="-122"/>
                <a:cs typeface="Noto Sans KR" pitchFamily="34" charset="-120"/>
              </a:rPr>
              <a:t>에이전트 아이덴티티 vs 위임 아이덴티티</a:t>
            </a:r>
            <a:endParaRPr lang="en-US" sz="2300" dirty="0"/>
          </a:p>
        </p:txBody>
      </p:sp>
      <p:sp>
        <p:nvSpPr>
          <p:cNvPr id="4" name="Text 2"/>
          <p:cNvSpPr/>
          <p:nvPr/>
        </p:nvSpPr>
        <p:spPr>
          <a:xfrm>
            <a:off x="9081889" y="525760"/>
            <a:ext cx="2475111" cy="314920"/>
          </a:xfrm>
          <a:prstGeom prst="roundRect">
            <a:avLst>
              <a:gd name="adj" fmla="val 50000"/>
            </a:avLst>
          </a:prstGeom>
          <a:solidFill>
            <a:srgbClr val="EEF1FB"/>
          </a:solidFill>
          <a:ln/>
        </p:spPr>
        <p:txBody>
          <a:bodyPr wrap="none" lIns="0" tIns="0" rIns="0" bIns="0" rtlCol="0" anchor="ctr">
            <a:normAutofit/>
          </a:bodyPr>
          <a:lstStyle/>
          <a:p>
            <a:pPr algn="ctr" indent="0" marL="0">
              <a:lnSpc>
                <a:spcPts val="1680"/>
              </a:lnSpc>
              <a:buNone/>
            </a:pPr>
            <a:r>
              <a:rPr lang="en-US" sz="1200" b="1" dirty="0">
                <a:solidFill>
                  <a:srgbClr val="1428A0"/>
                </a:solidFill>
                <a:latin typeface="Noto Sans KR" pitchFamily="34" charset="0"/>
                <a:ea typeface="Noto Sans KR" pitchFamily="34" charset="-122"/>
                <a:cs typeface="Noto Sans KR" pitchFamily="34" charset="-120"/>
              </a:rPr>
              <a:t>예시 · GitHub 코드 리뷰 에이전트</a:t>
            </a:r>
            <a:endParaRPr lang="en-US" sz="1200" dirty="0"/>
          </a:p>
        </p:txBody>
      </p:sp>
      <p:sp>
        <p:nvSpPr>
          <p:cNvPr id="5" name="Shape 3"/>
          <p:cNvSpPr/>
          <p:nvPr/>
        </p:nvSpPr>
        <p:spPr>
          <a:xfrm>
            <a:off x="638175" y="932755"/>
            <a:ext cx="5365750" cy="4762599"/>
          </a:xfrm>
          <a:prstGeom prst="roundRect">
            <a:avLst>
              <a:gd name="adj" fmla="val 2067"/>
            </a:avLst>
          </a:prstGeom>
          <a:solidFill>
            <a:srgbClr val="FFFFFF"/>
          </a:solidFill>
          <a:ln w="6350">
            <a:solidFill>
              <a:srgbClr val="DCE1EA"/>
            </a:solidFill>
            <a:prstDash val="solid"/>
          </a:ln>
        </p:spPr>
      </p:sp>
      <p:sp>
        <p:nvSpPr>
          <p:cNvPr id="6" name="Text 4"/>
          <p:cNvSpPr/>
          <p:nvPr/>
        </p:nvSpPr>
        <p:spPr>
          <a:xfrm>
            <a:off x="831850" y="1075630"/>
            <a:ext cx="1238151" cy="22096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1428A0"/>
                </a:solidFill>
                <a:latin typeface="Noto Sans KR" pitchFamily="34" charset="0"/>
                <a:ea typeface="Noto Sans KR" pitchFamily="34" charset="-122"/>
                <a:cs typeface="Noto Sans KR" pitchFamily="34" charset="-120"/>
              </a:rPr>
              <a:t>① Agent Identity</a:t>
            </a:r>
            <a:endParaRPr lang="en-US" sz="1100" dirty="0"/>
          </a:p>
        </p:txBody>
      </p:sp>
      <p:sp>
        <p:nvSpPr>
          <p:cNvPr id="7" name="Text 5"/>
          <p:cNvSpPr/>
          <p:nvPr/>
        </p:nvSpPr>
        <p:spPr>
          <a:xfrm>
            <a:off x="2070001" y="1062930"/>
            <a:ext cx="180713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1320"/>
                </a:solidFill>
                <a:latin typeface="Noto Sans KR" pitchFamily="34" charset="0"/>
                <a:ea typeface="Noto Sans KR" pitchFamily="34" charset="-122"/>
                <a:cs typeface="Noto Sans KR" pitchFamily="34" charset="-120"/>
              </a:rPr>
              <a:t>리뷰 에이전트 고유 권한</a:t>
            </a:r>
            <a:endParaRPr lang="en-US" sz="1200" dirty="0"/>
          </a:p>
        </p:txBody>
      </p:sp>
      <p:sp>
        <p:nvSpPr>
          <p:cNvPr id="8" name="Text 6"/>
          <p:cNvSpPr/>
          <p:nvPr/>
        </p:nvSpPr>
        <p:spPr>
          <a:xfrm>
            <a:off x="831850" y="1314351"/>
            <a:ext cx="5127752" cy="248245"/>
          </a:xfrm>
          <a:prstGeom prst="rect">
            <a:avLst/>
          </a:prstGeom>
          <a:noFill/>
          <a:ln/>
        </p:spPr>
        <p:txBody>
          <a:bodyPr wrap="square" lIns="0" tIns="0" rIns="0" bIns="0" rtlCol="0" anchor="t">
            <a:normAutofit/>
          </a:bodyPr>
          <a:lstStyle/>
          <a:p>
            <a:pPr algn="l" indent="0" marL="0">
              <a:lnSpc>
                <a:spcPts val="1755"/>
              </a:lnSpc>
              <a:buNone/>
            </a:pPr>
            <a:r>
              <a:rPr lang="en-US" sz="1350" b="1" dirty="0">
                <a:solidFill>
                  <a:srgbClr val="1428A0"/>
                </a:solidFill>
                <a:latin typeface="Noto Sans KR" pitchFamily="34" charset="0"/>
                <a:ea typeface="Noto Sans KR" pitchFamily="34" charset="-122"/>
                <a:cs typeface="Noto Sans KR" pitchFamily="34" charset="-120"/>
              </a:rPr>
              <a:t>읽기만 가능 · 쓰기 권한 없음</a:t>
            </a:r>
            <a:endParaRPr lang="en-US" sz="1350" dirty="0"/>
          </a:p>
        </p:txBody>
      </p:sp>
      <p:sp>
        <p:nvSpPr>
          <p:cNvPr id="9" name="Shape 7"/>
          <p:cNvSpPr/>
          <p:nvPr/>
        </p:nvSpPr>
        <p:spPr>
          <a:xfrm>
            <a:off x="1657350" y="3055243"/>
            <a:ext cx="774700" cy="774700"/>
          </a:xfrm>
          <a:prstGeom prst="roundRect">
            <a:avLst>
              <a:gd name="adj" fmla="val 20492"/>
            </a:avLst>
          </a:prstGeom>
          <a:solidFill>
            <a:srgbClr val="EEF1FB"/>
          </a:solidFill>
          <a:ln w="12700">
            <a:solidFill>
              <a:srgbClr val="1428A0"/>
            </a:solidFill>
            <a:prstDash val="solid"/>
          </a:ln>
        </p:spPr>
      </p:sp>
      <p:pic>
        <p:nvPicPr>
          <p:cNvPr id="10" name="Image 0" descr="preencoded.png">    </p:cNvPr>
          <p:cNvPicPr>
            <a:picLocks noChangeAspect="1"/>
          </p:cNvPicPr>
          <p:nvPr/>
        </p:nvPicPr>
        <p:blipFill>
          <a:blip r:embed="rId1"/>
          <a:srcRect l="0" r="0" t="0" b="0"/>
          <a:stretch/>
        </p:blipFill>
        <p:spPr>
          <a:xfrm>
            <a:off x="1835150" y="3233043"/>
            <a:ext cx="419100" cy="419100"/>
          </a:xfrm>
          <a:prstGeom prst="rect">
            <a:avLst/>
          </a:prstGeom>
        </p:spPr>
      </p:pic>
      <p:sp>
        <p:nvSpPr>
          <p:cNvPr id="11" name="Text 8"/>
          <p:cNvSpPr/>
          <p:nvPr/>
        </p:nvSpPr>
        <p:spPr>
          <a:xfrm>
            <a:off x="1541066" y="3887093"/>
            <a:ext cx="1007269" cy="229791"/>
          </a:xfrm>
          <a:prstGeom prst="rect">
            <a:avLst/>
          </a:prstGeom>
          <a:noFill/>
          <a:ln/>
        </p:spPr>
        <p:txBody>
          <a:bodyPr wrap="square" lIns="0" tIns="0" rIns="0" bIns="0" rtlCol="0" anchor="t">
            <a:normAutofit/>
          </a:bodyPr>
          <a:lstStyle/>
          <a:p>
            <a:pPr algn="ctr" indent="0" marL="0">
              <a:lnSpc>
                <a:spcPts val="1610"/>
              </a:lnSpc>
              <a:buNone/>
            </a:pPr>
            <a:r>
              <a:rPr lang="en-US" sz="1150" b="1" dirty="0">
                <a:solidFill>
                  <a:srgbClr val="0E1320"/>
                </a:solidFill>
                <a:latin typeface="Noto Sans KR" pitchFamily="34" charset="0"/>
                <a:ea typeface="Noto Sans KR" pitchFamily="34" charset="-122"/>
                <a:cs typeface="Noto Sans KR" pitchFamily="34" charset="-120"/>
              </a:rPr>
              <a:t>리뷰 에이전트</a:t>
            </a:r>
            <a:endParaRPr lang="en-US" sz="1150" dirty="0"/>
          </a:p>
        </p:txBody>
      </p:sp>
      <p:sp>
        <p:nvSpPr>
          <p:cNvPr id="12" name="Text 9"/>
          <p:cNvSpPr/>
          <p:nvPr/>
        </p:nvSpPr>
        <p:spPr>
          <a:xfrm>
            <a:off x="3030240" y="3092748"/>
            <a:ext cx="410170" cy="229791"/>
          </a:xfrm>
          <a:prstGeom prst="rect">
            <a:avLst/>
          </a:prstGeom>
          <a:noFill/>
          <a:ln/>
        </p:spPr>
        <p:txBody>
          <a:bodyPr wrap="square" lIns="0" tIns="0" rIns="0" bIns="0" rtlCol="0" anchor="t">
            <a:normAutofit/>
          </a:bodyPr>
          <a:lstStyle/>
          <a:p>
            <a:pPr algn="l" indent="0" marL="0">
              <a:lnSpc>
                <a:spcPts val="1610"/>
              </a:lnSpc>
              <a:buNone/>
            </a:pPr>
            <a:r>
              <a:rPr lang="en-US" sz="1150" b="1" dirty="0">
                <a:solidFill>
                  <a:srgbClr val="1428A0"/>
                </a:solidFill>
                <a:latin typeface="Noto Sans KR" pitchFamily="34" charset="0"/>
                <a:ea typeface="Noto Sans KR" pitchFamily="34" charset="-122"/>
                <a:cs typeface="Noto Sans KR" pitchFamily="34" charset="-120"/>
              </a:rPr>
              <a:t>Read</a:t>
            </a:r>
            <a:endParaRPr lang="en-US" sz="1150" dirty="0"/>
          </a:p>
        </p:txBody>
      </p:sp>
      <p:pic>
        <p:nvPicPr>
          <p:cNvPr id="13" name="Image 1" descr="preencoded.png">    </p:cNvPr>
          <p:cNvPicPr>
            <a:picLocks noChangeAspect="1"/>
          </p:cNvPicPr>
          <p:nvPr/>
        </p:nvPicPr>
        <p:blipFill>
          <a:blip r:embed="rId2"/>
          <a:srcRect l="0" r="0" t="0" b="0"/>
          <a:stretch/>
        </p:blipFill>
        <p:spPr>
          <a:xfrm>
            <a:off x="3434060" y="3106043"/>
            <a:ext cx="177800" cy="177800"/>
          </a:xfrm>
          <a:prstGeom prst="rect">
            <a:avLst/>
          </a:prstGeom>
        </p:spPr>
      </p:pic>
      <p:pic>
        <p:nvPicPr>
          <p:cNvPr id="14" name="Image 2" descr="preencoded.png">    </p:cNvPr>
          <p:cNvPicPr>
            <a:picLocks noChangeAspect="1"/>
          </p:cNvPicPr>
          <p:nvPr/>
        </p:nvPicPr>
        <p:blipFill>
          <a:blip r:embed="rId3"/>
          <a:srcRect l="0" r="0" t="0" b="0"/>
          <a:stretch/>
        </p:blipFill>
        <p:spPr>
          <a:xfrm>
            <a:off x="2749550" y="3322538"/>
            <a:ext cx="1143000" cy="101600"/>
          </a:xfrm>
          <a:prstGeom prst="rect">
            <a:avLst/>
          </a:prstGeom>
        </p:spPr>
      </p:pic>
      <p:sp>
        <p:nvSpPr>
          <p:cNvPr id="15" name="Text 10"/>
          <p:cNvSpPr/>
          <p:nvPr/>
        </p:nvSpPr>
        <p:spPr>
          <a:xfrm>
            <a:off x="3017639" y="3703538"/>
            <a:ext cx="435372" cy="229791"/>
          </a:xfrm>
          <a:prstGeom prst="rect">
            <a:avLst/>
          </a:prstGeom>
          <a:noFill/>
          <a:ln/>
        </p:spPr>
        <p:txBody>
          <a:bodyPr wrap="square" lIns="0" tIns="0" rIns="0" bIns="0" rtlCol="0" anchor="t">
            <a:normAutofit/>
          </a:bodyPr>
          <a:lstStyle/>
          <a:p>
            <a:pPr algn="l" indent="0" marL="0">
              <a:lnSpc>
                <a:spcPts val="1610"/>
              </a:lnSpc>
              <a:buNone/>
            </a:pPr>
            <a:r>
              <a:rPr lang="en-US" sz="1150" b="1" dirty="0">
                <a:solidFill>
                  <a:srgbClr val="8A93A6"/>
                </a:solidFill>
                <a:latin typeface="Noto Sans KR" pitchFamily="34" charset="0"/>
                <a:ea typeface="Noto Sans KR" pitchFamily="34" charset="-122"/>
                <a:cs typeface="Noto Sans KR" pitchFamily="34" charset="-120"/>
              </a:rPr>
              <a:t>Write</a:t>
            </a:r>
            <a:endParaRPr lang="en-US" sz="1150" dirty="0"/>
          </a:p>
        </p:txBody>
      </p:sp>
      <p:pic>
        <p:nvPicPr>
          <p:cNvPr id="16" name="Image 3" descr="preencoded.png">    </p:cNvPr>
          <p:cNvPicPr>
            <a:picLocks noChangeAspect="1"/>
          </p:cNvPicPr>
          <p:nvPr/>
        </p:nvPicPr>
        <p:blipFill>
          <a:blip r:embed="rId4"/>
          <a:srcRect l="0" r="0" t="0" b="0"/>
          <a:stretch/>
        </p:blipFill>
        <p:spPr>
          <a:xfrm>
            <a:off x="3446661" y="3716834"/>
            <a:ext cx="177800" cy="177800"/>
          </a:xfrm>
          <a:prstGeom prst="rect">
            <a:avLst/>
          </a:prstGeom>
        </p:spPr>
      </p:pic>
      <p:pic>
        <p:nvPicPr>
          <p:cNvPr id="17" name="Image 4" descr="preencoded.png">    </p:cNvPr>
          <p:cNvPicPr>
            <a:picLocks noChangeAspect="1"/>
          </p:cNvPicPr>
          <p:nvPr/>
        </p:nvPicPr>
        <p:blipFill>
          <a:blip r:embed="rId5"/>
          <a:srcRect l="0" r="0" t="0" b="0"/>
          <a:stretch/>
        </p:blipFill>
        <p:spPr>
          <a:xfrm>
            <a:off x="2749550" y="3933329"/>
            <a:ext cx="1143000" cy="114300"/>
          </a:xfrm>
          <a:prstGeom prst="rect">
            <a:avLst/>
          </a:prstGeom>
        </p:spPr>
      </p:pic>
      <p:sp>
        <p:nvSpPr>
          <p:cNvPr id="18" name="Shape 11"/>
          <p:cNvSpPr/>
          <p:nvPr/>
        </p:nvSpPr>
        <p:spPr>
          <a:xfrm>
            <a:off x="4210050" y="3055243"/>
            <a:ext cx="774700" cy="774700"/>
          </a:xfrm>
          <a:prstGeom prst="roundRect">
            <a:avLst>
              <a:gd name="adj" fmla="val 20492"/>
            </a:avLst>
          </a:prstGeom>
          <a:solidFill>
            <a:srgbClr val="EFF2F6"/>
          </a:solidFill>
          <a:ln w="12700">
            <a:solidFill>
              <a:srgbClr val="C9D0DC"/>
            </a:solidFill>
            <a:prstDash val="solid"/>
          </a:ln>
        </p:spPr>
      </p:sp>
      <p:pic>
        <p:nvPicPr>
          <p:cNvPr id="19" name="Image 5" descr="preencoded.png">    </p:cNvPr>
          <p:cNvPicPr>
            <a:picLocks noChangeAspect="1"/>
          </p:cNvPicPr>
          <p:nvPr/>
        </p:nvPicPr>
        <p:blipFill>
          <a:blip r:embed="rId6"/>
          <a:srcRect l="0" r="0" t="0" b="0"/>
          <a:stretch/>
        </p:blipFill>
        <p:spPr>
          <a:xfrm>
            <a:off x="4394200" y="3239393"/>
            <a:ext cx="406400" cy="406400"/>
          </a:xfrm>
          <a:prstGeom prst="rect">
            <a:avLst/>
          </a:prstGeom>
        </p:spPr>
      </p:pic>
      <p:sp>
        <p:nvSpPr>
          <p:cNvPr id="20" name="Text 12"/>
          <p:cNvSpPr/>
          <p:nvPr/>
        </p:nvSpPr>
        <p:spPr>
          <a:xfrm>
            <a:off x="4254976" y="3887093"/>
            <a:ext cx="684848" cy="229791"/>
          </a:xfrm>
          <a:prstGeom prst="rect">
            <a:avLst/>
          </a:prstGeom>
          <a:noFill/>
          <a:ln/>
        </p:spPr>
        <p:txBody>
          <a:bodyPr wrap="square" lIns="0" tIns="0" rIns="0" bIns="0" rtlCol="0" anchor="t">
            <a:normAutofit/>
          </a:bodyPr>
          <a:lstStyle/>
          <a:p>
            <a:pPr algn="ctr" indent="0" marL="0">
              <a:lnSpc>
                <a:spcPts val="1610"/>
              </a:lnSpc>
              <a:buNone/>
            </a:pPr>
            <a:r>
              <a:rPr lang="en-US" sz="1150" b="1" dirty="0">
                <a:solidFill>
                  <a:srgbClr val="0E1320"/>
                </a:solidFill>
                <a:latin typeface="Noto Sans KR" pitchFamily="34" charset="0"/>
                <a:ea typeface="Noto Sans KR" pitchFamily="34" charset="-122"/>
                <a:cs typeface="Noto Sans KR" pitchFamily="34" charset="-120"/>
              </a:rPr>
              <a:t>레포 코드</a:t>
            </a:r>
            <a:endParaRPr lang="en-US" sz="1150" dirty="0"/>
          </a:p>
        </p:txBody>
      </p:sp>
      <p:sp>
        <p:nvSpPr>
          <p:cNvPr id="21" name="Shape 13"/>
          <p:cNvSpPr/>
          <p:nvPr/>
        </p:nvSpPr>
        <p:spPr>
          <a:xfrm>
            <a:off x="6188075" y="932755"/>
            <a:ext cx="5365750" cy="4762599"/>
          </a:xfrm>
          <a:prstGeom prst="roundRect">
            <a:avLst>
              <a:gd name="adj" fmla="val 2067"/>
            </a:avLst>
          </a:prstGeom>
          <a:solidFill>
            <a:srgbClr val="FFFFFF"/>
          </a:solidFill>
          <a:ln w="6350">
            <a:solidFill>
              <a:srgbClr val="DCE1EA"/>
            </a:solidFill>
            <a:prstDash val="solid"/>
          </a:ln>
        </p:spPr>
      </p:sp>
      <p:sp>
        <p:nvSpPr>
          <p:cNvPr id="22" name="Text 14"/>
          <p:cNvSpPr/>
          <p:nvPr/>
        </p:nvSpPr>
        <p:spPr>
          <a:xfrm>
            <a:off x="6381750" y="1075630"/>
            <a:ext cx="1528068" cy="22096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1E6B3A"/>
                </a:solidFill>
                <a:latin typeface="Noto Sans KR" pitchFamily="34" charset="0"/>
                <a:ea typeface="Noto Sans KR" pitchFamily="34" charset="-122"/>
                <a:cs typeface="Noto Sans KR" pitchFamily="34" charset="-120"/>
              </a:rPr>
              <a:t>② Delegated Identity</a:t>
            </a:r>
            <a:endParaRPr lang="en-US" sz="1100" dirty="0"/>
          </a:p>
        </p:txBody>
      </p:sp>
      <p:sp>
        <p:nvSpPr>
          <p:cNvPr id="23" name="Text 15"/>
          <p:cNvSpPr/>
          <p:nvPr/>
        </p:nvSpPr>
        <p:spPr>
          <a:xfrm>
            <a:off x="7909818" y="1062930"/>
            <a:ext cx="126087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1320"/>
                </a:solidFill>
                <a:latin typeface="Noto Sans KR" pitchFamily="34" charset="0"/>
                <a:ea typeface="Noto Sans KR" pitchFamily="34" charset="-122"/>
                <a:cs typeface="Noto Sans KR" pitchFamily="34" charset="-120"/>
              </a:rPr>
              <a:t>사용자 계정 권한</a:t>
            </a:r>
            <a:endParaRPr lang="en-US" sz="1200" dirty="0"/>
          </a:p>
        </p:txBody>
      </p:sp>
      <p:sp>
        <p:nvSpPr>
          <p:cNvPr id="24" name="Text 16"/>
          <p:cNvSpPr/>
          <p:nvPr/>
        </p:nvSpPr>
        <p:spPr>
          <a:xfrm>
            <a:off x="6381750" y="1314351"/>
            <a:ext cx="5127752" cy="248245"/>
          </a:xfrm>
          <a:prstGeom prst="rect">
            <a:avLst/>
          </a:prstGeom>
          <a:noFill/>
          <a:ln/>
        </p:spPr>
        <p:txBody>
          <a:bodyPr wrap="square" lIns="0" tIns="0" rIns="0" bIns="0" rtlCol="0" anchor="t">
            <a:normAutofit/>
          </a:bodyPr>
          <a:lstStyle/>
          <a:p>
            <a:pPr algn="l" indent="0" marL="0">
              <a:lnSpc>
                <a:spcPts val="1755"/>
              </a:lnSpc>
              <a:buNone/>
            </a:pPr>
            <a:r>
              <a:rPr lang="en-US" sz="1350" b="1" dirty="0">
                <a:solidFill>
                  <a:srgbClr val="1E6B3A"/>
                </a:solidFill>
                <a:latin typeface="Noto Sans KR" pitchFamily="34" charset="0"/>
                <a:ea typeface="Noto Sans KR" pitchFamily="34" charset="-122"/>
                <a:cs typeface="Noto Sans KR" pitchFamily="34" charset="-120"/>
              </a:rPr>
              <a:t>내 계정 레포만 · 남의 레포 불가</a:t>
            </a:r>
            <a:endParaRPr lang="en-US" sz="1350" dirty="0"/>
          </a:p>
        </p:txBody>
      </p:sp>
      <p:sp>
        <p:nvSpPr>
          <p:cNvPr id="25" name="Shape 17"/>
          <p:cNvSpPr/>
          <p:nvPr/>
        </p:nvSpPr>
        <p:spPr>
          <a:xfrm>
            <a:off x="6694785" y="3123208"/>
            <a:ext cx="647700" cy="647700"/>
          </a:xfrm>
          <a:prstGeom prst="roundRect">
            <a:avLst>
              <a:gd name="adj" fmla="val 22549"/>
            </a:avLst>
          </a:prstGeom>
          <a:solidFill>
            <a:srgbClr val="E6F3EB"/>
          </a:solidFill>
          <a:ln w="12700">
            <a:solidFill>
              <a:srgbClr val="1E6B3A"/>
            </a:solidFill>
            <a:prstDash val="solid"/>
          </a:ln>
        </p:spPr>
      </p:sp>
      <p:pic>
        <p:nvPicPr>
          <p:cNvPr id="26" name="Image 6" descr="preencoded.png">    </p:cNvPr>
          <p:cNvPicPr>
            <a:picLocks noChangeAspect="1"/>
          </p:cNvPicPr>
          <p:nvPr/>
        </p:nvPicPr>
        <p:blipFill>
          <a:blip r:embed="rId7"/>
          <a:srcRect l="0" r="0" t="0" b="0"/>
          <a:stretch/>
        </p:blipFill>
        <p:spPr>
          <a:xfrm>
            <a:off x="6847185" y="3275608"/>
            <a:ext cx="342900" cy="342900"/>
          </a:xfrm>
          <a:prstGeom prst="rect">
            <a:avLst/>
          </a:prstGeom>
        </p:spPr>
      </p:pic>
      <p:sp>
        <p:nvSpPr>
          <p:cNvPr id="27" name="Text 18"/>
          <p:cNvSpPr/>
          <p:nvPr/>
        </p:nvSpPr>
        <p:spPr>
          <a:xfrm>
            <a:off x="6787188" y="3828058"/>
            <a:ext cx="462796" cy="220960"/>
          </a:xfrm>
          <a:prstGeom prst="rect">
            <a:avLst/>
          </a:prstGeom>
          <a:noFill/>
          <a:ln/>
        </p:spPr>
        <p:txBody>
          <a:bodyPr wrap="square" lIns="0" tIns="0" rIns="0" bIns="0" rtlCol="0" anchor="t">
            <a:normAutofit/>
          </a:bodyPr>
          <a:lstStyle/>
          <a:p>
            <a:pPr algn="ctr" indent="0" marL="0">
              <a:lnSpc>
                <a:spcPts val="1540"/>
              </a:lnSpc>
              <a:buNone/>
            </a:pPr>
            <a:r>
              <a:rPr lang="en-US" sz="1100" b="1" dirty="0">
                <a:solidFill>
                  <a:srgbClr val="0E1320"/>
                </a:solidFill>
                <a:latin typeface="Noto Sans KR" pitchFamily="34" charset="0"/>
                <a:ea typeface="Noto Sans KR" pitchFamily="34" charset="-122"/>
                <a:cs typeface="Noto Sans KR" pitchFamily="34" charset="-120"/>
              </a:rPr>
              <a:t>사용자</a:t>
            </a:r>
            <a:endParaRPr lang="en-US" sz="1100" dirty="0"/>
          </a:p>
        </p:txBody>
      </p:sp>
      <p:sp>
        <p:nvSpPr>
          <p:cNvPr id="28" name="Text 19"/>
          <p:cNvSpPr/>
          <p:nvPr/>
        </p:nvSpPr>
        <p:spPr>
          <a:xfrm>
            <a:off x="7511355" y="3328888"/>
            <a:ext cx="284559" cy="203200"/>
          </a:xfrm>
          <a:prstGeom prst="rect">
            <a:avLst/>
          </a:prstGeom>
          <a:noFill/>
          <a:ln/>
        </p:spPr>
        <p:txBody>
          <a:bodyPr wrap="square" lIns="0" tIns="0" rIns="0" bIns="0" rtlCol="0" anchor="t">
            <a:normAutofit/>
          </a:bodyPr>
          <a:lstStyle/>
          <a:p>
            <a:pPr algn="ctr" indent="0" marL="0">
              <a:lnSpc>
                <a:spcPts val="1400"/>
              </a:lnSpc>
              <a:buNone/>
            </a:pPr>
            <a:r>
              <a:rPr lang="en-US" sz="1000" b="1" dirty="0">
                <a:solidFill>
                  <a:srgbClr val="1E6B3A"/>
                </a:solidFill>
                <a:latin typeface="Noto Sans KR" pitchFamily="34" charset="0"/>
                <a:ea typeface="Noto Sans KR" pitchFamily="34" charset="-122"/>
                <a:cs typeface="Noto Sans KR" pitchFamily="34" charset="-120"/>
              </a:rPr>
              <a:t>위임</a:t>
            </a:r>
            <a:endParaRPr lang="en-US" sz="1000" dirty="0"/>
          </a:p>
        </p:txBody>
      </p:sp>
      <p:pic>
        <p:nvPicPr>
          <p:cNvPr id="29" name="Image 7" descr="preencoded.png">    </p:cNvPr>
          <p:cNvPicPr>
            <a:picLocks noChangeAspect="1"/>
          </p:cNvPicPr>
          <p:nvPr/>
        </p:nvPicPr>
        <p:blipFill>
          <a:blip r:embed="rId8"/>
          <a:srcRect l="0" r="0" t="0" b="0"/>
          <a:stretch/>
        </p:blipFill>
        <p:spPr>
          <a:xfrm>
            <a:off x="7431385" y="3532088"/>
            <a:ext cx="444500" cy="88900"/>
          </a:xfrm>
          <a:prstGeom prst="rect">
            <a:avLst/>
          </a:prstGeom>
        </p:spPr>
      </p:pic>
      <p:sp>
        <p:nvSpPr>
          <p:cNvPr id="30" name="Shape 20"/>
          <p:cNvSpPr/>
          <p:nvPr/>
        </p:nvSpPr>
        <p:spPr>
          <a:xfrm>
            <a:off x="8060035" y="3123208"/>
            <a:ext cx="647700" cy="647700"/>
          </a:xfrm>
          <a:prstGeom prst="roundRect">
            <a:avLst>
              <a:gd name="adj" fmla="val 22549"/>
            </a:avLst>
          </a:prstGeom>
          <a:solidFill>
            <a:srgbClr val="E6F3EB"/>
          </a:solidFill>
          <a:ln w="12700">
            <a:solidFill>
              <a:srgbClr val="1E6B3A"/>
            </a:solidFill>
            <a:prstDash val="solid"/>
          </a:ln>
        </p:spPr>
      </p:sp>
      <p:pic>
        <p:nvPicPr>
          <p:cNvPr id="31" name="Image 8" descr="preencoded.png">    </p:cNvPr>
          <p:cNvPicPr>
            <a:picLocks noChangeAspect="1"/>
          </p:cNvPicPr>
          <p:nvPr/>
        </p:nvPicPr>
        <p:blipFill>
          <a:blip r:embed="rId9"/>
          <a:srcRect l="0" r="0" t="0" b="0"/>
          <a:stretch/>
        </p:blipFill>
        <p:spPr>
          <a:xfrm>
            <a:off x="8206085" y="3269258"/>
            <a:ext cx="355600" cy="355600"/>
          </a:xfrm>
          <a:prstGeom prst="rect">
            <a:avLst/>
          </a:prstGeom>
        </p:spPr>
      </p:pic>
      <p:sp>
        <p:nvSpPr>
          <p:cNvPr id="32" name="Text 21"/>
          <p:cNvSpPr/>
          <p:nvPr/>
        </p:nvSpPr>
        <p:spPr>
          <a:xfrm>
            <a:off x="7957046" y="3828058"/>
            <a:ext cx="853678" cy="220960"/>
          </a:xfrm>
          <a:prstGeom prst="rect">
            <a:avLst/>
          </a:prstGeom>
          <a:noFill/>
          <a:ln/>
        </p:spPr>
        <p:txBody>
          <a:bodyPr wrap="none" lIns="0" tIns="0" rIns="0" bIns="0" rtlCol="0" anchor="t">
            <a:normAutofit/>
          </a:bodyPr>
          <a:lstStyle/>
          <a:p>
            <a:pPr algn="ctr" indent="0" marL="0">
              <a:lnSpc>
                <a:spcPts val="1540"/>
              </a:lnSpc>
              <a:buNone/>
            </a:pPr>
            <a:r>
              <a:rPr lang="en-US" sz="1100" b="1" dirty="0">
                <a:solidFill>
                  <a:srgbClr val="0E1320"/>
                </a:solidFill>
                <a:latin typeface="Noto Sans KR" pitchFamily="34" charset="0"/>
                <a:ea typeface="Noto Sans KR" pitchFamily="34" charset="-122"/>
                <a:cs typeface="Noto Sans KR" pitchFamily="34" charset="-120"/>
              </a:rPr>
              <a:t>리뷰 에이전트</a:t>
            </a:r>
            <a:endParaRPr lang="en-US" sz="1100" dirty="0"/>
          </a:p>
        </p:txBody>
      </p:sp>
      <p:pic>
        <p:nvPicPr>
          <p:cNvPr id="33" name="Image 9" descr="preencoded.png">    </p:cNvPr>
          <p:cNvPicPr>
            <a:picLocks noChangeAspect="1"/>
          </p:cNvPicPr>
          <p:nvPr/>
        </p:nvPicPr>
        <p:blipFill>
          <a:blip r:embed="rId10"/>
          <a:srcRect l="0" r="0" t="0" b="0"/>
          <a:stretch/>
        </p:blipFill>
        <p:spPr>
          <a:xfrm>
            <a:off x="8891885" y="3227288"/>
            <a:ext cx="469900" cy="88900"/>
          </a:xfrm>
          <a:prstGeom prst="rect">
            <a:avLst/>
          </a:prstGeom>
        </p:spPr>
      </p:pic>
      <p:sp>
        <p:nvSpPr>
          <p:cNvPr id="34" name="Shape 22"/>
          <p:cNvSpPr/>
          <p:nvPr/>
        </p:nvSpPr>
        <p:spPr>
          <a:xfrm>
            <a:off x="9418935" y="3062188"/>
            <a:ext cx="1512888" cy="419100"/>
          </a:xfrm>
          <a:prstGeom prst="roundRect">
            <a:avLst>
              <a:gd name="adj" fmla="val 19697"/>
            </a:avLst>
          </a:prstGeom>
          <a:solidFill>
            <a:srgbClr val="E6F3EB"/>
          </a:solidFill>
          <a:ln w="12700">
            <a:solidFill>
              <a:srgbClr val="1E6B3A"/>
            </a:solidFill>
            <a:prstDash val="solid"/>
          </a:ln>
        </p:spPr>
      </p:sp>
      <p:pic>
        <p:nvPicPr>
          <p:cNvPr id="35" name="Image 10" descr="preencoded.png">    </p:cNvPr>
          <p:cNvPicPr>
            <a:picLocks noChangeAspect="1"/>
          </p:cNvPicPr>
          <p:nvPr/>
        </p:nvPicPr>
        <p:blipFill>
          <a:blip r:embed="rId11"/>
          <a:srcRect l="0" r="0" t="0" b="0"/>
          <a:stretch/>
        </p:blipFill>
        <p:spPr>
          <a:xfrm>
            <a:off x="9526885" y="3144738"/>
            <a:ext cx="254000" cy="254000"/>
          </a:xfrm>
          <a:prstGeom prst="rect">
            <a:avLst/>
          </a:prstGeom>
        </p:spPr>
      </p:pic>
      <p:sp>
        <p:nvSpPr>
          <p:cNvPr id="36" name="Text 23"/>
          <p:cNvSpPr/>
          <p:nvPr/>
        </p:nvSpPr>
        <p:spPr>
          <a:xfrm>
            <a:off x="9844385" y="3169543"/>
            <a:ext cx="788988" cy="229791"/>
          </a:xfrm>
          <a:prstGeom prst="rect">
            <a:avLst/>
          </a:prstGeom>
          <a:noFill/>
          <a:ln/>
        </p:spPr>
        <p:txBody>
          <a:bodyPr wrap="none" lIns="0" tIns="0" rIns="0" bIns="0" rtlCol="0" anchor="t">
            <a:normAutofit/>
          </a:bodyPr>
          <a:lstStyle/>
          <a:p>
            <a:pPr algn="l" indent="0" marL="0">
              <a:lnSpc>
                <a:spcPts val="1610"/>
              </a:lnSpc>
              <a:buNone/>
            </a:pPr>
            <a:r>
              <a:rPr lang="en-US" sz="1150" b="1" dirty="0">
                <a:solidFill>
                  <a:srgbClr val="0E1320"/>
                </a:solidFill>
                <a:latin typeface="Noto Sans KR" pitchFamily="34" charset="0"/>
                <a:ea typeface="Noto Sans KR" pitchFamily="34" charset="-122"/>
                <a:cs typeface="Noto Sans KR" pitchFamily="34" charset="-120"/>
              </a:rPr>
              <a:t>내 계정 레포</a:t>
            </a:r>
            <a:endParaRPr lang="en-US" sz="1150" dirty="0"/>
          </a:p>
        </p:txBody>
      </p:sp>
      <p:pic>
        <p:nvPicPr>
          <p:cNvPr id="37" name="Image 11" descr="preencoded.png">    </p:cNvPr>
          <p:cNvPicPr>
            <a:picLocks noChangeAspect="1"/>
          </p:cNvPicPr>
          <p:nvPr/>
        </p:nvPicPr>
        <p:blipFill>
          <a:blip r:embed="rId12"/>
          <a:srcRect l="0" r="0" t="0" b="0"/>
          <a:stretch/>
        </p:blipFill>
        <p:spPr>
          <a:xfrm>
            <a:off x="10646073" y="3182838"/>
            <a:ext cx="177800" cy="177800"/>
          </a:xfrm>
          <a:prstGeom prst="rect">
            <a:avLst/>
          </a:prstGeom>
        </p:spPr>
      </p:pic>
      <p:pic>
        <p:nvPicPr>
          <p:cNvPr id="38" name="Image 12" descr="preencoded.png">    </p:cNvPr>
          <p:cNvPicPr>
            <a:picLocks noChangeAspect="1"/>
          </p:cNvPicPr>
          <p:nvPr/>
        </p:nvPicPr>
        <p:blipFill>
          <a:blip r:embed="rId13"/>
          <a:srcRect l="0" r="0" t="0" b="0"/>
          <a:stretch/>
        </p:blipFill>
        <p:spPr>
          <a:xfrm>
            <a:off x="8891885" y="3817838"/>
            <a:ext cx="469900" cy="101600"/>
          </a:xfrm>
          <a:prstGeom prst="rect">
            <a:avLst/>
          </a:prstGeom>
        </p:spPr>
      </p:pic>
      <p:sp>
        <p:nvSpPr>
          <p:cNvPr id="39" name="Shape 24"/>
          <p:cNvSpPr/>
          <p:nvPr/>
        </p:nvSpPr>
        <p:spPr>
          <a:xfrm>
            <a:off x="9418935" y="3659088"/>
            <a:ext cx="1647230" cy="419100"/>
          </a:xfrm>
          <a:prstGeom prst="roundRect">
            <a:avLst>
              <a:gd name="adj" fmla="val 19697"/>
            </a:avLst>
          </a:prstGeom>
          <a:solidFill>
            <a:srgbClr val="F7F8FA"/>
          </a:solidFill>
          <a:ln w="12700">
            <a:solidFill>
              <a:srgbClr val="C9D0DC"/>
            </a:solidFill>
            <a:prstDash val="dash"/>
          </a:ln>
        </p:spPr>
      </p:sp>
      <p:pic>
        <p:nvPicPr>
          <p:cNvPr id="40" name="Image 13" descr="preencoded.png">    </p:cNvPr>
          <p:cNvPicPr>
            <a:picLocks noChangeAspect="1"/>
          </p:cNvPicPr>
          <p:nvPr/>
        </p:nvPicPr>
        <p:blipFill>
          <a:blip r:embed="rId14"/>
          <a:srcRect l="0" r="0" t="0" b="0"/>
          <a:stretch/>
        </p:blipFill>
        <p:spPr>
          <a:xfrm>
            <a:off x="9526885" y="3741638"/>
            <a:ext cx="254000" cy="254000"/>
          </a:xfrm>
          <a:prstGeom prst="rect">
            <a:avLst/>
          </a:prstGeom>
        </p:spPr>
      </p:pic>
      <p:sp>
        <p:nvSpPr>
          <p:cNvPr id="41" name="Text 25"/>
          <p:cNvSpPr/>
          <p:nvPr/>
        </p:nvSpPr>
        <p:spPr>
          <a:xfrm>
            <a:off x="9844385" y="3766443"/>
            <a:ext cx="923330" cy="229791"/>
          </a:xfrm>
          <a:prstGeom prst="rect">
            <a:avLst/>
          </a:prstGeom>
          <a:noFill/>
          <a:ln/>
        </p:spPr>
        <p:txBody>
          <a:bodyPr wrap="none" lIns="0" tIns="0" rIns="0" bIns="0" rtlCol="0" anchor="t">
            <a:normAutofit/>
          </a:bodyPr>
          <a:lstStyle/>
          <a:p>
            <a:pPr algn="l" indent="0" marL="0">
              <a:lnSpc>
                <a:spcPts val="1610"/>
              </a:lnSpc>
              <a:buNone/>
            </a:pPr>
            <a:r>
              <a:rPr lang="en-US" sz="1150" b="1" dirty="0">
                <a:solidFill>
                  <a:srgbClr val="8A93A6"/>
                </a:solidFill>
                <a:latin typeface="Noto Sans KR" pitchFamily="34" charset="0"/>
                <a:ea typeface="Noto Sans KR" pitchFamily="34" charset="-122"/>
                <a:cs typeface="Noto Sans KR" pitchFamily="34" charset="-120"/>
              </a:rPr>
              <a:t>다른 사람 레포</a:t>
            </a:r>
            <a:endParaRPr lang="en-US" sz="1150" dirty="0"/>
          </a:p>
        </p:txBody>
      </p:sp>
      <p:pic>
        <p:nvPicPr>
          <p:cNvPr id="42" name="Image 14" descr="preencoded.png">    </p:cNvPr>
          <p:cNvPicPr>
            <a:picLocks noChangeAspect="1"/>
          </p:cNvPicPr>
          <p:nvPr/>
        </p:nvPicPr>
        <p:blipFill>
          <a:blip r:embed="rId15"/>
          <a:srcRect l="0" r="0" t="0" b="0"/>
          <a:stretch/>
        </p:blipFill>
        <p:spPr>
          <a:xfrm>
            <a:off x="10780415" y="3779738"/>
            <a:ext cx="177800" cy="177800"/>
          </a:xfrm>
          <a:prstGeom prst="rect">
            <a:avLst/>
          </a:prstGeom>
        </p:spPr>
      </p:pic>
      <p:sp>
        <p:nvSpPr>
          <p:cNvPr id="43" name="Shape 26"/>
          <p:cNvSpPr/>
          <p:nvPr/>
        </p:nvSpPr>
        <p:spPr>
          <a:xfrm>
            <a:off x="635000" y="5787430"/>
            <a:ext cx="10922000" cy="626070"/>
          </a:xfrm>
          <a:prstGeom prst="roundRect">
            <a:avLst>
              <a:gd name="adj" fmla="val 16228"/>
            </a:avLst>
          </a:prstGeom>
          <a:solidFill>
            <a:srgbClr val="0E1320"/>
          </a:solidFill>
          <a:ln/>
        </p:spPr>
      </p:sp>
      <p:sp>
        <p:nvSpPr>
          <p:cNvPr id="44" name="Text 27"/>
          <p:cNvSpPr/>
          <p:nvPr/>
        </p:nvSpPr>
        <p:spPr>
          <a:xfrm>
            <a:off x="850900" y="5876330"/>
            <a:ext cx="1188938" cy="194270"/>
          </a:xfrm>
          <a:prstGeom prst="rect">
            <a:avLst/>
          </a:prstGeom>
          <a:noFill/>
          <a:ln/>
        </p:spPr>
        <p:txBody>
          <a:bodyPr wrap="square" lIns="0" tIns="0" rIns="0" bIns="0" rtlCol="0" anchor="t">
            <a:normAutofit/>
          </a:bodyPr>
          <a:lstStyle/>
          <a:p>
            <a:pPr algn="l" indent="0" marL="0">
              <a:lnSpc>
                <a:spcPts val="1330"/>
              </a:lnSpc>
              <a:buNone/>
            </a:pPr>
            <a:r>
              <a:rPr lang="en-US" sz="950" b="1" dirty="0">
                <a:solidFill>
                  <a:srgbClr val="9DB4FF"/>
                </a:solidFill>
                <a:latin typeface="Noto Sans KR" pitchFamily="34" charset="0"/>
                <a:ea typeface="Noto Sans KR" pitchFamily="34" charset="-122"/>
                <a:cs typeface="Noto Sans KR" pitchFamily="34" charset="-120"/>
              </a:rPr>
              <a:t>실제 수행 = ① ∩ ②</a:t>
            </a:r>
            <a:endParaRPr lang="en-US" sz="950" dirty="0"/>
          </a:p>
        </p:txBody>
      </p:sp>
      <p:sp>
        <p:nvSpPr>
          <p:cNvPr id="45" name="Text 28"/>
          <p:cNvSpPr/>
          <p:nvPr/>
        </p:nvSpPr>
        <p:spPr>
          <a:xfrm>
            <a:off x="850900" y="6057900"/>
            <a:ext cx="136576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FFFF"/>
                </a:solidFill>
                <a:latin typeface="Noto Sans KR" pitchFamily="34" charset="0"/>
                <a:ea typeface="Noto Sans KR" pitchFamily="34" charset="-122"/>
                <a:cs typeface="Noto Sans KR" pitchFamily="34" charset="-120"/>
              </a:rPr>
              <a:t>내 레포 읽기만</a:t>
            </a:r>
            <a:endParaRPr lang="en-US" sz="1500" dirty="0"/>
          </a:p>
        </p:txBody>
      </p:sp>
      <p:sp>
        <p:nvSpPr>
          <p:cNvPr id="46" name="Shape 29"/>
          <p:cNvSpPr/>
          <p:nvPr/>
        </p:nvSpPr>
        <p:spPr>
          <a:xfrm>
            <a:off x="4526657" y="5903615"/>
            <a:ext cx="393700" cy="393700"/>
          </a:xfrm>
          <a:prstGeom prst="roundRect">
            <a:avLst>
              <a:gd name="adj" fmla="val 24194"/>
            </a:avLst>
          </a:prstGeom>
          <a:solidFill>
            <a:srgbClr val="1C2540"/>
          </a:solidFill>
          <a:ln w="12700">
            <a:solidFill>
              <a:srgbClr val="9DB4FF"/>
            </a:solidFill>
            <a:prstDash val="solid"/>
          </a:ln>
        </p:spPr>
      </p:sp>
      <p:pic>
        <p:nvPicPr>
          <p:cNvPr id="47" name="Image 15" descr="preencoded.png">    </p:cNvPr>
          <p:cNvPicPr>
            <a:picLocks noChangeAspect="1"/>
          </p:cNvPicPr>
          <p:nvPr/>
        </p:nvPicPr>
        <p:blipFill>
          <a:blip r:embed="rId16"/>
          <a:srcRect l="0" r="0" t="0" b="0"/>
          <a:stretch/>
        </p:blipFill>
        <p:spPr>
          <a:xfrm>
            <a:off x="4609207" y="5986165"/>
            <a:ext cx="228600" cy="228600"/>
          </a:xfrm>
          <a:prstGeom prst="rect">
            <a:avLst/>
          </a:prstGeom>
        </p:spPr>
      </p:pic>
      <p:sp>
        <p:nvSpPr>
          <p:cNvPr id="48" name="Text 30"/>
          <p:cNvSpPr/>
          <p:nvPr/>
        </p:nvSpPr>
        <p:spPr>
          <a:xfrm>
            <a:off x="5141615" y="5966520"/>
            <a:ext cx="332085" cy="185341"/>
          </a:xfrm>
          <a:prstGeom prst="rect">
            <a:avLst/>
          </a:prstGeom>
          <a:noFill/>
          <a:ln/>
        </p:spPr>
        <p:txBody>
          <a:bodyPr wrap="square" lIns="0" tIns="0" rIns="0" bIns="0" rtlCol="0" anchor="t">
            <a:normAutofit/>
          </a:bodyPr>
          <a:lstStyle/>
          <a:p>
            <a:pPr algn="l" indent="0" marL="0">
              <a:lnSpc>
                <a:spcPts val="1260"/>
              </a:lnSpc>
              <a:buNone/>
            </a:pPr>
            <a:r>
              <a:rPr lang="en-US" sz="900" b="1" dirty="0">
                <a:solidFill>
                  <a:srgbClr val="C3E88D"/>
                </a:solidFill>
                <a:latin typeface="Noto Sans KR" pitchFamily="34" charset="0"/>
                <a:ea typeface="Noto Sans KR" pitchFamily="34" charset="-122"/>
                <a:cs typeface="Noto Sans KR" pitchFamily="34" charset="-120"/>
              </a:rPr>
              <a:t>Read</a:t>
            </a:r>
            <a:endParaRPr lang="en-US" sz="900" dirty="0"/>
          </a:p>
        </p:txBody>
      </p:sp>
      <p:pic>
        <p:nvPicPr>
          <p:cNvPr id="49" name="Image 16" descr="preencoded.png">    </p:cNvPr>
          <p:cNvPicPr>
            <a:picLocks noChangeAspect="1"/>
          </p:cNvPicPr>
          <p:nvPr/>
        </p:nvPicPr>
        <p:blipFill>
          <a:blip r:embed="rId17"/>
          <a:srcRect l="0" r="0" t="0" b="0"/>
          <a:stretch/>
        </p:blipFill>
        <p:spPr>
          <a:xfrm>
            <a:off x="5461000" y="5982990"/>
            <a:ext cx="127000" cy="127000"/>
          </a:xfrm>
          <a:prstGeom prst="rect">
            <a:avLst/>
          </a:prstGeom>
        </p:spPr>
      </p:pic>
      <p:pic>
        <p:nvPicPr>
          <p:cNvPr id="50" name="Image 17" descr="preencoded.png">    </p:cNvPr>
          <p:cNvPicPr>
            <a:picLocks noChangeAspect="1"/>
          </p:cNvPicPr>
          <p:nvPr/>
        </p:nvPicPr>
        <p:blipFill>
          <a:blip r:embed="rId18"/>
          <a:srcRect l="0" r="0" t="0" b="0"/>
          <a:stretch/>
        </p:blipFill>
        <p:spPr>
          <a:xfrm>
            <a:off x="5015607" y="6145510"/>
            <a:ext cx="698500" cy="88900"/>
          </a:xfrm>
          <a:prstGeom prst="rect">
            <a:avLst/>
          </a:prstGeom>
        </p:spPr>
      </p:pic>
      <p:sp>
        <p:nvSpPr>
          <p:cNvPr id="51" name="Shape 31"/>
          <p:cNvSpPr/>
          <p:nvPr/>
        </p:nvSpPr>
        <p:spPr>
          <a:xfrm>
            <a:off x="5809357" y="5929015"/>
            <a:ext cx="1156593" cy="342900"/>
          </a:xfrm>
          <a:prstGeom prst="roundRect">
            <a:avLst>
              <a:gd name="adj" fmla="val 24074"/>
            </a:avLst>
          </a:prstGeom>
          <a:solidFill>
            <a:srgbClr val="1C2540"/>
          </a:solidFill>
          <a:ln w="12700">
            <a:solidFill>
              <a:srgbClr val="C3E88D"/>
            </a:solidFill>
            <a:prstDash val="solid"/>
          </a:ln>
        </p:spPr>
      </p:sp>
      <p:pic>
        <p:nvPicPr>
          <p:cNvPr id="52" name="Image 18" descr="preencoded.png">    </p:cNvPr>
          <p:cNvPicPr>
            <a:picLocks noChangeAspect="1"/>
          </p:cNvPicPr>
          <p:nvPr/>
        </p:nvPicPr>
        <p:blipFill>
          <a:blip r:embed="rId19"/>
          <a:srcRect l="0" r="0" t="0" b="0"/>
          <a:stretch/>
        </p:blipFill>
        <p:spPr>
          <a:xfrm>
            <a:off x="5917307" y="5998865"/>
            <a:ext cx="203200" cy="203200"/>
          </a:xfrm>
          <a:prstGeom prst="rect">
            <a:avLst/>
          </a:prstGeom>
        </p:spPr>
      </p:pic>
      <p:sp>
        <p:nvSpPr>
          <p:cNvPr id="53" name="Text 32"/>
          <p:cNvSpPr/>
          <p:nvPr/>
        </p:nvSpPr>
        <p:spPr>
          <a:xfrm>
            <a:off x="6184007" y="6007100"/>
            <a:ext cx="775593" cy="212030"/>
          </a:xfrm>
          <a:prstGeom prst="rect">
            <a:avLst/>
          </a:prstGeom>
          <a:noFill/>
          <a:ln/>
        </p:spPr>
        <p:txBody>
          <a:bodyPr wrap="square" lIns="0" tIns="0" rIns="0" bIns="0" rtlCol="0" anchor="t">
            <a:normAutofit/>
          </a:bodyPr>
          <a:lstStyle/>
          <a:p>
            <a:pPr algn="l" indent="0" marL="0">
              <a:lnSpc>
                <a:spcPts val="1470"/>
              </a:lnSpc>
              <a:buNone/>
            </a:pPr>
            <a:r>
              <a:rPr lang="en-US" sz="1050" b="1" dirty="0">
                <a:solidFill>
                  <a:srgbClr val="FFFFFF"/>
                </a:solidFill>
                <a:latin typeface="Noto Sans KR" pitchFamily="34" charset="0"/>
                <a:ea typeface="Noto Sans KR" pitchFamily="34" charset="-122"/>
                <a:cs typeface="Noto Sans KR" pitchFamily="34" charset="-120"/>
              </a:rPr>
              <a:t>내 계정 레포</a:t>
            </a:r>
            <a:endParaRPr lang="en-US" sz="1050" dirty="0"/>
          </a:p>
        </p:txBody>
      </p:sp>
      <p:pic>
        <p:nvPicPr>
          <p:cNvPr id="54" name="Image 19" descr="preencoded.png">    </p:cNvPr>
          <p:cNvPicPr>
            <a:picLocks noChangeAspect="1"/>
          </p:cNvPicPr>
          <p:nvPr/>
        </p:nvPicPr>
        <p:blipFill>
          <a:blip r:embed="rId20"/>
          <a:srcRect l="0" r="0" t="0" b="0"/>
          <a:stretch/>
        </p:blipFill>
        <p:spPr>
          <a:xfrm>
            <a:off x="9503569" y="5933480"/>
            <a:ext cx="127000" cy="127000"/>
          </a:xfrm>
          <a:prstGeom prst="rect">
            <a:avLst/>
          </a:prstGeom>
        </p:spPr>
      </p:pic>
      <p:sp>
        <p:nvSpPr>
          <p:cNvPr id="55" name="Text 33"/>
          <p:cNvSpPr/>
          <p:nvPr/>
        </p:nvSpPr>
        <p:spPr>
          <a:xfrm>
            <a:off x="9681369" y="5912545"/>
            <a:ext cx="1527215" cy="194270"/>
          </a:xfrm>
          <a:prstGeom prst="rect">
            <a:avLst/>
          </a:prstGeom>
          <a:noFill/>
          <a:ln/>
        </p:spPr>
        <p:txBody>
          <a:bodyPr wrap="square" lIns="0" tIns="0" rIns="0" bIns="0" rtlCol="0" anchor="t">
            <a:normAutofit/>
          </a:bodyPr>
          <a:lstStyle/>
          <a:p>
            <a:pPr algn="l" indent="0" marL="0">
              <a:lnSpc>
                <a:spcPts val="1330"/>
              </a:lnSpc>
              <a:buNone/>
            </a:pPr>
            <a:r>
              <a:rPr lang="en-US" sz="950" dirty="0">
                <a:solidFill>
                  <a:srgbClr val="C9D1E0"/>
                </a:solidFill>
                <a:latin typeface="Noto Sans KR" pitchFamily="34" charset="0"/>
                <a:ea typeface="Noto Sans KR" pitchFamily="34" charset="-122"/>
                <a:cs typeface="Noto Sans KR" pitchFamily="34" charset="-120"/>
              </a:rPr>
              <a:t>쓰기 (에이전트 권한 없음)</a:t>
            </a:r>
            <a:endParaRPr lang="en-US" sz="950" dirty="0"/>
          </a:p>
        </p:txBody>
      </p:sp>
      <p:pic>
        <p:nvPicPr>
          <p:cNvPr id="56" name="Image 20" descr="preencoded.png">    </p:cNvPr>
          <p:cNvPicPr>
            <a:picLocks noChangeAspect="1"/>
          </p:cNvPicPr>
          <p:nvPr/>
        </p:nvPicPr>
        <p:blipFill>
          <a:blip r:embed="rId21"/>
          <a:srcRect l="0" r="0" t="0" b="0"/>
          <a:stretch/>
        </p:blipFill>
        <p:spPr>
          <a:xfrm>
            <a:off x="9503569" y="6140450"/>
            <a:ext cx="127000" cy="127000"/>
          </a:xfrm>
          <a:prstGeom prst="rect">
            <a:avLst/>
          </a:prstGeom>
        </p:spPr>
      </p:pic>
      <p:sp>
        <p:nvSpPr>
          <p:cNvPr id="57" name="Text 34"/>
          <p:cNvSpPr/>
          <p:nvPr/>
        </p:nvSpPr>
        <p:spPr>
          <a:xfrm>
            <a:off x="9681369" y="6119515"/>
            <a:ext cx="1875631" cy="194270"/>
          </a:xfrm>
          <a:prstGeom prst="rect">
            <a:avLst/>
          </a:prstGeom>
          <a:noFill/>
          <a:ln/>
        </p:spPr>
        <p:txBody>
          <a:bodyPr wrap="square" lIns="0" tIns="0" rIns="0" bIns="0" rtlCol="0" anchor="t">
            <a:normAutofit/>
          </a:bodyPr>
          <a:lstStyle/>
          <a:p>
            <a:pPr algn="l" indent="0" marL="0">
              <a:lnSpc>
                <a:spcPts val="1330"/>
              </a:lnSpc>
              <a:buNone/>
            </a:pPr>
            <a:r>
              <a:rPr lang="en-US" sz="950" dirty="0">
                <a:solidFill>
                  <a:srgbClr val="C9D1E0"/>
                </a:solidFill>
                <a:latin typeface="Noto Sans KR" pitchFamily="34" charset="0"/>
                <a:ea typeface="Noto Sans KR" pitchFamily="34" charset="-122"/>
                <a:cs typeface="Noto Sans KR" pitchFamily="34" charset="-120"/>
              </a:rPr>
              <a:t>다른 사람 레포 (사용자 권한 없음)</a:t>
            </a:r>
            <a:endParaRPr lang="en-US" sz="950" dirty="0"/>
          </a:p>
        </p:txBody>
      </p:sp>
      <p:sp>
        <p:nvSpPr>
          <p:cNvPr id="58" name="Text 35"/>
          <p:cNvSpPr/>
          <p:nvPr/>
        </p:nvSpPr>
        <p:spPr>
          <a:xfrm>
            <a:off x="10998200" y="65049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457200" y="279400"/>
            <a:ext cx="4166401" cy="22096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1428A0"/>
                </a:solidFill>
                <a:latin typeface="Noto Sans KR" pitchFamily="34" charset="0"/>
                <a:ea typeface="Noto Sans KR" pitchFamily="34" charset="-122"/>
                <a:cs typeface="Noto Sans KR" pitchFamily="34" charset="-120"/>
              </a:rPr>
              <a:t>Shadow Agent 탐지</a:t>
            </a:r>
            <a:endParaRPr lang="en-US" sz="1100" dirty="0"/>
          </a:p>
        </p:txBody>
      </p:sp>
      <p:sp>
        <p:nvSpPr>
          <p:cNvPr id="3" name="Text 1"/>
          <p:cNvSpPr/>
          <p:nvPr>
            <p:ph type="title"/>
          </p:nvPr>
        </p:nvSpPr>
        <p:spPr>
          <a:xfrm>
            <a:off x="457200" y="500360"/>
            <a:ext cx="4854059" cy="346670"/>
          </a:xfrm>
          <a:prstGeom prst="rect">
            <a:avLst/>
          </a:prstGeom>
          <a:noFill/>
          <a:ln/>
        </p:spPr>
        <p:txBody>
          <a:bodyPr wrap="square" lIns="0" tIns="0" rIns="0" bIns="0" rtlCol="0" anchor="t">
            <a:normAutofit/>
          </a:bodyPr>
          <a:lstStyle/>
          <a:p>
            <a:pPr algn="l" indent="0" marL="0">
              <a:lnSpc>
                <a:spcPts val="2530"/>
              </a:lnSpc>
              <a:buNone/>
            </a:pPr>
            <a:r>
              <a:rPr lang="en-US" sz="2300" b="1" i="0" dirty="0">
                <a:solidFill>
                  <a:srgbClr val="0E1320"/>
                </a:solidFill>
                <a:latin typeface="Noto Sans KR" pitchFamily="34" charset="0"/>
                <a:ea typeface="Noto Sans KR" pitchFamily="34" charset="-122"/>
                <a:cs typeface="Noto Sans KR" pitchFamily="34" charset="-120"/>
              </a:rPr>
              <a:t>Shadow Agent 사용 탐지 3가지</a:t>
            </a:r>
            <a:endParaRPr lang="en-US" sz="2300" dirty="0"/>
          </a:p>
        </p:txBody>
      </p:sp>
      <p:sp>
        <p:nvSpPr>
          <p:cNvPr id="4" name="Text 2"/>
          <p:cNvSpPr/>
          <p:nvPr/>
        </p:nvSpPr>
        <p:spPr>
          <a:xfrm>
            <a:off x="9362579" y="499070"/>
            <a:ext cx="2372221" cy="322560"/>
          </a:xfrm>
          <a:prstGeom prst="roundRect">
            <a:avLst>
              <a:gd name="adj" fmla="val 19686"/>
            </a:avLst>
          </a:prstGeom>
          <a:solidFill>
            <a:srgbClr val="1428A0"/>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Noto Sans KR" pitchFamily="34" charset="0"/>
                <a:ea typeface="Noto Sans KR" pitchFamily="34" charset="-122"/>
                <a:cs typeface="Noto Sans KR" pitchFamily="34" charset="-120"/>
              </a:rPr>
              <a:t>승인 안 된 에이전트를 쓰는 직원 찾기</a:t>
            </a:r>
            <a:endParaRPr lang="en-US" sz="1100" dirty="0"/>
          </a:p>
        </p:txBody>
      </p:sp>
      <p:sp>
        <p:nvSpPr>
          <p:cNvPr id="5" name="Shape 3"/>
          <p:cNvSpPr/>
          <p:nvPr/>
        </p:nvSpPr>
        <p:spPr>
          <a:xfrm>
            <a:off x="460375" y="926405"/>
            <a:ext cx="11271250" cy="1057771"/>
          </a:xfrm>
          <a:prstGeom prst="roundRect">
            <a:avLst>
              <a:gd name="adj" fmla="val 9305"/>
            </a:avLst>
          </a:prstGeom>
          <a:solidFill>
            <a:srgbClr val="FFFFFF"/>
          </a:solidFill>
          <a:ln w="6350">
            <a:solidFill>
              <a:srgbClr val="DCE1EA"/>
            </a:solidFill>
            <a:prstDash val="solid"/>
          </a:ln>
        </p:spPr>
      </p:sp>
      <p:pic>
        <p:nvPicPr>
          <p:cNvPr id="6" name="Image 0" descr="preencoded.png">    </p:cNvPr>
          <p:cNvPicPr>
            <a:picLocks noChangeAspect="1"/>
          </p:cNvPicPr>
          <p:nvPr/>
        </p:nvPicPr>
        <p:blipFill>
          <a:blip r:embed="rId1"/>
          <a:srcRect l="0" r="0" t="0" b="0"/>
          <a:stretch/>
        </p:blipFill>
        <p:spPr>
          <a:xfrm>
            <a:off x="628650" y="1220291"/>
            <a:ext cx="584200" cy="469900"/>
          </a:xfrm>
          <a:prstGeom prst="rect">
            <a:avLst/>
          </a:prstGeom>
        </p:spPr>
      </p:pic>
      <p:sp>
        <p:nvSpPr>
          <p:cNvPr id="7" name="Text 4"/>
          <p:cNvSpPr/>
          <p:nvPr/>
        </p:nvSpPr>
        <p:spPr>
          <a:xfrm>
            <a:off x="1327150" y="1043880"/>
            <a:ext cx="155624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1320"/>
                </a:solidFill>
                <a:latin typeface="Noto Sans KR" pitchFamily="34" charset="0"/>
                <a:ea typeface="Noto Sans KR" pitchFamily="34" charset="-122"/>
                <a:cs typeface="Noto Sans KR" pitchFamily="34" charset="-120"/>
              </a:rPr>
              <a:t>사용자 PC</a:t>
            </a:r>
            <a:endParaRPr lang="en-US" sz="1300" dirty="0"/>
          </a:p>
        </p:txBody>
      </p:sp>
      <p:sp>
        <p:nvSpPr>
          <p:cNvPr id="8" name="Text 5"/>
          <p:cNvSpPr/>
          <p:nvPr/>
        </p:nvSpPr>
        <p:spPr>
          <a:xfrm>
            <a:off x="1327150" y="1313061"/>
            <a:ext cx="1556246" cy="333970"/>
          </a:xfrm>
          <a:prstGeom prst="rect">
            <a:avLst/>
          </a:prstGeom>
          <a:noFill/>
          <a:ln/>
        </p:spPr>
        <p:txBody>
          <a:bodyPr wrap="square" lIns="0" tIns="0" rIns="0" bIns="0" rtlCol="0" anchor="t">
            <a:normAutofit/>
          </a:bodyPr>
          <a:lstStyle/>
          <a:p>
            <a:pPr algn="l" indent="0" marL="0">
              <a:lnSpc>
                <a:spcPts val="1215"/>
              </a:lnSpc>
              <a:buNone/>
            </a:pPr>
            <a:r>
              <a:rPr lang="en-US" sz="900" dirty="0">
                <a:solidFill>
                  <a:srgbClr val="4A5366"/>
                </a:solidFill>
                <a:latin typeface="Noto Sans KR" pitchFamily="34" charset="0"/>
                <a:ea typeface="Noto Sans KR" pitchFamily="34" charset="-122"/>
                <a:cs typeface="Noto Sans KR" pitchFamily="34" charset="-120"/>
              </a:rPr>
              <a:t>Claude · Cursor · OpenClaw</a:t>
            </a:r>
            <a:endParaRPr lang="en-US" sz="900" dirty="0"/>
          </a:p>
          <a:p>
            <a:pPr algn="l" indent="0" marL="0">
              <a:lnSpc>
                <a:spcPts val="1215"/>
              </a:lnSpc>
              <a:buNone/>
            </a:pPr>
            <a:r>
              <a:rPr lang="en-US" sz="900" dirty="0">
                <a:solidFill>
                  <a:srgbClr val="4A5366"/>
                </a:solidFill>
                <a:latin typeface="Noto Sans KR" pitchFamily="34" charset="0"/>
                <a:ea typeface="Noto Sans KR" pitchFamily="34" charset="-122"/>
                <a:cs typeface="Noto Sans KR" pitchFamily="34" charset="-120"/>
              </a:rPr>
              <a:t>+ 직접 붙인 MCP</a:t>
            </a:r>
            <a:endParaRPr lang="en-US" sz="900" dirty="0"/>
          </a:p>
        </p:txBody>
      </p:sp>
      <p:sp>
        <p:nvSpPr>
          <p:cNvPr id="9" name="Text 6"/>
          <p:cNvSpPr/>
          <p:nvPr/>
        </p:nvSpPr>
        <p:spPr>
          <a:xfrm>
            <a:off x="1327150" y="1659731"/>
            <a:ext cx="1130300" cy="206970"/>
          </a:xfrm>
          <a:custGeom>
            <a:avLst/>
            <a:gdLst/>
            <a:ahLst/>
            <a:cxnLst/>
            <a:rect l="l" t="t" r="r" b="b"/>
            <a:pathLst>
              <a:path w="1130300" h="206970">
                <a:moveTo>
                  <a:pt x="103485" y="0"/>
                </a:moveTo>
                <a:lnTo>
                  <a:pt x="1026815" y="0"/>
                </a:lnTo>
                <a:arcTo hR="103485" wR="103485" stAng="16200000" swAng="5400000"/>
                <a:lnTo>
                  <a:pt x="1130300" y="103485"/>
                </a:lnTo>
                <a:arcTo hR="103485" wR="103485" stAng="0" swAng="5400000"/>
                <a:lnTo>
                  <a:pt x="103485" y="206970"/>
                </a:lnTo>
                <a:arcTo hR="103485" wR="103485" stAng="5400000" swAng="5400000"/>
                <a:lnTo>
                  <a:pt x="0" y="103485"/>
                </a:lnTo>
                <a:arcTo hR="103485" wR="103485" stAng="10800000" swAng="5400000"/>
                <a:close/>
              </a:path>
            </a:pathLst>
          </a:custGeom>
          <a:solidFill>
            <a:srgbClr val="1428A0"/>
          </a:solidFill>
          <a:ln/>
        </p:spPr>
        <p:txBody>
          <a:bodyPr wrap="none" lIns="0" tIns="0" rIns="0" bIns="0" rtlCol="0" anchor="ctr">
            <a:normAutofit/>
          </a:bodyPr>
          <a:lstStyle/>
          <a:p>
            <a:pPr algn="ctr" indent="0" marL="0">
              <a:lnSpc>
                <a:spcPts val="1330"/>
              </a:lnSpc>
              <a:buNone/>
            </a:pPr>
            <a:r>
              <a:rPr lang="en-US" sz="950" b="1" dirty="0">
                <a:solidFill>
                  <a:srgbClr val="FFFFFF"/>
                </a:solidFill>
                <a:latin typeface="Noto Sans KR" pitchFamily="34" charset="0"/>
                <a:ea typeface="Noto Sans KR" pitchFamily="34" charset="-122"/>
                <a:cs typeface="Noto Sans KR" pitchFamily="34" charset="-120"/>
              </a:rPr>
              <a:t>① 엔드포인트 스캔</a:t>
            </a:r>
            <a:endParaRPr lang="en-US" sz="950" dirty="0"/>
          </a:p>
        </p:txBody>
      </p:sp>
      <p:pic>
        <p:nvPicPr>
          <p:cNvPr id="10" name="Image 1" descr="preencoded.png">    </p:cNvPr>
          <p:cNvPicPr>
            <a:picLocks noChangeAspect="1"/>
          </p:cNvPicPr>
          <p:nvPr/>
        </p:nvPicPr>
        <p:blipFill>
          <a:blip r:embed="rId2"/>
          <a:srcRect l="0" r="0" t="0" b="0"/>
          <a:stretch/>
        </p:blipFill>
        <p:spPr>
          <a:xfrm>
            <a:off x="4296172" y="1398091"/>
            <a:ext cx="444500" cy="114300"/>
          </a:xfrm>
          <a:prstGeom prst="rect">
            <a:avLst/>
          </a:prstGeom>
        </p:spPr>
      </p:pic>
      <p:pic>
        <p:nvPicPr>
          <p:cNvPr id="11" name="Image 2" descr="preencoded.png">    </p:cNvPr>
          <p:cNvPicPr>
            <a:picLocks noChangeAspect="1"/>
          </p:cNvPicPr>
          <p:nvPr/>
        </p:nvPicPr>
        <p:blipFill>
          <a:blip r:embed="rId3"/>
          <a:srcRect l="0" r="0" t="0" b="0"/>
          <a:stretch/>
        </p:blipFill>
        <p:spPr>
          <a:xfrm>
            <a:off x="4740672" y="1220291"/>
            <a:ext cx="533400" cy="469900"/>
          </a:xfrm>
          <a:prstGeom prst="rect">
            <a:avLst/>
          </a:prstGeom>
        </p:spPr>
      </p:pic>
      <p:sp>
        <p:nvSpPr>
          <p:cNvPr id="12" name="Text 7"/>
          <p:cNvSpPr/>
          <p:nvPr/>
        </p:nvSpPr>
        <p:spPr>
          <a:xfrm>
            <a:off x="5388372" y="1043880"/>
            <a:ext cx="1292027"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1320"/>
                </a:solidFill>
                <a:latin typeface="Noto Sans KR" pitchFamily="34" charset="0"/>
                <a:ea typeface="Noto Sans KR" pitchFamily="34" charset="-122"/>
                <a:cs typeface="Noto Sans KR" pitchFamily="34" charset="-120"/>
              </a:rPr>
              <a:t>사내망 · 프록시</a:t>
            </a:r>
            <a:endParaRPr lang="en-US" sz="1300" dirty="0"/>
          </a:p>
        </p:txBody>
      </p:sp>
      <p:sp>
        <p:nvSpPr>
          <p:cNvPr id="13" name="Text 8"/>
          <p:cNvSpPr/>
          <p:nvPr/>
        </p:nvSpPr>
        <p:spPr>
          <a:xfrm>
            <a:off x="5388372" y="1313061"/>
            <a:ext cx="1292027" cy="333970"/>
          </a:xfrm>
          <a:prstGeom prst="rect">
            <a:avLst/>
          </a:prstGeom>
          <a:noFill/>
          <a:ln/>
        </p:spPr>
        <p:txBody>
          <a:bodyPr wrap="square" lIns="0" tIns="0" rIns="0" bIns="0" rtlCol="0" anchor="t">
            <a:normAutofit/>
          </a:bodyPr>
          <a:lstStyle/>
          <a:p>
            <a:pPr algn="l" indent="0" marL="0">
              <a:lnSpc>
                <a:spcPts val="1215"/>
              </a:lnSpc>
              <a:buNone/>
            </a:pPr>
            <a:r>
              <a:rPr lang="en-US" sz="900" dirty="0">
                <a:solidFill>
                  <a:srgbClr val="4A5366"/>
                </a:solidFill>
                <a:latin typeface="Noto Sans KR" pitchFamily="34" charset="0"/>
                <a:ea typeface="Noto Sans KR" pitchFamily="34" charset="-122"/>
                <a:cs typeface="Noto Sans KR" pitchFamily="34" charset="-120"/>
              </a:rPr>
              <a:t>AI 서비스 · MCP 서버로</a:t>
            </a:r>
            <a:endParaRPr lang="en-US" sz="900" dirty="0"/>
          </a:p>
          <a:p>
            <a:pPr algn="l" indent="0" marL="0">
              <a:lnSpc>
                <a:spcPts val="1215"/>
              </a:lnSpc>
              <a:buNone/>
            </a:pPr>
            <a:r>
              <a:rPr lang="en-US" sz="900" dirty="0">
                <a:solidFill>
                  <a:srgbClr val="4A5366"/>
                </a:solidFill>
                <a:latin typeface="Noto Sans KR" pitchFamily="34" charset="0"/>
                <a:ea typeface="Noto Sans KR" pitchFamily="34" charset="-122"/>
                <a:cs typeface="Noto Sans KR" pitchFamily="34" charset="-120"/>
              </a:rPr>
              <a:t>나가는 트래픽</a:t>
            </a:r>
            <a:endParaRPr lang="en-US" sz="900" dirty="0"/>
          </a:p>
        </p:txBody>
      </p:sp>
      <p:sp>
        <p:nvSpPr>
          <p:cNvPr id="14" name="Text 9"/>
          <p:cNvSpPr/>
          <p:nvPr/>
        </p:nvSpPr>
        <p:spPr>
          <a:xfrm>
            <a:off x="5388372" y="1659731"/>
            <a:ext cx="1241227" cy="206970"/>
          </a:xfrm>
          <a:custGeom>
            <a:avLst/>
            <a:gdLst/>
            <a:ahLst/>
            <a:cxnLst/>
            <a:rect l="l" t="t" r="r" b="b"/>
            <a:pathLst>
              <a:path w="1241227" h="206970">
                <a:moveTo>
                  <a:pt x="103485" y="0"/>
                </a:moveTo>
                <a:lnTo>
                  <a:pt x="1137741" y="0"/>
                </a:lnTo>
                <a:arcTo hR="103485" wR="103485" stAng="16200000" swAng="5400000"/>
                <a:lnTo>
                  <a:pt x="1241227" y="103485"/>
                </a:lnTo>
                <a:arcTo hR="103485" wR="103485" stAng="0" swAng="5400000"/>
                <a:lnTo>
                  <a:pt x="103485" y="206970"/>
                </a:lnTo>
                <a:arcTo hR="103485" wR="103485" stAng="5400000" swAng="5400000"/>
                <a:lnTo>
                  <a:pt x="0" y="103485"/>
                </a:lnTo>
                <a:arcTo hR="103485" wR="103485" stAng="10800000" swAng="5400000"/>
                <a:close/>
              </a:path>
            </a:pathLst>
          </a:custGeom>
          <a:solidFill>
            <a:srgbClr val="0E7490"/>
          </a:solidFill>
          <a:ln/>
        </p:spPr>
        <p:txBody>
          <a:bodyPr wrap="none" lIns="0" tIns="0" rIns="0" bIns="0" rtlCol="0" anchor="ctr">
            <a:normAutofit/>
          </a:bodyPr>
          <a:lstStyle/>
          <a:p>
            <a:pPr algn="ctr" indent="0" marL="0">
              <a:lnSpc>
                <a:spcPts val="1330"/>
              </a:lnSpc>
              <a:buNone/>
            </a:pPr>
            <a:r>
              <a:rPr lang="en-US" sz="950" b="1" dirty="0">
                <a:solidFill>
                  <a:srgbClr val="FFFFFF"/>
                </a:solidFill>
                <a:latin typeface="Noto Sans KR" pitchFamily="34" charset="0"/>
                <a:ea typeface="Noto Sans KR" pitchFamily="34" charset="-122"/>
                <a:cs typeface="Noto Sans KR" pitchFamily="34" charset="-120"/>
              </a:rPr>
              <a:t>② 네트워크 이상탐지</a:t>
            </a:r>
            <a:endParaRPr lang="en-US" sz="950" dirty="0"/>
          </a:p>
        </p:txBody>
      </p:sp>
      <p:pic>
        <p:nvPicPr>
          <p:cNvPr id="15" name="Image 3" descr="preencoded.png">    </p:cNvPr>
          <p:cNvPicPr>
            <a:picLocks noChangeAspect="1"/>
          </p:cNvPicPr>
          <p:nvPr/>
        </p:nvPicPr>
        <p:blipFill>
          <a:blip r:embed="rId4"/>
          <a:srcRect l="0" r="0" t="0" b="0"/>
          <a:stretch/>
        </p:blipFill>
        <p:spPr>
          <a:xfrm>
            <a:off x="7929761" y="1398091"/>
            <a:ext cx="444500" cy="114300"/>
          </a:xfrm>
          <a:prstGeom prst="rect">
            <a:avLst/>
          </a:prstGeom>
        </p:spPr>
      </p:pic>
      <p:pic>
        <p:nvPicPr>
          <p:cNvPr id="16" name="Image 4" descr="preencoded.png">    </p:cNvPr>
          <p:cNvPicPr>
            <a:picLocks noChangeAspect="1"/>
          </p:cNvPicPr>
          <p:nvPr/>
        </p:nvPicPr>
        <p:blipFill>
          <a:blip r:embed="rId5"/>
          <a:srcRect l="0" r="0" t="0" b="0"/>
          <a:stretch/>
        </p:blipFill>
        <p:spPr>
          <a:xfrm>
            <a:off x="8374261" y="1220291"/>
            <a:ext cx="533400" cy="469900"/>
          </a:xfrm>
          <a:prstGeom prst="rect">
            <a:avLst/>
          </a:prstGeom>
        </p:spPr>
      </p:pic>
      <p:sp>
        <p:nvSpPr>
          <p:cNvPr id="17" name="Text 10"/>
          <p:cNvSpPr/>
          <p:nvPr/>
        </p:nvSpPr>
        <p:spPr>
          <a:xfrm>
            <a:off x="9021961" y="1043880"/>
            <a:ext cx="1404144"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1320"/>
                </a:solidFill>
                <a:latin typeface="Noto Sans KR" pitchFamily="34" charset="0"/>
                <a:ea typeface="Noto Sans KR" pitchFamily="34" charset="-122"/>
                <a:cs typeface="Noto Sans KR" pitchFamily="34" charset="-120"/>
              </a:rPr>
              <a:t>사내 서버 · 시스템</a:t>
            </a:r>
            <a:endParaRPr lang="en-US" sz="1300" dirty="0"/>
          </a:p>
        </p:txBody>
      </p:sp>
      <p:sp>
        <p:nvSpPr>
          <p:cNvPr id="18" name="Text 11"/>
          <p:cNvSpPr/>
          <p:nvPr/>
        </p:nvSpPr>
        <p:spPr>
          <a:xfrm>
            <a:off x="9021961" y="1313061"/>
            <a:ext cx="1404144" cy="333970"/>
          </a:xfrm>
          <a:prstGeom prst="rect">
            <a:avLst/>
          </a:prstGeom>
          <a:noFill/>
          <a:ln/>
        </p:spPr>
        <p:txBody>
          <a:bodyPr wrap="square" lIns="0" tIns="0" rIns="0" bIns="0" rtlCol="0" anchor="t">
            <a:normAutofit/>
          </a:bodyPr>
          <a:lstStyle/>
          <a:p>
            <a:pPr algn="l" indent="0" marL="0">
              <a:lnSpc>
                <a:spcPts val="1215"/>
              </a:lnSpc>
              <a:buNone/>
            </a:pPr>
            <a:r>
              <a:rPr lang="en-US" sz="900" dirty="0">
                <a:solidFill>
                  <a:srgbClr val="4A5366"/>
                </a:solidFill>
                <a:latin typeface="Noto Sans KR" pitchFamily="34" charset="0"/>
                <a:ea typeface="Noto Sans KR" pitchFamily="34" charset="-122"/>
                <a:cs typeface="Noto Sans KR" pitchFamily="34" charset="-120"/>
              </a:rPr>
              <a:t>부서끼리 공유하는</a:t>
            </a:r>
            <a:endParaRPr lang="en-US" sz="900" dirty="0"/>
          </a:p>
          <a:p>
            <a:pPr algn="l" indent="0" marL="0">
              <a:lnSpc>
                <a:spcPts val="1215"/>
              </a:lnSpc>
              <a:buNone/>
            </a:pPr>
            <a:r>
              <a:rPr lang="en-US" sz="900" dirty="0">
                <a:solidFill>
                  <a:srgbClr val="4A5366"/>
                </a:solidFill>
                <a:latin typeface="Noto Sans KR" pitchFamily="34" charset="0"/>
                <a:ea typeface="Noto Sans KR" pitchFamily="34" charset="-122"/>
                <a:cs typeface="Noto Sans KR" pitchFamily="34" charset="-120"/>
              </a:rPr>
              <a:t>자체개발 AI 채팅 · LLM 서버</a:t>
            </a:r>
            <a:endParaRPr lang="en-US" sz="900" dirty="0"/>
          </a:p>
        </p:txBody>
      </p:sp>
      <p:sp>
        <p:nvSpPr>
          <p:cNvPr id="19" name="Text 12"/>
          <p:cNvSpPr/>
          <p:nvPr/>
        </p:nvSpPr>
        <p:spPr>
          <a:xfrm>
            <a:off x="9021961" y="1659731"/>
            <a:ext cx="1046659" cy="206970"/>
          </a:xfrm>
          <a:custGeom>
            <a:avLst/>
            <a:gdLst/>
            <a:ahLst/>
            <a:cxnLst/>
            <a:rect l="l" t="t" r="r" b="b"/>
            <a:pathLst>
              <a:path w="1046659" h="206970">
                <a:moveTo>
                  <a:pt x="103485" y="0"/>
                </a:moveTo>
                <a:lnTo>
                  <a:pt x="943173" y="0"/>
                </a:lnTo>
                <a:arcTo hR="103485" wR="103485" stAng="16200000" swAng="5400000"/>
                <a:lnTo>
                  <a:pt x="1046659" y="103485"/>
                </a:lnTo>
                <a:arcTo hR="103485" wR="103485" stAng="0" swAng="5400000"/>
                <a:lnTo>
                  <a:pt x="103485" y="206970"/>
                </a:lnTo>
                <a:arcTo hR="103485" wR="103485" stAng="5400000" swAng="5400000"/>
                <a:lnTo>
                  <a:pt x="0" y="103485"/>
                </a:lnTo>
                <a:arcTo hR="103485" wR="103485" stAng="10800000" swAng="5400000"/>
                <a:close/>
              </a:path>
            </a:pathLst>
          </a:custGeom>
          <a:solidFill>
            <a:srgbClr val="A16207"/>
          </a:solidFill>
          <a:ln/>
        </p:spPr>
        <p:txBody>
          <a:bodyPr wrap="none" lIns="0" tIns="0" rIns="0" bIns="0" rtlCol="0" anchor="ctr">
            <a:normAutofit/>
          </a:bodyPr>
          <a:lstStyle/>
          <a:p>
            <a:pPr algn="ctr" indent="0" marL="0">
              <a:lnSpc>
                <a:spcPts val="1330"/>
              </a:lnSpc>
              <a:buNone/>
            </a:pPr>
            <a:r>
              <a:rPr lang="en-US" sz="950" b="1" dirty="0">
                <a:solidFill>
                  <a:srgbClr val="FFFFFF"/>
                </a:solidFill>
                <a:latin typeface="Noto Sans KR" pitchFamily="34" charset="0"/>
                <a:ea typeface="Noto Sans KR" pitchFamily="34" charset="-122"/>
                <a:cs typeface="Noto Sans KR" pitchFamily="34" charset="-120"/>
              </a:rPr>
              <a:t>③ 사내 내부 탐지</a:t>
            </a:r>
            <a:endParaRPr lang="en-US" sz="950" dirty="0"/>
          </a:p>
        </p:txBody>
      </p:sp>
      <p:sp>
        <p:nvSpPr>
          <p:cNvPr id="20" name="Shape 13"/>
          <p:cNvSpPr/>
          <p:nvPr/>
        </p:nvSpPr>
        <p:spPr>
          <a:xfrm>
            <a:off x="460375" y="2092127"/>
            <a:ext cx="3676650" cy="4394398"/>
          </a:xfrm>
          <a:prstGeom prst="roundRect">
            <a:avLst>
              <a:gd name="adj" fmla="val 2677"/>
            </a:avLst>
          </a:prstGeom>
          <a:solidFill>
            <a:srgbClr val="FFFFFF"/>
          </a:solidFill>
          <a:ln w="6350">
            <a:solidFill>
              <a:srgbClr val="DCE1EA"/>
            </a:solidFill>
            <a:prstDash val="solid"/>
          </a:ln>
        </p:spPr>
      </p:sp>
      <p:sp>
        <p:nvSpPr>
          <p:cNvPr id="21" name="Shape 14"/>
          <p:cNvSpPr/>
          <p:nvPr/>
        </p:nvSpPr>
        <p:spPr>
          <a:xfrm>
            <a:off x="463550" y="2095302"/>
            <a:ext cx="3670300" cy="3525838"/>
          </a:xfrm>
          <a:custGeom>
            <a:avLst/>
            <a:gdLst/>
            <a:ahLst/>
            <a:cxnLst/>
            <a:rect l="l" t="t" r="r" b="b"/>
            <a:pathLst>
              <a:path w="3670300" h="3525838">
                <a:moveTo>
                  <a:pt x="0" y="95250"/>
                </a:moveTo>
                <a:arcTo hR="95250" wR="95250" stAng="10800000" swAng="5400000"/>
                <a:lnTo>
                  <a:pt x="3575050" y="0"/>
                </a:lnTo>
                <a:arcTo hR="95250" wR="95250" stAng="16200000" swAng="5400000"/>
                <a:lnTo>
                  <a:pt x="3670300" y="3525838"/>
                </a:lnTo>
                <a:lnTo>
                  <a:pt x="0" y="3525838"/>
                </a:lnTo>
                <a:close/>
              </a:path>
            </a:pathLst>
          </a:custGeom>
          <a:solidFill>
            <a:srgbClr val="1A1B26"/>
          </a:solidFill>
          <a:ln/>
        </p:spPr>
      </p:sp>
      <p:pic>
        <p:nvPicPr>
          <p:cNvPr id="22" name="Image 5" descr="Snyk Agent Scan 결과: PC의 mcp.json에서 MCP 서버·스킬 발견, 위험 표시">    </p:cNvPr>
          <p:cNvPicPr>
            <a:picLocks noChangeAspect="1"/>
          </p:cNvPicPr>
          <p:nvPr/>
        </p:nvPicPr>
        <p:blipFill>
          <a:blip r:embed="rId6"/>
          <a:srcRect l="0" r="0" t="0" b="0"/>
          <a:stretch/>
        </p:blipFill>
        <p:spPr>
          <a:xfrm>
            <a:off x="463550" y="2095302"/>
            <a:ext cx="5509121" cy="3525838"/>
          </a:xfrm>
          <a:custGeom>
            <a:avLst/>
            <a:gdLst/>
            <a:ahLst/>
            <a:cxnLst/>
            <a:rect l="l" t="t" r="r" b="b"/>
            <a:pathLst>
              <a:path w="5509121" h="3525838">
                <a:moveTo>
                  <a:pt x="0" y="95250"/>
                </a:moveTo>
                <a:arcTo wR="95250" hR="95250" stAng="10800000" swAng="5400000"/>
                <a:lnTo>
                  <a:pt x="5509121" y="0"/>
                </a:lnTo>
                <a:lnTo>
                  <a:pt x="5509121" y="3525838"/>
                </a:lnTo>
                <a:lnTo>
                  <a:pt x="0" y="3525838"/>
                </a:lnTo>
                <a:close/>
              </a:path>
            </a:pathLst>
          </a:custGeom>
        </p:spPr>
      </p:pic>
      <p:sp>
        <p:nvSpPr>
          <p:cNvPr id="23" name="Shape 15"/>
          <p:cNvSpPr/>
          <p:nvPr/>
        </p:nvSpPr>
        <p:spPr>
          <a:xfrm>
            <a:off x="463550" y="5621139"/>
            <a:ext cx="3670300" cy="862211"/>
          </a:xfrm>
          <a:custGeom>
            <a:avLst/>
            <a:gdLst/>
            <a:ahLst/>
            <a:cxnLst/>
            <a:rect l="l" t="t" r="r" b="b"/>
            <a:pathLst>
              <a:path w="3670300" h="862211">
                <a:moveTo>
                  <a:pt x="0" y="0"/>
                </a:moveTo>
                <a:lnTo>
                  <a:pt x="3670300" y="0"/>
                </a:lnTo>
                <a:lnTo>
                  <a:pt x="3670300" y="25400"/>
                </a:lnTo>
                <a:lnTo>
                  <a:pt x="0" y="25400"/>
                </a:lnTo>
                <a:lnTo>
                  <a:pt x="0" y="0"/>
                </a:lnTo>
                <a:close/>
              </a:path>
            </a:pathLst>
          </a:custGeom>
          <a:solidFill>
            <a:srgbClr val="1428A0"/>
          </a:solidFill>
          <a:ln/>
        </p:spPr>
      </p:sp>
      <p:sp>
        <p:nvSpPr>
          <p:cNvPr id="24" name="Text 16"/>
          <p:cNvSpPr/>
          <p:nvPr/>
        </p:nvSpPr>
        <p:spPr>
          <a:xfrm>
            <a:off x="603250" y="5748139"/>
            <a:ext cx="349262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8A0"/>
                </a:solidFill>
                <a:latin typeface="Noto Sans KR" pitchFamily="34" charset="0"/>
                <a:ea typeface="Noto Sans KR" pitchFamily="34" charset="-122"/>
                <a:cs typeface="Noto Sans KR" pitchFamily="34" charset="-120"/>
              </a:rPr>
              <a:t>①</a:t>
            </a:r>
            <a:r>
              <a:rPr lang="en-US" sz="1400" b="1" dirty="0">
                <a:solidFill>
                  <a:srgbClr val="0E1320"/>
                </a:solidFill>
                <a:latin typeface="Noto Sans KR" pitchFamily="34" charset="0"/>
                <a:ea typeface="Noto Sans KR" pitchFamily="34" charset="-122"/>
                <a:cs typeface="Noto Sans KR" pitchFamily="34" charset="-120"/>
              </a:rPr>
              <a:t> 엔드포인트 스캔</a:t>
            </a:r>
            <a:endParaRPr lang="en-US" sz="1400" dirty="0"/>
          </a:p>
        </p:txBody>
      </p:sp>
      <p:sp>
        <p:nvSpPr>
          <p:cNvPr id="25" name="Text 17"/>
          <p:cNvSpPr/>
          <p:nvPr/>
        </p:nvSpPr>
        <p:spPr>
          <a:xfrm>
            <a:off x="603250" y="5999559"/>
            <a:ext cx="3492627" cy="196850"/>
          </a:xfrm>
          <a:prstGeom prst="rect">
            <a:avLst/>
          </a:prstGeom>
          <a:noFill/>
          <a:ln/>
        </p:spPr>
        <p:txBody>
          <a:bodyPr wrap="square" lIns="0" tIns="0" rIns="0" bIns="0" rtlCol="0" anchor="t">
            <a:normAutofit/>
          </a:bodyPr>
          <a:lstStyle/>
          <a:p>
            <a:pPr algn="l" indent="0" marL="0">
              <a:lnSpc>
                <a:spcPts val="1350"/>
              </a:lnSpc>
              <a:buNone/>
            </a:pPr>
            <a:r>
              <a:rPr lang="en-US" sz="1000" dirty="0">
                <a:solidFill>
                  <a:srgbClr val="4A5366"/>
                </a:solidFill>
                <a:latin typeface="Noto Sans KR" pitchFamily="34" charset="0"/>
                <a:ea typeface="Noto Sans KR" pitchFamily="34" charset="-122"/>
                <a:cs typeface="Noto Sans KR" pitchFamily="34" charset="-120"/>
              </a:rPr>
              <a:t>PC의 에이전트 · MCP 설정과 설치 흔적</a:t>
            </a:r>
            <a:endParaRPr lang="en-US" sz="1000" dirty="0"/>
          </a:p>
        </p:txBody>
      </p:sp>
      <p:sp>
        <p:nvSpPr>
          <p:cNvPr id="26" name="Text 18"/>
          <p:cNvSpPr/>
          <p:nvPr/>
        </p:nvSpPr>
        <p:spPr>
          <a:xfrm>
            <a:off x="603250" y="6209109"/>
            <a:ext cx="3492627" cy="185341"/>
          </a:xfrm>
          <a:prstGeom prst="rect">
            <a:avLst/>
          </a:prstGeom>
          <a:noFill/>
          <a:ln/>
        </p:spPr>
        <p:txBody>
          <a:bodyPr wrap="square" lIns="0" tIns="0" rIns="0" bIns="0" rtlCol="0" anchor="t">
            <a:normAutofit/>
          </a:bodyPr>
          <a:lstStyle/>
          <a:p>
            <a:pPr algn="l" indent="0" marL="0">
              <a:lnSpc>
                <a:spcPts val="1260"/>
              </a:lnSpc>
              <a:buNone/>
            </a:pPr>
            <a:r>
              <a:rPr lang="en-US" sz="900" b="1" dirty="0">
                <a:solidFill>
                  <a:srgbClr val="5B6577"/>
                </a:solidFill>
                <a:latin typeface="Noto Sans KR" pitchFamily="34" charset="0"/>
                <a:ea typeface="Noto Sans KR" pitchFamily="34" charset="-122"/>
                <a:cs typeface="Noto Sans KR" pitchFamily="34" charset="-120"/>
              </a:rPr>
              <a:t>Snyk Agent Scan · Astrix · osquery</a:t>
            </a:r>
            <a:endParaRPr lang="en-US" sz="900" dirty="0"/>
          </a:p>
        </p:txBody>
      </p:sp>
      <p:sp>
        <p:nvSpPr>
          <p:cNvPr id="27" name="Shape 19"/>
          <p:cNvSpPr/>
          <p:nvPr/>
        </p:nvSpPr>
        <p:spPr>
          <a:xfrm>
            <a:off x="4257675" y="2092127"/>
            <a:ext cx="3676650" cy="4394398"/>
          </a:xfrm>
          <a:prstGeom prst="roundRect">
            <a:avLst>
              <a:gd name="adj" fmla="val 2677"/>
            </a:avLst>
          </a:prstGeom>
          <a:solidFill>
            <a:srgbClr val="FFFFFF"/>
          </a:solidFill>
          <a:ln w="6350">
            <a:solidFill>
              <a:srgbClr val="DCE1EA"/>
            </a:solidFill>
            <a:prstDash val="solid"/>
          </a:ln>
        </p:spPr>
      </p:sp>
      <p:sp>
        <p:nvSpPr>
          <p:cNvPr id="28" name="Shape 20"/>
          <p:cNvSpPr/>
          <p:nvPr/>
        </p:nvSpPr>
        <p:spPr>
          <a:xfrm>
            <a:off x="4260850" y="2095302"/>
            <a:ext cx="3670300" cy="3525838"/>
          </a:xfrm>
          <a:custGeom>
            <a:avLst/>
            <a:gdLst/>
            <a:ahLst/>
            <a:cxnLst/>
            <a:rect l="l" t="t" r="r" b="b"/>
            <a:pathLst>
              <a:path w="3670300" h="3525838">
                <a:moveTo>
                  <a:pt x="0" y="95250"/>
                </a:moveTo>
                <a:arcTo hR="95250" wR="95250" stAng="10800000" swAng="5400000"/>
                <a:lnTo>
                  <a:pt x="3575050" y="0"/>
                </a:lnTo>
                <a:arcTo hR="95250" wR="95250" stAng="16200000" swAng="5400000"/>
                <a:lnTo>
                  <a:pt x="3670300" y="3525838"/>
                </a:lnTo>
                <a:lnTo>
                  <a:pt x="0" y="3525838"/>
                </a:lnTo>
                <a:close/>
              </a:path>
            </a:pathLst>
          </a:custGeom>
          <a:solidFill>
            <a:srgbClr val="FFFFFF"/>
          </a:solidFill>
          <a:ln/>
        </p:spPr>
      </p:sp>
      <p:pic>
        <p:nvPicPr>
          <p:cNvPr id="29" name="Image 6" descr="Entra Internet Access: Generative AI·MCP server 카테고리로 실제 사용 AI 앱 발견">    </p:cNvPr>
          <p:cNvPicPr>
            <a:picLocks noChangeAspect="1"/>
          </p:cNvPicPr>
          <p:nvPr/>
        </p:nvPicPr>
        <p:blipFill>
          <a:blip r:embed="rId7"/>
          <a:srcRect l="12163" r="12163" t="0" b="0"/>
          <a:stretch/>
        </p:blipFill>
        <p:spPr>
          <a:xfrm>
            <a:off x="4260850" y="2095302"/>
            <a:ext cx="12192000" cy="3525838"/>
          </a:xfrm>
          <a:custGeom>
            <a:avLst/>
            <a:gdLst/>
            <a:ahLst/>
            <a:cxnLst/>
            <a:rect l="l" t="t" r="r" b="b"/>
            <a:pathLst>
              <a:path w="12192000" h="3525838">
                <a:moveTo>
                  <a:pt x="0" y="95250"/>
                </a:moveTo>
                <a:arcTo wR="95250" hR="95250" stAng="10800000" swAng="5400000"/>
                <a:lnTo>
                  <a:pt x="12192000" y="0"/>
                </a:lnTo>
                <a:lnTo>
                  <a:pt x="12192000" y="3525838"/>
                </a:lnTo>
                <a:lnTo>
                  <a:pt x="0" y="3525838"/>
                </a:lnTo>
                <a:close/>
              </a:path>
            </a:pathLst>
          </a:custGeom>
        </p:spPr>
      </p:pic>
      <p:sp>
        <p:nvSpPr>
          <p:cNvPr id="30" name="Shape 21"/>
          <p:cNvSpPr/>
          <p:nvPr/>
        </p:nvSpPr>
        <p:spPr>
          <a:xfrm>
            <a:off x="4260850" y="5621139"/>
            <a:ext cx="3670300" cy="862211"/>
          </a:xfrm>
          <a:custGeom>
            <a:avLst/>
            <a:gdLst/>
            <a:ahLst/>
            <a:cxnLst/>
            <a:rect l="l" t="t" r="r" b="b"/>
            <a:pathLst>
              <a:path w="3670300" h="862211">
                <a:moveTo>
                  <a:pt x="0" y="0"/>
                </a:moveTo>
                <a:lnTo>
                  <a:pt x="3670300" y="0"/>
                </a:lnTo>
                <a:lnTo>
                  <a:pt x="3670300" y="25400"/>
                </a:lnTo>
                <a:lnTo>
                  <a:pt x="0" y="25400"/>
                </a:lnTo>
                <a:lnTo>
                  <a:pt x="0" y="0"/>
                </a:lnTo>
                <a:close/>
              </a:path>
            </a:pathLst>
          </a:custGeom>
          <a:solidFill>
            <a:srgbClr val="0E7490"/>
          </a:solidFill>
          <a:ln/>
        </p:spPr>
      </p:sp>
      <p:sp>
        <p:nvSpPr>
          <p:cNvPr id="31" name="Text 22"/>
          <p:cNvSpPr/>
          <p:nvPr/>
        </p:nvSpPr>
        <p:spPr>
          <a:xfrm>
            <a:off x="4400550" y="5748139"/>
            <a:ext cx="349262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E7490"/>
                </a:solidFill>
                <a:latin typeface="Noto Sans KR" pitchFamily="34" charset="0"/>
                <a:ea typeface="Noto Sans KR" pitchFamily="34" charset="-122"/>
                <a:cs typeface="Noto Sans KR" pitchFamily="34" charset="-120"/>
              </a:rPr>
              <a:t>②</a:t>
            </a:r>
            <a:r>
              <a:rPr lang="en-US" sz="1400" b="1" dirty="0">
                <a:solidFill>
                  <a:srgbClr val="0E1320"/>
                </a:solidFill>
                <a:latin typeface="Noto Sans KR" pitchFamily="34" charset="0"/>
                <a:ea typeface="Noto Sans KR" pitchFamily="34" charset="-122"/>
                <a:cs typeface="Noto Sans KR" pitchFamily="34" charset="-120"/>
              </a:rPr>
              <a:t> 네트워크 이상탐지</a:t>
            </a:r>
            <a:endParaRPr lang="en-US" sz="1400" dirty="0"/>
          </a:p>
        </p:txBody>
      </p:sp>
      <p:sp>
        <p:nvSpPr>
          <p:cNvPr id="32" name="Text 23"/>
          <p:cNvSpPr/>
          <p:nvPr/>
        </p:nvSpPr>
        <p:spPr>
          <a:xfrm>
            <a:off x="4400550" y="5999559"/>
            <a:ext cx="3492627" cy="196850"/>
          </a:xfrm>
          <a:prstGeom prst="rect">
            <a:avLst/>
          </a:prstGeom>
          <a:noFill/>
          <a:ln/>
        </p:spPr>
        <p:txBody>
          <a:bodyPr wrap="square" lIns="0" tIns="0" rIns="0" bIns="0" rtlCol="0" anchor="t">
            <a:normAutofit/>
          </a:bodyPr>
          <a:lstStyle/>
          <a:p>
            <a:pPr algn="l" indent="0" marL="0">
              <a:lnSpc>
                <a:spcPts val="1350"/>
              </a:lnSpc>
              <a:buNone/>
            </a:pPr>
            <a:r>
              <a:rPr lang="en-US" sz="1000" dirty="0">
                <a:solidFill>
                  <a:srgbClr val="4A5366"/>
                </a:solidFill>
                <a:latin typeface="Noto Sans KR" pitchFamily="34" charset="0"/>
                <a:ea typeface="Noto Sans KR" pitchFamily="34" charset="-122"/>
                <a:cs typeface="Noto Sans KR" pitchFamily="34" charset="-120"/>
              </a:rPr>
              <a:t>AI 카테고리 · 트래픽 모양 · TLS 지문</a:t>
            </a:r>
            <a:endParaRPr lang="en-US" sz="1000" dirty="0"/>
          </a:p>
        </p:txBody>
      </p:sp>
      <p:sp>
        <p:nvSpPr>
          <p:cNvPr id="33" name="Text 24"/>
          <p:cNvSpPr/>
          <p:nvPr/>
        </p:nvSpPr>
        <p:spPr>
          <a:xfrm>
            <a:off x="4400550" y="6209109"/>
            <a:ext cx="3492627" cy="185341"/>
          </a:xfrm>
          <a:prstGeom prst="rect">
            <a:avLst/>
          </a:prstGeom>
          <a:noFill/>
          <a:ln/>
        </p:spPr>
        <p:txBody>
          <a:bodyPr wrap="square" lIns="0" tIns="0" rIns="0" bIns="0" rtlCol="0" anchor="t">
            <a:normAutofit/>
          </a:bodyPr>
          <a:lstStyle/>
          <a:p>
            <a:pPr algn="l" indent="0" marL="0">
              <a:lnSpc>
                <a:spcPts val="1260"/>
              </a:lnSpc>
              <a:buNone/>
            </a:pPr>
            <a:r>
              <a:rPr lang="en-US" sz="900" b="1" dirty="0">
                <a:solidFill>
                  <a:srgbClr val="5B6577"/>
                </a:solidFill>
                <a:latin typeface="Noto Sans KR" pitchFamily="34" charset="0"/>
                <a:ea typeface="Noto Sans KR" pitchFamily="34" charset="-122"/>
                <a:cs typeface="Noto Sans KR" pitchFamily="34" charset="-120"/>
              </a:rPr>
              <a:t>Entra Internet Access · AgentSonar · JA4</a:t>
            </a:r>
            <a:endParaRPr lang="en-US" sz="900" dirty="0"/>
          </a:p>
        </p:txBody>
      </p:sp>
      <p:sp>
        <p:nvSpPr>
          <p:cNvPr id="34" name="Shape 25"/>
          <p:cNvSpPr/>
          <p:nvPr/>
        </p:nvSpPr>
        <p:spPr>
          <a:xfrm>
            <a:off x="8054975" y="2092127"/>
            <a:ext cx="3676650" cy="4394398"/>
          </a:xfrm>
          <a:prstGeom prst="roundRect">
            <a:avLst>
              <a:gd name="adj" fmla="val 2677"/>
            </a:avLst>
          </a:prstGeom>
          <a:solidFill>
            <a:srgbClr val="FFFFFF"/>
          </a:solidFill>
          <a:ln w="6350">
            <a:solidFill>
              <a:srgbClr val="DCE1EA"/>
            </a:solidFill>
            <a:prstDash val="solid"/>
          </a:ln>
        </p:spPr>
      </p:sp>
      <p:sp>
        <p:nvSpPr>
          <p:cNvPr id="35" name="Shape 26"/>
          <p:cNvSpPr/>
          <p:nvPr/>
        </p:nvSpPr>
        <p:spPr>
          <a:xfrm>
            <a:off x="8058150" y="2095302"/>
            <a:ext cx="3670300" cy="3525838"/>
          </a:xfrm>
          <a:custGeom>
            <a:avLst/>
            <a:gdLst/>
            <a:ahLst/>
            <a:cxnLst/>
            <a:rect l="l" t="t" r="r" b="b"/>
            <a:pathLst>
              <a:path w="3670300" h="3525838">
                <a:moveTo>
                  <a:pt x="0" y="95250"/>
                </a:moveTo>
                <a:arcTo hR="95250" wR="95250" stAng="10800000" swAng="5400000"/>
                <a:lnTo>
                  <a:pt x="3575050" y="0"/>
                </a:lnTo>
                <a:arcTo hR="95250" wR="95250" stAng="16200000" swAng="5400000"/>
                <a:lnTo>
                  <a:pt x="3670300" y="3525838"/>
                </a:lnTo>
                <a:lnTo>
                  <a:pt x="0" y="3525838"/>
                </a:lnTo>
                <a:close/>
              </a:path>
            </a:pathLst>
          </a:custGeom>
          <a:solidFill>
            <a:srgbClr val="FFFFFF"/>
          </a:solidFill>
          <a:ln/>
        </p:spPr>
      </p:sp>
      <p:pic>
        <p:nvPicPr>
          <p:cNvPr id="36" name="Image 7" descr="Cisco LLM instance scanner: IP 대역 스캔으로 Ollama 서버 발견, 테스트 질문 응답 확인">    </p:cNvPr>
          <p:cNvPicPr>
            <a:picLocks noChangeAspect="1"/>
          </p:cNvPicPr>
          <p:nvPr/>
        </p:nvPicPr>
        <p:blipFill>
          <a:blip r:embed="rId8"/>
          <a:srcRect l="1" r="1" t="0" b="0"/>
          <a:stretch/>
        </p:blipFill>
        <p:spPr>
          <a:xfrm>
            <a:off x="8058150" y="2095302"/>
            <a:ext cx="5444728" cy="3525838"/>
          </a:xfrm>
          <a:custGeom>
            <a:avLst/>
            <a:gdLst/>
            <a:ahLst/>
            <a:cxnLst/>
            <a:rect l="l" t="t" r="r" b="b"/>
            <a:pathLst>
              <a:path w="5444728" h="3525838">
                <a:moveTo>
                  <a:pt x="0" y="95250"/>
                </a:moveTo>
                <a:arcTo wR="95250" hR="95250" stAng="10800000" swAng="5400000"/>
                <a:lnTo>
                  <a:pt x="5444728" y="0"/>
                </a:lnTo>
                <a:lnTo>
                  <a:pt x="5444728" y="3525838"/>
                </a:lnTo>
                <a:lnTo>
                  <a:pt x="0" y="3525838"/>
                </a:lnTo>
                <a:close/>
              </a:path>
            </a:pathLst>
          </a:custGeom>
        </p:spPr>
      </p:pic>
      <p:sp>
        <p:nvSpPr>
          <p:cNvPr id="37" name="Shape 27"/>
          <p:cNvSpPr/>
          <p:nvPr/>
        </p:nvSpPr>
        <p:spPr>
          <a:xfrm>
            <a:off x="8058150" y="5621139"/>
            <a:ext cx="3670300" cy="862211"/>
          </a:xfrm>
          <a:custGeom>
            <a:avLst/>
            <a:gdLst/>
            <a:ahLst/>
            <a:cxnLst/>
            <a:rect l="l" t="t" r="r" b="b"/>
            <a:pathLst>
              <a:path w="3670300" h="862211">
                <a:moveTo>
                  <a:pt x="0" y="0"/>
                </a:moveTo>
                <a:lnTo>
                  <a:pt x="3670300" y="0"/>
                </a:lnTo>
                <a:lnTo>
                  <a:pt x="3670300" y="25400"/>
                </a:lnTo>
                <a:lnTo>
                  <a:pt x="0" y="25400"/>
                </a:lnTo>
                <a:lnTo>
                  <a:pt x="0" y="0"/>
                </a:lnTo>
                <a:close/>
              </a:path>
            </a:pathLst>
          </a:custGeom>
          <a:solidFill>
            <a:srgbClr val="A16207"/>
          </a:solidFill>
          <a:ln/>
        </p:spPr>
      </p:sp>
      <p:sp>
        <p:nvSpPr>
          <p:cNvPr id="38" name="Text 28"/>
          <p:cNvSpPr/>
          <p:nvPr/>
        </p:nvSpPr>
        <p:spPr>
          <a:xfrm>
            <a:off x="8197850" y="5748139"/>
            <a:ext cx="349262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A16207"/>
                </a:solidFill>
                <a:latin typeface="Noto Sans KR" pitchFamily="34" charset="0"/>
                <a:ea typeface="Noto Sans KR" pitchFamily="34" charset="-122"/>
                <a:cs typeface="Noto Sans KR" pitchFamily="34" charset="-120"/>
              </a:rPr>
              <a:t>③</a:t>
            </a:r>
            <a:r>
              <a:rPr lang="en-US" sz="1400" b="1" dirty="0">
                <a:solidFill>
                  <a:srgbClr val="0E1320"/>
                </a:solidFill>
                <a:latin typeface="Noto Sans KR" pitchFamily="34" charset="0"/>
                <a:ea typeface="Noto Sans KR" pitchFamily="34" charset="-122"/>
                <a:cs typeface="Noto Sans KR" pitchFamily="34" charset="-120"/>
              </a:rPr>
              <a:t> 사내 내부 탐지</a:t>
            </a:r>
            <a:endParaRPr lang="en-US" sz="1400" dirty="0"/>
          </a:p>
        </p:txBody>
      </p:sp>
      <p:sp>
        <p:nvSpPr>
          <p:cNvPr id="39" name="Text 29"/>
          <p:cNvSpPr/>
          <p:nvPr/>
        </p:nvSpPr>
        <p:spPr>
          <a:xfrm>
            <a:off x="8197850" y="5999559"/>
            <a:ext cx="3492627" cy="196850"/>
          </a:xfrm>
          <a:prstGeom prst="rect">
            <a:avLst/>
          </a:prstGeom>
          <a:noFill/>
          <a:ln/>
        </p:spPr>
        <p:txBody>
          <a:bodyPr wrap="square" lIns="0" tIns="0" rIns="0" bIns="0" rtlCol="0" anchor="t">
            <a:normAutofit/>
          </a:bodyPr>
          <a:lstStyle/>
          <a:p>
            <a:pPr algn="l" indent="0" marL="0">
              <a:lnSpc>
                <a:spcPts val="1350"/>
              </a:lnSpc>
              <a:buNone/>
            </a:pPr>
            <a:r>
              <a:rPr lang="en-US" sz="1000" dirty="0">
                <a:solidFill>
                  <a:srgbClr val="4A5366"/>
                </a:solidFill>
                <a:latin typeface="Noto Sans KR" pitchFamily="34" charset="0"/>
                <a:ea typeface="Noto Sans KR" pitchFamily="34" charset="-122"/>
                <a:cs typeface="Noto Sans KR" pitchFamily="34" charset="-120"/>
              </a:rPr>
              <a:t>사내 IP 대역 스캔 · 테스트 질문 · 접근 로그</a:t>
            </a:r>
            <a:endParaRPr lang="en-US" sz="1000" dirty="0"/>
          </a:p>
        </p:txBody>
      </p:sp>
      <p:sp>
        <p:nvSpPr>
          <p:cNvPr id="40" name="Text 30"/>
          <p:cNvSpPr/>
          <p:nvPr/>
        </p:nvSpPr>
        <p:spPr>
          <a:xfrm>
            <a:off x="8197850" y="6209109"/>
            <a:ext cx="3492627" cy="185341"/>
          </a:xfrm>
          <a:prstGeom prst="rect">
            <a:avLst/>
          </a:prstGeom>
          <a:noFill/>
          <a:ln/>
        </p:spPr>
        <p:txBody>
          <a:bodyPr wrap="square" lIns="0" tIns="0" rIns="0" bIns="0" rtlCol="0" anchor="t">
            <a:normAutofit/>
          </a:bodyPr>
          <a:lstStyle/>
          <a:p>
            <a:pPr algn="l" indent="0" marL="0">
              <a:lnSpc>
                <a:spcPts val="1260"/>
              </a:lnSpc>
              <a:buNone/>
            </a:pPr>
            <a:r>
              <a:rPr lang="en-US" sz="900" b="1" dirty="0">
                <a:solidFill>
                  <a:srgbClr val="5B6577"/>
                </a:solidFill>
                <a:latin typeface="Noto Sans KR" pitchFamily="34" charset="0"/>
                <a:ea typeface="Noto Sans KR" pitchFamily="34" charset="-122"/>
                <a:cs typeface="Noto Sans KR" pitchFamily="34" charset="-120"/>
              </a:rPr>
              <a:t>Julius · Cisco 스캐너 방식</a:t>
            </a:r>
            <a:endParaRPr lang="en-US" sz="900" dirty="0"/>
          </a:p>
        </p:txBody>
      </p:sp>
      <p:sp>
        <p:nvSpPr>
          <p:cNvPr id="41" name="Text 31"/>
          <p:cNvSpPr/>
          <p:nvPr/>
        </p:nvSpPr>
        <p:spPr>
          <a:xfrm>
            <a:off x="11176000" y="65049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457200" y="279400"/>
            <a:ext cx="3181340" cy="22096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1428A0"/>
                </a:solidFill>
                <a:latin typeface="Noto Sans KR" pitchFamily="34" charset="0"/>
                <a:ea typeface="Noto Sans KR" pitchFamily="34" charset="-122"/>
                <a:cs typeface="Noto Sans KR" pitchFamily="34" charset="-120"/>
              </a:rPr>
              <a:t>Shadow Agent 탐지 ① · 엔드포인트</a:t>
            </a:r>
            <a:endParaRPr lang="en-US" sz="1100" dirty="0"/>
          </a:p>
        </p:txBody>
      </p:sp>
      <p:sp>
        <p:nvSpPr>
          <p:cNvPr id="3" name="Text 1"/>
          <p:cNvSpPr/>
          <p:nvPr>
            <p:ph type="title"/>
          </p:nvPr>
        </p:nvSpPr>
        <p:spPr>
          <a:xfrm>
            <a:off x="457200" y="500360"/>
            <a:ext cx="3706416" cy="346670"/>
          </a:xfrm>
          <a:prstGeom prst="rect">
            <a:avLst/>
          </a:prstGeom>
          <a:noFill/>
          <a:ln/>
        </p:spPr>
        <p:txBody>
          <a:bodyPr wrap="square" lIns="0" tIns="0" rIns="0" bIns="0" rtlCol="0" anchor="t">
            <a:normAutofit/>
          </a:bodyPr>
          <a:lstStyle/>
          <a:p>
            <a:pPr algn="l" indent="0" marL="0">
              <a:lnSpc>
                <a:spcPts val="2530"/>
              </a:lnSpc>
              <a:buNone/>
            </a:pPr>
            <a:r>
              <a:rPr lang="en-US" sz="2300" b="1" i="0" dirty="0">
                <a:solidFill>
                  <a:srgbClr val="0E1320"/>
                </a:solidFill>
                <a:latin typeface="Noto Sans KR" pitchFamily="34" charset="0"/>
                <a:ea typeface="Noto Sans KR" pitchFamily="34" charset="-122"/>
                <a:cs typeface="Noto Sans KR" pitchFamily="34" charset="-120"/>
              </a:rPr>
              <a:t>엔드포인트 에이전트 스캔</a:t>
            </a:r>
            <a:endParaRPr lang="en-US" sz="2300" dirty="0"/>
          </a:p>
        </p:txBody>
      </p:sp>
      <p:sp>
        <p:nvSpPr>
          <p:cNvPr id="4" name="Text 2"/>
          <p:cNvSpPr/>
          <p:nvPr/>
        </p:nvSpPr>
        <p:spPr>
          <a:xfrm>
            <a:off x="9176643" y="499070"/>
            <a:ext cx="2558157" cy="322560"/>
          </a:xfrm>
          <a:prstGeom prst="roundRect">
            <a:avLst>
              <a:gd name="adj" fmla="val 19686"/>
            </a:avLst>
          </a:prstGeom>
          <a:solidFill>
            <a:srgbClr val="1428A0"/>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Noto Sans KR" pitchFamily="34" charset="0"/>
                <a:ea typeface="Noto Sans KR" pitchFamily="34" charset="-122"/>
                <a:cs typeface="Noto Sans KR" pitchFamily="34" charset="-120"/>
              </a:rPr>
              <a:t>PC에 뭐가 깔렸고 · 어떤 MCP가 붙었나</a:t>
            </a:r>
            <a:endParaRPr lang="en-US" sz="1100" dirty="0"/>
          </a:p>
        </p:txBody>
      </p:sp>
      <p:sp>
        <p:nvSpPr>
          <p:cNvPr id="5" name="Shape 3"/>
          <p:cNvSpPr/>
          <p:nvPr/>
        </p:nvSpPr>
        <p:spPr>
          <a:xfrm>
            <a:off x="460375" y="913705"/>
            <a:ext cx="5568950" cy="5572820"/>
          </a:xfrm>
          <a:prstGeom prst="roundRect">
            <a:avLst>
              <a:gd name="adj" fmla="val 1767"/>
            </a:avLst>
          </a:prstGeom>
          <a:solidFill>
            <a:srgbClr val="FFFFFF"/>
          </a:solidFill>
          <a:ln w="6350">
            <a:solidFill>
              <a:srgbClr val="DCE1EA"/>
            </a:solidFill>
            <a:prstDash val="solid"/>
          </a:ln>
        </p:spPr>
      </p:sp>
      <p:sp>
        <p:nvSpPr>
          <p:cNvPr id="6" name="Text 4"/>
          <p:cNvSpPr/>
          <p:nvPr/>
        </p:nvSpPr>
        <p:spPr>
          <a:xfrm>
            <a:off x="603250" y="1005780"/>
            <a:ext cx="173224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1320"/>
                </a:solidFill>
                <a:latin typeface="Noto Sans KR" pitchFamily="34" charset="0"/>
                <a:ea typeface="Noto Sans KR" pitchFamily="34" charset="-122"/>
                <a:cs typeface="Noto Sans KR" pitchFamily="34" charset="-120"/>
              </a:rPr>
              <a:t>Snyk Agent Scan</a:t>
            </a:r>
            <a:endParaRPr lang="en-US" sz="1400" dirty="0"/>
          </a:p>
        </p:txBody>
      </p:sp>
      <p:sp>
        <p:nvSpPr>
          <p:cNvPr id="7" name="Text 5"/>
          <p:cNvSpPr/>
          <p:nvPr/>
        </p:nvSpPr>
        <p:spPr>
          <a:xfrm>
            <a:off x="4630440" y="1027311"/>
            <a:ext cx="1256010" cy="205680"/>
          </a:xfrm>
          <a:prstGeom prst="roundRect">
            <a:avLst>
              <a:gd name="adj" fmla="val 50000"/>
            </a:avLst>
          </a:prstGeom>
          <a:solidFill>
            <a:srgbClr val="EEF1FB"/>
          </a:solidFill>
          <a:ln/>
        </p:spPr>
        <p:txBody>
          <a:bodyPr wrap="none" lIns="0" tIns="0" rIns="0" bIns="0" rtlCol="0" anchor="ctr">
            <a:normAutofit/>
          </a:bodyPr>
          <a:lstStyle/>
          <a:p>
            <a:pPr algn="ctr" indent="0" marL="0">
              <a:lnSpc>
                <a:spcPts val="1120"/>
              </a:lnSpc>
              <a:buNone/>
            </a:pPr>
            <a:r>
              <a:rPr lang="en-US" sz="800" b="1" dirty="0">
                <a:solidFill>
                  <a:srgbClr val="1428A0"/>
                </a:solidFill>
                <a:latin typeface="Noto Sans KR" pitchFamily="34" charset="0"/>
                <a:ea typeface="Noto Sans KR" pitchFamily="34" charset="-122"/>
                <a:cs typeface="Noto Sans KR" pitchFamily="34" charset="-120"/>
              </a:rPr>
              <a:t>오픈소스 · 구 mcp-scan</a:t>
            </a:r>
            <a:endParaRPr lang="en-US" sz="800" dirty="0"/>
          </a:p>
        </p:txBody>
      </p:sp>
      <p:sp>
        <p:nvSpPr>
          <p:cNvPr id="8" name="Shape 6"/>
          <p:cNvSpPr/>
          <p:nvPr/>
        </p:nvSpPr>
        <p:spPr>
          <a:xfrm>
            <a:off x="463550" y="1343521"/>
            <a:ext cx="5562600" cy="4504829"/>
          </a:xfrm>
          <a:prstGeom prst="rect">
            <a:avLst/>
          </a:prstGeom>
          <a:solidFill>
            <a:srgbClr val="1A1B26"/>
          </a:solidFill>
          <a:ln/>
        </p:spPr>
      </p:sp>
      <p:pic>
        <p:nvPicPr>
          <p:cNvPr id="9" name="Image 0" descr="Snyk Agent Scan 실행 결과: ~/.cursor/mcp.json 스캔, github 서버 프롬프트 인젝션 위험, release-helper 스킬의 수상한 다운로드 URL">    </p:cNvPr>
          <p:cNvPicPr>
            <a:picLocks noChangeAspect="1"/>
          </p:cNvPicPr>
          <p:nvPr/>
        </p:nvPicPr>
        <p:blipFill>
          <a:blip r:embed="rId1"/>
          <a:srcRect l="-1" r="-1" t="0" b="0"/>
          <a:stretch/>
        </p:blipFill>
        <p:spPr>
          <a:xfrm>
            <a:off x="463550" y="1815902"/>
            <a:ext cx="5562600" cy="3559969"/>
          </a:xfrm>
          <a:prstGeom prst="rect">
            <a:avLst/>
          </a:prstGeom>
        </p:spPr>
      </p:pic>
      <p:sp>
        <p:nvSpPr>
          <p:cNvPr id="10" name="Text 7"/>
          <p:cNvSpPr/>
          <p:nvPr/>
        </p:nvSpPr>
        <p:spPr>
          <a:xfrm>
            <a:off x="603250" y="5956300"/>
            <a:ext cx="177800" cy="177800"/>
          </a:xfrm>
          <a:custGeom>
            <a:avLst/>
            <a:gdLst/>
            <a:ahLst/>
            <a:cxnLst/>
            <a:rect l="l" t="t" r="r" b="b"/>
            <a:pathLst>
              <a:path w="177800" h="177800">
                <a:moveTo>
                  <a:pt x="88900" y="0"/>
                </a:moveTo>
                <a:lnTo>
                  <a:pt x="88900" y="0"/>
                </a:lnTo>
                <a:arcTo hR="88900" wR="88900" stAng="16200000" swAng="5400000"/>
                <a:lnTo>
                  <a:pt x="177800" y="88900"/>
                </a:lnTo>
                <a:arcTo hR="88900" wR="88900" stAng="0" swAng="5400000"/>
                <a:lnTo>
                  <a:pt x="88900" y="177800"/>
                </a:lnTo>
                <a:arcTo hR="88900" wR="88900" stAng="5400000" swAng="5400000"/>
                <a:lnTo>
                  <a:pt x="0" y="88900"/>
                </a:lnTo>
                <a:arcTo hR="88900" wR="88900" stAng="10800000" swAng="5400000"/>
                <a:close/>
              </a:path>
            </a:pathLst>
          </a:custGeom>
          <a:solidFill>
            <a:srgbClr val="1428A0"/>
          </a:solidFill>
          <a:ln/>
        </p:spPr>
        <p:txBody>
          <a:bodyPr wrap="square" lIns="0" tIns="0" rIns="0" bIns="0" rtlCol="0" anchor="t">
            <a:normAutofit/>
          </a:bodyPr>
          <a:lstStyle/>
          <a:p>
            <a:pPr algn="l" indent="0" marL="0">
              <a:lnSpc>
                <a:spcPts val="1190"/>
              </a:lnSpc>
              <a:buNone/>
            </a:pPr>
            <a:r>
              <a:rPr lang="en-US" sz="850" b="1" dirty="0">
                <a:solidFill>
                  <a:srgbClr val="FFFFFF"/>
                </a:solidFill>
                <a:latin typeface="Noto Sans KR" pitchFamily="34" charset="0"/>
                <a:ea typeface="Noto Sans KR" pitchFamily="34" charset="-122"/>
                <a:cs typeface="Noto Sans KR" pitchFamily="34" charset="-120"/>
              </a:rPr>
              <a:t>1</a:t>
            </a:r>
            <a:endParaRPr lang="en-US" sz="850" dirty="0"/>
          </a:p>
        </p:txBody>
      </p:sp>
      <p:sp>
        <p:nvSpPr>
          <p:cNvPr id="11" name="Text 8"/>
          <p:cNvSpPr/>
          <p:nvPr/>
        </p:nvSpPr>
        <p:spPr>
          <a:xfrm>
            <a:off x="844550" y="5937250"/>
            <a:ext cx="5006102" cy="196850"/>
          </a:xfrm>
          <a:prstGeom prst="rect">
            <a:avLst/>
          </a:prstGeom>
          <a:noFill/>
          <a:ln/>
        </p:spPr>
        <p:txBody>
          <a:bodyPr wrap="square" lIns="0" tIns="0" rIns="0" bIns="0" rtlCol="0" anchor="t">
            <a:normAutofit/>
          </a:bodyPr>
          <a:lstStyle/>
          <a:p>
            <a:pPr algn="l" indent="0" marL="0">
              <a:lnSpc>
                <a:spcPts val="1350"/>
              </a:lnSpc>
              <a:buNone/>
            </a:pPr>
            <a:r>
              <a:rPr lang="en-US" sz="1000" b="1" dirty="0">
                <a:solidFill>
                  <a:srgbClr val="0E1320"/>
                </a:solidFill>
                <a:latin typeface="Noto Sans KR" pitchFamily="34" charset="0"/>
                <a:ea typeface="Noto Sans KR" pitchFamily="34" charset="-122"/>
                <a:cs typeface="Noto Sans KR" pitchFamily="34" charset="-120"/>
              </a:rPr>
              <a:t>Claude · Cursor · Gemini CLI 설정 자동 탐색</a:t>
            </a:r>
            <a:r>
              <a:rPr lang="en-US" sz="1000" dirty="0">
                <a:solidFill>
                  <a:srgbClr val="0E1320"/>
                </a:solidFill>
                <a:latin typeface="Noto Sans KR" pitchFamily="34" charset="0"/>
                <a:ea typeface="Noto Sans KR" pitchFamily="34" charset="-122"/>
                <a:cs typeface="Noto Sans KR" pitchFamily="34" charset="-120"/>
              </a:rPr>
              <a:t> → 붙어 있는 MCP · 스킬 목록</a:t>
            </a:r>
            <a:endParaRPr lang="en-US" sz="1000" dirty="0"/>
          </a:p>
        </p:txBody>
      </p:sp>
      <p:sp>
        <p:nvSpPr>
          <p:cNvPr id="12" name="Text 9"/>
          <p:cNvSpPr/>
          <p:nvPr/>
        </p:nvSpPr>
        <p:spPr>
          <a:xfrm>
            <a:off x="603250" y="6203950"/>
            <a:ext cx="177800" cy="177800"/>
          </a:xfrm>
          <a:custGeom>
            <a:avLst/>
            <a:gdLst/>
            <a:ahLst/>
            <a:cxnLst/>
            <a:rect l="l" t="t" r="r" b="b"/>
            <a:pathLst>
              <a:path w="177800" h="177800">
                <a:moveTo>
                  <a:pt x="88900" y="0"/>
                </a:moveTo>
                <a:lnTo>
                  <a:pt x="88900" y="0"/>
                </a:lnTo>
                <a:arcTo hR="88900" wR="88900" stAng="16200000" swAng="5400000"/>
                <a:lnTo>
                  <a:pt x="177800" y="88900"/>
                </a:lnTo>
                <a:arcTo hR="88900" wR="88900" stAng="0" swAng="5400000"/>
                <a:lnTo>
                  <a:pt x="88900" y="177800"/>
                </a:lnTo>
                <a:arcTo hR="88900" wR="88900" stAng="5400000" swAng="5400000"/>
                <a:lnTo>
                  <a:pt x="0" y="88900"/>
                </a:lnTo>
                <a:arcTo hR="88900" wR="88900" stAng="10800000" swAng="5400000"/>
                <a:close/>
              </a:path>
            </a:pathLst>
          </a:custGeom>
          <a:solidFill>
            <a:srgbClr val="C8102E"/>
          </a:solidFill>
          <a:ln/>
        </p:spPr>
        <p:txBody>
          <a:bodyPr wrap="square" lIns="0" tIns="0" rIns="0" bIns="0" rtlCol="0" anchor="t">
            <a:normAutofit/>
          </a:bodyPr>
          <a:lstStyle/>
          <a:p>
            <a:pPr algn="l" indent="0" marL="0">
              <a:lnSpc>
                <a:spcPts val="1190"/>
              </a:lnSpc>
              <a:buNone/>
            </a:pPr>
            <a:r>
              <a:rPr lang="en-US" sz="850" b="1" dirty="0">
                <a:solidFill>
                  <a:srgbClr val="FFFFFF"/>
                </a:solidFill>
                <a:latin typeface="Noto Sans KR" pitchFamily="34" charset="0"/>
                <a:ea typeface="Noto Sans KR" pitchFamily="34" charset="-122"/>
                <a:cs typeface="Noto Sans KR" pitchFamily="34" charset="-120"/>
              </a:rPr>
              <a:t>2</a:t>
            </a:r>
            <a:endParaRPr lang="en-US" sz="850" dirty="0"/>
          </a:p>
        </p:txBody>
      </p:sp>
      <p:sp>
        <p:nvSpPr>
          <p:cNvPr id="13" name="Text 10"/>
          <p:cNvSpPr/>
          <p:nvPr/>
        </p:nvSpPr>
        <p:spPr>
          <a:xfrm>
            <a:off x="844550" y="6184900"/>
            <a:ext cx="3792379" cy="196850"/>
          </a:xfrm>
          <a:prstGeom prst="rect">
            <a:avLst/>
          </a:prstGeom>
          <a:noFill/>
          <a:ln/>
        </p:spPr>
        <p:txBody>
          <a:bodyPr wrap="square" lIns="0" tIns="0" rIns="0" bIns="0" rtlCol="0" anchor="t">
            <a:normAutofit/>
          </a:bodyPr>
          <a:lstStyle/>
          <a:p>
            <a:pPr algn="l" indent="0" marL="0">
              <a:lnSpc>
                <a:spcPts val="1350"/>
              </a:lnSpc>
              <a:buNone/>
            </a:pPr>
            <a:r>
              <a:rPr lang="en-US" sz="1000" dirty="0">
                <a:solidFill>
                  <a:srgbClr val="0E1320"/>
                </a:solidFill>
                <a:latin typeface="Noto Sans KR" pitchFamily="34" charset="0"/>
                <a:ea typeface="Noto Sans KR" pitchFamily="34" charset="-122"/>
                <a:cs typeface="Noto Sans KR" pitchFamily="34" charset="-120"/>
              </a:rPr>
              <a:t>툴 설명 속 </a:t>
            </a:r>
            <a:r>
              <a:rPr lang="en-US" sz="1000" b="1" dirty="0">
                <a:solidFill>
                  <a:srgbClr val="0E1320"/>
                </a:solidFill>
                <a:latin typeface="Noto Sans KR" pitchFamily="34" charset="0"/>
                <a:ea typeface="Noto Sans KR" pitchFamily="34" charset="-122"/>
                <a:cs typeface="Noto Sans KR" pitchFamily="34" charset="-120"/>
              </a:rPr>
              <a:t>숨은 지시</a:t>
            </a:r>
            <a:r>
              <a:rPr lang="en-US" sz="1000" dirty="0">
                <a:solidFill>
                  <a:srgbClr val="0E1320"/>
                </a:solidFill>
                <a:latin typeface="Noto Sans KR" pitchFamily="34" charset="0"/>
                <a:ea typeface="Noto Sans KR" pitchFamily="34" charset="-122"/>
                <a:cs typeface="Noto Sans KR" pitchFamily="34" charset="-120"/>
              </a:rPr>
              <a:t> · 외부 실행파일 다운로드까지 위험 판정</a:t>
            </a:r>
            <a:endParaRPr lang="en-US" sz="1000" dirty="0"/>
          </a:p>
        </p:txBody>
      </p:sp>
      <p:sp>
        <p:nvSpPr>
          <p:cNvPr id="14" name="Shape 11"/>
          <p:cNvSpPr/>
          <p:nvPr/>
        </p:nvSpPr>
        <p:spPr>
          <a:xfrm>
            <a:off x="6175375" y="913705"/>
            <a:ext cx="5556250" cy="4758829"/>
          </a:xfrm>
          <a:prstGeom prst="roundRect">
            <a:avLst>
              <a:gd name="adj" fmla="val 2068"/>
            </a:avLst>
          </a:prstGeom>
          <a:solidFill>
            <a:srgbClr val="FFFFFF"/>
          </a:solidFill>
          <a:ln w="6350">
            <a:solidFill>
              <a:srgbClr val="DCE1EA"/>
            </a:solidFill>
            <a:prstDash val="solid"/>
          </a:ln>
        </p:spPr>
      </p:sp>
      <p:sp>
        <p:nvSpPr>
          <p:cNvPr id="15" name="Text 12"/>
          <p:cNvSpPr/>
          <p:nvPr/>
        </p:nvSpPr>
        <p:spPr>
          <a:xfrm>
            <a:off x="6318250" y="1005780"/>
            <a:ext cx="264247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1320"/>
                </a:solidFill>
                <a:latin typeface="Noto Sans KR" pitchFamily="34" charset="0"/>
                <a:ea typeface="Noto Sans KR" pitchFamily="34" charset="-122"/>
                <a:cs typeface="Noto Sans KR" pitchFamily="34" charset="-120"/>
              </a:rPr>
              <a:t>Astrix OpenClaw Scanner</a:t>
            </a:r>
            <a:endParaRPr lang="en-US" sz="1400" dirty="0"/>
          </a:p>
        </p:txBody>
      </p:sp>
      <p:sp>
        <p:nvSpPr>
          <p:cNvPr id="16" name="Text 13"/>
          <p:cNvSpPr/>
          <p:nvPr/>
        </p:nvSpPr>
        <p:spPr>
          <a:xfrm>
            <a:off x="10399911" y="1027311"/>
            <a:ext cx="1188839" cy="205680"/>
          </a:xfrm>
          <a:prstGeom prst="roundRect">
            <a:avLst>
              <a:gd name="adj" fmla="val 50000"/>
            </a:avLst>
          </a:prstGeom>
          <a:solidFill>
            <a:srgbClr val="EEF1FB"/>
          </a:solidFill>
          <a:ln/>
        </p:spPr>
        <p:txBody>
          <a:bodyPr wrap="none" lIns="0" tIns="0" rIns="0" bIns="0" rtlCol="0" anchor="ctr">
            <a:normAutofit/>
          </a:bodyPr>
          <a:lstStyle/>
          <a:p>
            <a:pPr algn="ctr" indent="0" marL="0">
              <a:lnSpc>
                <a:spcPts val="1120"/>
              </a:lnSpc>
              <a:buNone/>
            </a:pPr>
            <a:r>
              <a:rPr lang="en-US" sz="800" b="1" dirty="0">
                <a:solidFill>
                  <a:srgbClr val="1428A0"/>
                </a:solidFill>
                <a:latin typeface="Noto Sans KR" pitchFamily="34" charset="0"/>
                <a:ea typeface="Noto Sans KR" pitchFamily="34" charset="-122"/>
                <a:cs typeface="Noto Sans KR" pitchFamily="34" charset="-120"/>
              </a:rPr>
              <a:t>무료 · EDR 데이터 활용</a:t>
            </a:r>
            <a:endParaRPr lang="en-US" sz="800" dirty="0"/>
          </a:p>
        </p:txBody>
      </p:sp>
      <p:sp>
        <p:nvSpPr>
          <p:cNvPr id="17" name="Shape 14"/>
          <p:cNvSpPr/>
          <p:nvPr/>
        </p:nvSpPr>
        <p:spPr>
          <a:xfrm>
            <a:off x="6178550" y="1343521"/>
            <a:ext cx="5549900" cy="3989288"/>
          </a:xfrm>
          <a:prstGeom prst="rect">
            <a:avLst/>
          </a:prstGeom>
          <a:solidFill>
            <a:srgbClr val="151823"/>
          </a:solidFill>
          <a:ln/>
        </p:spPr>
      </p:sp>
      <p:pic>
        <p:nvPicPr>
          <p:cNvPr id="18" name="Image 1" descr="Astrix OpenClaw Footprint Scanner 대시보드: OpenClaw 설치 엔드포인트·사용자·OS 목록">    </p:cNvPr>
          <p:cNvPicPr>
            <a:picLocks noChangeAspect="1"/>
          </p:cNvPicPr>
          <p:nvPr/>
        </p:nvPicPr>
        <p:blipFill>
          <a:blip r:embed="rId2"/>
          <a:srcRect l="0" r="0" t="0" b="0"/>
          <a:stretch/>
        </p:blipFill>
        <p:spPr>
          <a:xfrm>
            <a:off x="6178550" y="1343521"/>
            <a:ext cx="7004844" cy="3989288"/>
          </a:xfrm>
          <a:prstGeom prst="rect">
            <a:avLst/>
          </a:prstGeom>
        </p:spPr>
      </p:pic>
      <p:sp>
        <p:nvSpPr>
          <p:cNvPr id="19" name="Text 15"/>
          <p:cNvSpPr/>
          <p:nvPr/>
        </p:nvSpPr>
        <p:spPr>
          <a:xfrm>
            <a:off x="6318250" y="5409009"/>
            <a:ext cx="5428615" cy="196850"/>
          </a:xfrm>
          <a:prstGeom prst="rect">
            <a:avLst/>
          </a:prstGeom>
          <a:noFill/>
          <a:ln/>
        </p:spPr>
        <p:txBody>
          <a:bodyPr wrap="square" lIns="0" tIns="0" rIns="0" bIns="0" rtlCol="0" anchor="t">
            <a:normAutofit/>
          </a:bodyPr>
          <a:lstStyle/>
          <a:p>
            <a:pPr algn="l" indent="0" marL="0">
              <a:lnSpc>
                <a:spcPts val="1350"/>
              </a:lnSpc>
              <a:buNone/>
            </a:pPr>
            <a:r>
              <a:rPr lang="en-US" sz="1000" dirty="0">
                <a:solidFill>
                  <a:srgbClr val="0E1320"/>
                </a:solidFill>
                <a:latin typeface="Noto Sans KR" pitchFamily="34" charset="0"/>
                <a:ea typeface="Noto Sans KR" pitchFamily="34" charset="-122"/>
                <a:cs typeface="Noto Sans KR" pitchFamily="34" charset="-120"/>
              </a:rPr>
              <a:t>기존 </a:t>
            </a:r>
            <a:r>
              <a:rPr lang="en-US" sz="1000" b="1" dirty="0">
                <a:solidFill>
                  <a:srgbClr val="0E1320"/>
                </a:solidFill>
                <a:latin typeface="Noto Sans KR" pitchFamily="34" charset="0"/>
                <a:ea typeface="Noto Sans KR" pitchFamily="34" charset="-122"/>
                <a:cs typeface="Noto Sans KR" pitchFamily="34" charset="-120"/>
              </a:rPr>
              <a:t>EDR 텔레메트리</a:t>
            </a:r>
            <a:r>
              <a:rPr lang="en-US" sz="1000" dirty="0">
                <a:solidFill>
                  <a:srgbClr val="0E1320"/>
                </a:solidFill>
                <a:latin typeface="Noto Sans KR" pitchFamily="34" charset="0"/>
                <a:ea typeface="Noto Sans KR" pitchFamily="34" charset="-122"/>
                <a:cs typeface="Noto Sans KR" pitchFamily="34" charset="-120"/>
              </a:rPr>
              <a:t>로 개인 AI 비서 설치 PC · 사용자 목록화</a:t>
            </a:r>
            <a:endParaRPr lang="en-US" sz="1000" dirty="0"/>
          </a:p>
        </p:txBody>
      </p:sp>
      <p:sp>
        <p:nvSpPr>
          <p:cNvPr id="20" name="Shape 16"/>
          <p:cNvSpPr/>
          <p:nvPr/>
        </p:nvSpPr>
        <p:spPr>
          <a:xfrm>
            <a:off x="6175375" y="5780484"/>
            <a:ext cx="5556250" cy="706041"/>
          </a:xfrm>
          <a:prstGeom prst="roundRect">
            <a:avLst>
              <a:gd name="adj" fmla="val 13940"/>
            </a:avLst>
          </a:prstGeom>
          <a:solidFill>
            <a:srgbClr val="FFFFFF"/>
          </a:solidFill>
          <a:ln w="6350">
            <a:solidFill>
              <a:srgbClr val="DCE1EA"/>
            </a:solidFill>
            <a:prstDash val="solid"/>
          </a:ln>
        </p:spPr>
      </p:sp>
      <p:sp>
        <p:nvSpPr>
          <p:cNvPr id="21" name="Text 17"/>
          <p:cNvSpPr/>
          <p:nvPr/>
        </p:nvSpPr>
        <p:spPr>
          <a:xfrm>
            <a:off x="6318250" y="5872559"/>
            <a:ext cx="169604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1320"/>
                </a:solidFill>
                <a:latin typeface="Noto Sans KR" pitchFamily="34" charset="0"/>
                <a:ea typeface="Noto Sans KR" pitchFamily="34" charset="-122"/>
                <a:cs typeface="Noto Sans KR" pitchFamily="34" charset="-120"/>
              </a:rPr>
              <a:t>osquery 로 전사 조회</a:t>
            </a:r>
            <a:endParaRPr lang="en-US" sz="1200" dirty="0"/>
          </a:p>
        </p:txBody>
      </p:sp>
      <p:sp>
        <p:nvSpPr>
          <p:cNvPr id="22" name="Text 18"/>
          <p:cNvSpPr/>
          <p:nvPr/>
        </p:nvSpPr>
        <p:spPr>
          <a:xfrm>
            <a:off x="11036995" y="5876330"/>
            <a:ext cx="551755" cy="205680"/>
          </a:xfrm>
          <a:prstGeom prst="roundRect">
            <a:avLst>
              <a:gd name="adj" fmla="val 50000"/>
            </a:avLst>
          </a:prstGeom>
          <a:solidFill>
            <a:srgbClr val="EEF1FB"/>
          </a:solidFill>
          <a:ln/>
        </p:spPr>
        <p:txBody>
          <a:bodyPr wrap="none" lIns="0" tIns="0" rIns="0" bIns="0" rtlCol="0" anchor="ctr">
            <a:normAutofit/>
          </a:bodyPr>
          <a:lstStyle/>
          <a:p>
            <a:pPr algn="ctr" indent="0" marL="0">
              <a:lnSpc>
                <a:spcPts val="1120"/>
              </a:lnSpc>
              <a:buNone/>
            </a:pPr>
            <a:r>
              <a:rPr lang="en-US" sz="800" b="1" dirty="0">
                <a:solidFill>
                  <a:srgbClr val="1428A0"/>
                </a:solidFill>
                <a:latin typeface="Noto Sans KR" pitchFamily="34" charset="0"/>
                <a:ea typeface="Noto Sans KR" pitchFamily="34" charset="-122"/>
                <a:cs typeface="Noto Sans KR" pitchFamily="34" charset="-120"/>
              </a:rPr>
              <a:t>오픈소스</a:t>
            </a:r>
            <a:endParaRPr lang="en-US" sz="800" dirty="0"/>
          </a:p>
        </p:txBody>
      </p:sp>
      <p:sp>
        <p:nvSpPr>
          <p:cNvPr id="23" name="Text 19"/>
          <p:cNvSpPr/>
          <p:nvPr/>
        </p:nvSpPr>
        <p:spPr>
          <a:xfrm>
            <a:off x="6318250" y="6149380"/>
            <a:ext cx="2662436" cy="232370"/>
          </a:xfrm>
          <a:prstGeom prst="roundRect">
            <a:avLst>
              <a:gd name="adj" fmla="val 21862"/>
            </a:avLst>
          </a:prstGeom>
          <a:solidFill>
            <a:srgbClr val="EEF1FB"/>
          </a:solidFill>
          <a:ln/>
        </p:spPr>
        <p:txBody>
          <a:bodyPr wrap="none" lIns="0" tIns="0" rIns="0" bIns="0" rtlCol="0" anchor="ctr">
            <a:normAutofit/>
          </a:bodyPr>
          <a:lstStyle/>
          <a:p>
            <a:pPr algn="ctr" indent="0" marL="0">
              <a:lnSpc>
                <a:spcPts val="1330"/>
              </a:lnSpc>
              <a:buNone/>
            </a:pPr>
            <a:r>
              <a:rPr lang="en-US" sz="950" b="1" dirty="0">
                <a:solidFill>
                  <a:srgbClr val="0E1320"/>
                </a:solidFill>
                <a:latin typeface="Noto Sans KR" pitchFamily="34" charset="0"/>
                <a:ea typeface="Noto Sans KR" pitchFamily="34" charset="-122"/>
                <a:cs typeface="Noto Sans KR" pitchFamily="34" charset="-120"/>
              </a:rPr>
              <a:t>프로세스</a:t>
            </a:r>
            <a:r>
              <a:rPr lang="en-US" sz="950" dirty="0">
                <a:solidFill>
                  <a:srgbClr val="0E1320"/>
                </a:solidFill>
                <a:latin typeface="Noto Sans KR" pitchFamily="34" charset="0"/>
                <a:ea typeface="Noto Sans KR" pitchFamily="34" charset="-122"/>
                <a:cs typeface="Noto Sans KR" pitchFamily="34" charset="-120"/>
              </a:rPr>
              <a:t> claude · cursor · openclaw · ollama</a:t>
            </a:r>
            <a:endParaRPr lang="en-US" sz="950" dirty="0"/>
          </a:p>
        </p:txBody>
      </p:sp>
      <p:sp>
        <p:nvSpPr>
          <p:cNvPr id="24" name="Text 20"/>
          <p:cNvSpPr/>
          <p:nvPr/>
        </p:nvSpPr>
        <p:spPr>
          <a:xfrm>
            <a:off x="9031486" y="6149380"/>
            <a:ext cx="1170285" cy="232370"/>
          </a:xfrm>
          <a:prstGeom prst="roundRect">
            <a:avLst>
              <a:gd name="adj" fmla="val 21862"/>
            </a:avLst>
          </a:prstGeom>
          <a:solidFill>
            <a:srgbClr val="EEF1FB"/>
          </a:solidFill>
          <a:ln/>
        </p:spPr>
        <p:txBody>
          <a:bodyPr wrap="none" lIns="0" tIns="0" rIns="0" bIns="0" rtlCol="0" anchor="ctr">
            <a:normAutofit/>
          </a:bodyPr>
          <a:lstStyle/>
          <a:p>
            <a:pPr algn="ctr" indent="0" marL="0">
              <a:lnSpc>
                <a:spcPts val="1330"/>
              </a:lnSpc>
              <a:buNone/>
            </a:pPr>
            <a:r>
              <a:rPr lang="en-US" sz="950" b="1" dirty="0">
                <a:solidFill>
                  <a:srgbClr val="0E1320"/>
                </a:solidFill>
                <a:latin typeface="Noto Sans KR" pitchFamily="34" charset="0"/>
                <a:ea typeface="Noto Sans KR" pitchFamily="34" charset="-122"/>
                <a:cs typeface="Noto Sans KR" pitchFamily="34" charset="-120"/>
              </a:rPr>
              <a:t>설정 파일</a:t>
            </a:r>
            <a:r>
              <a:rPr lang="en-US" sz="950" dirty="0">
                <a:solidFill>
                  <a:srgbClr val="0E1320"/>
                </a:solidFill>
                <a:latin typeface="Noto Sans KR" pitchFamily="34" charset="0"/>
                <a:ea typeface="Noto Sans KR" pitchFamily="34" charset="-122"/>
                <a:cs typeface="Noto Sans KR" pitchFamily="34" charset="-120"/>
              </a:rPr>
              <a:t> mcp.json</a:t>
            </a:r>
            <a:endParaRPr lang="en-US" sz="950" dirty="0"/>
          </a:p>
        </p:txBody>
      </p:sp>
      <p:sp>
        <p:nvSpPr>
          <p:cNvPr id="25" name="Text 21"/>
          <p:cNvSpPr/>
          <p:nvPr/>
        </p:nvSpPr>
        <p:spPr>
          <a:xfrm>
            <a:off x="10252571" y="6149380"/>
            <a:ext cx="1241326" cy="232370"/>
          </a:xfrm>
          <a:prstGeom prst="roundRect">
            <a:avLst>
              <a:gd name="adj" fmla="val 21862"/>
            </a:avLst>
          </a:prstGeom>
          <a:solidFill>
            <a:srgbClr val="EEF1FB"/>
          </a:solidFill>
          <a:ln/>
        </p:spPr>
        <p:txBody>
          <a:bodyPr wrap="none" lIns="0" tIns="0" rIns="0" bIns="0" rtlCol="0" anchor="ctr">
            <a:normAutofit/>
          </a:bodyPr>
          <a:lstStyle/>
          <a:p>
            <a:pPr algn="ctr" indent="0" marL="0">
              <a:lnSpc>
                <a:spcPts val="1330"/>
              </a:lnSpc>
              <a:buNone/>
            </a:pPr>
            <a:r>
              <a:rPr lang="en-US" sz="950" b="1" dirty="0">
                <a:solidFill>
                  <a:srgbClr val="0E1320"/>
                </a:solidFill>
                <a:latin typeface="Noto Sans KR" pitchFamily="34" charset="0"/>
                <a:ea typeface="Noto Sans KR" pitchFamily="34" charset="-122"/>
                <a:cs typeface="Noto Sans KR" pitchFamily="34" charset="-120"/>
              </a:rPr>
              <a:t>포트</a:t>
            </a:r>
            <a:r>
              <a:rPr lang="en-US" sz="950" dirty="0">
                <a:solidFill>
                  <a:srgbClr val="0E1320"/>
                </a:solidFill>
                <a:latin typeface="Noto Sans KR" pitchFamily="34" charset="0"/>
                <a:ea typeface="Noto Sans KR" pitchFamily="34" charset="-122"/>
                <a:cs typeface="Noto Sans KR" pitchFamily="34" charset="-120"/>
              </a:rPr>
              <a:t> 11434 로컬 LLM</a:t>
            </a:r>
            <a:endParaRPr lang="en-US" sz="950" dirty="0"/>
          </a:p>
        </p:txBody>
      </p:sp>
      <p:sp>
        <p:nvSpPr>
          <p:cNvPr id="26" name="Text 22"/>
          <p:cNvSpPr/>
          <p:nvPr/>
        </p:nvSpPr>
        <p:spPr>
          <a:xfrm>
            <a:off x="11176000" y="65049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457200" y="279400"/>
            <a:ext cx="3579697" cy="22096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1428A0"/>
                </a:solidFill>
                <a:latin typeface="Noto Sans KR" pitchFamily="34" charset="0"/>
                <a:ea typeface="Noto Sans KR" pitchFamily="34" charset="-122"/>
                <a:cs typeface="Noto Sans KR" pitchFamily="34" charset="-120"/>
              </a:rPr>
              <a:t>Shadow Agent 탐지 ② · 네트워크 · SSE</a:t>
            </a:r>
            <a:endParaRPr lang="en-US" sz="1100" dirty="0"/>
          </a:p>
        </p:txBody>
      </p:sp>
      <p:sp>
        <p:nvSpPr>
          <p:cNvPr id="3" name="Text 1"/>
          <p:cNvSpPr/>
          <p:nvPr>
            <p:ph type="title"/>
          </p:nvPr>
        </p:nvSpPr>
        <p:spPr>
          <a:xfrm>
            <a:off x="457200" y="500360"/>
            <a:ext cx="4170521" cy="346670"/>
          </a:xfrm>
          <a:prstGeom prst="rect">
            <a:avLst/>
          </a:prstGeom>
          <a:noFill/>
          <a:ln/>
        </p:spPr>
        <p:txBody>
          <a:bodyPr wrap="square" lIns="0" tIns="0" rIns="0" bIns="0" rtlCol="0" anchor="t">
            <a:normAutofit/>
          </a:bodyPr>
          <a:lstStyle/>
          <a:p>
            <a:pPr algn="l" indent="0" marL="0">
              <a:lnSpc>
                <a:spcPts val="2530"/>
              </a:lnSpc>
              <a:buNone/>
            </a:pPr>
            <a:r>
              <a:rPr lang="en-US" sz="2300" b="1" i="0" dirty="0">
                <a:solidFill>
                  <a:srgbClr val="0E1320"/>
                </a:solidFill>
                <a:latin typeface="Noto Sans KR" pitchFamily="34" charset="0"/>
                <a:ea typeface="Noto Sans KR" pitchFamily="34" charset="-122"/>
                <a:cs typeface="Noto Sans KR" pitchFamily="34" charset="-120"/>
              </a:rPr>
              <a:t>AI 앱 · 에이전트 트래픽 발견</a:t>
            </a:r>
            <a:endParaRPr lang="en-US" sz="2300" dirty="0"/>
          </a:p>
        </p:txBody>
      </p:sp>
      <p:sp>
        <p:nvSpPr>
          <p:cNvPr id="4" name="Text 2"/>
          <p:cNvSpPr/>
          <p:nvPr/>
        </p:nvSpPr>
        <p:spPr>
          <a:xfrm>
            <a:off x="8560594" y="499070"/>
            <a:ext cx="3174206" cy="322560"/>
          </a:xfrm>
          <a:prstGeom prst="roundRect">
            <a:avLst>
              <a:gd name="adj" fmla="val 19686"/>
            </a:avLst>
          </a:prstGeom>
          <a:solidFill>
            <a:srgbClr val="1428A0"/>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Noto Sans KR" pitchFamily="34" charset="0"/>
                <a:ea typeface="Noto Sans KR" pitchFamily="34" charset="-122"/>
                <a:cs typeface="Noto Sans KR" pitchFamily="34" charset="-120"/>
              </a:rPr>
              <a:t>암호화돼도 보이는 ‘어디로 · 누가 · 어떤 모양으로’</a:t>
            </a:r>
            <a:endParaRPr lang="en-US" sz="1100" dirty="0"/>
          </a:p>
        </p:txBody>
      </p:sp>
      <p:sp>
        <p:nvSpPr>
          <p:cNvPr id="5" name="Shape 3"/>
          <p:cNvSpPr/>
          <p:nvPr/>
        </p:nvSpPr>
        <p:spPr>
          <a:xfrm>
            <a:off x="460375" y="913705"/>
            <a:ext cx="6074668" cy="5124549"/>
          </a:xfrm>
          <a:prstGeom prst="roundRect">
            <a:avLst>
              <a:gd name="adj" fmla="val 1921"/>
            </a:avLst>
          </a:prstGeom>
          <a:solidFill>
            <a:srgbClr val="FFFFFF"/>
          </a:solidFill>
          <a:ln w="6350">
            <a:solidFill>
              <a:srgbClr val="DCE1EA"/>
            </a:solidFill>
            <a:prstDash val="solid"/>
          </a:ln>
        </p:spPr>
      </p:sp>
      <p:sp>
        <p:nvSpPr>
          <p:cNvPr id="6" name="Text 4"/>
          <p:cNvSpPr/>
          <p:nvPr/>
        </p:nvSpPr>
        <p:spPr>
          <a:xfrm>
            <a:off x="603250" y="1005780"/>
            <a:ext cx="323885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1320"/>
                </a:solidFill>
                <a:latin typeface="Noto Sans KR" pitchFamily="34" charset="0"/>
                <a:ea typeface="Noto Sans KR" pitchFamily="34" charset="-122"/>
                <a:cs typeface="Noto Sans KR" pitchFamily="34" charset="-120"/>
              </a:rPr>
              <a:t>Microsoft Entra Internet Access</a:t>
            </a:r>
            <a:endParaRPr lang="en-US" sz="1400" dirty="0"/>
          </a:p>
        </p:txBody>
      </p:sp>
      <p:sp>
        <p:nvSpPr>
          <p:cNvPr id="7" name="Text 5"/>
          <p:cNvSpPr/>
          <p:nvPr/>
        </p:nvSpPr>
        <p:spPr>
          <a:xfrm>
            <a:off x="5407819" y="1027311"/>
            <a:ext cx="984349" cy="205680"/>
          </a:xfrm>
          <a:prstGeom prst="roundRect">
            <a:avLst>
              <a:gd name="adj" fmla="val 50000"/>
            </a:avLst>
          </a:prstGeom>
          <a:solidFill>
            <a:srgbClr val="EEF1FB"/>
          </a:solidFill>
          <a:ln/>
        </p:spPr>
        <p:txBody>
          <a:bodyPr wrap="none" lIns="0" tIns="0" rIns="0" bIns="0" rtlCol="0" anchor="ctr">
            <a:normAutofit/>
          </a:bodyPr>
          <a:lstStyle/>
          <a:p>
            <a:pPr algn="ctr" indent="0" marL="0">
              <a:lnSpc>
                <a:spcPts val="1120"/>
              </a:lnSpc>
              <a:buNone/>
            </a:pPr>
            <a:r>
              <a:rPr lang="en-US" sz="800" b="1" dirty="0">
                <a:solidFill>
                  <a:srgbClr val="1428A0"/>
                </a:solidFill>
                <a:latin typeface="Noto Sans KR" pitchFamily="34" charset="0"/>
                <a:ea typeface="Noto Sans KR" pitchFamily="34" charset="-122"/>
                <a:cs typeface="Noto Sans KR" pitchFamily="34" charset="-120"/>
              </a:rPr>
              <a:t>상용 SSE · 앱 발견</a:t>
            </a:r>
            <a:endParaRPr lang="en-US" sz="800" dirty="0"/>
          </a:p>
        </p:txBody>
      </p:sp>
      <p:sp>
        <p:nvSpPr>
          <p:cNvPr id="8" name="Shape 6"/>
          <p:cNvSpPr/>
          <p:nvPr/>
        </p:nvSpPr>
        <p:spPr>
          <a:xfrm>
            <a:off x="568325" y="1346696"/>
            <a:ext cx="5858768" cy="1835150"/>
          </a:xfrm>
          <a:prstGeom prst="roundRect">
            <a:avLst>
              <a:gd name="adj" fmla="val 3287"/>
            </a:avLst>
          </a:prstGeom>
          <a:solidFill>
            <a:srgbClr val="FFFFFF"/>
          </a:solidFill>
          <a:ln w="6350">
            <a:solidFill>
              <a:srgbClr val="DCE1EA"/>
            </a:solidFill>
            <a:prstDash val="solid"/>
          </a:ln>
        </p:spPr>
      </p:sp>
      <p:pic>
        <p:nvPicPr>
          <p:cNvPr id="9" name="Image 0" descr="Generative AI apps and tools 토글을 켜고 카테고리 AI model provider·Generative AI·MCP server로 필터한 화면: ChatGPT Enterprise, Microsoft 365 Copilot Chat, Anthropic Claude">    </p:cNvPr>
          <p:cNvPicPr>
            <a:picLocks noChangeAspect="1"/>
          </p:cNvPicPr>
          <p:nvPr/>
        </p:nvPicPr>
        <p:blipFill>
          <a:blip r:embed="rId1"/>
          <a:srcRect l="0" r="0" t="0" b="0"/>
          <a:stretch/>
        </p:blipFill>
        <p:spPr>
          <a:xfrm>
            <a:off x="571500" y="1349871"/>
            <a:ext cx="8356600" cy="1828800"/>
          </a:xfrm>
          <a:custGeom>
            <a:avLst/>
            <a:gdLst/>
            <a:ahLst/>
            <a:cxnLst/>
            <a:rect l="l" t="t" r="r" b="b"/>
            <a:pathLst>
              <a:path w="8356600" h="1828800">
                <a:moveTo>
                  <a:pt x="0" y="57150"/>
                </a:moveTo>
                <a:arcTo wR="57150" hR="57150" stAng="10800000" swAng="5400000"/>
                <a:lnTo>
                  <a:pt x="8356600" y="0"/>
                </a:lnTo>
                <a:lnTo>
                  <a:pt x="8356600" y="1828800"/>
                </a:lnTo>
                <a:lnTo>
                  <a:pt x="57150" y="1828800"/>
                </a:lnTo>
                <a:arcTo wR="57150" hR="57150" stAng="5400000" swAng="5400000"/>
                <a:close/>
              </a:path>
            </a:pathLst>
          </a:custGeom>
        </p:spPr>
      </p:pic>
      <p:sp>
        <p:nvSpPr>
          <p:cNvPr id="10" name="Shape 7"/>
          <p:cNvSpPr/>
          <p:nvPr/>
        </p:nvSpPr>
        <p:spPr>
          <a:xfrm>
            <a:off x="568325" y="3251696"/>
            <a:ext cx="5858768" cy="2145209"/>
          </a:xfrm>
          <a:prstGeom prst="roundRect">
            <a:avLst>
              <a:gd name="adj" fmla="val 2812"/>
            </a:avLst>
          </a:prstGeom>
          <a:solidFill>
            <a:srgbClr val="FFFFFF"/>
          </a:solidFill>
          <a:ln w="6350">
            <a:solidFill>
              <a:srgbClr val="DCE1EA"/>
            </a:solidFill>
            <a:prstDash val="solid"/>
          </a:ln>
        </p:spPr>
      </p:sp>
      <p:pic>
        <p:nvPicPr>
          <p:cNvPr id="11" name="Image 1" descr="클라우드 앱 목록: 앱별 카테고리, 위험 점수, 사용자, 기기, 전송량">    </p:cNvPr>
          <p:cNvPicPr>
            <a:picLocks noChangeAspect="1"/>
          </p:cNvPicPr>
          <p:nvPr/>
        </p:nvPicPr>
        <p:blipFill>
          <a:blip r:embed="rId2"/>
          <a:srcRect l="0" r="0" t="2" b="2"/>
          <a:stretch/>
        </p:blipFill>
        <p:spPr>
          <a:xfrm>
            <a:off x="571500" y="3254871"/>
            <a:ext cx="5852418" cy="1783854"/>
          </a:xfrm>
          <a:custGeom>
            <a:avLst/>
            <a:gdLst/>
            <a:ahLst/>
            <a:cxnLst/>
            <a:rect l="l" t="t" r="r" b="b"/>
            <a:pathLst>
              <a:path w="5852418" h="1783854">
                <a:moveTo>
                  <a:pt x="0" y="57150"/>
                </a:moveTo>
                <a:arcTo wR="57150" hR="57150" stAng="10800000" swAng="5400000"/>
                <a:lnTo>
                  <a:pt x="5795268" y="0"/>
                </a:lnTo>
                <a:arcTo wR="57150" hR="57150" stAng="16200000" swAng="5400000"/>
                <a:lnTo>
                  <a:pt x="5852418" y="1783854"/>
                </a:lnTo>
                <a:lnTo>
                  <a:pt x="0" y="1783854"/>
                </a:lnTo>
                <a:close/>
              </a:path>
            </a:pathLst>
          </a:custGeom>
        </p:spPr>
      </p:pic>
      <p:sp>
        <p:nvSpPr>
          <p:cNvPr id="12" name="Text 8"/>
          <p:cNvSpPr/>
          <p:nvPr/>
        </p:nvSpPr>
        <p:spPr>
          <a:xfrm>
            <a:off x="603250" y="5508030"/>
            <a:ext cx="177800" cy="177800"/>
          </a:xfrm>
          <a:custGeom>
            <a:avLst/>
            <a:gdLst/>
            <a:ahLst/>
            <a:cxnLst/>
            <a:rect l="l" t="t" r="r" b="b"/>
            <a:pathLst>
              <a:path w="177800" h="177800">
                <a:moveTo>
                  <a:pt x="88900" y="0"/>
                </a:moveTo>
                <a:lnTo>
                  <a:pt x="88900" y="0"/>
                </a:lnTo>
                <a:arcTo hR="88900" wR="88900" stAng="16200000" swAng="5400000"/>
                <a:lnTo>
                  <a:pt x="177800" y="88900"/>
                </a:lnTo>
                <a:arcTo hR="88900" wR="88900" stAng="0" swAng="5400000"/>
                <a:lnTo>
                  <a:pt x="88900" y="177800"/>
                </a:lnTo>
                <a:arcTo hR="88900" wR="88900" stAng="5400000" swAng="5400000"/>
                <a:lnTo>
                  <a:pt x="0" y="88900"/>
                </a:lnTo>
                <a:arcTo hR="88900" wR="88900" stAng="10800000" swAng="5400000"/>
                <a:close/>
              </a:path>
            </a:pathLst>
          </a:custGeom>
          <a:solidFill>
            <a:srgbClr val="1428A0"/>
          </a:solidFill>
          <a:ln/>
        </p:spPr>
        <p:txBody>
          <a:bodyPr wrap="square" lIns="0" tIns="0" rIns="0" bIns="0" rtlCol="0" anchor="t">
            <a:normAutofit/>
          </a:bodyPr>
          <a:lstStyle/>
          <a:p>
            <a:pPr algn="l" indent="0" marL="0">
              <a:lnSpc>
                <a:spcPts val="1190"/>
              </a:lnSpc>
              <a:buNone/>
            </a:pPr>
            <a:r>
              <a:rPr lang="en-US" sz="850" b="1" dirty="0">
                <a:solidFill>
                  <a:srgbClr val="FFFFFF"/>
                </a:solidFill>
                <a:latin typeface="Noto Sans KR" pitchFamily="34" charset="0"/>
                <a:ea typeface="Noto Sans KR" pitchFamily="34" charset="-122"/>
                <a:cs typeface="Noto Sans KR" pitchFamily="34" charset="-120"/>
              </a:rPr>
              <a:t>1</a:t>
            </a:r>
            <a:endParaRPr lang="en-US" sz="850" dirty="0"/>
          </a:p>
        </p:txBody>
      </p:sp>
      <p:sp>
        <p:nvSpPr>
          <p:cNvPr id="13" name="Text 9"/>
          <p:cNvSpPr/>
          <p:nvPr/>
        </p:nvSpPr>
        <p:spPr>
          <a:xfrm>
            <a:off x="844550" y="5488980"/>
            <a:ext cx="4403050" cy="196850"/>
          </a:xfrm>
          <a:prstGeom prst="rect">
            <a:avLst/>
          </a:prstGeom>
          <a:noFill/>
          <a:ln/>
        </p:spPr>
        <p:txBody>
          <a:bodyPr wrap="square" lIns="0" tIns="0" rIns="0" bIns="0" rtlCol="0" anchor="t">
            <a:normAutofit/>
          </a:bodyPr>
          <a:lstStyle/>
          <a:p>
            <a:pPr algn="l" indent="0" marL="0">
              <a:lnSpc>
                <a:spcPts val="1350"/>
              </a:lnSpc>
              <a:buNone/>
            </a:pPr>
            <a:r>
              <a:rPr lang="en-US" sz="1000" dirty="0">
                <a:solidFill>
                  <a:srgbClr val="0E1320"/>
                </a:solidFill>
                <a:latin typeface="Noto Sans KR" pitchFamily="34" charset="0"/>
                <a:ea typeface="Noto Sans KR" pitchFamily="34" charset="-122"/>
                <a:cs typeface="Noto Sans KR" pitchFamily="34" charset="-120"/>
              </a:rPr>
              <a:t>카테고리 필터 </a:t>
            </a:r>
            <a:r>
              <a:rPr lang="en-US" sz="1000" b="1" dirty="0">
                <a:solidFill>
                  <a:srgbClr val="0E1320"/>
                </a:solidFill>
                <a:latin typeface="Noto Sans KR" pitchFamily="34" charset="0"/>
                <a:ea typeface="Noto Sans KR" pitchFamily="34" charset="-122"/>
                <a:cs typeface="Noto Sans KR" pitchFamily="34" charset="-120"/>
              </a:rPr>
              <a:t>AI model provider · Generative AI · MCP server</a:t>
            </a:r>
            <a:endParaRPr lang="en-US" sz="1000" dirty="0"/>
          </a:p>
        </p:txBody>
      </p:sp>
      <p:sp>
        <p:nvSpPr>
          <p:cNvPr id="14" name="Text 10"/>
          <p:cNvSpPr/>
          <p:nvPr/>
        </p:nvSpPr>
        <p:spPr>
          <a:xfrm>
            <a:off x="603250" y="5755680"/>
            <a:ext cx="177800" cy="177800"/>
          </a:xfrm>
          <a:custGeom>
            <a:avLst/>
            <a:gdLst/>
            <a:ahLst/>
            <a:cxnLst/>
            <a:rect l="l" t="t" r="r" b="b"/>
            <a:pathLst>
              <a:path w="177800" h="177800">
                <a:moveTo>
                  <a:pt x="88900" y="0"/>
                </a:moveTo>
                <a:lnTo>
                  <a:pt x="88900" y="0"/>
                </a:lnTo>
                <a:arcTo hR="88900" wR="88900" stAng="16200000" swAng="5400000"/>
                <a:lnTo>
                  <a:pt x="177800" y="88900"/>
                </a:lnTo>
                <a:arcTo hR="88900" wR="88900" stAng="0" swAng="5400000"/>
                <a:lnTo>
                  <a:pt x="88900" y="177800"/>
                </a:lnTo>
                <a:arcTo hR="88900" wR="88900" stAng="5400000" swAng="5400000"/>
                <a:lnTo>
                  <a:pt x="0" y="88900"/>
                </a:lnTo>
                <a:arcTo hR="88900" wR="88900" stAng="10800000" swAng="5400000"/>
                <a:close/>
              </a:path>
            </a:pathLst>
          </a:custGeom>
          <a:solidFill>
            <a:srgbClr val="C8102E"/>
          </a:solidFill>
          <a:ln/>
        </p:spPr>
        <p:txBody>
          <a:bodyPr wrap="square" lIns="0" tIns="0" rIns="0" bIns="0" rtlCol="0" anchor="t">
            <a:normAutofit/>
          </a:bodyPr>
          <a:lstStyle/>
          <a:p>
            <a:pPr algn="l" indent="0" marL="0">
              <a:lnSpc>
                <a:spcPts val="1190"/>
              </a:lnSpc>
              <a:buNone/>
            </a:pPr>
            <a:r>
              <a:rPr lang="en-US" sz="850" b="1" dirty="0">
                <a:solidFill>
                  <a:srgbClr val="FFFFFF"/>
                </a:solidFill>
                <a:latin typeface="Noto Sans KR" pitchFamily="34" charset="0"/>
                <a:ea typeface="Noto Sans KR" pitchFamily="34" charset="-122"/>
                <a:cs typeface="Noto Sans KR" pitchFamily="34" charset="-120"/>
              </a:rPr>
              <a:t>2</a:t>
            </a:r>
            <a:endParaRPr lang="en-US" sz="850" dirty="0"/>
          </a:p>
        </p:txBody>
      </p:sp>
      <p:sp>
        <p:nvSpPr>
          <p:cNvPr id="15" name="Text 11"/>
          <p:cNvSpPr/>
          <p:nvPr/>
        </p:nvSpPr>
        <p:spPr>
          <a:xfrm>
            <a:off x="844550" y="5736630"/>
            <a:ext cx="3353991" cy="196850"/>
          </a:xfrm>
          <a:prstGeom prst="rect">
            <a:avLst/>
          </a:prstGeom>
          <a:noFill/>
          <a:ln/>
        </p:spPr>
        <p:txBody>
          <a:bodyPr wrap="square" lIns="0" tIns="0" rIns="0" bIns="0" rtlCol="0" anchor="t">
            <a:normAutofit/>
          </a:bodyPr>
          <a:lstStyle/>
          <a:p>
            <a:pPr algn="l" indent="0" marL="0">
              <a:lnSpc>
                <a:spcPts val="1350"/>
              </a:lnSpc>
              <a:buNone/>
            </a:pPr>
            <a:r>
              <a:rPr lang="en-US" sz="1000" dirty="0">
                <a:solidFill>
                  <a:srgbClr val="0E1320"/>
                </a:solidFill>
                <a:latin typeface="Noto Sans KR" pitchFamily="34" charset="0"/>
                <a:ea typeface="Noto Sans KR" pitchFamily="34" charset="-122"/>
                <a:cs typeface="Noto Sans KR" pitchFamily="34" charset="-120"/>
              </a:rPr>
              <a:t>앱별 </a:t>
            </a:r>
            <a:r>
              <a:rPr lang="en-US" sz="1000" b="1" dirty="0">
                <a:solidFill>
                  <a:srgbClr val="0E1320"/>
                </a:solidFill>
                <a:latin typeface="Noto Sans KR" pitchFamily="34" charset="0"/>
                <a:ea typeface="Noto Sans KR" pitchFamily="34" charset="-122"/>
                <a:cs typeface="Noto Sans KR" pitchFamily="34" charset="-120"/>
              </a:rPr>
              <a:t>위험 점수 · 사용자 · 전송량</a:t>
            </a:r>
            <a:r>
              <a:rPr lang="en-US" sz="1000" dirty="0">
                <a:solidFill>
                  <a:srgbClr val="0E1320"/>
                </a:solidFill>
                <a:latin typeface="Noto Sans KR" pitchFamily="34" charset="0"/>
                <a:ea typeface="Noto Sans KR" pitchFamily="34" charset="-122"/>
                <a:cs typeface="Noto Sans KR" pitchFamily="34" charset="-120"/>
              </a:rPr>
              <a:t> → Shadow AI 목록</a:t>
            </a:r>
            <a:endParaRPr lang="en-US" sz="1000" dirty="0"/>
          </a:p>
        </p:txBody>
      </p:sp>
      <p:sp>
        <p:nvSpPr>
          <p:cNvPr id="16" name="Shape 12"/>
          <p:cNvSpPr/>
          <p:nvPr/>
        </p:nvSpPr>
        <p:spPr>
          <a:xfrm>
            <a:off x="6681093" y="913705"/>
            <a:ext cx="5050532" cy="2331541"/>
          </a:xfrm>
          <a:prstGeom prst="roundRect">
            <a:avLst>
              <a:gd name="adj" fmla="val 4221"/>
            </a:avLst>
          </a:prstGeom>
          <a:solidFill>
            <a:srgbClr val="FFFFFF"/>
          </a:solidFill>
          <a:ln w="6350">
            <a:solidFill>
              <a:srgbClr val="DCE1EA"/>
            </a:solidFill>
            <a:prstDash val="solid"/>
          </a:ln>
        </p:spPr>
      </p:sp>
      <p:sp>
        <p:nvSpPr>
          <p:cNvPr id="17" name="Text 13"/>
          <p:cNvSpPr/>
          <p:nvPr/>
        </p:nvSpPr>
        <p:spPr>
          <a:xfrm>
            <a:off x="6823968" y="1018480"/>
            <a:ext cx="123217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1320"/>
                </a:solidFill>
                <a:latin typeface="Noto Sans KR" pitchFamily="34" charset="0"/>
                <a:ea typeface="Noto Sans KR" pitchFamily="34" charset="-122"/>
                <a:cs typeface="Noto Sans KR" pitchFamily="34" charset="-120"/>
              </a:rPr>
              <a:t>AgentSonar</a:t>
            </a:r>
            <a:endParaRPr lang="en-US" sz="1400" dirty="0"/>
          </a:p>
        </p:txBody>
      </p:sp>
      <p:sp>
        <p:nvSpPr>
          <p:cNvPr id="18" name="Text 14"/>
          <p:cNvSpPr/>
          <p:nvPr/>
        </p:nvSpPr>
        <p:spPr>
          <a:xfrm>
            <a:off x="10369054" y="1040011"/>
            <a:ext cx="1219696" cy="205680"/>
          </a:xfrm>
          <a:prstGeom prst="roundRect">
            <a:avLst>
              <a:gd name="adj" fmla="val 50000"/>
            </a:avLst>
          </a:prstGeom>
          <a:solidFill>
            <a:srgbClr val="EEF1FB"/>
          </a:solidFill>
          <a:ln/>
        </p:spPr>
        <p:txBody>
          <a:bodyPr wrap="none" lIns="0" tIns="0" rIns="0" bIns="0" rtlCol="0" anchor="ctr">
            <a:normAutofit/>
          </a:bodyPr>
          <a:lstStyle/>
          <a:p>
            <a:pPr algn="ctr" indent="0" marL="0">
              <a:lnSpc>
                <a:spcPts val="1120"/>
              </a:lnSpc>
              <a:buNone/>
            </a:pPr>
            <a:r>
              <a:rPr lang="en-US" sz="800" b="1" dirty="0">
                <a:solidFill>
                  <a:srgbClr val="1428A0"/>
                </a:solidFill>
                <a:latin typeface="Noto Sans KR" pitchFamily="34" charset="0"/>
                <a:ea typeface="Noto Sans KR" pitchFamily="34" charset="-122"/>
                <a:cs typeface="Noto Sans KR" pitchFamily="34" charset="-120"/>
              </a:rPr>
              <a:t>Knostic · GitHub 공개</a:t>
            </a:r>
            <a:endParaRPr lang="en-US" sz="800" dirty="0"/>
          </a:p>
        </p:txBody>
      </p:sp>
      <p:sp>
        <p:nvSpPr>
          <p:cNvPr id="19" name="Text 15"/>
          <p:cNvSpPr/>
          <p:nvPr/>
        </p:nvSpPr>
        <p:spPr>
          <a:xfrm>
            <a:off x="6823968" y="1330821"/>
            <a:ext cx="4907725" cy="196850"/>
          </a:xfrm>
          <a:prstGeom prst="rect">
            <a:avLst/>
          </a:prstGeom>
          <a:noFill/>
          <a:ln/>
        </p:spPr>
        <p:txBody>
          <a:bodyPr wrap="square" lIns="0" tIns="0" rIns="0" bIns="0" rtlCol="0" anchor="t">
            <a:normAutofit/>
          </a:bodyPr>
          <a:lstStyle/>
          <a:p>
            <a:pPr algn="l" indent="0" marL="0">
              <a:lnSpc>
                <a:spcPts val="1350"/>
              </a:lnSpc>
              <a:buNone/>
            </a:pPr>
            <a:r>
              <a:rPr lang="en-US" sz="1000" b="1" dirty="0">
                <a:solidFill>
                  <a:srgbClr val="0E1320"/>
                </a:solidFill>
                <a:latin typeface="Noto Sans KR" pitchFamily="34" charset="0"/>
                <a:ea typeface="Noto Sans KR" pitchFamily="34" charset="-122"/>
                <a:cs typeface="Noto Sans KR" pitchFamily="34" charset="-120"/>
              </a:rPr>
              <a:t>프로세스 ↔ 도메인</a:t>
            </a:r>
            <a:r>
              <a:rPr lang="en-US" sz="1000" dirty="0">
                <a:solidFill>
                  <a:srgbClr val="4A5366"/>
                </a:solidFill>
                <a:latin typeface="Noto Sans KR" pitchFamily="34" charset="0"/>
                <a:ea typeface="Noto Sans KR" pitchFamily="34" charset="-122"/>
                <a:cs typeface="Noto Sans KR" pitchFamily="34" charset="-120"/>
              </a:rPr>
              <a:t>을 묶고 트래픽 모양으로 AI 점수(0~1)</a:t>
            </a:r>
            <a:endParaRPr lang="en-US" sz="1000" dirty="0"/>
          </a:p>
        </p:txBody>
      </p:sp>
      <p:sp>
        <p:nvSpPr>
          <p:cNvPr id="20" name="Text 16"/>
          <p:cNvSpPr/>
          <p:nvPr/>
        </p:nvSpPr>
        <p:spPr>
          <a:xfrm>
            <a:off x="6823968" y="1565771"/>
            <a:ext cx="4764782" cy="1335683"/>
          </a:xfrm>
          <a:prstGeom prst="roundRect">
            <a:avLst>
              <a:gd name="adj" fmla="val 4754"/>
            </a:avLst>
          </a:prstGeom>
          <a:solidFill>
            <a:srgbClr val="0E1320"/>
          </a:solidFill>
          <a:ln/>
        </p:spPr>
        <p:txBody>
          <a:bodyPr wrap="square" lIns="95701" tIns="70301" rIns="0" bIns="44901" rtlCol="0" anchor="t">
            <a:normAutofit/>
          </a:bodyPr>
          <a:lstStyle/>
          <a:p>
            <a:pPr algn="l" indent="0" marL="0">
              <a:lnSpc>
                <a:spcPts val="1520"/>
              </a:lnSpc>
              <a:buNone/>
            </a:pPr>
            <a:r>
              <a:rPr lang="en-US" sz="950" dirty="0">
                <a:solidFill>
                  <a:srgbClr val="7F8AA3"/>
                </a:solidFill>
                <a:latin typeface="JetBrains Mono" pitchFamily="49" charset="0"/>
                <a:ea typeface="JetBrains Mono" pitchFamily="49" charset="-122"/>
                <a:cs typeface="JetBrains Mono" pitchFamily="49" charset="-120"/>
              </a:rPr>
              <a:t>$</a:t>
            </a:r>
            <a:r>
              <a:rPr lang="en-US" sz="950" dirty="0">
                <a:solidFill>
                  <a:srgbClr val="C9D1E0"/>
                </a:solidFill>
                <a:latin typeface="JetBrains Mono" pitchFamily="49" charset="0"/>
                <a:ea typeface="JetBrains Mono" pitchFamily="49" charset="-122"/>
                <a:cs typeface="JetBrains Mono" pitchFamily="49" charset="-120"/>
              </a:rPr>
              <a:t> agentsonar        </a:t>
            </a:r>
            <a:r>
              <a:rPr lang="en-US" sz="950" dirty="0">
                <a:solidFill>
                  <a:srgbClr val="7F8AA3"/>
                </a:solidFill>
                <a:latin typeface="JetBrains Mono" pitchFamily="49" charset="0"/>
                <a:ea typeface="JetBrains Mono" pitchFamily="49" charset="-122"/>
                <a:cs typeface="JetBrains Mono" pitchFamily="49" charset="-120"/>
              </a:rPr>
              <a:t># 실시간 감시</a:t>
            </a:r>
            <a:endParaRPr lang="en-US" sz="950" dirty="0"/>
          </a:p>
          <a:p>
            <a:pPr algn="l" indent="0" marL="0">
              <a:lnSpc>
                <a:spcPts val="1520"/>
              </a:lnSpc>
              <a:buNone/>
            </a:pPr>
            <a:r>
              <a:rPr lang="en-US" sz="950" dirty="0">
                <a:solidFill>
                  <a:srgbClr val="7F8AA3"/>
                </a:solidFill>
                <a:latin typeface="JetBrains Mono" pitchFamily="49" charset="0"/>
                <a:ea typeface="JetBrains Mono" pitchFamily="49" charset="-122"/>
                <a:cs typeface="JetBrains Mono" pitchFamily="49" charset="-120"/>
              </a:rPr>
              <a:t>$</a:t>
            </a:r>
            <a:r>
              <a:rPr lang="en-US" sz="950" dirty="0">
                <a:solidFill>
                  <a:srgbClr val="C9D1E0"/>
                </a:solidFill>
                <a:latin typeface="JetBrains Mono" pitchFamily="49" charset="0"/>
                <a:ea typeface="JetBrains Mono" pitchFamily="49" charset="-122"/>
                <a:cs typeface="JetBrains Mono" pitchFamily="49" charset="-120"/>
              </a:rPr>
              <a:t> agentsonar triage </a:t>
            </a:r>
            <a:r>
              <a:rPr lang="en-US" sz="950" dirty="0">
                <a:solidFill>
                  <a:srgbClr val="7F8AA3"/>
                </a:solidFill>
                <a:latin typeface="JetBrains Mono" pitchFamily="49" charset="0"/>
                <a:ea typeface="JetBrains Mono" pitchFamily="49" charset="-122"/>
                <a:cs typeface="JetBrains Mono" pitchFamily="49" charset="-120"/>
              </a:rPr>
              <a:t># 미확인 고득점 분류</a:t>
            </a:r>
            <a:endParaRPr lang="en-US" sz="950" dirty="0"/>
          </a:p>
          <a:p>
            <a:pPr algn="l" indent="0" marL="0">
              <a:lnSpc>
                <a:spcPts val="1520"/>
              </a:lnSpc>
              <a:buNone/>
            </a:pPr>
            <a:r>
              <a:rPr lang="en-US" sz="950" dirty="0">
                <a:solidFill>
                  <a:srgbClr val="7F8AA3"/>
                </a:solidFill>
                <a:latin typeface="JetBrains Mono" pitchFamily="49" charset="0"/>
                <a:ea typeface="JetBrains Mono" pitchFamily="49" charset="-122"/>
                <a:cs typeface="JetBrains Mono" pitchFamily="49" charset="-120"/>
              </a:rPr>
              <a:t># classify 결과 (README 예시)</a:t>
            </a:r>
            <a:endParaRPr lang="en-US" sz="950" dirty="0"/>
          </a:p>
          <a:p>
            <a:pPr algn="l" indent="0" marL="0">
              <a:lnSpc>
                <a:spcPts val="1520"/>
              </a:lnSpc>
              <a:buNone/>
            </a:pPr>
            <a:r>
              <a:rPr lang="en-US" sz="950" dirty="0">
                <a:solidFill>
                  <a:srgbClr val="C9D1E0"/>
                </a:solidFill>
                <a:latin typeface="JetBrains Mono" pitchFamily="49" charset="0"/>
                <a:ea typeface="JetBrains Mono" pitchFamily="49" charset="-122"/>
                <a:cs typeface="JetBrains Mono" pitchFamily="49" charset="-120"/>
              </a:rPr>
              <a:t>{</a:t>
            </a:r>
            <a:r>
              <a:rPr lang="en-US" sz="950" dirty="0">
                <a:solidFill>
                  <a:srgbClr val="C3E88D"/>
                </a:solidFill>
                <a:latin typeface="JetBrains Mono" pitchFamily="49" charset="0"/>
                <a:ea typeface="JetBrains Mono" pitchFamily="49" charset="-122"/>
                <a:cs typeface="JetBrains Mono" pitchFamily="49" charset="-120"/>
              </a:rPr>
              <a:t>"proc"</a:t>
            </a:r>
            <a:r>
              <a:rPr lang="en-US" sz="950" dirty="0">
                <a:solidFill>
                  <a:srgbClr val="C9D1E0"/>
                </a:solidFill>
                <a:latin typeface="JetBrains Mono" pitchFamily="49" charset="0"/>
                <a:ea typeface="JetBrains Mono" pitchFamily="49" charset="-122"/>
                <a:cs typeface="JetBrains Mono" pitchFamily="49" charset="-120"/>
              </a:rPr>
              <a:t>:</a:t>
            </a:r>
            <a:r>
              <a:rPr lang="en-US" sz="950" dirty="0">
                <a:solidFill>
                  <a:srgbClr val="FFCDAA"/>
                </a:solidFill>
                <a:latin typeface="JetBrains Mono" pitchFamily="49" charset="0"/>
                <a:ea typeface="JetBrains Mono" pitchFamily="49" charset="-122"/>
                <a:cs typeface="JetBrains Mono" pitchFamily="49" charset="-120"/>
              </a:rPr>
              <a:t>"myagent"</a:t>
            </a:r>
            <a:r>
              <a:rPr lang="en-US" sz="950" dirty="0">
                <a:solidFill>
                  <a:srgbClr val="C9D1E0"/>
                </a:solidFill>
                <a:latin typeface="JetBrains Mono" pitchFamily="49" charset="0"/>
                <a:ea typeface="JetBrains Mono" pitchFamily="49" charset="-122"/>
                <a:cs typeface="JetBrains Mono" pitchFamily="49" charset="-120"/>
              </a:rPr>
              <a:t>,</a:t>
            </a:r>
            <a:endParaRPr lang="en-US" sz="950" dirty="0"/>
          </a:p>
          <a:p>
            <a:pPr algn="l" indent="0" marL="0">
              <a:lnSpc>
                <a:spcPts val="1520"/>
              </a:lnSpc>
              <a:buNone/>
            </a:pPr>
            <a:r>
              <a:rPr lang="en-US" sz="950" dirty="0">
                <a:solidFill>
                  <a:srgbClr val="C9D1E0"/>
                </a:solidFill>
                <a:latin typeface="JetBrains Mono" pitchFamily="49" charset="0"/>
                <a:ea typeface="JetBrains Mono" pitchFamily="49" charset="-122"/>
                <a:cs typeface="JetBrains Mono" pitchFamily="49" charset="-120"/>
              </a:rPr>
              <a:t> </a:t>
            </a:r>
            <a:r>
              <a:rPr lang="en-US" sz="950" dirty="0">
                <a:solidFill>
                  <a:srgbClr val="C3E88D"/>
                </a:solidFill>
                <a:latin typeface="JetBrains Mono" pitchFamily="49" charset="0"/>
                <a:ea typeface="JetBrains Mono" pitchFamily="49" charset="-122"/>
                <a:cs typeface="JetBrains Mono" pitchFamily="49" charset="-120"/>
              </a:rPr>
              <a:t>"domain"</a:t>
            </a:r>
            <a:r>
              <a:rPr lang="en-US" sz="950" dirty="0">
                <a:solidFill>
                  <a:srgbClr val="C9D1E0"/>
                </a:solidFill>
                <a:latin typeface="JetBrains Mono" pitchFamily="49" charset="0"/>
                <a:ea typeface="JetBrains Mono" pitchFamily="49" charset="-122"/>
                <a:cs typeface="JetBrains Mono" pitchFamily="49" charset="-120"/>
              </a:rPr>
              <a:t>:</a:t>
            </a:r>
            <a:r>
              <a:rPr lang="en-US" sz="950" dirty="0">
                <a:solidFill>
                  <a:srgbClr val="9DB4FF"/>
                </a:solidFill>
                <a:latin typeface="JetBrains Mono" pitchFamily="49" charset="0"/>
                <a:ea typeface="JetBrains Mono" pitchFamily="49" charset="-122"/>
                <a:cs typeface="JetBrains Mono" pitchFamily="49" charset="-120"/>
              </a:rPr>
              <a:t>"ai.example.com"</a:t>
            </a:r>
            <a:r>
              <a:rPr lang="en-US" sz="950" dirty="0">
                <a:solidFill>
                  <a:srgbClr val="C9D1E0"/>
                </a:solidFill>
                <a:latin typeface="JetBrains Mono" pitchFamily="49" charset="0"/>
                <a:ea typeface="JetBrains Mono" pitchFamily="49" charset="-122"/>
                <a:cs typeface="JetBrains Mono" pitchFamily="49" charset="-120"/>
              </a:rPr>
              <a:t>,</a:t>
            </a:r>
            <a:endParaRPr lang="en-US" sz="950" dirty="0"/>
          </a:p>
          <a:p>
            <a:pPr algn="l" indent="0" marL="0">
              <a:lnSpc>
                <a:spcPts val="1520"/>
              </a:lnSpc>
              <a:buNone/>
            </a:pPr>
            <a:r>
              <a:rPr lang="en-US" sz="950" dirty="0">
                <a:solidFill>
                  <a:srgbClr val="C9D1E0"/>
                </a:solidFill>
                <a:latin typeface="JetBrains Mono" pitchFamily="49" charset="0"/>
                <a:ea typeface="JetBrains Mono" pitchFamily="49" charset="-122"/>
                <a:cs typeface="JetBrains Mono" pitchFamily="49" charset="-120"/>
              </a:rPr>
              <a:t> </a:t>
            </a:r>
            <a:r>
              <a:rPr lang="en-US" sz="950" dirty="0">
                <a:solidFill>
                  <a:srgbClr val="C3E88D"/>
                </a:solidFill>
                <a:latin typeface="JetBrains Mono" pitchFamily="49" charset="0"/>
                <a:ea typeface="JetBrains Mono" pitchFamily="49" charset="-122"/>
                <a:cs typeface="JetBrains Mono" pitchFamily="49" charset="-120"/>
              </a:rPr>
              <a:t>"scores"</a:t>
            </a:r>
            <a:r>
              <a:rPr lang="en-US" sz="950" dirty="0">
                <a:solidFill>
                  <a:srgbClr val="C9D1E0"/>
                </a:solidFill>
                <a:latin typeface="JetBrains Mono" pitchFamily="49" charset="0"/>
                <a:ea typeface="JetBrains Mono" pitchFamily="49" charset="-122"/>
                <a:cs typeface="JetBrains Mono" pitchFamily="49" charset="-120"/>
              </a:rPr>
              <a:t>:{</a:t>
            </a:r>
            <a:r>
              <a:rPr lang="en-US" sz="950" dirty="0">
                <a:solidFill>
                  <a:srgbClr val="C3E88D"/>
                </a:solidFill>
                <a:latin typeface="JetBrains Mono" pitchFamily="49" charset="0"/>
                <a:ea typeface="JetBrains Mono" pitchFamily="49" charset="-122"/>
                <a:cs typeface="JetBrains Mono" pitchFamily="49" charset="-120"/>
              </a:rPr>
              <a:t>"default"</a:t>
            </a:r>
            <a:r>
              <a:rPr lang="en-US" sz="950" dirty="0">
                <a:solidFill>
                  <a:srgbClr val="C9D1E0"/>
                </a:solidFill>
                <a:latin typeface="JetBrains Mono" pitchFamily="49" charset="0"/>
                <a:ea typeface="JetBrains Mono" pitchFamily="49" charset="-122"/>
                <a:cs typeface="JetBrains Mono" pitchFamily="49" charset="-120"/>
              </a:rPr>
              <a:t>:</a:t>
            </a:r>
            <a:r>
              <a:rPr lang="en-US" sz="950" dirty="0">
                <a:solidFill>
                  <a:srgbClr val="FF8A8A"/>
                </a:solidFill>
                <a:latin typeface="JetBrains Mono" pitchFamily="49" charset="0"/>
                <a:ea typeface="JetBrains Mono" pitchFamily="49" charset="-122"/>
                <a:cs typeface="JetBrains Mono" pitchFamily="49" charset="-120"/>
              </a:rPr>
              <a:t>0.8</a:t>
            </a:r>
            <a:r>
              <a:rPr lang="en-US" sz="950" dirty="0">
                <a:solidFill>
                  <a:srgbClr val="C9D1E0"/>
                </a:solidFill>
                <a:latin typeface="JetBrains Mono" pitchFamily="49" charset="0"/>
                <a:ea typeface="JetBrains Mono" pitchFamily="49" charset="-122"/>
                <a:cs typeface="JetBrains Mono" pitchFamily="49" charset="-120"/>
              </a:rPr>
              <a:t>}}</a:t>
            </a:r>
            <a:endParaRPr lang="en-US" sz="950" dirty="0"/>
          </a:p>
        </p:txBody>
      </p:sp>
      <p:sp>
        <p:nvSpPr>
          <p:cNvPr id="21" name="Text 17"/>
          <p:cNvSpPr/>
          <p:nvPr/>
        </p:nvSpPr>
        <p:spPr>
          <a:xfrm>
            <a:off x="6823968" y="2964954"/>
            <a:ext cx="4907725" cy="188218"/>
          </a:xfrm>
          <a:prstGeom prst="rect">
            <a:avLst/>
          </a:prstGeom>
          <a:noFill/>
          <a:ln/>
        </p:spPr>
        <p:txBody>
          <a:bodyPr wrap="square" lIns="0" tIns="0" rIns="0" bIns="0" rtlCol="0" anchor="t">
            <a:normAutofit/>
          </a:bodyPr>
          <a:lstStyle/>
          <a:p>
            <a:pPr algn="l" indent="0" marL="0">
              <a:lnSpc>
                <a:spcPts val="1283"/>
              </a:lnSpc>
              <a:buNone/>
            </a:pPr>
            <a:r>
              <a:rPr lang="en-US" sz="950" dirty="0">
                <a:solidFill>
                  <a:srgbClr val="0E1320"/>
                </a:solidFill>
                <a:latin typeface="Noto Sans KR" pitchFamily="34" charset="0"/>
                <a:ea typeface="Noto Sans KR" pitchFamily="34" charset="-122"/>
                <a:cs typeface="Noto Sans KR" pitchFamily="34" charset="-120"/>
              </a:rPr>
              <a:t>비대칭 바이트 · 작은 패킷 · 긴 스트리밍 · 프로그램식 TLS → </a:t>
            </a:r>
            <a:r>
              <a:rPr lang="en-US" sz="950" b="1" dirty="0">
                <a:solidFill>
                  <a:srgbClr val="0E1320"/>
                </a:solidFill>
                <a:latin typeface="Noto Sans KR" pitchFamily="34" charset="0"/>
                <a:ea typeface="Noto Sans KR" pitchFamily="34" charset="-122"/>
                <a:cs typeface="Noto Sans KR" pitchFamily="34" charset="-120"/>
              </a:rPr>
              <a:t>LLM 통신</a:t>
            </a:r>
            <a:endParaRPr lang="en-US" sz="950" dirty="0"/>
          </a:p>
        </p:txBody>
      </p:sp>
      <p:sp>
        <p:nvSpPr>
          <p:cNvPr id="22" name="Shape 18"/>
          <p:cNvSpPr/>
          <p:nvPr/>
        </p:nvSpPr>
        <p:spPr>
          <a:xfrm>
            <a:off x="6681093" y="3353197"/>
            <a:ext cx="5050532" cy="2685058"/>
          </a:xfrm>
          <a:prstGeom prst="roundRect">
            <a:avLst>
              <a:gd name="adj" fmla="val 3666"/>
            </a:avLst>
          </a:prstGeom>
          <a:solidFill>
            <a:srgbClr val="FFFFFF"/>
          </a:solidFill>
          <a:ln w="6350">
            <a:solidFill>
              <a:srgbClr val="DCE1EA"/>
            </a:solidFill>
            <a:prstDash val="solid"/>
          </a:ln>
        </p:spPr>
      </p:sp>
      <p:sp>
        <p:nvSpPr>
          <p:cNvPr id="23" name="Text 19"/>
          <p:cNvSpPr/>
          <p:nvPr/>
        </p:nvSpPr>
        <p:spPr>
          <a:xfrm>
            <a:off x="6823968" y="3457972"/>
            <a:ext cx="2140506"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1320"/>
                </a:solidFill>
                <a:latin typeface="Noto Sans KR" pitchFamily="34" charset="0"/>
                <a:ea typeface="Noto Sans KR" pitchFamily="34" charset="-122"/>
                <a:cs typeface="Noto Sans KR" pitchFamily="34" charset="-120"/>
              </a:rPr>
              <a:t>사람 vs 에이전트 트래픽</a:t>
            </a:r>
            <a:endParaRPr lang="en-US" sz="1400" dirty="0"/>
          </a:p>
        </p:txBody>
      </p:sp>
      <p:sp>
        <p:nvSpPr>
          <p:cNvPr id="24" name="Text 20"/>
          <p:cNvSpPr/>
          <p:nvPr/>
        </p:nvSpPr>
        <p:spPr>
          <a:xfrm>
            <a:off x="10295533" y="3479502"/>
            <a:ext cx="1293217" cy="205680"/>
          </a:xfrm>
          <a:prstGeom prst="roundRect">
            <a:avLst>
              <a:gd name="adj" fmla="val 50000"/>
            </a:avLst>
          </a:prstGeom>
          <a:solidFill>
            <a:srgbClr val="EEF1FB"/>
          </a:solidFill>
          <a:ln/>
        </p:spPr>
        <p:txBody>
          <a:bodyPr wrap="none" lIns="0" tIns="0" rIns="0" bIns="0" rtlCol="0" anchor="ctr">
            <a:normAutofit/>
          </a:bodyPr>
          <a:lstStyle/>
          <a:p>
            <a:pPr algn="ctr" indent="0" marL="0">
              <a:lnSpc>
                <a:spcPts val="1120"/>
              </a:lnSpc>
              <a:buNone/>
            </a:pPr>
            <a:r>
              <a:rPr lang="en-US" sz="800" b="1" dirty="0">
                <a:solidFill>
                  <a:srgbClr val="1428A0"/>
                </a:solidFill>
                <a:latin typeface="Noto Sans KR" pitchFamily="34" charset="0"/>
                <a:ea typeface="Noto Sans KR" pitchFamily="34" charset="-122"/>
                <a:cs typeface="Noto Sans KR" pitchFamily="34" charset="-120"/>
              </a:rPr>
              <a:t>같은 AI 도메인 · 다른 모양</a:t>
            </a:r>
            <a:endParaRPr lang="en-US" sz="800" dirty="0"/>
          </a:p>
        </p:txBody>
      </p:sp>
      <p:sp>
        <p:nvSpPr>
          <p:cNvPr id="25" name="Text 21"/>
          <p:cNvSpPr/>
          <p:nvPr/>
        </p:nvSpPr>
        <p:spPr>
          <a:xfrm>
            <a:off x="6823968" y="4304605"/>
            <a:ext cx="812800" cy="363141"/>
          </a:xfrm>
          <a:prstGeom prst="rect">
            <a:avLst/>
          </a:prstGeom>
          <a:noFill/>
          <a:ln/>
        </p:spPr>
        <p:txBody>
          <a:bodyPr wrap="square" lIns="0" tIns="0" rIns="0" bIns="0" rtlCol="0" anchor="t">
            <a:normAutofit/>
          </a:bodyPr>
          <a:lstStyle/>
          <a:p>
            <a:pPr algn="l" indent="0" marL="0">
              <a:lnSpc>
                <a:spcPts val="1330"/>
              </a:lnSpc>
              <a:buNone/>
            </a:pPr>
            <a:r>
              <a:rPr lang="en-US" sz="950" b="1" dirty="0">
                <a:solidFill>
                  <a:srgbClr val="1428A0"/>
                </a:solidFill>
                <a:latin typeface="Noto Sans KR" pitchFamily="34" charset="0"/>
                <a:ea typeface="Noto Sans KR" pitchFamily="34" charset="-122"/>
                <a:cs typeface="Noto Sans KR" pitchFamily="34" charset="-120"/>
              </a:rPr>
              <a:t>사람</a:t>
            </a:r>
            <a:endParaRPr lang="en-US" sz="950" dirty="0"/>
          </a:p>
          <a:p>
            <a:pPr algn="l" indent="0" marL="0">
              <a:lnSpc>
                <a:spcPts val="1330"/>
              </a:lnSpc>
              <a:buNone/>
            </a:pPr>
            <a:r>
              <a:rPr lang="en-US" sz="950" b="1" dirty="0">
                <a:solidFill>
                  <a:srgbClr val="5B6577"/>
                </a:solidFill>
                <a:latin typeface="Noto Sans KR" pitchFamily="34" charset="0"/>
                <a:ea typeface="Noto Sans KR" pitchFamily="34" charset="-122"/>
                <a:cs typeface="Noto Sans KR" pitchFamily="34" charset="-120"/>
              </a:rPr>
              <a:t>브라우저</a:t>
            </a:r>
            <a:endParaRPr lang="en-US" sz="950" dirty="0"/>
          </a:p>
        </p:txBody>
      </p:sp>
      <p:pic>
        <p:nvPicPr>
          <p:cNvPr id="26" name="Image 2" descr="preencoded.png">    </p:cNvPr>
          <p:cNvPicPr>
            <a:picLocks noChangeAspect="1"/>
          </p:cNvPicPr>
          <p:nvPr/>
        </p:nvPicPr>
        <p:blipFill>
          <a:blip r:embed="rId3"/>
          <a:srcRect l="-150758" r="-150758" t="0" b="0"/>
          <a:stretch/>
        </p:blipFill>
        <p:spPr>
          <a:xfrm>
            <a:off x="7662168" y="4263926"/>
            <a:ext cx="3365500" cy="419100"/>
          </a:xfrm>
          <a:prstGeom prst="rect">
            <a:avLst/>
          </a:prstGeom>
        </p:spPr>
      </p:pic>
      <p:sp>
        <p:nvSpPr>
          <p:cNvPr id="27" name="Text 22"/>
          <p:cNvSpPr/>
          <p:nvPr/>
        </p:nvSpPr>
        <p:spPr>
          <a:xfrm>
            <a:off x="6823968" y="4774505"/>
            <a:ext cx="812800" cy="363141"/>
          </a:xfrm>
          <a:prstGeom prst="rect">
            <a:avLst/>
          </a:prstGeom>
          <a:noFill/>
          <a:ln/>
        </p:spPr>
        <p:txBody>
          <a:bodyPr wrap="square" lIns="0" tIns="0" rIns="0" bIns="0" rtlCol="0" anchor="t">
            <a:normAutofit/>
          </a:bodyPr>
          <a:lstStyle/>
          <a:p>
            <a:pPr algn="l" indent="0" marL="0">
              <a:lnSpc>
                <a:spcPts val="1330"/>
              </a:lnSpc>
              <a:buNone/>
            </a:pPr>
            <a:r>
              <a:rPr lang="en-US" sz="950" b="1" dirty="0">
                <a:solidFill>
                  <a:srgbClr val="C8102E"/>
                </a:solidFill>
                <a:latin typeface="Noto Sans KR" pitchFamily="34" charset="0"/>
                <a:ea typeface="Noto Sans KR" pitchFamily="34" charset="-122"/>
                <a:cs typeface="Noto Sans KR" pitchFamily="34" charset="-120"/>
              </a:rPr>
              <a:t>에이전트</a:t>
            </a:r>
            <a:endParaRPr lang="en-US" sz="950" dirty="0"/>
          </a:p>
          <a:p>
            <a:pPr algn="l" indent="0" marL="0">
              <a:lnSpc>
                <a:spcPts val="1330"/>
              </a:lnSpc>
              <a:buNone/>
            </a:pPr>
            <a:r>
              <a:rPr lang="en-US" sz="950" b="1" dirty="0">
                <a:solidFill>
                  <a:srgbClr val="5B6577"/>
                </a:solidFill>
                <a:latin typeface="Noto Sans KR" pitchFamily="34" charset="0"/>
                <a:ea typeface="Noto Sans KR" pitchFamily="34" charset="-122"/>
                <a:cs typeface="Noto Sans KR" pitchFamily="34" charset="-120"/>
              </a:rPr>
              <a:t>프로그램</a:t>
            </a:r>
            <a:endParaRPr lang="en-US" sz="950" dirty="0"/>
          </a:p>
        </p:txBody>
      </p:sp>
      <p:pic>
        <p:nvPicPr>
          <p:cNvPr id="28" name="Image 3" descr="preencoded.png">    </p:cNvPr>
          <p:cNvPicPr>
            <a:picLocks noChangeAspect="1"/>
          </p:cNvPicPr>
          <p:nvPr/>
        </p:nvPicPr>
        <p:blipFill>
          <a:blip r:embed="rId4"/>
          <a:srcRect l="-150758" r="-150758" t="0" b="0"/>
          <a:stretch/>
        </p:blipFill>
        <p:spPr>
          <a:xfrm>
            <a:off x="7662168" y="4733826"/>
            <a:ext cx="3365500" cy="419100"/>
          </a:xfrm>
          <a:prstGeom prst="rect">
            <a:avLst/>
          </a:prstGeom>
        </p:spPr>
      </p:pic>
      <p:sp>
        <p:nvSpPr>
          <p:cNvPr id="29" name="Text 23"/>
          <p:cNvSpPr/>
          <p:nvPr/>
        </p:nvSpPr>
        <p:spPr>
          <a:xfrm>
            <a:off x="6823968" y="5710039"/>
            <a:ext cx="1058168" cy="210741"/>
          </a:xfrm>
          <a:prstGeom prst="roundRect">
            <a:avLst>
              <a:gd name="adj" fmla="val 24105"/>
            </a:avLst>
          </a:prstGeom>
          <a:solidFill>
            <a:srgbClr val="F1F3F7"/>
          </a:solidFill>
          <a:ln/>
        </p:spPr>
        <p:txBody>
          <a:bodyPr wrap="none" lIns="0" tIns="0" rIns="0" bIns="0" rtlCol="0" anchor="ctr">
            <a:normAutofit/>
          </a:bodyPr>
          <a:lstStyle/>
          <a:p>
            <a:pPr algn="ctr" indent="0" marL="0">
              <a:lnSpc>
                <a:spcPts val="1260"/>
              </a:lnSpc>
              <a:buNone/>
            </a:pPr>
            <a:r>
              <a:rPr lang="en-US" sz="900" b="1" dirty="0">
                <a:solidFill>
                  <a:srgbClr val="0E1320"/>
                </a:solidFill>
                <a:latin typeface="Noto Sans KR" pitchFamily="34" charset="0"/>
                <a:ea typeface="Noto Sans KR" pitchFamily="34" charset="-122"/>
                <a:cs typeface="Noto Sans KR" pitchFamily="34" charset="-120"/>
              </a:rPr>
              <a:t>일정 간격</a:t>
            </a:r>
            <a:r>
              <a:rPr lang="en-US" sz="900" dirty="0">
                <a:solidFill>
                  <a:srgbClr val="0E1320"/>
                </a:solidFill>
                <a:latin typeface="Noto Sans KR" pitchFamily="34" charset="0"/>
                <a:ea typeface="Noto Sans KR" pitchFamily="34" charset="-122"/>
                <a:cs typeface="Noto Sans KR" pitchFamily="34" charset="-120"/>
              </a:rPr>
              <a:t> 반복 호출</a:t>
            </a:r>
            <a:endParaRPr lang="en-US" sz="900" dirty="0"/>
          </a:p>
        </p:txBody>
      </p:sp>
      <p:sp>
        <p:nvSpPr>
          <p:cNvPr id="30" name="Text 24"/>
          <p:cNvSpPr/>
          <p:nvPr/>
        </p:nvSpPr>
        <p:spPr>
          <a:xfrm>
            <a:off x="7932936" y="5710039"/>
            <a:ext cx="927398" cy="210741"/>
          </a:xfrm>
          <a:prstGeom prst="roundRect">
            <a:avLst>
              <a:gd name="adj" fmla="val 24105"/>
            </a:avLst>
          </a:prstGeom>
          <a:solidFill>
            <a:srgbClr val="F1F3F7"/>
          </a:solidFill>
          <a:ln/>
        </p:spPr>
        <p:txBody>
          <a:bodyPr wrap="none" lIns="0" tIns="0" rIns="0" bIns="0" rtlCol="0" anchor="ctr">
            <a:normAutofit/>
          </a:bodyPr>
          <a:lstStyle/>
          <a:p>
            <a:pPr algn="ctr" indent="0" marL="0">
              <a:lnSpc>
                <a:spcPts val="1260"/>
              </a:lnSpc>
              <a:buNone/>
            </a:pPr>
            <a:r>
              <a:rPr lang="en-US" sz="900" b="1" dirty="0">
                <a:solidFill>
                  <a:srgbClr val="0E1320"/>
                </a:solidFill>
                <a:latin typeface="Noto Sans KR" pitchFamily="34" charset="0"/>
                <a:ea typeface="Noto Sans KR" pitchFamily="34" charset="-122"/>
                <a:cs typeface="Noto Sans KR" pitchFamily="34" charset="-120"/>
              </a:rPr>
              <a:t>업무시간 외</a:t>
            </a:r>
            <a:r>
              <a:rPr lang="en-US" sz="900" dirty="0">
                <a:solidFill>
                  <a:srgbClr val="0E1320"/>
                </a:solidFill>
                <a:latin typeface="Noto Sans KR" pitchFamily="34" charset="0"/>
                <a:ea typeface="Noto Sans KR" pitchFamily="34" charset="-122"/>
                <a:cs typeface="Noto Sans KR" pitchFamily="34" charset="-120"/>
              </a:rPr>
              <a:t> 지속</a:t>
            </a:r>
            <a:endParaRPr lang="en-US" sz="900" dirty="0"/>
          </a:p>
        </p:txBody>
      </p:sp>
      <p:sp>
        <p:nvSpPr>
          <p:cNvPr id="31" name="Text 25"/>
          <p:cNvSpPr/>
          <p:nvPr/>
        </p:nvSpPr>
        <p:spPr>
          <a:xfrm>
            <a:off x="8911134" y="5710039"/>
            <a:ext cx="1042789" cy="210741"/>
          </a:xfrm>
          <a:prstGeom prst="roundRect">
            <a:avLst>
              <a:gd name="adj" fmla="val 24105"/>
            </a:avLst>
          </a:prstGeom>
          <a:solidFill>
            <a:srgbClr val="F1F3F7"/>
          </a:solidFill>
          <a:ln/>
        </p:spPr>
        <p:txBody>
          <a:bodyPr wrap="none" lIns="0" tIns="0" rIns="0" bIns="0" rtlCol="0" anchor="ctr">
            <a:normAutofit/>
          </a:bodyPr>
          <a:lstStyle/>
          <a:p>
            <a:pPr algn="ctr" indent="0" marL="0">
              <a:lnSpc>
                <a:spcPts val="1260"/>
              </a:lnSpc>
              <a:buNone/>
            </a:pPr>
            <a:r>
              <a:rPr lang="en-US" sz="900" dirty="0">
                <a:solidFill>
                  <a:srgbClr val="0E1320"/>
                </a:solidFill>
                <a:latin typeface="Noto Sans KR" pitchFamily="34" charset="0"/>
                <a:ea typeface="Noto Sans KR" pitchFamily="34" charset="-122"/>
                <a:cs typeface="Noto Sans KR" pitchFamily="34" charset="-120"/>
              </a:rPr>
              <a:t>작은 요청 · </a:t>
            </a:r>
            <a:r>
              <a:rPr lang="en-US" sz="900" b="1" dirty="0">
                <a:solidFill>
                  <a:srgbClr val="0E1320"/>
                </a:solidFill>
                <a:latin typeface="Noto Sans KR" pitchFamily="34" charset="0"/>
                <a:ea typeface="Noto Sans KR" pitchFamily="34" charset="-122"/>
                <a:cs typeface="Noto Sans KR" pitchFamily="34" charset="-120"/>
              </a:rPr>
              <a:t>큰 응답</a:t>
            </a:r>
            <a:endParaRPr lang="en-US" sz="900" dirty="0"/>
          </a:p>
        </p:txBody>
      </p:sp>
      <p:sp>
        <p:nvSpPr>
          <p:cNvPr id="32" name="Shape 26"/>
          <p:cNvSpPr/>
          <p:nvPr/>
        </p:nvSpPr>
        <p:spPr>
          <a:xfrm>
            <a:off x="460375" y="6133505"/>
            <a:ext cx="11271250" cy="353020"/>
          </a:xfrm>
          <a:prstGeom prst="roundRect">
            <a:avLst>
              <a:gd name="adj" fmla="val 20686"/>
            </a:avLst>
          </a:prstGeom>
          <a:solidFill>
            <a:srgbClr val="FFFFFF"/>
          </a:solidFill>
          <a:ln w="6350">
            <a:solidFill>
              <a:srgbClr val="DCE1EA"/>
            </a:solidFill>
            <a:prstDash val="solid"/>
          </a:ln>
        </p:spPr>
      </p:sp>
      <p:sp>
        <p:nvSpPr>
          <p:cNvPr id="33" name="Text 27"/>
          <p:cNvSpPr/>
          <p:nvPr/>
        </p:nvSpPr>
        <p:spPr>
          <a:xfrm>
            <a:off x="590550" y="6225580"/>
            <a:ext cx="272852" cy="194270"/>
          </a:xfrm>
          <a:prstGeom prst="rect">
            <a:avLst/>
          </a:prstGeom>
          <a:noFill/>
          <a:ln/>
        </p:spPr>
        <p:txBody>
          <a:bodyPr wrap="none" lIns="0" tIns="0" rIns="0" bIns="0" rtlCol="0" anchor="t">
            <a:normAutofit/>
          </a:bodyPr>
          <a:lstStyle/>
          <a:p>
            <a:pPr algn="l" indent="0" marL="0">
              <a:lnSpc>
                <a:spcPts val="1330"/>
              </a:lnSpc>
              <a:buNone/>
            </a:pPr>
            <a:r>
              <a:rPr lang="en-US" sz="950" b="1" dirty="0">
                <a:solidFill>
                  <a:srgbClr val="1428A0"/>
                </a:solidFill>
                <a:latin typeface="Noto Sans KR" pitchFamily="34" charset="0"/>
                <a:ea typeface="Noto Sans KR" pitchFamily="34" charset="-122"/>
                <a:cs typeface="Noto Sans KR" pitchFamily="34" charset="-120"/>
              </a:rPr>
              <a:t>추세</a:t>
            </a:r>
            <a:endParaRPr lang="en-US" sz="950" dirty="0"/>
          </a:p>
        </p:txBody>
      </p:sp>
      <p:sp>
        <p:nvSpPr>
          <p:cNvPr id="34" name="Text 28"/>
          <p:cNvSpPr/>
          <p:nvPr/>
        </p:nvSpPr>
        <p:spPr>
          <a:xfrm>
            <a:off x="888802" y="6200180"/>
            <a:ext cx="984250" cy="219670"/>
          </a:xfrm>
          <a:prstGeom prst="roundRect">
            <a:avLst>
              <a:gd name="adj" fmla="val 23126"/>
            </a:avLst>
          </a:prstGeom>
          <a:solidFill>
            <a:srgbClr val="F1F3F7"/>
          </a:solidFill>
          <a:ln/>
        </p:spPr>
        <p:txBody>
          <a:bodyPr wrap="none" lIns="0" tIns="0" rIns="0" bIns="0" rtlCol="0" anchor="ctr">
            <a:normAutofit/>
          </a:bodyPr>
          <a:lstStyle/>
          <a:p>
            <a:pPr algn="ctr" indent="0" marL="0">
              <a:lnSpc>
                <a:spcPts val="1330"/>
              </a:lnSpc>
              <a:buNone/>
            </a:pPr>
            <a:r>
              <a:rPr lang="en-US" sz="950" b="1" dirty="0">
                <a:solidFill>
                  <a:srgbClr val="0E1320"/>
                </a:solidFill>
                <a:latin typeface="Noto Sans KR" pitchFamily="34" charset="0"/>
                <a:ea typeface="Noto Sans KR" pitchFamily="34" charset="-122"/>
                <a:cs typeface="Noto Sans KR" pitchFamily="34" charset="-120"/>
              </a:rPr>
              <a:t>도메인 목록 차단</a:t>
            </a:r>
            <a:endParaRPr lang="en-US" sz="950" dirty="0"/>
          </a:p>
        </p:txBody>
      </p:sp>
      <p:sp>
        <p:nvSpPr>
          <p:cNvPr id="35" name="Text 29"/>
          <p:cNvSpPr/>
          <p:nvPr/>
        </p:nvSpPr>
        <p:spPr>
          <a:xfrm>
            <a:off x="1949252" y="6221115"/>
            <a:ext cx="177800" cy="203200"/>
          </a:xfrm>
          <a:prstGeom prst="rect">
            <a:avLst/>
          </a:prstGeom>
          <a:noFill/>
          <a:ln/>
        </p:spPr>
        <p:txBody>
          <a:bodyPr wrap="square" lIns="0" tIns="0" rIns="0" bIns="0" rtlCol="0" anchor="t">
            <a:normAutofit/>
          </a:bodyPr>
          <a:lstStyle/>
          <a:p>
            <a:pPr algn="l" indent="0" marL="0">
              <a:lnSpc>
                <a:spcPts val="1400"/>
              </a:lnSpc>
              <a:buNone/>
            </a:pPr>
            <a:r>
              <a:rPr lang="en-US" sz="1000" b="1" dirty="0">
                <a:solidFill>
                  <a:srgbClr val="1428A0"/>
                </a:solidFill>
                <a:latin typeface="Noto Sans KR" pitchFamily="34" charset="0"/>
                <a:ea typeface="Noto Sans KR" pitchFamily="34" charset="-122"/>
                <a:cs typeface="Noto Sans KR" pitchFamily="34" charset="-120"/>
              </a:rPr>
              <a:t>→</a:t>
            </a:r>
            <a:endParaRPr lang="en-US" sz="1000" dirty="0"/>
          </a:p>
        </p:txBody>
      </p:sp>
      <p:sp>
        <p:nvSpPr>
          <p:cNvPr id="36" name="Text 30"/>
          <p:cNvSpPr/>
          <p:nvPr/>
        </p:nvSpPr>
        <p:spPr>
          <a:xfrm>
            <a:off x="2152452" y="6200180"/>
            <a:ext cx="2119610" cy="219670"/>
          </a:xfrm>
          <a:prstGeom prst="roundRect">
            <a:avLst>
              <a:gd name="adj" fmla="val 23126"/>
            </a:avLst>
          </a:prstGeom>
          <a:solidFill>
            <a:srgbClr val="F1F3F7"/>
          </a:solidFill>
          <a:ln/>
        </p:spPr>
        <p:txBody>
          <a:bodyPr wrap="none" lIns="0" tIns="0" rIns="0" bIns="0" rtlCol="0" anchor="ctr">
            <a:normAutofit/>
          </a:bodyPr>
          <a:lstStyle/>
          <a:p>
            <a:pPr algn="ctr" indent="0" marL="0">
              <a:lnSpc>
                <a:spcPts val="1330"/>
              </a:lnSpc>
              <a:buNone/>
            </a:pPr>
            <a:r>
              <a:rPr lang="en-US" sz="950" b="1" dirty="0">
                <a:solidFill>
                  <a:srgbClr val="0E1320"/>
                </a:solidFill>
                <a:latin typeface="Noto Sans KR" pitchFamily="34" charset="0"/>
                <a:ea typeface="Noto Sans KR" pitchFamily="34" charset="-122"/>
                <a:cs typeface="Noto Sans KR" pitchFamily="34" charset="-120"/>
              </a:rPr>
              <a:t>벤더 관리 AI 카테고리 (MCP 서버 포함)</a:t>
            </a:r>
            <a:endParaRPr lang="en-US" sz="950" dirty="0"/>
          </a:p>
        </p:txBody>
      </p:sp>
      <p:sp>
        <p:nvSpPr>
          <p:cNvPr id="37" name="Text 31"/>
          <p:cNvSpPr/>
          <p:nvPr/>
        </p:nvSpPr>
        <p:spPr>
          <a:xfrm>
            <a:off x="4348262" y="6221115"/>
            <a:ext cx="177800" cy="203200"/>
          </a:xfrm>
          <a:prstGeom prst="rect">
            <a:avLst/>
          </a:prstGeom>
          <a:noFill/>
          <a:ln/>
        </p:spPr>
        <p:txBody>
          <a:bodyPr wrap="square" lIns="0" tIns="0" rIns="0" bIns="0" rtlCol="0" anchor="t">
            <a:normAutofit/>
          </a:bodyPr>
          <a:lstStyle/>
          <a:p>
            <a:pPr algn="l" indent="0" marL="0">
              <a:lnSpc>
                <a:spcPts val="1400"/>
              </a:lnSpc>
              <a:buNone/>
            </a:pPr>
            <a:r>
              <a:rPr lang="en-US" sz="1000" b="1" dirty="0">
                <a:solidFill>
                  <a:srgbClr val="1428A0"/>
                </a:solidFill>
                <a:latin typeface="Noto Sans KR" pitchFamily="34" charset="0"/>
                <a:ea typeface="Noto Sans KR" pitchFamily="34" charset="-122"/>
                <a:cs typeface="Noto Sans KR" pitchFamily="34" charset="-120"/>
              </a:rPr>
              <a:t>→</a:t>
            </a:r>
            <a:endParaRPr lang="en-US" sz="1000" dirty="0"/>
          </a:p>
        </p:txBody>
      </p:sp>
      <p:sp>
        <p:nvSpPr>
          <p:cNvPr id="38" name="Text 32"/>
          <p:cNvSpPr/>
          <p:nvPr/>
        </p:nvSpPr>
        <p:spPr>
          <a:xfrm>
            <a:off x="4551462" y="6200180"/>
            <a:ext cx="1305024" cy="219670"/>
          </a:xfrm>
          <a:prstGeom prst="roundRect">
            <a:avLst>
              <a:gd name="adj" fmla="val 23126"/>
            </a:avLst>
          </a:prstGeom>
          <a:solidFill>
            <a:srgbClr val="1428A0"/>
          </a:solidFill>
          <a:ln/>
        </p:spPr>
        <p:txBody>
          <a:bodyPr wrap="none" lIns="0" tIns="0" rIns="0" bIns="0" rtlCol="0" anchor="ctr">
            <a:normAutofit/>
          </a:bodyPr>
          <a:lstStyle/>
          <a:p>
            <a:pPr algn="ctr" indent="0" marL="0">
              <a:lnSpc>
                <a:spcPts val="1330"/>
              </a:lnSpc>
              <a:buNone/>
            </a:pPr>
            <a:r>
              <a:rPr lang="en-US" sz="950" b="1" dirty="0">
                <a:solidFill>
                  <a:srgbClr val="FFFFFF"/>
                </a:solidFill>
                <a:latin typeface="Noto Sans KR" pitchFamily="34" charset="0"/>
                <a:ea typeface="Noto Sans KR" pitchFamily="34" charset="-122"/>
                <a:cs typeface="Noto Sans KR" pitchFamily="34" charset="-120"/>
              </a:rPr>
              <a:t>프로세스 · 트래픽 모양</a:t>
            </a:r>
            <a:endParaRPr lang="en-US" sz="950" dirty="0"/>
          </a:p>
        </p:txBody>
      </p:sp>
      <p:pic>
        <p:nvPicPr>
          <p:cNvPr id="39" name="Image 4" descr="JA4+ 로고">    </p:cNvPr>
          <p:cNvPicPr>
            <a:picLocks noChangeAspect="1"/>
          </p:cNvPicPr>
          <p:nvPr/>
        </p:nvPicPr>
        <p:blipFill>
          <a:blip r:embed="rId5"/>
          <a:srcRect l="0" r="0" t="0" b="0"/>
          <a:stretch/>
        </p:blipFill>
        <p:spPr>
          <a:xfrm>
            <a:off x="5932686" y="6202065"/>
            <a:ext cx="215900" cy="215900"/>
          </a:xfrm>
          <a:prstGeom prst="rect">
            <a:avLst/>
          </a:prstGeom>
        </p:spPr>
      </p:pic>
      <p:sp>
        <p:nvSpPr>
          <p:cNvPr id="40" name="Text 33"/>
          <p:cNvSpPr/>
          <p:nvPr/>
        </p:nvSpPr>
        <p:spPr>
          <a:xfrm>
            <a:off x="6199386" y="6234410"/>
            <a:ext cx="2542699" cy="176510"/>
          </a:xfrm>
          <a:prstGeom prst="rect">
            <a:avLst/>
          </a:prstGeom>
          <a:noFill/>
          <a:ln/>
        </p:spPr>
        <p:txBody>
          <a:bodyPr wrap="square" lIns="0" tIns="0" rIns="0" bIns="0" rtlCol="0" anchor="t">
            <a:normAutofit/>
          </a:bodyPr>
          <a:lstStyle/>
          <a:p>
            <a:pPr algn="l" indent="0" marL="0">
              <a:lnSpc>
                <a:spcPts val="1190"/>
              </a:lnSpc>
              <a:buNone/>
            </a:pPr>
            <a:r>
              <a:rPr lang="en-US" sz="850" dirty="0">
                <a:solidFill>
                  <a:srgbClr val="5B6577"/>
                </a:solidFill>
                <a:latin typeface="Noto Sans KR" pitchFamily="34" charset="0"/>
                <a:ea typeface="Noto Sans KR" pitchFamily="34" charset="-122"/>
                <a:cs typeface="Noto Sans KR" pitchFamily="34" charset="-120"/>
              </a:rPr>
              <a:t>TLS 지문(JA4+)으로 브라우저 vs 스크립트 구분</a:t>
            </a:r>
            <a:endParaRPr lang="en-US" sz="850" dirty="0"/>
          </a:p>
        </p:txBody>
      </p:sp>
      <p:sp>
        <p:nvSpPr>
          <p:cNvPr id="41" name="Text 34"/>
          <p:cNvSpPr/>
          <p:nvPr/>
        </p:nvSpPr>
        <p:spPr>
          <a:xfrm>
            <a:off x="11176000" y="65049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457200" y="279400"/>
            <a:ext cx="3610152" cy="22096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A16207"/>
                </a:solidFill>
                <a:latin typeface="Noto Sans KR" pitchFamily="34" charset="0"/>
                <a:ea typeface="Noto Sans KR" pitchFamily="34" charset="-122"/>
                <a:cs typeface="Noto Sans KR" pitchFamily="34" charset="-120"/>
              </a:rPr>
              <a:t>Shadow Agent 탐지 ③ · 사내 내부</a:t>
            </a:r>
            <a:endParaRPr lang="en-US" sz="1100" dirty="0"/>
          </a:p>
        </p:txBody>
      </p:sp>
      <p:sp>
        <p:nvSpPr>
          <p:cNvPr id="3" name="Text 1"/>
          <p:cNvSpPr/>
          <p:nvPr>
            <p:ph type="title"/>
          </p:nvPr>
        </p:nvSpPr>
        <p:spPr>
          <a:xfrm>
            <a:off x="457200" y="500360"/>
            <a:ext cx="4206002" cy="346670"/>
          </a:xfrm>
          <a:prstGeom prst="rect">
            <a:avLst/>
          </a:prstGeom>
          <a:noFill/>
          <a:ln/>
        </p:spPr>
        <p:txBody>
          <a:bodyPr wrap="square" lIns="0" tIns="0" rIns="0" bIns="0" rtlCol="0" anchor="t">
            <a:normAutofit/>
          </a:bodyPr>
          <a:lstStyle/>
          <a:p>
            <a:pPr algn="l" indent="0" marL="0">
              <a:lnSpc>
                <a:spcPts val="2530"/>
              </a:lnSpc>
              <a:buNone/>
            </a:pPr>
            <a:r>
              <a:rPr lang="en-US" sz="2300" b="1" i="0" dirty="0">
                <a:solidFill>
                  <a:srgbClr val="0E1320"/>
                </a:solidFill>
                <a:latin typeface="Noto Sans KR" pitchFamily="34" charset="0"/>
                <a:ea typeface="Noto Sans KR" pitchFamily="34" charset="-122"/>
                <a:cs typeface="Noto Sans KR" pitchFamily="34" charset="-120"/>
              </a:rPr>
              <a:t>사내 자체개발 AI 서비스 탐지</a:t>
            </a:r>
            <a:endParaRPr lang="en-US" sz="2300" dirty="0"/>
          </a:p>
        </p:txBody>
      </p:sp>
      <p:sp>
        <p:nvSpPr>
          <p:cNvPr id="4" name="Text 2"/>
          <p:cNvSpPr/>
          <p:nvPr/>
        </p:nvSpPr>
        <p:spPr>
          <a:xfrm>
            <a:off x="9226947" y="499070"/>
            <a:ext cx="2507853" cy="322560"/>
          </a:xfrm>
          <a:prstGeom prst="roundRect">
            <a:avLst>
              <a:gd name="adj" fmla="val 19686"/>
            </a:avLst>
          </a:prstGeom>
          <a:solidFill>
            <a:srgbClr val="A16207"/>
          </a:solidFill>
          <a:ln/>
        </p:spPr>
        <p:txBody>
          <a:bodyPr wrap="none" lIns="0" tIns="0" rIns="0" bIns="0" rtlCol="0" anchor="ctr">
            <a:normAutofit/>
          </a:bodyPr>
          <a:lstStyle/>
          <a:p>
            <a:pPr algn="ctr" indent="0" marL="0">
              <a:lnSpc>
                <a:spcPts val="1540"/>
              </a:lnSpc>
              <a:buNone/>
            </a:pPr>
            <a:r>
              <a:rPr lang="en-US" sz="1100" b="1" dirty="0">
                <a:solidFill>
                  <a:srgbClr val="FFFFFF"/>
                </a:solidFill>
                <a:latin typeface="Noto Sans KR" pitchFamily="34" charset="0"/>
                <a:ea typeface="Noto Sans KR" pitchFamily="34" charset="-122"/>
                <a:cs typeface="Noto Sans KR" pitchFamily="34" charset="-120"/>
              </a:rPr>
              <a:t>부서용 AI 웹이 다른 부서에도 열려 있다</a:t>
            </a:r>
            <a:endParaRPr lang="en-US" sz="1100" dirty="0"/>
          </a:p>
        </p:txBody>
      </p:sp>
      <p:sp>
        <p:nvSpPr>
          <p:cNvPr id="5" name="Shape 3"/>
          <p:cNvSpPr/>
          <p:nvPr/>
        </p:nvSpPr>
        <p:spPr>
          <a:xfrm>
            <a:off x="460375" y="913705"/>
            <a:ext cx="5562600" cy="4230489"/>
          </a:xfrm>
          <a:prstGeom prst="roundRect">
            <a:avLst>
              <a:gd name="adj" fmla="val 2327"/>
            </a:avLst>
          </a:prstGeom>
          <a:solidFill>
            <a:srgbClr val="FFFFFF"/>
          </a:solidFill>
          <a:ln w="6350">
            <a:solidFill>
              <a:srgbClr val="DCE1EA"/>
            </a:solidFill>
            <a:prstDash val="solid"/>
          </a:ln>
        </p:spPr>
      </p:sp>
      <p:sp>
        <p:nvSpPr>
          <p:cNvPr id="6" name="Text 4"/>
          <p:cNvSpPr/>
          <p:nvPr/>
        </p:nvSpPr>
        <p:spPr>
          <a:xfrm>
            <a:off x="603250" y="1031180"/>
            <a:ext cx="5435155"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1320"/>
                </a:solidFill>
                <a:latin typeface="Noto Sans KR" pitchFamily="34" charset="0"/>
                <a:ea typeface="Noto Sans KR" pitchFamily="34" charset="-122"/>
                <a:cs typeface="Noto Sans KR" pitchFamily="34" charset="-120"/>
              </a:rPr>
              <a:t>이런 경우</a:t>
            </a:r>
            <a:endParaRPr lang="en-US" sz="1300" dirty="0"/>
          </a:p>
        </p:txBody>
      </p:sp>
      <p:pic>
        <p:nvPicPr>
          <p:cNvPr id="7" name="Image 0" descr="preencoded.png">    </p:cNvPr>
          <p:cNvPicPr>
            <a:picLocks noChangeAspect="1"/>
          </p:cNvPicPr>
          <p:nvPr/>
        </p:nvPicPr>
        <p:blipFill>
          <a:blip r:embed="rId1"/>
          <a:srcRect l="0" r="0" t="0" b="0"/>
          <a:stretch/>
        </p:blipFill>
        <p:spPr>
          <a:xfrm>
            <a:off x="698500" y="2462510"/>
            <a:ext cx="762000" cy="571500"/>
          </a:xfrm>
          <a:prstGeom prst="rect">
            <a:avLst/>
          </a:prstGeom>
        </p:spPr>
      </p:pic>
      <p:sp>
        <p:nvSpPr>
          <p:cNvPr id="8" name="Text 5"/>
          <p:cNvSpPr/>
          <p:nvPr/>
        </p:nvSpPr>
        <p:spPr>
          <a:xfrm>
            <a:off x="790545" y="3084810"/>
            <a:ext cx="57781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E6B3A"/>
                </a:solidFill>
                <a:latin typeface="Noto Sans KR" pitchFamily="34" charset="0"/>
                <a:ea typeface="Noto Sans KR" pitchFamily="34" charset="-122"/>
                <a:cs typeface="Noto Sans KR" pitchFamily="34" charset="-120"/>
              </a:rPr>
              <a:t>부서 A</a:t>
            </a:r>
            <a:endParaRPr lang="en-US" sz="1400" dirty="0"/>
          </a:p>
        </p:txBody>
      </p:sp>
      <p:sp>
        <p:nvSpPr>
          <p:cNvPr id="9" name="Text 6"/>
          <p:cNvSpPr/>
          <p:nvPr/>
        </p:nvSpPr>
        <p:spPr>
          <a:xfrm>
            <a:off x="796846" y="3384451"/>
            <a:ext cx="565309" cy="194270"/>
          </a:xfrm>
          <a:prstGeom prst="rect">
            <a:avLst/>
          </a:prstGeom>
          <a:noFill/>
          <a:ln/>
        </p:spPr>
        <p:txBody>
          <a:bodyPr wrap="square" lIns="0" tIns="0" rIns="0" bIns="0" rtlCol="0" anchor="t">
            <a:normAutofit/>
          </a:bodyPr>
          <a:lstStyle/>
          <a:p>
            <a:pPr algn="ctr" indent="0" marL="0">
              <a:lnSpc>
                <a:spcPts val="1330"/>
              </a:lnSpc>
              <a:buNone/>
            </a:pPr>
            <a:r>
              <a:rPr lang="en-US" sz="950" dirty="0">
                <a:solidFill>
                  <a:srgbClr val="4A5366"/>
                </a:solidFill>
                <a:latin typeface="Noto Sans KR" pitchFamily="34" charset="0"/>
                <a:ea typeface="Noto Sans KR" pitchFamily="34" charset="-122"/>
                <a:cs typeface="Noto Sans KR" pitchFamily="34" charset="-120"/>
              </a:rPr>
              <a:t>만든 부서</a:t>
            </a:r>
            <a:endParaRPr lang="en-US" sz="950" dirty="0"/>
          </a:p>
        </p:txBody>
      </p:sp>
      <p:pic>
        <p:nvPicPr>
          <p:cNvPr id="10" name="Image 1" descr="preencoded.png">    </p:cNvPr>
          <p:cNvPicPr>
            <a:picLocks noChangeAspect="1"/>
          </p:cNvPicPr>
          <p:nvPr/>
        </p:nvPicPr>
        <p:blipFill>
          <a:blip r:embed="rId2"/>
          <a:srcRect l="0" r="0" t="0" b="0"/>
          <a:stretch/>
        </p:blipFill>
        <p:spPr>
          <a:xfrm>
            <a:off x="1644650" y="2804716"/>
            <a:ext cx="381000" cy="114300"/>
          </a:xfrm>
          <a:prstGeom prst="rect">
            <a:avLst/>
          </a:prstGeom>
        </p:spPr>
      </p:pic>
      <p:sp>
        <p:nvSpPr>
          <p:cNvPr id="11" name="Text 7"/>
          <p:cNvSpPr/>
          <p:nvPr/>
        </p:nvSpPr>
        <p:spPr>
          <a:xfrm>
            <a:off x="1740793" y="2944416"/>
            <a:ext cx="188615"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E6B3A"/>
                </a:solidFill>
                <a:latin typeface="Noto Sans KR" pitchFamily="34" charset="0"/>
                <a:ea typeface="Noto Sans KR" pitchFamily="34" charset="-122"/>
                <a:cs typeface="Noto Sans KR" pitchFamily="34" charset="-120"/>
              </a:rPr>
              <a:t>✓</a:t>
            </a:r>
            <a:endParaRPr lang="en-US" sz="1500" dirty="0"/>
          </a:p>
        </p:txBody>
      </p:sp>
      <p:sp>
        <p:nvSpPr>
          <p:cNvPr id="12" name="Shape 8"/>
          <p:cNvSpPr/>
          <p:nvPr/>
        </p:nvSpPr>
        <p:spPr>
          <a:xfrm>
            <a:off x="2124075" y="2310805"/>
            <a:ext cx="2235200" cy="1394321"/>
          </a:xfrm>
          <a:prstGeom prst="roundRect">
            <a:avLst>
              <a:gd name="adj" fmla="val 5693"/>
            </a:avLst>
          </a:prstGeom>
          <a:solidFill>
            <a:srgbClr val="FBF5E6"/>
          </a:solidFill>
          <a:ln w="19050">
            <a:solidFill>
              <a:srgbClr val="A16207"/>
            </a:solidFill>
            <a:prstDash val="solid"/>
          </a:ln>
        </p:spPr>
      </p:sp>
      <p:pic>
        <p:nvPicPr>
          <p:cNvPr id="13" name="Image 2" descr="preencoded.png">    </p:cNvPr>
          <p:cNvPicPr>
            <a:picLocks noChangeAspect="1"/>
          </p:cNvPicPr>
          <p:nvPr/>
        </p:nvPicPr>
        <p:blipFill>
          <a:blip r:embed="rId3"/>
          <a:srcRect l="0" r="0" t="0" b="0"/>
          <a:stretch/>
        </p:blipFill>
        <p:spPr>
          <a:xfrm>
            <a:off x="2260600" y="2460030"/>
            <a:ext cx="279400" cy="279400"/>
          </a:xfrm>
          <a:prstGeom prst="rect">
            <a:avLst/>
          </a:prstGeom>
        </p:spPr>
      </p:pic>
      <p:sp>
        <p:nvSpPr>
          <p:cNvPr id="14" name="Text 9"/>
          <p:cNvSpPr/>
          <p:nvPr/>
        </p:nvSpPr>
        <p:spPr>
          <a:xfrm>
            <a:off x="2603500" y="2475309"/>
            <a:ext cx="151923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1320"/>
                </a:solidFill>
                <a:latin typeface="Noto Sans KR" pitchFamily="34" charset="0"/>
                <a:ea typeface="Noto Sans KR" pitchFamily="34" charset="-122"/>
                <a:cs typeface="Noto Sans KR" pitchFamily="34" charset="-120"/>
              </a:rPr>
              <a:t>부서 A AI 채팅 웹</a:t>
            </a:r>
            <a:endParaRPr lang="en-US" sz="1400" dirty="0"/>
          </a:p>
        </p:txBody>
      </p:sp>
      <p:sp>
        <p:nvSpPr>
          <p:cNvPr id="15" name="Text 10"/>
          <p:cNvSpPr/>
          <p:nvPr/>
        </p:nvSpPr>
        <p:spPr>
          <a:xfrm>
            <a:off x="2260600" y="2815630"/>
            <a:ext cx="2021014" cy="212030"/>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4A5366"/>
                </a:solidFill>
                <a:latin typeface="JetBrains Mono" pitchFamily="49" charset="0"/>
                <a:ea typeface="JetBrains Mono" pitchFamily="49" charset="-122"/>
                <a:cs typeface="JetBrains Mono" pitchFamily="49" charset="-120"/>
              </a:rPr>
              <a:t>10.20.3.14:8080</a:t>
            </a:r>
            <a:endParaRPr lang="en-US" sz="1050" dirty="0"/>
          </a:p>
        </p:txBody>
      </p:sp>
      <p:sp>
        <p:nvSpPr>
          <p:cNvPr id="16" name="Text 11"/>
          <p:cNvSpPr/>
          <p:nvPr/>
        </p:nvSpPr>
        <p:spPr>
          <a:xfrm>
            <a:off x="2260600" y="3078460"/>
            <a:ext cx="880864" cy="219670"/>
          </a:xfrm>
          <a:prstGeom prst="roundRect">
            <a:avLst>
              <a:gd name="adj" fmla="val 17344"/>
            </a:avLst>
          </a:prstGeom>
          <a:solidFill>
            <a:srgbClr val="FFFFFF"/>
          </a:solidFill>
          <a:ln/>
        </p:spPr>
        <p:txBody>
          <a:bodyPr wrap="none" lIns="0" tIns="0" rIns="0" bIns="0" rtlCol="0" anchor="ctr">
            <a:normAutofit/>
          </a:bodyPr>
          <a:lstStyle/>
          <a:p>
            <a:pPr algn="ctr" indent="0" marL="0">
              <a:lnSpc>
                <a:spcPts val="1330"/>
              </a:lnSpc>
              <a:buNone/>
            </a:pPr>
            <a:r>
              <a:rPr lang="en-US" sz="950" b="1" dirty="0">
                <a:solidFill>
                  <a:srgbClr val="0E1320"/>
                </a:solidFill>
                <a:latin typeface="Noto Sans KR" pitchFamily="34" charset="0"/>
                <a:ea typeface="Noto Sans KR" pitchFamily="34" charset="-122"/>
                <a:cs typeface="Noto Sans KR" pitchFamily="34" charset="-120"/>
              </a:rPr>
              <a:t>부서 문서 RAG</a:t>
            </a:r>
            <a:endParaRPr lang="en-US" sz="950" dirty="0"/>
          </a:p>
        </p:txBody>
      </p:sp>
      <p:sp>
        <p:nvSpPr>
          <p:cNvPr id="17" name="Text 12"/>
          <p:cNvSpPr/>
          <p:nvPr/>
        </p:nvSpPr>
        <p:spPr>
          <a:xfrm>
            <a:off x="3179564" y="3078460"/>
            <a:ext cx="745530" cy="219670"/>
          </a:xfrm>
          <a:prstGeom prst="roundRect">
            <a:avLst>
              <a:gd name="adj" fmla="val 17344"/>
            </a:avLst>
          </a:prstGeom>
          <a:solidFill>
            <a:srgbClr val="FFFFFF"/>
          </a:solidFill>
          <a:ln/>
        </p:spPr>
        <p:txBody>
          <a:bodyPr wrap="none" lIns="0" tIns="0" rIns="0" bIns="0" rtlCol="0" anchor="ctr">
            <a:normAutofit/>
          </a:bodyPr>
          <a:lstStyle/>
          <a:p>
            <a:pPr algn="ctr" indent="0" marL="0">
              <a:lnSpc>
                <a:spcPts val="1330"/>
              </a:lnSpc>
              <a:buNone/>
            </a:pPr>
            <a:r>
              <a:rPr lang="en-US" sz="950" b="1" dirty="0">
                <a:solidFill>
                  <a:srgbClr val="0E1320"/>
                </a:solidFill>
                <a:latin typeface="Noto Sans KR" pitchFamily="34" charset="0"/>
                <a:ea typeface="Noto Sans KR" pitchFamily="34" charset="-122"/>
                <a:cs typeface="Noto Sans KR" pitchFamily="34" charset="-120"/>
              </a:rPr>
              <a:t>LLM API 키</a:t>
            </a:r>
            <a:endParaRPr lang="en-US" sz="950" dirty="0"/>
          </a:p>
        </p:txBody>
      </p:sp>
      <p:sp>
        <p:nvSpPr>
          <p:cNvPr id="18" name="Text 13"/>
          <p:cNvSpPr/>
          <p:nvPr/>
        </p:nvSpPr>
        <p:spPr>
          <a:xfrm>
            <a:off x="2260600" y="3336230"/>
            <a:ext cx="722114" cy="219670"/>
          </a:xfrm>
          <a:prstGeom prst="roundRect">
            <a:avLst>
              <a:gd name="adj" fmla="val 17344"/>
            </a:avLst>
          </a:prstGeom>
          <a:solidFill>
            <a:srgbClr val="C8102E"/>
          </a:solidFill>
          <a:ln/>
        </p:spPr>
        <p:txBody>
          <a:bodyPr wrap="none" lIns="0" tIns="0" rIns="0" bIns="0" rtlCol="0" anchor="ctr">
            <a:normAutofit/>
          </a:bodyPr>
          <a:lstStyle/>
          <a:p>
            <a:pPr algn="ctr" indent="0" marL="0">
              <a:lnSpc>
                <a:spcPts val="1330"/>
              </a:lnSpc>
              <a:buNone/>
            </a:pPr>
            <a:r>
              <a:rPr lang="en-US" sz="950" b="1" dirty="0">
                <a:solidFill>
                  <a:srgbClr val="FFFFFF"/>
                </a:solidFill>
                <a:latin typeface="Noto Sans KR" pitchFamily="34" charset="0"/>
                <a:ea typeface="Noto Sans KR" pitchFamily="34" charset="-122"/>
                <a:cs typeface="Noto Sans KR" pitchFamily="34" charset="-120"/>
              </a:rPr>
              <a:t>로그인 없음</a:t>
            </a:r>
            <a:endParaRPr lang="en-US" sz="950" dirty="0"/>
          </a:p>
        </p:txBody>
      </p:sp>
      <p:pic>
        <p:nvPicPr>
          <p:cNvPr id="19" name="Image 3" descr="preencoded.png">    </p:cNvPr>
          <p:cNvPicPr>
            <a:picLocks noChangeAspect="1"/>
          </p:cNvPicPr>
          <p:nvPr/>
        </p:nvPicPr>
        <p:blipFill>
          <a:blip r:embed="rId4"/>
          <a:srcRect l="0" r="0" t="0" b="0"/>
          <a:stretch/>
        </p:blipFill>
        <p:spPr>
          <a:xfrm>
            <a:off x="4457700" y="2804716"/>
            <a:ext cx="381000" cy="114300"/>
          </a:xfrm>
          <a:prstGeom prst="rect">
            <a:avLst/>
          </a:prstGeom>
        </p:spPr>
      </p:pic>
      <p:sp>
        <p:nvSpPr>
          <p:cNvPr id="20" name="Text 14"/>
          <p:cNvSpPr/>
          <p:nvPr/>
        </p:nvSpPr>
        <p:spPr>
          <a:xfrm>
            <a:off x="4544913" y="2944416"/>
            <a:ext cx="206474"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C8102E"/>
                </a:solidFill>
                <a:latin typeface="Noto Sans KR" pitchFamily="34" charset="0"/>
                <a:ea typeface="Noto Sans KR" pitchFamily="34" charset="-122"/>
                <a:cs typeface="Noto Sans KR" pitchFamily="34" charset="-120"/>
              </a:rPr>
              <a:t>✗</a:t>
            </a:r>
            <a:endParaRPr lang="en-US" sz="1500" dirty="0"/>
          </a:p>
        </p:txBody>
      </p:sp>
      <p:pic>
        <p:nvPicPr>
          <p:cNvPr id="21" name="Image 4" descr="preencoded.png">    </p:cNvPr>
          <p:cNvPicPr>
            <a:picLocks noChangeAspect="1"/>
          </p:cNvPicPr>
          <p:nvPr/>
        </p:nvPicPr>
        <p:blipFill>
          <a:blip r:embed="rId5"/>
          <a:srcRect l="0" r="0" t="0" b="0"/>
          <a:stretch/>
        </p:blipFill>
        <p:spPr>
          <a:xfrm>
            <a:off x="5022850" y="2378075"/>
            <a:ext cx="762000" cy="571500"/>
          </a:xfrm>
          <a:prstGeom prst="rect">
            <a:avLst/>
          </a:prstGeom>
        </p:spPr>
      </p:pic>
      <p:sp>
        <p:nvSpPr>
          <p:cNvPr id="22" name="Text 15"/>
          <p:cNvSpPr/>
          <p:nvPr/>
        </p:nvSpPr>
        <p:spPr>
          <a:xfrm>
            <a:off x="4929039" y="3000375"/>
            <a:ext cx="949523"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C8102E"/>
                </a:solidFill>
                <a:latin typeface="Noto Sans KR" pitchFamily="34" charset="0"/>
                <a:ea typeface="Noto Sans KR" pitchFamily="34" charset="-122"/>
                <a:cs typeface="Noto Sans KR" pitchFamily="34" charset="-120"/>
              </a:rPr>
              <a:t>부서 B · C</a:t>
            </a:r>
            <a:endParaRPr lang="en-US" sz="1400" dirty="0"/>
          </a:p>
        </p:txBody>
      </p:sp>
      <p:sp>
        <p:nvSpPr>
          <p:cNvPr id="23" name="Text 16"/>
          <p:cNvSpPr/>
          <p:nvPr/>
        </p:nvSpPr>
        <p:spPr>
          <a:xfrm>
            <a:off x="5100935" y="3300016"/>
            <a:ext cx="605830" cy="363141"/>
          </a:xfrm>
          <a:prstGeom prst="rect">
            <a:avLst/>
          </a:prstGeom>
          <a:noFill/>
          <a:ln/>
        </p:spPr>
        <p:txBody>
          <a:bodyPr wrap="square" lIns="0" tIns="0" rIns="0" bIns="0" rtlCol="0" anchor="t">
            <a:normAutofit/>
          </a:bodyPr>
          <a:lstStyle/>
          <a:p>
            <a:pPr algn="ctr" indent="0" marL="0">
              <a:lnSpc>
                <a:spcPts val="1330"/>
              </a:lnSpc>
              <a:buNone/>
            </a:pPr>
            <a:r>
              <a:rPr lang="en-US" sz="950" dirty="0">
                <a:solidFill>
                  <a:srgbClr val="4A5366"/>
                </a:solidFill>
                <a:latin typeface="Noto Sans KR" pitchFamily="34" charset="0"/>
                <a:ea typeface="Noto Sans KR" pitchFamily="34" charset="-122"/>
                <a:cs typeface="Noto Sans KR" pitchFamily="34" charset="-120"/>
              </a:rPr>
              <a:t>사내망이면</a:t>
            </a:r>
            <a:endParaRPr lang="en-US" sz="950" dirty="0"/>
          </a:p>
          <a:p>
            <a:pPr algn="ctr" indent="0" marL="0">
              <a:lnSpc>
                <a:spcPts val="1330"/>
              </a:lnSpc>
              <a:buNone/>
            </a:pPr>
            <a:r>
              <a:rPr lang="en-US" sz="950" dirty="0">
                <a:solidFill>
                  <a:srgbClr val="4A5366"/>
                </a:solidFill>
                <a:latin typeface="Noto Sans KR" pitchFamily="34" charset="0"/>
                <a:ea typeface="Noto Sans KR" pitchFamily="34" charset="-122"/>
                <a:cs typeface="Noto Sans KR" pitchFamily="34" charset="-120"/>
              </a:rPr>
              <a:t>누구나</a:t>
            </a:r>
            <a:endParaRPr lang="en-US" sz="950" dirty="0"/>
          </a:p>
        </p:txBody>
      </p:sp>
      <p:sp>
        <p:nvSpPr>
          <p:cNvPr id="24" name="Text 17"/>
          <p:cNvSpPr/>
          <p:nvPr/>
        </p:nvSpPr>
        <p:spPr>
          <a:xfrm>
            <a:off x="603250" y="4753670"/>
            <a:ext cx="5276850" cy="273050"/>
          </a:xfrm>
          <a:prstGeom prst="roundRect">
            <a:avLst>
              <a:gd name="adj" fmla="val 18605"/>
            </a:avLst>
          </a:prstGeom>
          <a:solidFill>
            <a:srgbClr val="F7F8FA"/>
          </a:solidFill>
          <a:ln/>
        </p:spPr>
        <p:txBody>
          <a:bodyPr wrap="square" lIns="74021" tIns="35921" rIns="0" bIns="10521" rtlCol="0" anchor="t">
            <a:normAutofit/>
          </a:bodyPr>
          <a:lstStyle/>
          <a:p>
            <a:pPr algn="l" indent="0" marL="0">
              <a:lnSpc>
                <a:spcPts val="1350"/>
              </a:lnSpc>
              <a:buNone/>
            </a:pPr>
            <a:r>
              <a:rPr lang="en-US" sz="1000" dirty="0">
                <a:solidFill>
                  <a:srgbClr val="0E1320"/>
                </a:solidFill>
                <a:latin typeface="Noto Sans KR" pitchFamily="34" charset="0"/>
                <a:ea typeface="Noto Sans KR" pitchFamily="34" charset="-122"/>
                <a:cs typeface="Noto Sans KR" pitchFamily="34" charset="-120"/>
              </a:rPr>
              <a:t>보안 검토 없이 공유 → </a:t>
            </a:r>
            <a:r>
              <a:rPr lang="en-US" sz="1000" b="1" dirty="0">
                <a:solidFill>
                  <a:srgbClr val="0E1320"/>
                </a:solidFill>
                <a:latin typeface="Noto Sans KR" pitchFamily="34" charset="0"/>
                <a:ea typeface="Noto Sans KR" pitchFamily="34" charset="-122"/>
                <a:cs typeface="Noto Sans KR" pitchFamily="34" charset="-120"/>
              </a:rPr>
              <a:t>부서 A 문서가 AI 답변으로 다른 부서에 노출</a:t>
            </a:r>
            <a:endParaRPr lang="en-US" sz="1000" dirty="0"/>
          </a:p>
        </p:txBody>
      </p:sp>
      <p:sp>
        <p:nvSpPr>
          <p:cNvPr id="25" name="Shape 18"/>
          <p:cNvSpPr/>
          <p:nvPr/>
        </p:nvSpPr>
        <p:spPr>
          <a:xfrm>
            <a:off x="460375" y="5252145"/>
            <a:ext cx="5562600" cy="1234380"/>
          </a:xfrm>
          <a:prstGeom prst="roundRect">
            <a:avLst>
              <a:gd name="adj" fmla="val 7974"/>
            </a:avLst>
          </a:prstGeom>
          <a:solidFill>
            <a:srgbClr val="FFFFFF"/>
          </a:solidFill>
          <a:ln w="6350">
            <a:solidFill>
              <a:srgbClr val="DCE1EA"/>
            </a:solidFill>
            <a:prstDash val="solid"/>
          </a:ln>
        </p:spPr>
      </p:sp>
      <p:sp>
        <p:nvSpPr>
          <p:cNvPr id="26" name="Text 19"/>
          <p:cNvSpPr/>
          <p:nvPr/>
        </p:nvSpPr>
        <p:spPr>
          <a:xfrm>
            <a:off x="603250" y="5356920"/>
            <a:ext cx="5435155"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E1320"/>
                </a:solidFill>
                <a:latin typeface="Noto Sans KR" pitchFamily="34" charset="0"/>
                <a:ea typeface="Noto Sans KR" pitchFamily="34" charset="-122"/>
                <a:cs typeface="Noto Sans KR" pitchFamily="34" charset="-120"/>
              </a:rPr>
              <a:t>탐지 3단계</a:t>
            </a:r>
            <a:endParaRPr lang="en-US" sz="1300" dirty="0"/>
          </a:p>
        </p:txBody>
      </p:sp>
      <p:sp>
        <p:nvSpPr>
          <p:cNvPr id="27" name="Text 20"/>
          <p:cNvSpPr/>
          <p:nvPr/>
        </p:nvSpPr>
        <p:spPr>
          <a:xfrm>
            <a:off x="603250" y="5670550"/>
            <a:ext cx="177800" cy="177800"/>
          </a:xfrm>
          <a:custGeom>
            <a:avLst/>
            <a:gdLst/>
            <a:ahLst/>
            <a:cxnLst/>
            <a:rect l="l" t="t" r="r" b="b"/>
            <a:pathLst>
              <a:path w="177800" h="177800">
                <a:moveTo>
                  <a:pt x="88900" y="0"/>
                </a:moveTo>
                <a:lnTo>
                  <a:pt x="88900" y="0"/>
                </a:lnTo>
                <a:arcTo hR="88900" wR="88900" stAng="16200000" swAng="5400000"/>
                <a:lnTo>
                  <a:pt x="177800" y="88900"/>
                </a:lnTo>
                <a:arcTo hR="88900" wR="88900" stAng="0" swAng="5400000"/>
                <a:lnTo>
                  <a:pt x="88900" y="177800"/>
                </a:lnTo>
                <a:arcTo hR="88900" wR="88900" stAng="5400000" swAng="5400000"/>
                <a:lnTo>
                  <a:pt x="0" y="88900"/>
                </a:lnTo>
                <a:arcTo hR="88900" wR="88900" stAng="10800000" swAng="5400000"/>
                <a:close/>
              </a:path>
            </a:pathLst>
          </a:custGeom>
          <a:solidFill>
            <a:srgbClr val="A16207"/>
          </a:solidFill>
          <a:ln/>
        </p:spPr>
        <p:txBody>
          <a:bodyPr wrap="square" lIns="0" tIns="0" rIns="0" bIns="0" rtlCol="0" anchor="t">
            <a:normAutofit/>
          </a:bodyPr>
          <a:lstStyle/>
          <a:p>
            <a:pPr algn="l" indent="0" marL="0">
              <a:lnSpc>
                <a:spcPts val="1190"/>
              </a:lnSpc>
              <a:buNone/>
            </a:pPr>
            <a:r>
              <a:rPr lang="en-US" sz="850" b="1" dirty="0">
                <a:solidFill>
                  <a:srgbClr val="FFFFFF"/>
                </a:solidFill>
                <a:latin typeface="Noto Sans KR" pitchFamily="34" charset="0"/>
                <a:ea typeface="Noto Sans KR" pitchFamily="34" charset="-122"/>
                <a:cs typeface="Noto Sans KR" pitchFamily="34" charset="-120"/>
              </a:rPr>
              <a:t>1</a:t>
            </a:r>
            <a:endParaRPr lang="en-US" sz="850" dirty="0"/>
          </a:p>
        </p:txBody>
      </p:sp>
      <p:sp>
        <p:nvSpPr>
          <p:cNvPr id="28" name="Text 21"/>
          <p:cNvSpPr/>
          <p:nvPr/>
        </p:nvSpPr>
        <p:spPr>
          <a:xfrm>
            <a:off x="844550" y="5651500"/>
            <a:ext cx="3313033" cy="196850"/>
          </a:xfrm>
          <a:prstGeom prst="rect">
            <a:avLst/>
          </a:prstGeom>
          <a:noFill/>
          <a:ln/>
        </p:spPr>
        <p:txBody>
          <a:bodyPr wrap="square" lIns="0" tIns="0" rIns="0" bIns="0" rtlCol="0" anchor="t">
            <a:normAutofit/>
          </a:bodyPr>
          <a:lstStyle/>
          <a:p>
            <a:pPr algn="l" indent="0" marL="0">
              <a:lnSpc>
                <a:spcPts val="1350"/>
              </a:lnSpc>
              <a:buNone/>
            </a:pPr>
            <a:r>
              <a:rPr lang="en-US" sz="1000" b="1" dirty="0">
                <a:solidFill>
                  <a:srgbClr val="0E1320"/>
                </a:solidFill>
                <a:latin typeface="Noto Sans KR" pitchFamily="34" charset="0"/>
                <a:ea typeface="Noto Sans KR" pitchFamily="34" charset="-122"/>
                <a:cs typeface="Noto Sans KR" pitchFamily="34" charset="-120"/>
              </a:rPr>
              <a:t>사내 IP 대역 스캔</a:t>
            </a:r>
            <a:r>
              <a:rPr lang="en-US" sz="1000" dirty="0">
                <a:solidFill>
                  <a:srgbClr val="0E1320"/>
                </a:solidFill>
                <a:latin typeface="Noto Sans KR" pitchFamily="34" charset="0"/>
                <a:ea typeface="Noto Sans KR" pitchFamily="34" charset="-122"/>
                <a:cs typeface="Noto Sans KR" pitchFamily="34" charset="-120"/>
              </a:rPr>
              <a:t> → AI 채팅 · LLM · MCP 서버 찾기</a:t>
            </a:r>
            <a:endParaRPr lang="en-US" sz="1000" dirty="0"/>
          </a:p>
        </p:txBody>
      </p:sp>
      <p:sp>
        <p:nvSpPr>
          <p:cNvPr id="29" name="Text 22"/>
          <p:cNvSpPr/>
          <p:nvPr/>
        </p:nvSpPr>
        <p:spPr>
          <a:xfrm>
            <a:off x="603250" y="5930900"/>
            <a:ext cx="177800" cy="177800"/>
          </a:xfrm>
          <a:custGeom>
            <a:avLst/>
            <a:gdLst/>
            <a:ahLst/>
            <a:cxnLst/>
            <a:rect l="l" t="t" r="r" b="b"/>
            <a:pathLst>
              <a:path w="177800" h="177800">
                <a:moveTo>
                  <a:pt x="88900" y="0"/>
                </a:moveTo>
                <a:lnTo>
                  <a:pt x="88900" y="0"/>
                </a:lnTo>
                <a:arcTo hR="88900" wR="88900" stAng="16200000" swAng="5400000"/>
                <a:lnTo>
                  <a:pt x="177800" y="88900"/>
                </a:lnTo>
                <a:arcTo hR="88900" wR="88900" stAng="0" swAng="5400000"/>
                <a:lnTo>
                  <a:pt x="88900" y="177800"/>
                </a:lnTo>
                <a:arcTo hR="88900" wR="88900" stAng="5400000" swAng="5400000"/>
                <a:lnTo>
                  <a:pt x="0" y="88900"/>
                </a:lnTo>
                <a:arcTo hR="88900" wR="88900" stAng="10800000" swAng="5400000"/>
                <a:close/>
              </a:path>
            </a:pathLst>
          </a:custGeom>
          <a:solidFill>
            <a:srgbClr val="A16207"/>
          </a:solidFill>
          <a:ln/>
        </p:spPr>
        <p:txBody>
          <a:bodyPr wrap="square" lIns="0" tIns="0" rIns="0" bIns="0" rtlCol="0" anchor="t">
            <a:normAutofit/>
          </a:bodyPr>
          <a:lstStyle/>
          <a:p>
            <a:pPr algn="l" indent="0" marL="0">
              <a:lnSpc>
                <a:spcPts val="1190"/>
              </a:lnSpc>
              <a:buNone/>
            </a:pPr>
            <a:r>
              <a:rPr lang="en-US" sz="850" b="1" dirty="0">
                <a:solidFill>
                  <a:srgbClr val="FFFFFF"/>
                </a:solidFill>
                <a:latin typeface="Noto Sans KR" pitchFamily="34" charset="0"/>
                <a:ea typeface="Noto Sans KR" pitchFamily="34" charset="-122"/>
                <a:cs typeface="Noto Sans KR" pitchFamily="34" charset="-120"/>
              </a:rPr>
              <a:t>2</a:t>
            </a:r>
            <a:endParaRPr lang="en-US" sz="850" dirty="0"/>
          </a:p>
        </p:txBody>
      </p:sp>
      <p:sp>
        <p:nvSpPr>
          <p:cNvPr id="30" name="Text 23"/>
          <p:cNvSpPr/>
          <p:nvPr/>
        </p:nvSpPr>
        <p:spPr>
          <a:xfrm>
            <a:off x="844550" y="5911850"/>
            <a:ext cx="2601158" cy="196850"/>
          </a:xfrm>
          <a:prstGeom prst="rect">
            <a:avLst/>
          </a:prstGeom>
          <a:noFill/>
          <a:ln/>
        </p:spPr>
        <p:txBody>
          <a:bodyPr wrap="square" lIns="0" tIns="0" rIns="0" bIns="0" rtlCol="0" anchor="t">
            <a:normAutofit/>
          </a:bodyPr>
          <a:lstStyle/>
          <a:p>
            <a:pPr algn="l" indent="0" marL="0">
              <a:lnSpc>
                <a:spcPts val="1350"/>
              </a:lnSpc>
              <a:buNone/>
            </a:pPr>
            <a:r>
              <a:rPr lang="en-US" sz="1000" b="1" dirty="0">
                <a:solidFill>
                  <a:srgbClr val="0E1320"/>
                </a:solidFill>
                <a:latin typeface="Noto Sans KR" pitchFamily="34" charset="0"/>
                <a:ea typeface="Noto Sans KR" pitchFamily="34" charset="-122"/>
                <a:cs typeface="Noto Sans KR" pitchFamily="34" charset="-120"/>
              </a:rPr>
              <a:t>테스트 질문</a:t>
            </a:r>
            <a:r>
              <a:rPr lang="en-US" sz="1000" dirty="0">
                <a:solidFill>
                  <a:srgbClr val="0E1320"/>
                </a:solidFill>
                <a:latin typeface="Noto Sans KR" pitchFamily="34" charset="0"/>
                <a:ea typeface="Noto Sans KR" pitchFamily="34" charset="-122"/>
                <a:cs typeface="Noto Sans KR" pitchFamily="34" charset="-120"/>
              </a:rPr>
              <a:t> → 로그인 없이 대답하면 노출</a:t>
            </a:r>
            <a:endParaRPr lang="en-US" sz="1000" dirty="0"/>
          </a:p>
        </p:txBody>
      </p:sp>
      <p:sp>
        <p:nvSpPr>
          <p:cNvPr id="31" name="Text 24"/>
          <p:cNvSpPr/>
          <p:nvPr/>
        </p:nvSpPr>
        <p:spPr>
          <a:xfrm>
            <a:off x="603250" y="6191250"/>
            <a:ext cx="177800" cy="177800"/>
          </a:xfrm>
          <a:custGeom>
            <a:avLst/>
            <a:gdLst/>
            <a:ahLst/>
            <a:cxnLst/>
            <a:rect l="l" t="t" r="r" b="b"/>
            <a:pathLst>
              <a:path w="177800" h="177800">
                <a:moveTo>
                  <a:pt x="88900" y="0"/>
                </a:moveTo>
                <a:lnTo>
                  <a:pt x="88900" y="0"/>
                </a:lnTo>
                <a:arcTo hR="88900" wR="88900" stAng="16200000" swAng="5400000"/>
                <a:lnTo>
                  <a:pt x="177800" y="88900"/>
                </a:lnTo>
                <a:arcTo hR="88900" wR="88900" stAng="0" swAng="5400000"/>
                <a:lnTo>
                  <a:pt x="88900" y="177800"/>
                </a:lnTo>
                <a:arcTo hR="88900" wR="88900" stAng="5400000" swAng="5400000"/>
                <a:lnTo>
                  <a:pt x="0" y="88900"/>
                </a:lnTo>
                <a:arcTo hR="88900" wR="88900" stAng="10800000" swAng="5400000"/>
                <a:close/>
              </a:path>
            </a:pathLst>
          </a:custGeom>
          <a:solidFill>
            <a:srgbClr val="C8102E"/>
          </a:solidFill>
          <a:ln/>
        </p:spPr>
        <p:txBody>
          <a:bodyPr wrap="square" lIns="0" tIns="0" rIns="0" bIns="0" rtlCol="0" anchor="t">
            <a:normAutofit/>
          </a:bodyPr>
          <a:lstStyle/>
          <a:p>
            <a:pPr algn="l" indent="0" marL="0">
              <a:lnSpc>
                <a:spcPts val="1190"/>
              </a:lnSpc>
              <a:buNone/>
            </a:pPr>
            <a:r>
              <a:rPr lang="en-US" sz="850" b="1" dirty="0">
                <a:solidFill>
                  <a:srgbClr val="FFFFFF"/>
                </a:solidFill>
                <a:latin typeface="Noto Sans KR" pitchFamily="34" charset="0"/>
                <a:ea typeface="Noto Sans KR" pitchFamily="34" charset="-122"/>
                <a:cs typeface="Noto Sans KR" pitchFamily="34" charset="-120"/>
              </a:rPr>
              <a:t>3</a:t>
            </a:r>
            <a:endParaRPr lang="en-US" sz="850" dirty="0"/>
          </a:p>
        </p:txBody>
      </p:sp>
      <p:sp>
        <p:nvSpPr>
          <p:cNvPr id="32" name="Text 25"/>
          <p:cNvSpPr/>
          <p:nvPr/>
        </p:nvSpPr>
        <p:spPr>
          <a:xfrm>
            <a:off x="844550" y="6172200"/>
            <a:ext cx="3278743" cy="196850"/>
          </a:xfrm>
          <a:prstGeom prst="rect">
            <a:avLst/>
          </a:prstGeom>
          <a:noFill/>
          <a:ln/>
        </p:spPr>
        <p:txBody>
          <a:bodyPr wrap="square" lIns="0" tIns="0" rIns="0" bIns="0" rtlCol="0" anchor="t">
            <a:normAutofit/>
          </a:bodyPr>
          <a:lstStyle/>
          <a:p>
            <a:pPr algn="l" indent="0" marL="0">
              <a:lnSpc>
                <a:spcPts val="1350"/>
              </a:lnSpc>
              <a:buNone/>
            </a:pPr>
            <a:r>
              <a:rPr lang="en-US" sz="1000" b="1" dirty="0">
                <a:solidFill>
                  <a:srgbClr val="0E1320"/>
                </a:solidFill>
                <a:latin typeface="Noto Sans KR" pitchFamily="34" charset="0"/>
                <a:ea typeface="Noto Sans KR" pitchFamily="34" charset="-122"/>
                <a:cs typeface="Noto Sans KR" pitchFamily="34" charset="-120"/>
              </a:rPr>
              <a:t>접근 로그</a:t>
            </a:r>
            <a:r>
              <a:rPr lang="en-US" sz="1000" dirty="0">
                <a:solidFill>
                  <a:srgbClr val="0E1320"/>
                </a:solidFill>
                <a:latin typeface="Noto Sans KR" pitchFamily="34" charset="0"/>
                <a:ea typeface="Noto Sans KR" pitchFamily="34" charset="-122"/>
                <a:cs typeface="Noto Sans KR" pitchFamily="34" charset="-120"/>
              </a:rPr>
              <a:t> → 다른 부서 IP 접속 여부 · 자산 등록 대조</a:t>
            </a:r>
            <a:endParaRPr lang="en-US" sz="1000" dirty="0"/>
          </a:p>
        </p:txBody>
      </p:sp>
      <p:sp>
        <p:nvSpPr>
          <p:cNvPr id="33" name="Shape 26"/>
          <p:cNvSpPr/>
          <p:nvPr/>
        </p:nvSpPr>
        <p:spPr>
          <a:xfrm>
            <a:off x="6169025" y="913705"/>
            <a:ext cx="5562600" cy="4493518"/>
          </a:xfrm>
          <a:prstGeom prst="roundRect">
            <a:avLst>
              <a:gd name="adj" fmla="val 2190"/>
            </a:avLst>
          </a:prstGeom>
          <a:solidFill>
            <a:srgbClr val="FFFFFF"/>
          </a:solidFill>
          <a:ln w="6350">
            <a:solidFill>
              <a:srgbClr val="DCE1EA"/>
            </a:solidFill>
            <a:prstDash val="solid"/>
          </a:ln>
        </p:spPr>
      </p:sp>
      <p:sp>
        <p:nvSpPr>
          <p:cNvPr id="34" name="Shape 27"/>
          <p:cNvSpPr/>
          <p:nvPr/>
        </p:nvSpPr>
        <p:spPr>
          <a:xfrm>
            <a:off x="6172200" y="916880"/>
            <a:ext cx="5556250" cy="1333500"/>
          </a:xfrm>
          <a:custGeom>
            <a:avLst/>
            <a:gdLst/>
            <a:ahLst/>
            <a:cxnLst/>
            <a:rect l="l" t="t" r="r" b="b"/>
            <a:pathLst>
              <a:path w="5556250" h="1333500">
                <a:moveTo>
                  <a:pt x="0" y="95250"/>
                </a:moveTo>
                <a:arcTo hR="95250" wR="95250" stAng="10800000" swAng="5400000"/>
                <a:lnTo>
                  <a:pt x="5461000" y="0"/>
                </a:lnTo>
                <a:arcTo hR="95250" wR="95250" stAng="16200000" swAng="5400000"/>
                <a:lnTo>
                  <a:pt x="5556250" y="1333500"/>
                </a:lnTo>
                <a:lnTo>
                  <a:pt x="0" y="1333500"/>
                </a:lnTo>
                <a:close/>
              </a:path>
            </a:pathLst>
          </a:custGeom>
          <a:solidFill>
            <a:srgbClr val="1A1012"/>
          </a:solidFill>
          <a:ln/>
        </p:spPr>
      </p:sp>
      <p:pic>
        <p:nvPicPr>
          <p:cNvPr id="35" name="Image 5" descr="Praetorian Julius: LLM Service Fingerprinting">    </p:cNvPr>
          <p:cNvPicPr>
            <a:picLocks noChangeAspect="1"/>
          </p:cNvPicPr>
          <p:nvPr/>
        </p:nvPicPr>
        <p:blipFill>
          <a:blip r:embed="rId6"/>
          <a:srcRect l="1" r="1" t="0" b="0"/>
          <a:stretch/>
        </p:blipFill>
        <p:spPr>
          <a:xfrm>
            <a:off x="6172200" y="916880"/>
            <a:ext cx="2548037" cy="1333500"/>
          </a:xfrm>
          <a:custGeom>
            <a:avLst/>
            <a:gdLst/>
            <a:ahLst/>
            <a:cxnLst/>
            <a:rect l="l" t="t" r="r" b="b"/>
            <a:pathLst>
              <a:path w="2548037" h="1333500">
                <a:moveTo>
                  <a:pt x="0" y="95250"/>
                </a:moveTo>
                <a:arcTo wR="95250" hR="95250" stAng="10800000" swAng="5400000"/>
                <a:lnTo>
                  <a:pt x="2548037" y="0"/>
                </a:lnTo>
                <a:lnTo>
                  <a:pt x="2548037" y="1333500"/>
                </a:lnTo>
                <a:lnTo>
                  <a:pt x="0" y="1333500"/>
                </a:lnTo>
                <a:close/>
              </a:path>
            </a:pathLst>
          </a:custGeom>
        </p:spPr>
      </p:pic>
      <p:sp>
        <p:nvSpPr>
          <p:cNvPr id="36" name="Text 28"/>
          <p:cNvSpPr/>
          <p:nvPr/>
        </p:nvSpPr>
        <p:spPr>
          <a:xfrm>
            <a:off x="6311900" y="2339280"/>
            <a:ext cx="63079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1320"/>
                </a:solidFill>
                <a:latin typeface="Noto Sans KR" pitchFamily="34" charset="0"/>
                <a:ea typeface="Noto Sans KR" pitchFamily="34" charset="-122"/>
                <a:cs typeface="Noto Sans KR" pitchFamily="34" charset="-120"/>
              </a:rPr>
              <a:t>Julius</a:t>
            </a:r>
            <a:endParaRPr lang="en-US" sz="1400" dirty="0"/>
          </a:p>
        </p:txBody>
      </p:sp>
      <p:sp>
        <p:nvSpPr>
          <p:cNvPr id="37" name="Text 29"/>
          <p:cNvSpPr/>
          <p:nvPr/>
        </p:nvSpPr>
        <p:spPr>
          <a:xfrm>
            <a:off x="9870976" y="2360811"/>
            <a:ext cx="1717774" cy="205680"/>
          </a:xfrm>
          <a:prstGeom prst="roundRect">
            <a:avLst>
              <a:gd name="adj" fmla="val 50000"/>
            </a:avLst>
          </a:prstGeom>
          <a:solidFill>
            <a:srgbClr val="FBF5E6"/>
          </a:solidFill>
          <a:ln/>
        </p:spPr>
        <p:txBody>
          <a:bodyPr wrap="none" lIns="0" tIns="0" rIns="0" bIns="0" rtlCol="0" anchor="ctr">
            <a:normAutofit/>
          </a:bodyPr>
          <a:lstStyle/>
          <a:p>
            <a:pPr algn="ctr" indent="0" marL="0">
              <a:lnSpc>
                <a:spcPts val="1120"/>
              </a:lnSpc>
              <a:buNone/>
            </a:pPr>
            <a:r>
              <a:rPr lang="en-US" sz="800" b="1" dirty="0">
                <a:solidFill>
                  <a:srgbClr val="A16207"/>
                </a:solidFill>
                <a:latin typeface="Noto Sans KR" pitchFamily="34" charset="0"/>
                <a:ea typeface="Noto Sans KR" pitchFamily="34" charset="-122"/>
                <a:cs typeface="Noto Sans KR" pitchFamily="34" charset="-120"/>
              </a:rPr>
              <a:t>Praetorian · 오픈소스 · 63종 탐지</a:t>
            </a:r>
            <a:endParaRPr lang="en-US" sz="800" dirty="0"/>
          </a:p>
        </p:txBody>
      </p:sp>
      <p:sp>
        <p:nvSpPr>
          <p:cNvPr id="38" name="Text 30"/>
          <p:cNvSpPr/>
          <p:nvPr/>
        </p:nvSpPr>
        <p:spPr>
          <a:xfrm>
            <a:off x="6311900" y="2651621"/>
            <a:ext cx="5435155" cy="196850"/>
          </a:xfrm>
          <a:prstGeom prst="rect">
            <a:avLst/>
          </a:prstGeom>
          <a:noFill/>
          <a:ln/>
        </p:spPr>
        <p:txBody>
          <a:bodyPr wrap="square" lIns="0" tIns="0" rIns="0" bIns="0" rtlCol="0" anchor="t">
            <a:normAutofit/>
          </a:bodyPr>
          <a:lstStyle/>
          <a:p>
            <a:pPr algn="l" indent="0" marL="0">
              <a:lnSpc>
                <a:spcPts val="1350"/>
              </a:lnSpc>
              <a:buNone/>
            </a:pPr>
            <a:r>
              <a:rPr lang="en-US" sz="1000" dirty="0">
                <a:solidFill>
                  <a:srgbClr val="4A5366"/>
                </a:solidFill>
                <a:latin typeface="Noto Sans KR" pitchFamily="34" charset="0"/>
                <a:ea typeface="Noto Sans KR" pitchFamily="34" charset="-122"/>
                <a:cs typeface="Noto Sans KR" pitchFamily="34" charset="-120"/>
              </a:rPr>
              <a:t>"이 웹서버가 </a:t>
            </a:r>
            <a:r>
              <a:rPr lang="en-US" sz="1000" b="1" dirty="0">
                <a:solidFill>
                  <a:srgbClr val="0E1320"/>
                </a:solidFill>
                <a:latin typeface="Noto Sans KR" pitchFamily="34" charset="0"/>
                <a:ea typeface="Noto Sans KR" pitchFamily="34" charset="-122"/>
                <a:cs typeface="Noto Sans KR" pitchFamily="34" charset="-120"/>
              </a:rPr>
              <a:t>LLM · AI 채팅</a:t>
            </a:r>
            <a:r>
              <a:rPr lang="en-US" sz="1000" dirty="0">
                <a:solidFill>
                  <a:srgbClr val="4A5366"/>
                </a:solidFill>
                <a:latin typeface="Noto Sans KR" pitchFamily="34" charset="0"/>
                <a:ea typeface="Noto Sans KR" pitchFamily="34" charset="-122"/>
                <a:cs typeface="Noto Sans KR" pitchFamily="34" charset="-120"/>
              </a:rPr>
              <a:t>인가?" HTTP로 두드려 판별</a:t>
            </a:r>
            <a:endParaRPr lang="en-US" sz="1000" dirty="0"/>
          </a:p>
        </p:txBody>
      </p:sp>
      <p:sp>
        <p:nvSpPr>
          <p:cNvPr id="39" name="Text 31"/>
          <p:cNvSpPr/>
          <p:nvPr/>
        </p:nvSpPr>
        <p:spPr>
          <a:xfrm>
            <a:off x="6311900" y="2886571"/>
            <a:ext cx="5276850" cy="2415877"/>
          </a:xfrm>
          <a:prstGeom prst="roundRect">
            <a:avLst>
              <a:gd name="adj" fmla="val 2628"/>
            </a:avLst>
          </a:prstGeom>
          <a:solidFill>
            <a:srgbClr val="0E1320"/>
          </a:solidFill>
          <a:ln/>
        </p:spPr>
        <p:txBody>
          <a:bodyPr wrap="none" lIns="95701" tIns="70301" rIns="1352914" bIns="70301" rtlCol="0" anchor="ctr">
            <a:normAutofit/>
          </a:bodyPr>
          <a:lstStyle/>
          <a:p>
            <a:pPr algn="l" indent="0" marL="0">
              <a:lnSpc>
                <a:spcPts val="2013"/>
              </a:lnSpc>
              <a:buNone/>
            </a:pPr>
            <a:r>
              <a:rPr lang="en-US" sz="1150" dirty="0">
                <a:solidFill>
                  <a:srgbClr val="7F8AA3"/>
                </a:solidFill>
                <a:latin typeface="JetBrains Mono" pitchFamily="49" charset="0"/>
                <a:ea typeface="JetBrains Mono" pitchFamily="49" charset="-122"/>
                <a:cs typeface="JetBrains Mono" pitchFamily="49" charset="-120"/>
              </a:rPr>
              <a:t>$</a:t>
            </a:r>
            <a:r>
              <a:rPr lang="en-US" sz="1150" dirty="0">
                <a:solidFill>
                  <a:srgbClr val="C9D1E0"/>
                </a:solidFill>
                <a:latin typeface="JetBrains Mono" pitchFamily="49" charset="0"/>
                <a:ea typeface="JetBrains Mono" pitchFamily="49" charset="-122"/>
                <a:cs typeface="JetBrains Mono" pitchFamily="49" charset="-120"/>
              </a:rPr>
              <a:t> julius probe </a:t>
            </a:r>
            <a:r>
              <a:rPr lang="en-US" sz="1150" dirty="0">
                <a:solidFill>
                  <a:srgbClr val="FFCDAA"/>
                </a:solidFill>
                <a:latin typeface="JetBrains Mono" pitchFamily="49" charset="0"/>
                <a:ea typeface="JetBrains Mono" pitchFamily="49" charset="-122"/>
                <a:cs typeface="JetBrains Mono" pitchFamily="49" charset="-120"/>
              </a:rPr>
              <a:t>10.20.3.0/24</a:t>
            </a:r>
            <a:endParaRPr lang="en-US" sz="1150" dirty="0"/>
          </a:p>
          <a:p>
            <a:pPr algn="l" indent="0" marL="0">
              <a:lnSpc>
                <a:spcPts val="2013"/>
              </a:lnSpc>
              <a:buNone/>
            </a:pPr>
            <a:r>
              <a:rPr lang="en-US" sz="1150" dirty="0">
                <a:solidFill>
                  <a:srgbClr val="7F8AA3"/>
                </a:solidFill>
                <a:latin typeface="JetBrains Mono" pitchFamily="49" charset="0"/>
                <a:ea typeface="JetBrains Mono" pitchFamily="49" charset="-122"/>
                <a:cs typeface="JetBrains Mono" pitchFamily="49" charset="-120"/>
              </a:rPr>
              <a:t>TARGET            SERVICE     MODELS</a:t>
            </a:r>
            <a:endParaRPr lang="en-US" sz="1150" dirty="0"/>
          </a:p>
          <a:p>
            <a:pPr algn="l" indent="0" marL="0">
              <a:lnSpc>
                <a:spcPts val="2013"/>
              </a:lnSpc>
              <a:buNone/>
            </a:pPr>
            <a:r>
              <a:rPr lang="en-US" sz="1150" dirty="0">
                <a:solidFill>
                  <a:srgbClr val="C9D1E0"/>
                </a:solidFill>
                <a:latin typeface="JetBrains Mono" pitchFamily="49" charset="0"/>
                <a:ea typeface="JetBrains Mono" pitchFamily="49" charset="-122"/>
                <a:cs typeface="JetBrains Mono" pitchFamily="49" charset="-120"/>
              </a:rPr>
              <a:t>10.20.3.14:8080   </a:t>
            </a:r>
            <a:r>
              <a:rPr lang="en-US" sz="1150" dirty="0">
                <a:solidFill>
                  <a:srgbClr val="FF8A8A"/>
                </a:solidFill>
                <a:latin typeface="JetBrains Mono" pitchFamily="49" charset="0"/>
                <a:ea typeface="JetBrains Mono" pitchFamily="49" charset="-122"/>
                <a:cs typeface="JetBrains Mono" pitchFamily="49" charset="-120"/>
              </a:rPr>
              <a:t>open-webui</a:t>
            </a:r>
            <a:endParaRPr lang="en-US" sz="1150" dirty="0"/>
          </a:p>
          <a:p>
            <a:pPr algn="l" indent="0" marL="0">
              <a:lnSpc>
                <a:spcPts val="2013"/>
              </a:lnSpc>
              <a:buNone/>
            </a:pPr>
            <a:r>
              <a:rPr lang="en-US" sz="1150" dirty="0">
                <a:solidFill>
                  <a:srgbClr val="C9D1E0"/>
                </a:solidFill>
                <a:latin typeface="JetBrains Mono" pitchFamily="49" charset="0"/>
                <a:ea typeface="JetBrains Mono" pitchFamily="49" charset="-122"/>
                <a:cs typeface="JetBrains Mono" pitchFamily="49" charset="-120"/>
              </a:rPr>
              <a:t>10.20.3.27:11434  </a:t>
            </a:r>
            <a:r>
              <a:rPr lang="en-US" sz="1150" dirty="0">
                <a:solidFill>
                  <a:srgbClr val="FF8A8A"/>
                </a:solidFill>
                <a:latin typeface="JetBrains Mono" pitchFamily="49" charset="0"/>
                <a:ea typeface="JetBrains Mono" pitchFamily="49" charset="-122"/>
                <a:cs typeface="JetBrains Mono" pitchFamily="49" charset="-120"/>
              </a:rPr>
              <a:t>ollama</a:t>
            </a:r>
            <a:r>
              <a:rPr lang="en-US" sz="1150" dirty="0">
                <a:solidFill>
                  <a:srgbClr val="C9D1E0"/>
                </a:solidFill>
                <a:latin typeface="JetBrains Mono" pitchFamily="49" charset="0"/>
                <a:ea typeface="JetBrains Mono" pitchFamily="49" charset="-122"/>
                <a:cs typeface="JetBrains Mono" pitchFamily="49" charset="-120"/>
              </a:rPr>
              <a:t>      llama3, qwen</a:t>
            </a:r>
            <a:endParaRPr lang="en-US" sz="1150" dirty="0"/>
          </a:p>
          <a:p>
            <a:pPr algn="l" indent="0" marL="0">
              <a:lnSpc>
                <a:spcPts val="2013"/>
              </a:lnSpc>
              <a:buNone/>
            </a:pPr>
            <a:r>
              <a:rPr lang="en-US" sz="1150" dirty="0">
                <a:solidFill>
                  <a:srgbClr val="C9D1E0"/>
                </a:solidFill>
                <a:latin typeface="JetBrains Mono" pitchFamily="49" charset="0"/>
                <a:ea typeface="JetBrains Mono" pitchFamily="49" charset="-122"/>
                <a:cs typeface="JetBrains Mono" pitchFamily="49" charset="-120"/>
              </a:rPr>
              <a:t>10.20.3.40:3001   </a:t>
            </a:r>
            <a:r>
              <a:rPr lang="en-US" sz="1150" dirty="0">
                <a:solidFill>
                  <a:srgbClr val="FF8A8A"/>
                </a:solidFill>
                <a:latin typeface="JetBrains Mono" pitchFamily="49" charset="0"/>
                <a:ea typeface="JetBrains Mono" pitchFamily="49" charset="-122"/>
                <a:cs typeface="JetBrains Mono" pitchFamily="49" charset="-120"/>
              </a:rPr>
              <a:t>anythingllm</a:t>
            </a:r>
            <a:r>
              <a:rPr lang="en-US" sz="1150" dirty="0">
                <a:solidFill>
                  <a:srgbClr val="7F8AA3"/>
                </a:solidFill>
                <a:latin typeface="JetBrains Mono" pitchFamily="49" charset="0"/>
                <a:ea typeface="JetBrains Mono" pitchFamily="49" charset="-122"/>
                <a:cs typeface="JetBrains Mono" pitchFamily="49" charset="-120"/>
              </a:rPr>
              <a:t>  # RAG</a:t>
            </a:r>
            <a:endParaRPr lang="en-US" sz="1150" dirty="0"/>
          </a:p>
        </p:txBody>
      </p:sp>
      <p:sp>
        <p:nvSpPr>
          <p:cNvPr id="40" name="Shape 32"/>
          <p:cNvSpPr/>
          <p:nvPr/>
        </p:nvSpPr>
        <p:spPr>
          <a:xfrm>
            <a:off x="6169025" y="5515173"/>
            <a:ext cx="5562600" cy="971352"/>
          </a:xfrm>
          <a:prstGeom prst="roundRect">
            <a:avLst>
              <a:gd name="adj" fmla="val 10133"/>
            </a:avLst>
          </a:prstGeom>
          <a:solidFill>
            <a:srgbClr val="FFFFFF"/>
          </a:solidFill>
          <a:ln w="6350">
            <a:solidFill>
              <a:srgbClr val="DCE1EA"/>
            </a:solidFill>
            <a:prstDash val="solid"/>
          </a:ln>
        </p:spPr>
      </p:sp>
      <p:sp>
        <p:nvSpPr>
          <p:cNvPr id="41" name="Text 33"/>
          <p:cNvSpPr/>
          <p:nvPr/>
        </p:nvSpPr>
        <p:spPr>
          <a:xfrm>
            <a:off x="6311900" y="5619948"/>
            <a:ext cx="543515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E1320"/>
                </a:solidFill>
                <a:latin typeface="Noto Sans KR" pitchFamily="34" charset="0"/>
                <a:ea typeface="Noto Sans KR" pitchFamily="34" charset="-122"/>
                <a:cs typeface="Noto Sans KR" pitchFamily="34" charset="-120"/>
              </a:rPr>
              <a:t>찾아내는 것</a:t>
            </a:r>
            <a:endParaRPr lang="en-US" sz="1200" dirty="0"/>
          </a:p>
        </p:txBody>
      </p:sp>
      <p:sp>
        <p:nvSpPr>
          <p:cNvPr id="42" name="Text 34"/>
          <p:cNvSpPr/>
          <p:nvPr/>
        </p:nvSpPr>
        <p:spPr>
          <a:xfrm>
            <a:off x="6311900" y="5896769"/>
            <a:ext cx="1941513" cy="210741"/>
          </a:xfrm>
          <a:prstGeom prst="roundRect">
            <a:avLst>
              <a:gd name="adj" fmla="val 24105"/>
            </a:avLst>
          </a:prstGeom>
          <a:solidFill>
            <a:srgbClr val="FBF5E6"/>
          </a:solidFill>
          <a:ln/>
        </p:spPr>
        <p:txBody>
          <a:bodyPr wrap="none" lIns="0" tIns="0" rIns="0" bIns="0" rtlCol="0" anchor="ctr">
            <a:normAutofit/>
          </a:bodyPr>
          <a:lstStyle/>
          <a:p>
            <a:pPr algn="ctr" indent="0" marL="0">
              <a:lnSpc>
                <a:spcPts val="1260"/>
              </a:lnSpc>
              <a:buNone/>
            </a:pPr>
            <a:r>
              <a:rPr lang="en-US" sz="900" b="1" dirty="0">
                <a:solidFill>
                  <a:srgbClr val="0E1320"/>
                </a:solidFill>
                <a:latin typeface="Noto Sans KR" pitchFamily="34" charset="0"/>
                <a:ea typeface="Noto Sans KR" pitchFamily="34" charset="-122"/>
                <a:cs typeface="Noto Sans KR" pitchFamily="34" charset="-120"/>
              </a:rPr>
              <a:t>AI 채팅 웹</a:t>
            </a:r>
            <a:r>
              <a:rPr lang="en-US" sz="900" dirty="0">
                <a:solidFill>
                  <a:srgbClr val="0E1320"/>
                </a:solidFill>
                <a:latin typeface="Noto Sans KR" pitchFamily="34" charset="0"/>
                <a:ea typeface="Noto Sans KR" pitchFamily="34" charset="-122"/>
                <a:cs typeface="Noto Sans KR" pitchFamily="34" charset="-120"/>
              </a:rPr>
              <a:t> Open WebUI · LibreChat</a:t>
            </a:r>
            <a:endParaRPr lang="en-US" sz="900" dirty="0"/>
          </a:p>
        </p:txBody>
      </p:sp>
      <p:sp>
        <p:nvSpPr>
          <p:cNvPr id="43" name="Text 35"/>
          <p:cNvSpPr/>
          <p:nvPr/>
        </p:nvSpPr>
        <p:spPr>
          <a:xfrm>
            <a:off x="8304212" y="5896769"/>
            <a:ext cx="2284016" cy="210741"/>
          </a:xfrm>
          <a:prstGeom prst="roundRect">
            <a:avLst>
              <a:gd name="adj" fmla="val 24105"/>
            </a:avLst>
          </a:prstGeom>
          <a:solidFill>
            <a:srgbClr val="FBF5E6"/>
          </a:solidFill>
          <a:ln/>
        </p:spPr>
        <p:txBody>
          <a:bodyPr wrap="none" lIns="0" tIns="0" rIns="0" bIns="0" rtlCol="0" anchor="ctr">
            <a:normAutofit/>
          </a:bodyPr>
          <a:lstStyle/>
          <a:p>
            <a:pPr algn="ctr" indent="0" marL="0">
              <a:lnSpc>
                <a:spcPts val="1260"/>
              </a:lnSpc>
              <a:buNone/>
            </a:pPr>
            <a:r>
              <a:rPr lang="en-US" sz="900" b="1" dirty="0">
                <a:solidFill>
                  <a:srgbClr val="0E1320"/>
                </a:solidFill>
                <a:latin typeface="Noto Sans KR" pitchFamily="34" charset="0"/>
                <a:ea typeface="Noto Sans KR" pitchFamily="34" charset="-122"/>
                <a:cs typeface="Noto Sans KR" pitchFamily="34" charset="-120"/>
              </a:rPr>
              <a:t>RAG</a:t>
            </a:r>
            <a:r>
              <a:rPr lang="en-US" sz="900" dirty="0">
                <a:solidFill>
                  <a:srgbClr val="0E1320"/>
                </a:solidFill>
                <a:latin typeface="Noto Sans KR" pitchFamily="34" charset="0"/>
                <a:ea typeface="Noto Sans KR" pitchFamily="34" charset="-122"/>
                <a:cs typeface="Noto Sans KR" pitchFamily="34" charset="-120"/>
              </a:rPr>
              <a:t> AnythingLLM · RAGFlow · Langflow</a:t>
            </a:r>
            <a:endParaRPr lang="en-US" sz="900" dirty="0"/>
          </a:p>
        </p:txBody>
      </p:sp>
      <p:sp>
        <p:nvSpPr>
          <p:cNvPr id="44" name="Text 36"/>
          <p:cNvSpPr/>
          <p:nvPr/>
        </p:nvSpPr>
        <p:spPr>
          <a:xfrm>
            <a:off x="6311900" y="6158309"/>
            <a:ext cx="2052042" cy="210741"/>
          </a:xfrm>
          <a:prstGeom prst="roundRect">
            <a:avLst>
              <a:gd name="adj" fmla="val 24105"/>
            </a:avLst>
          </a:prstGeom>
          <a:solidFill>
            <a:srgbClr val="FBF5E6"/>
          </a:solidFill>
          <a:ln/>
        </p:spPr>
        <p:txBody>
          <a:bodyPr wrap="none" lIns="0" tIns="0" rIns="0" bIns="0" rtlCol="0" anchor="ctr">
            <a:normAutofit/>
          </a:bodyPr>
          <a:lstStyle/>
          <a:p>
            <a:pPr algn="ctr" indent="0" marL="0">
              <a:lnSpc>
                <a:spcPts val="1260"/>
              </a:lnSpc>
              <a:buNone/>
            </a:pPr>
            <a:r>
              <a:rPr lang="en-US" sz="900" b="1" dirty="0">
                <a:solidFill>
                  <a:srgbClr val="0E1320"/>
                </a:solidFill>
                <a:latin typeface="Noto Sans KR" pitchFamily="34" charset="0"/>
                <a:ea typeface="Noto Sans KR" pitchFamily="34" charset="-122"/>
                <a:cs typeface="Noto Sans KR" pitchFamily="34" charset="-120"/>
              </a:rPr>
              <a:t>LLM 서버</a:t>
            </a:r>
            <a:r>
              <a:rPr lang="en-US" sz="900" dirty="0">
                <a:solidFill>
                  <a:srgbClr val="0E1320"/>
                </a:solidFill>
                <a:latin typeface="Noto Sans KR" pitchFamily="34" charset="0"/>
                <a:ea typeface="Noto Sans KR" pitchFamily="34" charset="-122"/>
                <a:cs typeface="Noto Sans KR" pitchFamily="34" charset="-120"/>
              </a:rPr>
              <a:t> Ollama · vLLM · LM Studio</a:t>
            </a:r>
            <a:endParaRPr lang="en-US" sz="900" dirty="0"/>
          </a:p>
        </p:txBody>
      </p:sp>
      <p:sp>
        <p:nvSpPr>
          <p:cNvPr id="45" name="Text 37"/>
          <p:cNvSpPr/>
          <p:nvPr/>
        </p:nvSpPr>
        <p:spPr>
          <a:xfrm>
            <a:off x="8414742" y="6158309"/>
            <a:ext cx="1105991" cy="210741"/>
          </a:xfrm>
          <a:prstGeom prst="roundRect">
            <a:avLst>
              <a:gd name="adj" fmla="val 24105"/>
            </a:avLst>
          </a:prstGeom>
          <a:solidFill>
            <a:srgbClr val="FBF5E6"/>
          </a:solidFill>
          <a:ln/>
        </p:spPr>
        <p:txBody>
          <a:bodyPr wrap="none" lIns="0" tIns="0" rIns="0" bIns="0" rtlCol="0" anchor="ctr">
            <a:normAutofit/>
          </a:bodyPr>
          <a:lstStyle/>
          <a:p>
            <a:pPr algn="ctr" indent="0" marL="0">
              <a:lnSpc>
                <a:spcPts val="1260"/>
              </a:lnSpc>
              <a:buNone/>
            </a:pPr>
            <a:r>
              <a:rPr lang="en-US" sz="900" b="1" dirty="0">
                <a:solidFill>
                  <a:srgbClr val="0E1320"/>
                </a:solidFill>
                <a:latin typeface="Noto Sans KR" pitchFamily="34" charset="0"/>
                <a:ea typeface="Noto Sans KR" pitchFamily="34" charset="-122"/>
                <a:cs typeface="Noto Sans KR" pitchFamily="34" charset="-120"/>
              </a:rPr>
              <a:t>게이트웨이</a:t>
            </a:r>
            <a:r>
              <a:rPr lang="en-US" sz="900" dirty="0">
                <a:solidFill>
                  <a:srgbClr val="0E1320"/>
                </a:solidFill>
                <a:latin typeface="Noto Sans KR" pitchFamily="34" charset="0"/>
                <a:ea typeface="Noto Sans KR" pitchFamily="34" charset="-122"/>
                <a:cs typeface="Noto Sans KR" pitchFamily="34" charset="-120"/>
              </a:rPr>
              <a:t> LiteLLM</a:t>
            </a:r>
            <a:endParaRPr lang="en-US" sz="900" dirty="0"/>
          </a:p>
        </p:txBody>
      </p:sp>
      <p:sp>
        <p:nvSpPr>
          <p:cNvPr id="46" name="Text 38"/>
          <p:cNvSpPr/>
          <p:nvPr/>
        </p:nvSpPr>
        <p:spPr>
          <a:xfrm>
            <a:off x="11176000" y="6504980"/>
            <a:ext cx="558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7"/>
                </a:solidFill>
                <a:latin typeface="Noto Sans KR" pitchFamily="34" charset="0"/>
                <a:ea typeface="Noto Sans KR" pitchFamily="34" charset="-122"/>
                <a:cs typeface="Noto Sans KR" pitchFamily="34" charset="-120"/>
              </a:rPr>
              <a:t>37</a:t>
            </a:r>
            <a:endParaRPr lang="en-US" sz="1200" dirty="0"/>
          </a:p>
        </p:txBody>
      </p:sp>
    </p:spTree>
  </p:cSld>
  <p:clrMapOvr>
    <a:masterClrMapping/>
  </p:clrMapOvr>
</p:sld>
</file>

<file path=ppt/theme/theme1.xml><?xml version="1.0" encoding="utf-8"?>
<a:theme xmlns:a="http://schemas.openxmlformats.org/drawingml/2006/main" name="기업 AI 사용 보안 리스크">
  <a:themeElements>
    <a:clrScheme name="기업 AI 사용 보안 리스크">
      <a:dk1>
        <a:srgbClr val="0E1320"/>
      </a:dk1>
      <a:lt1>
        <a:srgbClr val="F4F6FA"/>
      </a:lt1>
      <a:dk2>
        <a:srgbClr val="484C57"/>
      </a:dk2>
      <a:lt2>
        <a:srgbClr val="DDDFE4"/>
      </a:lt2>
      <a:accent1>
        <a:srgbClr val="1428A0"/>
      </a:accent1>
      <a:accent2>
        <a:srgbClr val="C8102E"/>
      </a:accent2>
      <a:accent3>
        <a:srgbClr val="E00000"/>
      </a:accent3>
      <a:accent4>
        <a:srgbClr val="1E6B3A"/>
      </a:accent4>
      <a:accent5>
        <a:srgbClr val="A16207"/>
      </a:accent5>
      <a:accent6>
        <a:srgbClr val="C9D3F5"/>
      </a:accent6>
      <a:hlink>
        <a:srgbClr val="0563C1"/>
      </a:hlink>
      <a:folHlink>
        <a:srgbClr val="954F72"/>
      </a:folHlink>
    </a:clrScheme>
    <a:fontScheme name="기업 AI 사용 보안 리스크">
      <a:majorFont>
        <a:latin typeface="Noto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기업 AI 사용 보안 리스크</dc:title>
  <dc:subject/>
  <dc:creator/>
  <cp:lastModifiedBy/>
  <cp:revision>1</cp:revision>
  <dcterms:created xsi:type="dcterms:W3CDTF">2026-10-15T01:18:47Z</dcterms:created>
  <dcterms:modified xsi:type="dcterms:W3CDTF">2026-10-15T01:18:47Z</dcterms:modified>
</cp:coreProperties>
</file>